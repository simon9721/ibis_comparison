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394" r:id="rId3"/>
    <p:sldId id="40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B8"/>
    <a:srgbClr val="FBFB00"/>
    <a:srgbClr val="FFFF29"/>
    <a:srgbClr val="C321CF"/>
    <a:srgbClr val="C52BA8"/>
    <a:srgbClr val="99CCFF"/>
    <a:srgbClr val="6699FF"/>
    <a:srgbClr val="FFCC99"/>
    <a:srgbClr val="33CC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CE76EB-5733-E639-DFBE-C032C02CA049}" v="311" dt="2026-07-10T21:33:20.263"/>
    <p1510:client id="{4B2B0703-2C84-945A-F101-9A0363D83DEB}" v="2" dt="2026-07-10T16:42:58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FF5152-AD57-4057-A738-BC536A645BFF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BD6F9-9B61-4F1F-A828-501CEB5BC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44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12E5D0-9393-4591-81EA-D49C04BB484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9779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3048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3048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 descr="new_logo_final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48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609600" y="2971800"/>
            <a:ext cx="10871200" cy="152400"/>
          </a:xfrm>
          <a:prstGeom prst="rect">
            <a:avLst/>
          </a:prstGeom>
          <a:gradFill rotWithShape="1">
            <a:gsLst>
              <a:gs pos="0">
                <a:srgbClr val="287F3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>
              <a:solidFill>
                <a:srgbClr val="000000"/>
              </a:solidFill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057275"/>
            <a:ext cx="10363200" cy="1828800"/>
          </a:xfrm>
        </p:spPr>
        <p:txBody>
          <a:bodyPr anchor="ctr"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  <a:endParaRPr lang="en-US" altLang="zh-CN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657600"/>
            <a:ext cx="8534400" cy="1981200"/>
          </a:xfrm>
        </p:spPr>
        <p:txBody>
          <a:bodyPr/>
          <a:lstStyle>
            <a:lvl1pPr marL="0" indent="0" algn="ctr">
              <a:buFont typeface="Times New Roman" pitchFamily="18" charset="0"/>
              <a:buNone/>
              <a:defRPr sz="2800"/>
            </a:lvl1pPr>
          </a:lstStyle>
          <a:p>
            <a:r>
              <a:rPr lang="ko-KR" altLang="en-US"/>
              <a:t>클릭하여 마스터 부제목 스타일 편집</a:t>
            </a:r>
            <a:endParaRPr lang="en-US" altLang="zh-C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185D946-0A64-0C7F-AA63-488808319B35}"/>
              </a:ext>
            </a:extLst>
          </p:cNvPr>
          <p:cNvSpPr/>
          <p:nvPr/>
        </p:nvSpPr>
        <p:spPr>
          <a:xfrm>
            <a:off x="11381117" y="6288658"/>
            <a:ext cx="684363" cy="483079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420371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11277600" cy="7620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C6936E-D099-1BE8-8BB3-AAFCF768FD3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4800" y="1038225"/>
            <a:ext cx="11277600" cy="5438775"/>
          </a:xfrm>
        </p:spPr>
        <p:txBody>
          <a:bodyPr/>
          <a:lstStyle>
            <a:lvl1pPr marL="432000" indent="-43200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v"/>
              <a:defRPr sz="2400"/>
            </a:lvl1pPr>
            <a:lvl2pPr marL="720000" indent="-25200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§"/>
              <a:defRPr lang="ko-KR" altLang="en-US" sz="2000" dirty="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 marL="1080000" indent="-324000"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sz="1800"/>
            </a:lvl3pPr>
            <a:lvl4pPr marL="1200150" indent="-171450">
              <a:buClrTx/>
              <a:buFont typeface="Arial" panose="020B0604020202020204" pitchFamily="34" charset="0"/>
              <a:buChar char="•"/>
              <a:defRPr sz="1200"/>
            </a:lvl4pPr>
            <a:lvl5pPr marL="1543050" indent="-171450">
              <a:buClrTx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  <a:endParaRPr lang="en-US" altLang="ko-KR"/>
          </a:p>
          <a:p>
            <a:pPr lvl="2"/>
            <a:r>
              <a:rPr lang="ko-KR" altLang="en-US"/>
              <a:t>세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122010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11277600" cy="7620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A6B0B8-599D-92DF-18BE-0154789C5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279366"/>
            <a:ext cx="11277600" cy="1197634"/>
          </a:xfrm>
        </p:spPr>
        <p:txBody>
          <a:bodyPr/>
          <a:lstStyle>
            <a:lvl1pPr marL="432000" indent="-43200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v"/>
              <a:defRPr sz="2400"/>
            </a:lvl1pPr>
            <a:lvl2pPr marL="720000" indent="-25200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§"/>
              <a:defRPr lang="ko-KR" altLang="en-US" sz="2000" dirty="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 marL="1080000" indent="-324000"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sz="1800"/>
            </a:lvl3pPr>
            <a:lvl4pPr marL="1200150" indent="-171450">
              <a:buClrTx/>
              <a:buFont typeface="Arial" panose="020B0604020202020204" pitchFamily="34" charset="0"/>
              <a:buChar char="•"/>
              <a:defRPr sz="1200"/>
            </a:lvl4pPr>
            <a:lvl5pPr marL="1543050" indent="-171450">
              <a:buClrTx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  <a:endParaRPr lang="en-US" altLang="ko-KR"/>
          </a:p>
          <a:p>
            <a:pPr lvl="2"/>
            <a:r>
              <a:rPr lang="ko-KR" altLang="en-US"/>
              <a:t>세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049719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11277600" cy="7620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A6B0B8-599D-92DF-18BE-0154789C50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04800" y="5279366"/>
            <a:ext cx="11277600" cy="1197634"/>
          </a:xfrm>
        </p:spPr>
        <p:txBody>
          <a:bodyPr/>
          <a:lstStyle>
            <a:lvl1pPr marL="432000" indent="-43200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§"/>
              <a:defRPr sz="2000"/>
            </a:lvl1pPr>
            <a:lvl2pPr marL="720000" indent="-25200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ko-KR" altLang="en-US" sz="1800" dirty="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 marL="1080000" indent="-324000"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sz="1800"/>
            </a:lvl3pPr>
            <a:lvl4pPr marL="1200150" indent="-171450">
              <a:buClrTx/>
              <a:buFont typeface="Arial" panose="020B0604020202020204" pitchFamily="34" charset="0"/>
              <a:buChar char="•"/>
              <a:defRPr sz="1200"/>
            </a:lvl4pPr>
            <a:lvl5pPr marL="1543050" indent="-171450">
              <a:buClrTx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ko-KR" altLang="en-US"/>
              <a:t>두 번째 수준</a:t>
            </a:r>
            <a:endParaRPr lang="en-US" altLang="ko-KR"/>
          </a:p>
          <a:p>
            <a:pPr lvl="1"/>
            <a:r>
              <a:rPr lang="ko-KR" altLang="en-US"/>
              <a:t>세 번째 수준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7424F-3297-D95B-C851-77D5FA265A6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4800" y="964541"/>
            <a:ext cx="11277600" cy="445159"/>
          </a:xfrm>
        </p:spPr>
        <p:txBody>
          <a:bodyPr/>
          <a:lstStyle>
            <a:lvl1pPr marL="432000" indent="-43200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v"/>
              <a:defRPr sz="2400"/>
            </a:lvl1pPr>
            <a:lvl2pPr marL="720000" indent="-25200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§"/>
              <a:defRPr lang="ko-KR" altLang="en-US" sz="2000" dirty="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 marL="1080000" indent="-324000"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sz="1800"/>
            </a:lvl3pPr>
            <a:lvl4pPr marL="1200150" indent="-171450">
              <a:buClrTx/>
              <a:buFont typeface="Arial" panose="020B0604020202020204" pitchFamily="34" charset="0"/>
              <a:buChar char="•"/>
              <a:defRPr sz="1200"/>
            </a:lvl4pPr>
            <a:lvl5pPr marL="1543050" indent="-171450">
              <a:buClrTx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270269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551" y="0"/>
            <a:ext cx="11024559" cy="762000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96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3150C2-20D0-A45F-5462-61690D2567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51239" y="4124506"/>
            <a:ext cx="5089525" cy="507881"/>
          </a:xfrm>
        </p:spPr>
        <p:txBody>
          <a:bodyPr/>
          <a:lstStyle>
            <a:lvl1pPr marL="0" indent="0" algn="ctr">
              <a:buNone/>
              <a:defRPr sz="2100"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8ADDEF-87C0-B90A-6505-6A3A384B7EE8}"/>
              </a:ext>
            </a:extLst>
          </p:cNvPr>
          <p:cNvSpPr txBox="1"/>
          <p:nvPr/>
        </p:nvSpPr>
        <p:spPr>
          <a:xfrm>
            <a:off x="3623209" y="2313750"/>
            <a:ext cx="4945585" cy="141961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8625"/>
              <a:t>Thank you</a:t>
            </a:r>
            <a:endParaRPr lang="ko-KR" altLang="en-US" sz="8625"/>
          </a:p>
        </p:txBody>
      </p:sp>
    </p:spTree>
    <p:extLst>
      <p:ext uri="{BB962C8B-B14F-4D97-AF65-F5344CB8AC3E}">
        <p14:creationId xmlns:p14="http://schemas.microsoft.com/office/powerpoint/2010/main" val="194193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0"/>
            <a:ext cx="1127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zh-CN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914400"/>
            <a:ext cx="112776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750">
                <a:latin typeface="Verdana" pitchFamily="34" charset="0"/>
                <a:ea typeface="宋体" pitchFamily="2" charset="-122"/>
              </a:defRPr>
            </a:lvl1pPr>
          </a:lstStyle>
          <a:p>
            <a:endParaRPr lang="ko-KR" altLang="en-US"/>
          </a:p>
        </p:txBody>
      </p:sp>
      <p:sp>
        <p:nvSpPr>
          <p:cNvPr id="1030" name="Rectangle 12"/>
          <p:cNvSpPr>
            <a:spLocks noChangeArrowheads="1"/>
          </p:cNvSpPr>
          <p:nvPr/>
        </p:nvSpPr>
        <p:spPr bwMode="auto">
          <a:xfrm>
            <a:off x="304800" y="762000"/>
            <a:ext cx="10058400" cy="152400"/>
          </a:xfrm>
          <a:prstGeom prst="rect">
            <a:avLst/>
          </a:prstGeom>
          <a:gradFill rotWithShape="0">
            <a:gsLst>
              <a:gs pos="0">
                <a:srgbClr val="297F3D">
                  <a:alpha val="99001"/>
                </a:srgb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E8E0A-D232-4C57-7AD9-EBC41A1AA7E2}"/>
              </a:ext>
            </a:extLst>
          </p:cNvPr>
          <p:cNvSpPr txBox="1"/>
          <p:nvPr/>
        </p:nvSpPr>
        <p:spPr>
          <a:xfrm>
            <a:off x="11582400" y="6373649"/>
            <a:ext cx="3866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B6F15528-21DE-4FAA-801E-634DDDAF4B2B}" type="slidenum">
              <a:rPr lang="en-US" altLang="ko-KR" sz="1350" smtClean="0">
                <a:solidFill>
                  <a:srgbClr val="000000"/>
                </a:solidFill>
              </a:rPr>
              <a:pPr/>
              <a:t>‹#›</a:t>
            </a:fld>
            <a:endParaRPr lang="ko-KR" altLang="en-US" sz="1350"/>
          </a:p>
        </p:txBody>
      </p:sp>
    </p:spTree>
    <p:extLst>
      <p:ext uri="{BB962C8B-B14F-4D97-AF65-F5344CB8AC3E}">
        <p14:creationId xmlns:p14="http://schemas.microsoft.com/office/powerpoint/2010/main" val="63149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itchFamily="18" charset="0"/>
          <a:cs typeface="Arial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itchFamily="18" charset="0"/>
          <a:cs typeface="Arial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itchFamily="18" charset="0"/>
          <a:cs typeface="Arial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itchFamily="18" charset="0"/>
          <a:cs typeface="Arial" charset="0"/>
        </a:defRPr>
      </a:lvl5pPr>
      <a:lvl6pPr marL="3429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itchFamily="18" charset="0"/>
          <a:cs typeface="Arial" charset="0"/>
        </a:defRPr>
      </a:lvl6pPr>
      <a:lvl7pPr marL="6858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itchFamily="18" charset="0"/>
          <a:cs typeface="Arial" charset="0"/>
        </a:defRPr>
      </a:lvl7pPr>
      <a:lvl8pPr marL="10287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itchFamily="18" charset="0"/>
          <a:cs typeface="Arial" charset="0"/>
        </a:defRPr>
      </a:lvl8pPr>
      <a:lvl9pPr marL="13716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itchFamily="18" charset="0"/>
          <a:cs typeface="Arial" charset="0"/>
        </a:defRPr>
      </a:lvl9pPr>
    </p:titleStyle>
    <p:bodyStyle>
      <a:lvl1pPr marL="257175" indent="-257175" algn="l" rtl="0" eaLnBrk="1" fontAlgn="base" latinLnBrk="1" hangingPunct="1">
        <a:spcBef>
          <a:spcPts val="0"/>
        </a:spcBef>
        <a:spcAft>
          <a:spcPts val="450"/>
        </a:spcAft>
        <a:buClr>
          <a:schemeClr val="tx1"/>
        </a:buClr>
        <a:buSzPct val="75000"/>
        <a:buFont typeface="Times New Roman" pitchFamily="18" charset="0"/>
        <a:buChar char="●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205740" algn="l" rtl="0" eaLnBrk="1" fontAlgn="base" latinLnBrk="1" hangingPunct="1">
        <a:spcBef>
          <a:spcPts val="0"/>
        </a:spcBef>
        <a:spcAft>
          <a:spcPts val="450"/>
        </a:spcAft>
        <a:buClrTx/>
        <a:buSzPct val="75000"/>
        <a:buFont typeface="Arial" charset="0"/>
        <a:buChar char="–"/>
        <a:defRPr lang="en-US" altLang="zh-CN" sz="1650" dirty="0" smtClean="0">
          <a:solidFill>
            <a:schemeClr val="tx1"/>
          </a:solidFill>
          <a:latin typeface="+mn-lt"/>
          <a:cs typeface="+mn-cs"/>
        </a:defRPr>
      </a:lvl2pPr>
      <a:lvl3pPr marL="754380" indent="-205740" algn="l" rtl="0" eaLnBrk="1" fontAlgn="base" latinLnBrk="1" hangingPunct="1">
        <a:spcBef>
          <a:spcPts val="0"/>
        </a:spcBef>
        <a:spcAft>
          <a:spcPts val="450"/>
        </a:spcAft>
        <a:buClrTx/>
        <a:buSzPct val="65000"/>
        <a:buFont typeface="Wingdings" pitchFamily="2" charset="2"/>
        <a:buChar char="§"/>
        <a:defRPr lang="en-US" altLang="zh-CN" sz="1500" dirty="0">
          <a:solidFill>
            <a:schemeClr val="tx1"/>
          </a:solidFill>
          <a:latin typeface="+mn-lt"/>
          <a:cs typeface="+mn-cs"/>
        </a:defRPr>
      </a:lvl3pPr>
      <a:lvl4pPr marL="1200150" indent="-171450" algn="l" rtl="0" eaLnBrk="1" fontAlgn="base" latinLnBrk="1" hangingPunct="1">
        <a:spcBef>
          <a:spcPct val="2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•"/>
        <a:defRPr sz="1200">
          <a:solidFill>
            <a:schemeClr val="tx1"/>
          </a:solidFill>
          <a:latin typeface="+mn-lt"/>
          <a:cs typeface="+mn-cs"/>
        </a:defRPr>
      </a:lvl4pPr>
      <a:lvl5pPr marL="1543050" indent="-17145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1350">
          <a:solidFill>
            <a:schemeClr val="tx1"/>
          </a:solidFill>
          <a:latin typeface="+mn-lt"/>
          <a:cs typeface="+mn-cs"/>
        </a:defRPr>
      </a:lvl5pPr>
      <a:lvl6pPr marL="1885950" indent="-17145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228850" indent="-17145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2571750" indent="-17145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2914650" indent="-17145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1CA2A-44B7-9F04-6068-47D43FF3D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8507" y="1016453"/>
            <a:ext cx="10882993" cy="1828800"/>
          </a:xfrm>
        </p:spPr>
        <p:txBody>
          <a:bodyPr/>
          <a:lstStyle/>
          <a:p>
            <a:r>
              <a:rPr lang="en-US" sz="4000" b="1"/>
              <a:t>IBIS Simulation in </a:t>
            </a:r>
            <a:r>
              <a:rPr lang="en-US" sz="4000" b="1" err="1"/>
              <a:t>Ngspice</a:t>
            </a:r>
            <a:endParaRPr lang="en-US" sz="4000" b="1" err="1">
              <a:effectLst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CACD7-6A52-C28F-D2D0-4E8721229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5294671"/>
            <a:ext cx="8534400" cy="1563329"/>
          </a:xfrm>
        </p:spPr>
        <p:txBody>
          <a:bodyPr/>
          <a:lstStyle/>
          <a:p>
            <a:r>
              <a:rPr lang="en-US" altLang="ko-KR" sz="1800"/>
              <a:t>Simon Hwang</a:t>
            </a:r>
          </a:p>
          <a:p>
            <a:r>
              <a:rPr lang="en-US" altLang="ko-KR" sz="1800"/>
              <a:t>Advisor: Dr. Chulsoon Hwang</a:t>
            </a:r>
          </a:p>
          <a:p>
            <a:r>
              <a:rPr lang="en-US" altLang="ko-KR" sz="1800"/>
              <a:t>Dr. Zhiping Yang</a:t>
            </a:r>
          </a:p>
          <a:p>
            <a:r>
              <a:rPr lang="en-US" altLang="ko-KR" sz="1800"/>
              <a:t>7/3/2026</a:t>
            </a:r>
          </a:p>
        </p:txBody>
      </p:sp>
    </p:spTree>
    <p:extLst>
      <p:ext uri="{BB962C8B-B14F-4D97-AF65-F5344CB8AC3E}">
        <p14:creationId xmlns:p14="http://schemas.microsoft.com/office/powerpoint/2010/main" val="66142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BBA7EC2-F186-F9CE-2A2D-88170AB1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11277600" cy="762000"/>
          </a:xfrm>
        </p:spPr>
        <p:txBody>
          <a:bodyPr/>
          <a:lstStyle/>
          <a:p>
            <a:r>
              <a:rPr lang="en-US"/>
              <a:t>"Replay Problem" for Short Pulse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990DF7-389C-927C-B987-E1444E7BFB7B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 bwMode="auto">
          <a:xfrm>
            <a:off x="1334469" y="1038225"/>
            <a:ext cx="9218261" cy="5438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0EC066C-F5AE-72AC-930B-4A0D4D22F94A}"/>
              </a:ext>
            </a:extLst>
          </p:cNvPr>
          <p:cNvSpPr/>
          <p:nvPr/>
        </p:nvSpPr>
        <p:spPr>
          <a:xfrm>
            <a:off x="7771062" y="4068010"/>
            <a:ext cx="352928" cy="339558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C0A1381-A65E-8817-2AD5-70DEEC617C54}"/>
              </a:ext>
            </a:extLst>
          </p:cNvPr>
          <p:cNvCxnSpPr/>
          <p:nvPr/>
        </p:nvCxnSpPr>
        <p:spPr>
          <a:xfrm flipH="1">
            <a:off x="8200024" y="4017043"/>
            <a:ext cx="2929021" cy="18582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5401AE8-8FC8-6D37-ADC3-D9D4284AA120}"/>
              </a:ext>
            </a:extLst>
          </p:cNvPr>
          <p:cNvSpPr txBox="1"/>
          <p:nvPr/>
        </p:nvSpPr>
        <p:spPr>
          <a:xfrm>
            <a:off x="11112208" y="3659564"/>
            <a:ext cx="94018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Ku replay from fully on state</a:t>
            </a:r>
          </a:p>
        </p:txBody>
      </p:sp>
    </p:spTree>
    <p:extLst>
      <p:ext uri="{BB962C8B-B14F-4D97-AF65-F5344CB8AC3E}">
        <p14:creationId xmlns:p14="http://schemas.microsoft.com/office/powerpoint/2010/main" val="2038882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4EB13-B9C3-F7F9-94B8-D23417E91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"Value-matched" Method Fails</a:t>
            </a:r>
          </a:p>
        </p:txBody>
      </p:sp>
      <p:pic>
        <p:nvPicPr>
          <p:cNvPr id="5" name="Content Placeholder 3" descr="A graph of a graph with blue and orange lines&#10;&#10;AI-generated content may be incorrect.">
            <a:extLst>
              <a:ext uri="{FF2B5EF4-FFF2-40B4-BE49-F238E27FC236}">
                <a16:creationId xmlns:a16="http://schemas.microsoft.com/office/drawing/2014/main" id="{BE900FA0-72C6-E45F-72CD-03A4927F1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5531" y="1107741"/>
            <a:ext cx="4879351" cy="265814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138B33D2-BC35-CFDB-4478-51CA14479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02476" y="3920838"/>
            <a:ext cx="4877820" cy="27116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3" descr="A diagram of a graph&#10;&#10;AI-generated content may be incorrect.">
            <a:extLst>
              <a:ext uri="{FF2B5EF4-FFF2-40B4-BE49-F238E27FC236}">
                <a16:creationId xmlns:a16="http://schemas.microsoft.com/office/drawing/2014/main" id="{00F14236-26FB-2194-DE62-9B9BEB7D9D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0" t="48198" r="-122" b="-134"/>
          <a:stretch>
            <a:fillRect/>
          </a:stretch>
        </p:blipFill>
        <p:spPr bwMode="auto">
          <a:xfrm>
            <a:off x="5674605" y="2406579"/>
            <a:ext cx="5694413" cy="27217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B5595B-1AE1-EF89-2A23-60D46DC1BDC6}"/>
              </a:ext>
            </a:extLst>
          </p:cNvPr>
          <p:cNvSpPr/>
          <p:nvPr/>
        </p:nvSpPr>
        <p:spPr>
          <a:xfrm>
            <a:off x="1530517" y="1029201"/>
            <a:ext cx="2525294" cy="24597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8158EA-64A5-8FA7-BB3E-BB7038C7B721}"/>
              </a:ext>
            </a:extLst>
          </p:cNvPr>
          <p:cNvSpPr txBox="1"/>
          <p:nvPr/>
        </p:nvSpPr>
        <p:spPr>
          <a:xfrm>
            <a:off x="870287" y="938871"/>
            <a:ext cx="385200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/>
              <a:t>Mid-transition </a:t>
            </a:r>
            <a:r>
              <a:rPr lang="en-US" sz="1600" dirty="0" err="1"/>
              <a:t>Ku_rising</a:t>
            </a:r>
            <a:r>
              <a:rPr lang="en-US" sz="1600" dirty="0"/>
              <a:t>/</a:t>
            </a:r>
            <a:r>
              <a:rPr lang="en-US" sz="1600" dirty="0" err="1"/>
              <a:t>Kd_rising</a:t>
            </a:r>
            <a:r>
              <a:rPr lang="en-US" sz="1600" dirty="0"/>
              <a:t>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852EF4-8601-2FAA-1C83-6F6FE631F185}"/>
              </a:ext>
            </a:extLst>
          </p:cNvPr>
          <p:cNvSpPr/>
          <p:nvPr/>
        </p:nvSpPr>
        <p:spPr>
          <a:xfrm>
            <a:off x="1252287" y="3832392"/>
            <a:ext cx="2939715" cy="15908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F4E16B-14D1-9031-0182-C52568003CDA}"/>
              </a:ext>
            </a:extLst>
          </p:cNvPr>
          <p:cNvSpPr txBox="1"/>
          <p:nvPr/>
        </p:nvSpPr>
        <p:spPr>
          <a:xfrm>
            <a:off x="596234" y="3739554"/>
            <a:ext cx="439342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/>
              <a:t>Mapping to </a:t>
            </a:r>
            <a:r>
              <a:rPr lang="en-US" sz="1600" dirty="0" err="1"/>
              <a:t>Ku_falling</a:t>
            </a:r>
            <a:r>
              <a:rPr lang="en-US" sz="1600" dirty="0"/>
              <a:t>/</a:t>
            </a:r>
            <a:r>
              <a:rPr lang="en-US" sz="1600" dirty="0" err="1"/>
              <a:t>Kd_falling</a:t>
            </a:r>
            <a:r>
              <a:rPr lang="en-US" sz="1600" dirty="0"/>
              <a:t> tables: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1A31A9-689D-B05E-AC87-D334C700DC3F}"/>
              </a:ext>
            </a:extLst>
          </p:cNvPr>
          <p:cNvSpPr txBox="1"/>
          <p:nvPr/>
        </p:nvSpPr>
        <p:spPr>
          <a:xfrm>
            <a:off x="5255128" y="1974923"/>
            <a:ext cx="653905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/>
              <a:t>Resulting Ku_ falling/</a:t>
            </a:r>
            <a:r>
              <a:rPr lang="en-US" sz="1600" dirty="0" err="1"/>
              <a:t>Kd_falling</a:t>
            </a:r>
            <a:r>
              <a:rPr lang="en-US" sz="1600" dirty="0"/>
              <a:t> during simulation vs. HSPICE Ku/</a:t>
            </a:r>
            <a:r>
              <a:rPr lang="en-US" sz="1600" dirty="0" err="1"/>
              <a:t>Kd</a:t>
            </a:r>
            <a:r>
              <a:rPr lang="en-US" sz="1600" dirty="0"/>
              <a:t>: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287467823"/>
      </p:ext>
    </p:extLst>
  </p:cSld>
  <p:clrMapOvr>
    <a:masterClrMapping/>
  </p:clrMapOvr>
</p:sld>
</file>

<file path=ppt/theme/theme1.xml><?xml version="1.0" encoding="utf-8"?>
<a:theme xmlns:a="http://schemas.openxmlformats.org/drawingml/2006/main" name="1_MST_EMC_lab_theme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ST_EMC_lab_theme" id="{F84A9E38-8E53-459B-962B-D11E178A4856}" vid="{AF41A44A-DCC1-4496-8938-47400BABA3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1_MST_EMC_lab_theme</vt:lpstr>
      <vt:lpstr>IBIS Simulation in Ngspice</vt:lpstr>
      <vt:lpstr>"Replay Problem" for Short Pulse</vt:lpstr>
      <vt:lpstr>Why "Value-matched" Method Fails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Lee, Seonghi</dc:creator>
  <cp:revision>53</cp:revision>
  <dcterms:created xsi:type="dcterms:W3CDTF">2025-07-07T19:11:35Z</dcterms:created>
  <dcterms:modified xsi:type="dcterms:W3CDTF">2026-07-14T07:11:59Z</dcterms:modified>
</cp:coreProperties>
</file>