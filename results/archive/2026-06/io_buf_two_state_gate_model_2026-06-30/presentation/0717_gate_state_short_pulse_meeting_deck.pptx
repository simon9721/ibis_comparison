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56" r:id="rId2"/>
    <p:sldId id="257" r:id="rId4"/>
    <p:sldId id="258" r:id="rId3"/>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B8"/>
    <a:srgbClr val="FBFB00"/>
    <a:srgbClr val="FFFF29"/>
    <a:srgbClr val="C321CF"/>
    <a:srgbClr val="C52BA8"/>
    <a:srgbClr val="99CCFF"/>
    <a:srgbClr val="6699FF"/>
    <a:srgbClr val="FFCC99"/>
    <a:srgbClr val="33CCFF"/>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CE76EB-5733-E639-DFBE-C032C02CA049}" v="311" dt="2026-07-10T21:33:20.263"/>
    <p1510:client id="{4B2B0703-2C84-945A-F101-9A0363D83DEB}" v="2" dt="2026-07-10T16:42:58.3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4" Type="http://schemas.openxmlformats.org/officeDocument/2006/relationships/slide" Target="slides/slide2.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microsoft.com/office/2015/10/relationships/revisionInfo" Target="revisionInfo.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FF5152-AD57-4057-A738-BC536A645BFF}" type="datetimeFigureOut">
              <a:rPr lang="en-US" smtClean="0"/>
              <a:t>7/14/2026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FBD6F9-9B61-4F1F-A828-501CEB5BCFB1}" type="slidenum">
              <a:rPr lang="en-US" smtClean="0"/>
              <a:t>‹#›</a:t>
            </a:fld>
            <a:endParaRPr lang="en-US"/>
          </a:p>
        </p:txBody>
      </p:sp>
    </p:spTree>
    <p:extLst>
      <p:ext uri="{BB962C8B-B14F-4D97-AF65-F5344CB8AC3E}">
        <p14:creationId xmlns:p14="http://schemas.microsoft.com/office/powerpoint/2010/main" val="6509444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This presentation explains one idea: replace restart-based Ku/Kd playback with two continuous hidden gate states. The purpose is to handle a reverse input edge that arrives before the prior output transition has settled.</a:t>
            </a:r>
            <a:br/>
            <a:br/>
            <a:r>
              <a:t>The deck starts with the failure mechanism in legacy pybis, then defines GUP and GDN, shows exactly how delay and tau are extracted from the four complete-edge coefficient traces, and walks through the generated ngspice implementation. The final slides show the measured evidence and the remaining limitation.</a:t>
            </a:r>
            <a:br/>
            <a:br/>
            <a:r>
              <a:t>The method presented is two_state_directional_residual. It is the strongest structural method in the study, but it is still experimental. It passes the offline complete-edge reconstruction gate and produces a coefficient-correct short-low result. It does not yet preserve the normal path as well as legacy, and short-high Kd recovery remains open.</a:t>
            </a:r>
            <a:endParaRPr lang="ko-KR" altLang="en-US"/>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12E5D0-9393-4591-81EA-D49C04BB4842}" type="slidenum">
              <a:rPr kumimoji="0" lang="ko-KR" altLang="en-US" sz="1200" b="0" i="0" u="none" strike="noStrike" kern="1200" cap="none" spc="0" normalizeH="0" baseline="0" noProof="0" smtClean="0">
                <a:ln>
                  <a:noFill/>
                </a:ln>
                <a:solidFill>
                  <a:prstClr val="black"/>
                </a:solidFill>
                <a:effectLst/>
                <a:uLnTx/>
                <a:uFillTx/>
                <a:latin typeface="맑은 고딕" panose="02110004020202020204"/>
                <a:ea typeface="맑은 고딕" panose="020B0503020000020004" pitchFamily="34" charset="-127"/>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ko-KR" altLang="en-US" sz="1200" b="0" i="0" u="none" strike="noStrike" kern="1200" cap="none" spc="0" normalizeH="0" baseline="0" noProof="0">
              <a:ln>
                <a:noFill/>
              </a:ln>
              <a:solidFill>
                <a:prstClr val="black"/>
              </a:solidFill>
              <a:effectLst/>
              <a:uLnTx/>
              <a:uFillTx/>
              <a:latin typeface="맑은 고딕" panose="02110004020202020204"/>
              <a:ea typeface="맑은 고딕" panose="020B0503020000020004" pitchFamily="34" charset="-127"/>
              <a:cs typeface="+mn-cs"/>
            </a:endParaRPr>
          </a:p>
        </p:txBody>
      </p:sp>
    </p:spTree>
    <p:extLst>
      <p:ext uri="{BB962C8B-B14F-4D97-AF65-F5344CB8AC3E}">
        <p14:creationId xmlns:p14="http://schemas.microsoft.com/office/powerpoint/2010/main" val="1119779915"/>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Begin with the physical event. A normal input pulse remains high long enough for the pullup strength Ku to reach its high endpoint and for the pulldown strength Kd to reach its low endpoint. Once the output is settled, starting the falling transition from the normal falling table is reasonable.</a:t>
            </a:r>
            <a:br/>
            <a:br/>
            <a:r>
              <a:t>The short-pulse case is different. The input rises and then falls before the internal drive strengths finish changing. At the reverse edge, Ku and Kd contain useful history: they tell us how far the pullup and pulldown processes have progressed. Legacy pybis does not preserve that history in the playback coordinate. It detects the new edge and begins the opposite complete-edge table at its first sample, which assumes the previous logic state had settled.</a:t>
            </a:r>
            <a:br/>
            <a:br/>
            <a:r>
              <a:t>The desired behavior is not to make the input edge slower. The edge remains 1 ps throughout this phase. The desired behavior is to retain the partial internal state and reverse from there. This is analogous to a transistor predriver whose internal gate nodes have only partially charged or discharged when the command reverses.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 and Kd are effective switching coefficients. Ku multiplies the pullup I-V table and Kd multiplies the pulldown I-V table. They are convenient model variables: around one means the corresponding network is fully enabled, around zero means disabled. The original coefficient extraction may contain small overshoot or undershoot, so these are not hard-clipped Boolean states.</a:t>
            </a:r>
            <a:br/>
            <a:br/>
            <a:r>
              <a:t>It is important not to confuse Ku and Kd with physical transistor gate voltages. They are output-strength multipliers derived from IBIS waveform data. The generated subcircuit uses V(Ku) and V(Kd) directly in behavioral current sources B3 and B4.</a:t>
            </a:r>
            <a:br/>
            <a:br/>
            <a:r>
              <a:t>Legacy InputDriven logic uses the most recent input edge to choose a rising or falling coefficient table and evaluates that table using elapsed time from the edge. When a reverse edge arrives, the elapsed coordinate restarts. That works after a settled transition because the opposite table's first sample represents the correct endpoint. It fails during an interrupted transition because the table's first sample does not equal the actual partial state.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change is a level of indirection. Instead of treating Ku and Kd as the states that are replayed from complete-edge tables, the model introduces two hidden continuous variables. GUP represents pullup predriver or gate-drive progress. GDN represents pulldown progress. These are normalized internal coordinates, not literal measured MOS gate voltages.</a:t>
            </a:r>
            <a:br/>
            <a:br/>
            <a:r>
              <a:t>The input edge first creates delayed command targets. GUP and GDN then move continuously toward those targets. Direction-specific maps convert the hidden states to the final Ku and Kd coefficients. The maps are necessary because the relationship between hidden progress and effective output strength is not the same during turn-on and turn-off.</a:t>
            </a:r>
            <a:br/>
            <a:br/>
            <a:r>
              <a:t>This answers the short-pulse problem directly. Suppose a falling edge arrives while GUP is 0.31 and GDN is 0.42. The new edge changes the desired target directions, but the stored states remain 0.31 and 0.42 at that instant. Their derivatives change; their values do not jump. Ku and Kd are recomputed from that continuous history.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four training traces. During a complete rising input transition, Ku turns on and Kd turns off. During a complete falling transition, Ku turns off and Kd turns on. These four paths are fitted separately because they have different onset delays, time constants, and coefficient shapes.</a:t>
            </a:r>
            <a:br/>
            <a:br/>
            <a:r>
              <a:t>For each trace, the code infers the start and end coefficient values and normalizes the transition to a zero-to-one progress coordinate. It then fits a delayed first-order state trajectory. For GUP, the rising Ku path moves GUP from zero to one and falling Ku moves it from one to zero. For GDN, the rising-input Kd-off path moves GDN from one to zero, while the falling-input Kd-on path moves it from zero to one.</a:t>
            </a:r>
            <a:br/>
            <a:br/>
            <a:r>
              <a:t>After reconstructing the state trajectory, the code pairs each hidden-state sample with the original coefficient sample. Those pairs form four PWL maps: Ku-on, Ku-off, Kd-off, and Kd-on. This preserves the original nonlinear coefficient shape while giving the runtime simulator a continuous hidden coordinate that survives a reverse edge.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Delay and tau describe different parts of the response. Delay is the onset time: the command has arrived at the input, but the corresponding hidden gate state has not yet started moving. Tau is the rate of exponential motion after that onset.</a:t>
            </a:r>
            <a:br/>
            <a:br/>
            <a:r>
              <a:t>The implementation normalizes each complete-edge coefficient trace and measures its 5%, 63%, and 90% crossing times. The 5% crossing is used as the delay. A first-order system reaches approximately 63% one tau after it begins, so t63 minus delay estimates tau. The 90% crossing provides a tail safeguard through division by ln(10). A 20 ps floor prevents a numerically singular time constant.</a:t>
            </a:r>
            <a:br/>
            <a:br/>
            <a:r>
              <a:t>The actual io_buf values are strongly asymmetric. Pullup turn-on begins at about 1.302 ns and is slow, with tau about 1.284 ns. Pullup turn-off begins much earlier and is faster. Pulldown turn-off begins around 1.443 ns, while pulldown turn-on has a long 2.480 ns onset delay. This asymmetry is exactly why one generic state or one generic replay clock is inadequate.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distinguishes the two kinds of capacitor, which was unclear in the prior deck.</a:t>
            </a:r>
            <a:br/>
            <a:br/>
            <a:r>
              <a:t>The command capacitor, such as CGUPCMD, stores the persistent requested endpoint after delayed edge pulses arrive. A rise event is transported through TPUONP. Its short pulse injects charge into GUPCMD and moves the command toward one. A delayed fall pulse removes charge and moves the command toward zero. BGUPTARGET clamps the command to the valid zero-to-one range. The same structure exists for the pulldown command.</a:t>
            </a:r>
            <a:br/>
            <a:br/>
            <a:r>
              <a:t>The gate-state capacitor CGUP is different. Its voltage V(GUP) is the actual continuous hidden state. BGUP supplies exactly the current needed to implement dGUP/dt=(target-GUP)/tau. Because current and capacitance obey I=C dV/dt, the chosen gate_c cancels algebraically. The 1 pF value is a numerical scaling convenience, not a claim that the transistor gate capacitance is 1 pF.</a:t>
            </a:r>
            <a:br/>
            <a:br/>
            <a:r>
              <a:t>When the target reverses, GUPTARGET may change quickly, but V(GUP) cannot jump. The source selects the off tau and GUP decays from its current value. GDN uses the same structure with different on and off taus and an initial state of 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GUP and GDN are not replacements with the same meaning as Ku and Kd. G is a hidden progress coordinate designed to evolve continuously. K is the effective output-network strength used by the IBIS current equations.</a:t>
            </a:r>
            <a:br/>
            <a:br/>
            <a:r>
              <a:t>The relationship is direction dependent. In the fitted io_buf maps, a GUP value around 0.40 corresponds to Ku around 0.23 while turning on but around 0.43 while turning off. Similarly, GDN around 0.50 maps to different Kd values depending on whether the pulldown is turning off or on. This hysteresis-like directional dependence is empirical evidence that a single static map cannot represent both paths.</a:t>
            </a:r>
            <a:br/>
            <a:br/>
            <a:r>
              <a:t>At runtime, the behavioral selector compares each target with its current state. If target is greater than state, it selects the on map; otherwise it selects the off map. The resulting KUGATE and KDGATE values feed small capacitor-backed Ku and Kd nodes with a 5 ps smoothing constant. Those final coefficients multiply the original IBIS pullup and pulldown I-V tables exactly as before.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complete runtime chain in one slide. First, the input detector creates a rise or fall event pulse. Second, transmission-line elements implement transport delay for each physical path. Third, the delayed pulse charges or discharges a command capacitor, which stores the persistent desired endpoint. Fourth, a behavioral current source and gate-state capacitor implement the continuous first-order state equation. Fifth, direction-specific PWL maps convert the hidden state to an effective coefficient. Sixth, a small coefficient capacitor produces continuous final Ku or Kd. Seventh, that coefficient scales the existing IBIS I-V source.</a:t>
            </a:r>
            <a:br/>
            <a:br/>
            <a:r>
              <a:t>The code shown is condensed but uses the actual generated ngspice element types and numerical values. The pulldown path is structurally parallel but uses separate delay, tau, state, and map values.</a:t>
            </a:r>
            <a:br/>
            <a:br/>
            <a:r>
              <a:t>There is no Python process controlling the simulation after netlist generation. pybis2spice writes this structure into the subcircuit, and ngspice solves the event lines, capacitor states, behavioral sources, and output currents together in the transient analysis.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event times. The input rises at 5.000 ns and falls at 6.000 ns, so the command pulse is only 1 ns wide. The four internal paths have different transport delays. Pullup-on arrives at about 6.302 ns, after the external input has already fallen. Pullup-off arrives at about 6.440 ns. Therefore GUPTARGET is high for only about 0.138 ns. GUP can charge only a little, and the direction-specific map produces a small Ku bump. This is the intended partial-response behavior.</a:t>
            </a:r>
            <a:br/>
            <a:br/>
            <a:r>
              <a:t>Pulldown-off arrives at about 6.443 ns, while the delayed pulldown-on command does not arrive until about 8.480 ns because the complete-edge PD-on delay is 2.480 ns. This creates the central remaining limitation. Native HSPICE IBIS shows a different Kd hold and recovery sequence. The current two-state model preserves continuity, but its Kd recovery staging is too late.</a:t>
            </a:r>
            <a:br/>
            <a:br/>
            <a:r>
              <a:t>The plot therefore contains both progress and an open issue. Ku and the tiny pad excursion are close, while Kd diverges. This is why the study requires coefficient-first validation rather than declaring success from pad voltage alone.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making any short-pulse claim, the compact structure must reproduce the original complete-edge coefficient tables used to derive it. This is the reconstruction gate.</a:t>
            </a:r>
            <a:br/>
            <a:br/>
            <a:r>
              <a:t>The left column uses a single map and has worst maximum error about 0.20467, so it fails. The middle column adds direction-specific on and off maps. This greatly improves shape and reduces worst maximum error to about 0.07389, but it still fails the predefined limit. The largest remaining defect is the negative Kd excursion, which a static map does not capture.</a:t>
            </a:r>
            <a:br/>
            <a:br/>
            <a:r>
              <a:t>The right column adds a small Kd dynamic residual linked to state rate. Its worst table RMSE is 0.019939 and worst maximum error is 0.048685, so it passes. This is why two_state_directional_residual is called the best structural method so far. The residual is a refinement after the gate-state core, not the core idea itself.</a:t>
            </a:r>
            <a:br/>
            <a:br/>
            <a:r>
              <a:t>These curves are offline table reconstructions, not transient HSPICE waveforms. HSPICE is not used to fit the parameters.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left column is the strongest success case: a 2 ns short-low pulse. The pad waveform and both coefficients improve together. This is right for the right reasons and demonstrates that continuous directional gate states can solve an interrupted-transition quadrant.</a:t>
            </a:r>
            <a:br/>
            <a:br/>
            <a:r>
              <a:t>The right column is the 1 ns short-high case. Ku remains partial and close to native IBIS. The pad output is tiny, so its absolute error is also small. Kd, however, follows a clearly different hold and recovery trajectory, with RMSE about 0.48754. That case remains open.</a:t>
            </a:r>
            <a:br/>
            <a:br/>
            <a:r>
              <a:t>The normal complete-edge control must also be stated. Directional-residual passes the offline reconstruction gate, but its long-pulse pad RMSE is 18.739 mV compared with 5.289 mV for legacy pybis. Therefore the model is not ready to replace legacy globally. A production version will likely need to preserve the legacy normal path while invoking continuous state handling only when interruption is detected and validated.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a precise claim. The two-state directional gate architecture is real progress. It removes forced replay restart, derives all core parameters from the original coefficient tables, passes complete-edge reconstruction after the directional and rate refinements, and produces at least one coefficient-correct interrupted result.</a:t>
            </a:r>
            <a:br/>
            <a:br/>
            <a:r>
              <a:t>It is not yet a general replacement. Normal long-pulse behavior regresses relative to legacy, short-high Kd recovery remains wrong, and the evidence is currently concentrated on io_buf.</a:t>
            </a:r>
            <a:br/>
            <a:br/>
            <a:r>
              <a:t>The next step should not be another wholesale model rewrite. Keep the validated GUP/GDN state equations, four directional paths, and maps. Add the minimum causal state needed to represent a pending pulldown-off command or recovery phase during short-high interruption. Outside a proven interruption window, preserve legacy-equivalent normal behavior. Then validate across pulse widths, both directions, repeated toggles, loads, and additional IBIS buffers.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only if the audience asks how the final reconstruction gate was passed. Direction-specific static maps removed most of the error but missed a small negative Kd excursion. That feature depends on how quickly GDN is moving, not only on its instantaneous value.</a:t>
            </a:r>
            <a:br/>
            <a:br/>
            <a:r>
              <a:t>The implemented correction is the directional Kd map plus a fitted residual table and a small term proportional to dGDN/dt. The fitted gain is about 0.000238691 ns. This reduces worst maximum complete-edge reconstruction error from about 0.07389 to 0.04869 and passes the offline gate.</a:t>
            </a:r>
            <a:br/>
            <a:br/>
            <a:r>
              <a:t>The residual does not solve the short-high recovery problem. That problem is a larger timing and staging disagreement after the reverse edge. The appendix therefore keeps the distinction clear: GUP/GDN provide history, directional maps provide the main static relationship, the residual restores a dynamic detail, and a future recovery-phase state is still needed for the open quadrant.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testbench holds edge rate, voltage, and load constant so the algorithm is the variable. The input is 3.3 V with 1 ps edges, and the output drives 50 ohms in parallel with 2 pF.</a:t>
            </a:r>
            <a:br/>
            <a:br/>
            <a:r>
              <a:t>There are two HSPICE references with different meanings. HSPICE native IBIS exposes pad voltage and internal Ku/Kd playback coefficients, so it is the coefficient reference. HSPICE transistor-level io_buf.sp exposes pad voltage only; it has no Ku or Kd because those are IBIS model coefficients, not physical transistor nodes.</a:t>
            </a:r>
            <a:br/>
            <a:br/>
            <a:r>
              <a:t>The two references can disagree at the pad. Therefore a claim must say which reference is being matched. The ngspice gate-state model is fitted only from IBIS-derived coefficient tables. Cached HSPICE results are used afterward for validation and are not an input to parameter extraction.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4" name="Picture 18" descr="new_logo_final"/>
          <p:cNvPicPr>
            <a:picLocks noChangeAspect="1" noChangeArrowheads="1"/>
          </p:cNvPicPr>
          <p:nvPr/>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0" y="4572000"/>
            <a:ext cx="3048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7" descr="new_logo_final"/>
          <p:cNvPicPr>
            <a:picLocks noChangeAspect="1" noChangeArrowheads="1"/>
          </p:cNvPicPr>
          <p:nvPr/>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0" y="2286000"/>
            <a:ext cx="3048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6" descr="new_logo_final"/>
          <p:cNvPicPr>
            <a:picLocks noChangeAspect="1" noChangeArrowheads="1"/>
          </p:cNvPicPr>
          <p:nvPr/>
        </p:nvPicPr>
        <p:blipFill>
          <a:blip r:embed="rId3" cstate="print">
            <a:lum bright="70000" contrast="-70000"/>
            <a:extLst>
              <a:ext uri="{28A0092B-C50C-407E-A947-70E740481C1C}">
                <a14:useLocalDpi xmlns:a14="http://schemas.microsoft.com/office/drawing/2010/main" val="0"/>
              </a:ext>
            </a:extLst>
          </a:blip>
          <a:srcRect/>
          <a:stretch>
            <a:fillRect/>
          </a:stretch>
        </p:blipFill>
        <p:spPr bwMode="auto">
          <a:xfrm>
            <a:off x="0" y="0"/>
            <a:ext cx="3048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11"/>
          <p:cNvSpPr>
            <a:spLocks noChangeArrowheads="1"/>
          </p:cNvSpPr>
          <p:nvPr/>
        </p:nvSpPr>
        <p:spPr bwMode="auto">
          <a:xfrm>
            <a:off x="609600" y="2971800"/>
            <a:ext cx="10871200" cy="152400"/>
          </a:xfrm>
          <a:prstGeom prst="rect">
            <a:avLst/>
          </a:prstGeom>
          <a:gradFill rotWithShape="1">
            <a:gsLst>
              <a:gs pos="0">
                <a:srgbClr val="287F3D"/>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a:solidFill>
                <a:srgbClr val="000000"/>
              </a:solidFill>
            </a:endParaRPr>
          </a:p>
        </p:txBody>
      </p:sp>
      <p:sp>
        <p:nvSpPr>
          <p:cNvPr id="33794" name="Rectangle 2"/>
          <p:cNvSpPr>
            <a:spLocks noGrp="1" noChangeArrowheads="1"/>
          </p:cNvSpPr>
          <p:nvPr>
            <p:ph type="ctrTitle"/>
          </p:nvPr>
        </p:nvSpPr>
        <p:spPr>
          <a:xfrm>
            <a:off x="914400" y="1057275"/>
            <a:ext cx="10363200" cy="1828800"/>
          </a:xfrm>
        </p:spPr>
        <p:txBody>
          <a:bodyPr anchor="ctr"/>
          <a:lstStyle>
            <a:lvl1pPr algn="ctr">
              <a:defRPr sz="4400"/>
            </a:lvl1pPr>
          </a:lstStyle>
          <a:p>
            <a:r>
              <a:rPr lang="ko-KR" altLang="en-US"/>
              <a:t>마스터 제목 스타일 편집</a:t>
            </a:r>
            <a:endParaRPr lang="en-US" altLang="zh-CN"/>
          </a:p>
        </p:txBody>
      </p:sp>
      <p:sp>
        <p:nvSpPr>
          <p:cNvPr id="33795" name="Rectangle 3"/>
          <p:cNvSpPr>
            <a:spLocks noGrp="1" noChangeArrowheads="1"/>
          </p:cNvSpPr>
          <p:nvPr>
            <p:ph type="subTitle" idx="1"/>
          </p:nvPr>
        </p:nvSpPr>
        <p:spPr>
          <a:xfrm>
            <a:off x="1828800" y="3657600"/>
            <a:ext cx="8534400" cy="1981200"/>
          </a:xfrm>
        </p:spPr>
        <p:txBody>
          <a:bodyPr/>
          <a:lstStyle>
            <a:lvl1pPr marL="0" indent="0" algn="ctr">
              <a:buFont typeface="Times New Roman" pitchFamily="18" charset="0"/>
              <a:buNone/>
              <a:defRPr sz="2800"/>
            </a:lvl1pPr>
          </a:lstStyle>
          <a:p>
            <a:r>
              <a:rPr lang="ko-KR" altLang="en-US"/>
              <a:t>클릭하여 마스터 부제목 스타일 편집</a:t>
            </a:r>
            <a:endParaRPr lang="en-US" altLang="zh-CN"/>
          </a:p>
        </p:txBody>
      </p:sp>
      <p:sp>
        <p:nvSpPr>
          <p:cNvPr id="2" name="Oval 1">
            <a:extLst>
              <a:ext uri="{FF2B5EF4-FFF2-40B4-BE49-F238E27FC236}">
                <a16:creationId xmlns:a16="http://schemas.microsoft.com/office/drawing/2014/main" id="{1185D946-0A64-0C7F-AA63-488808319B35}"/>
              </a:ext>
            </a:extLst>
          </p:cNvPr>
          <p:cNvSpPr/>
          <p:nvPr/>
        </p:nvSpPr>
        <p:spPr>
          <a:xfrm>
            <a:off x="11381117" y="6288658"/>
            <a:ext cx="684363" cy="483079"/>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Tree>
    <p:extLst>
      <p:ext uri="{BB962C8B-B14F-4D97-AF65-F5344CB8AC3E}">
        <p14:creationId xmlns:p14="http://schemas.microsoft.com/office/powerpoint/2010/main" val="420371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_1">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11277600" cy="762000"/>
          </a:xfrm>
        </p:spPr>
        <p:txBody>
          <a:bodyPr anchor="ctr"/>
          <a:lstStyle>
            <a:lvl1pPr>
              <a:defRPr sz="3200"/>
            </a:lvl1pPr>
          </a:lstStyle>
          <a:p>
            <a:r>
              <a:rPr lang="ko-KR" altLang="en-US"/>
              <a:t>마스터 제목 스타일 편집</a:t>
            </a:r>
            <a:endParaRPr lang="en-US"/>
          </a:p>
        </p:txBody>
      </p:sp>
      <p:sp>
        <p:nvSpPr>
          <p:cNvPr id="4" name="Content Placeholder 2">
            <a:extLst>
              <a:ext uri="{FF2B5EF4-FFF2-40B4-BE49-F238E27FC236}">
                <a16:creationId xmlns:a16="http://schemas.microsoft.com/office/drawing/2014/main" id="{38C6936E-D099-1BE8-8BB3-AAFCF768FD35}"/>
              </a:ext>
            </a:extLst>
          </p:cNvPr>
          <p:cNvSpPr>
            <a:spLocks noGrp="1"/>
          </p:cNvSpPr>
          <p:nvPr>
            <p:ph idx="10"/>
          </p:nvPr>
        </p:nvSpPr>
        <p:spPr>
          <a:xfrm>
            <a:off x="304800" y="1038225"/>
            <a:ext cx="11277600" cy="5438775"/>
          </a:xfrm>
        </p:spPr>
        <p:txBody>
          <a:bodyPr/>
          <a:lstStyle>
            <a:lvl1pPr marL="432000" indent="-432000">
              <a:spcBef>
                <a:spcPts val="0"/>
              </a:spcBef>
              <a:spcAft>
                <a:spcPts val="600"/>
              </a:spcAft>
              <a:buClrTx/>
              <a:buSzPct val="100000"/>
              <a:buFont typeface="Wingdings" panose="05000000000000000000" pitchFamily="2" charset="2"/>
              <a:buChar char="v"/>
              <a:defRPr sz="2400"/>
            </a:lvl1pPr>
            <a:lvl2pPr marL="720000" indent="-252000">
              <a:spcBef>
                <a:spcPts val="0"/>
              </a:spcBef>
              <a:spcAft>
                <a:spcPts val="600"/>
              </a:spcAft>
              <a:buClrTx/>
              <a:buSzPct val="100000"/>
              <a:buFont typeface="Wingdings" panose="05000000000000000000" pitchFamily="2" charset="2"/>
              <a:buChar char="§"/>
              <a:defRPr lang="ko-KR" altLang="en-US" sz="2000" dirty="0" smtClean="0">
                <a:solidFill>
                  <a:schemeClr val="tx1"/>
                </a:solidFill>
                <a:latin typeface="+mn-lt"/>
                <a:cs typeface="+mn-cs"/>
              </a:defRPr>
            </a:lvl2pPr>
            <a:lvl3pPr marL="1080000" indent="-324000">
              <a:spcAft>
                <a:spcPts val="600"/>
              </a:spcAft>
              <a:buClrTx/>
              <a:buSzPct val="100000"/>
              <a:buFont typeface="Arial" panose="020B0604020202020204" pitchFamily="34" charset="0"/>
              <a:buChar char="•"/>
              <a:defRPr sz="1800"/>
            </a:lvl3pPr>
            <a:lvl4pPr marL="1200150" indent="-171450">
              <a:buClrTx/>
              <a:buFont typeface="Arial" panose="020B0604020202020204" pitchFamily="34" charset="0"/>
              <a:buChar char="•"/>
              <a:defRPr sz="1200"/>
            </a:lvl4pPr>
            <a:lvl5pPr marL="1543050" indent="-171450">
              <a:buClrTx/>
              <a:buFont typeface="Courier New" panose="02070309020205020404" pitchFamily="49" charset="0"/>
              <a:buChar char="o"/>
              <a:defRPr sz="1050"/>
            </a:lvl5pPr>
          </a:lstStyle>
          <a:p>
            <a:pPr lvl="0"/>
            <a:r>
              <a:rPr lang="ko-KR" altLang="en-US"/>
              <a:t>마스터 텍스트 스타일을 편집하려면 클릭</a:t>
            </a:r>
          </a:p>
          <a:p>
            <a:pPr lvl="1"/>
            <a:r>
              <a:rPr lang="ko-KR" altLang="en-US"/>
              <a:t>두 번째 수준</a:t>
            </a:r>
            <a:endParaRPr lang="en-US" altLang="ko-KR"/>
          </a:p>
          <a:p>
            <a:pPr lvl="2"/>
            <a:r>
              <a:rPr lang="ko-KR" altLang="en-US"/>
              <a:t>세 번째 수준</a:t>
            </a:r>
          </a:p>
        </p:txBody>
      </p:sp>
    </p:spTree>
    <p:extLst>
      <p:ext uri="{BB962C8B-B14F-4D97-AF65-F5344CB8AC3E}">
        <p14:creationId xmlns:p14="http://schemas.microsoft.com/office/powerpoint/2010/main" val="11220102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2">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11277600" cy="762000"/>
          </a:xfrm>
        </p:spPr>
        <p:txBody>
          <a:bodyPr anchor="ctr"/>
          <a:lstStyle>
            <a:lvl1pPr>
              <a:defRPr sz="3200"/>
            </a:lvl1pPr>
          </a:lstStyle>
          <a:p>
            <a:r>
              <a:rPr lang="ko-KR" altLang="en-US"/>
              <a:t>마스터 제목 스타일 편집</a:t>
            </a:r>
            <a:endParaRPr lang="en-US"/>
          </a:p>
        </p:txBody>
      </p:sp>
      <p:sp>
        <p:nvSpPr>
          <p:cNvPr id="6" name="Content Placeholder 2">
            <a:extLst>
              <a:ext uri="{FF2B5EF4-FFF2-40B4-BE49-F238E27FC236}">
                <a16:creationId xmlns:a16="http://schemas.microsoft.com/office/drawing/2014/main" id="{AAA6B0B8-599D-92DF-18BE-0154789C5094}"/>
              </a:ext>
            </a:extLst>
          </p:cNvPr>
          <p:cNvSpPr>
            <a:spLocks noGrp="1"/>
          </p:cNvSpPr>
          <p:nvPr>
            <p:ph idx="1"/>
          </p:nvPr>
        </p:nvSpPr>
        <p:spPr>
          <a:xfrm>
            <a:off x="304800" y="5279366"/>
            <a:ext cx="11277600" cy="1197634"/>
          </a:xfrm>
        </p:spPr>
        <p:txBody>
          <a:bodyPr/>
          <a:lstStyle>
            <a:lvl1pPr marL="432000" indent="-432000">
              <a:spcBef>
                <a:spcPts val="0"/>
              </a:spcBef>
              <a:spcAft>
                <a:spcPts val="600"/>
              </a:spcAft>
              <a:buClrTx/>
              <a:buSzPct val="100000"/>
              <a:buFont typeface="Wingdings" panose="05000000000000000000" pitchFamily="2" charset="2"/>
              <a:buChar char="v"/>
              <a:defRPr sz="2400"/>
            </a:lvl1pPr>
            <a:lvl2pPr marL="720000" indent="-252000">
              <a:spcBef>
                <a:spcPts val="0"/>
              </a:spcBef>
              <a:spcAft>
                <a:spcPts val="600"/>
              </a:spcAft>
              <a:buClrTx/>
              <a:buSzPct val="100000"/>
              <a:buFont typeface="Wingdings" panose="05000000000000000000" pitchFamily="2" charset="2"/>
              <a:buChar char="§"/>
              <a:defRPr lang="ko-KR" altLang="en-US" sz="2000" dirty="0" smtClean="0">
                <a:solidFill>
                  <a:schemeClr val="tx1"/>
                </a:solidFill>
                <a:latin typeface="+mn-lt"/>
                <a:cs typeface="+mn-cs"/>
              </a:defRPr>
            </a:lvl2pPr>
            <a:lvl3pPr marL="1080000" indent="-324000">
              <a:spcAft>
                <a:spcPts val="600"/>
              </a:spcAft>
              <a:buClrTx/>
              <a:buSzPct val="100000"/>
              <a:buFont typeface="Arial" panose="020B0604020202020204" pitchFamily="34" charset="0"/>
              <a:buChar char="•"/>
              <a:defRPr sz="1800"/>
            </a:lvl3pPr>
            <a:lvl4pPr marL="1200150" indent="-171450">
              <a:buClrTx/>
              <a:buFont typeface="Arial" panose="020B0604020202020204" pitchFamily="34" charset="0"/>
              <a:buChar char="•"/>
              <a:defRPr sz="1200"/>
            </a:lvl4pPr>
            <a:lvl5pPr marL="1543050" indent="-171450">
              <a:buClrTx/>
              <a:buFont typeface="Courier New" panose="02070309020205020404" pitchFamily="49" charset="0"/>
              <a:buChar char="o"/>
              <a:defRPr sz="1050"/>
            </a:lvl5pPr>
          </a:lstStyle>
          <a:p>
            <a:pPr lvl="0"/>
            <a:r>
              <a:rPr lang="ko-KR" altLang="en-US"/>
              <a:t>마스터 텍스트 스타일을 편집하려면 클릭</a:t>
            </a:r>
          </a:p>
          <a:p>
            <a:pPr lvl="1"/>
            <a:r>
              <a:rPr lang="ko-KR" altLang="en-US"/>
              <a:t>두 번째 수준</a:t>
            </a:r>
            <a:endParaRPr lang="en-US" altLang="ko-KR"/>
          </a:p>
          <a:p>
            <a:pPr lvl="2"/>
            <a:r>
              <a:rPr lang="ko-KR" altLang="en-US"/>
              <a:t>세 번째 수준</a:t>
            </a:r>
          </a:p>
        </p:txBody>
      </p:sp>
    </p:spTree>
    <p:extLst>
      <p:ext uri="{BB962C8B-B14F-4D97-AF65-F5344CB8AC3E}">
        <p14:creationId xmlns:p14="http://schemas.microsoft.com/office/powerpoint/2010/main" val="3049719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content_2">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11277600" cy="762000"/>
          </a:xfrm>
        </p:spPr>
        <p:txBody>
          <a:bodyPr anchor="ctr"/>
          <a:lstStyle>
            <a:lvl1pPr>
              <a:defRPr sz="3200"/>
            </a:lvl1pPr>
          </a:lstStyle>
          <a:p>
            <a:r>
              <a:rPr lang="ko-KR" altLang="en-US"/>
              <a:t>마스터 제목 스타일 편집</a:t>
            </a:r>
            <a:endParaRPr lang="en-US"/>
          </a:p>
        </p:txBody>
      </p:sp>
      <p:sp>
        <p:nvSpPr>
          <p:cNvPr id="6" name="Content Placeholder 2">
            <a:extLst>
              <a:ext uri="{FF2B5EF4-FFF2-40B4-BE49-F238E27FC236}">
                <a16:creationId xmlns:a16="http://schemas.microsoft.com/office/drawing/2014/main" id="{AAA6B0B8-599D-92DF-18BE-0154789C5094}"/>
              </a:ext>
            </a:extLst>
          </p:cNvPr>
          <p:cNvSpPr>
            <a:spLocks noGrp="1"/>
          </p:cNvSpPr>
          <p:nvPr>
            <p:ph idx="1" hasCustomPrompt="1"/>
          </p:nvPr>
        </p:nvSpPr>
        <p:spPr>
          <a:xfrm>
            <a:off x="304800" y="5279366"/>
            <a:ext cx="11277600" cy="1197634"/>
          </a:xfrm>
        </p:spPr>
        <p:txBody>
          <a:bodyPr/>
          <a:lstStyle>
            <a:lvl1pPr marL="432000" indent="-432000">
              <a:spcBef>
                <a:spcPts val="0"/>
              </a:spcBef>
              <a:spcAft>
                <a:spcPts val="600"/>
              </a:spcAft>
              <a:buClrTx/>
              <a:buSzPct val="100000"/>
              <a:buFont typeface="Wingdings" panose="05000000000000000000" pitchFamily="2" charset="2"/>
              <a:buChar char="§"/>
              <a:defRPr sz="2000"/>
            </a:lvl1pPr>
            <a:lvl2pPr marL="720000" indent="-252000">
              <a:spcBef>
                <a:spcPts val="0"/>
              </a:spcBef>
              <a:spcAft>
                <a:spcPts val="600"/>
              </a:spcAft>
              <a:buClrTx/>
              <a:buSzPct val="100000"/>
              <a:buFont typeface="Arial" panose="020B0604020202020204" pitchFamily="34" charset="0"/>
              <a:buChar char="•"/>
              <a:defRPr lang="ko-KR" altLang="en-US" sz="1800" dirty="0" smtClean="0">
                <a:solidFill>
                  <a:schemeClr val="tx1"/>
                </a:solidFill>
                <a:latin typeface="+mn-lt"/>
                <a:cs typeface="+mn-cs"/>
              </a:defRPr>
            </a:lvl2pPr>
            <a:lvl3pPr marL="1080000" indent="-324000">
              <a:spcAft>
                <a:spcPts val="600"/>
              </a:spcAft>
              <a:buClrTx/>
              <a:buSzPct val="100000"/>
              <a:buFont typeface="Arial" panose="020B0604020202020204" pitchFamily="34" charset="0"/>
              <a:buChar char="•"/>
              <a:defRPr sz="1800"/>
            </a:lvl3pPr>
            <a:lvl4pPr marL="1200150" indent="-171450">
              <a:buClrTx/>
              <a:buFont typeface="Arial" panose="020B0604020202020204" pitchFamily="34" charset="0"/>
              <a:buChar char="•"/>
              <a:defRPr sz="1200"/>
            </a:lvl4pPr>
            <a:lvl5pPr marL="1543050" indent="-171450">
              <a:buClrTx/>
              <a:buFont typeface="Courier New" panose="02070309020205020404" pitchFamily="49" charset="0"/>
              <a:buChar char="o"/>
              <a:defRPr sz="1050"/>
            </a:lvl5pPr>
          </a:lstStyle>
          <a:p>
            <a:pPr lvl="0"/>
            <a:r>
              <a:rPr lang="ko-KR" altLang="en-US"/>
              <a:t>두 번째 수준</a:t>
            </a:r>
            <a:endParaRPr lang="en-US" altLang="ko-KR"/>
          </a:p>
          <a:p>
            <a:pPr lvl="1"/>
            <a:r>
              <a:rPr lang="ko-KR" altLang="en-US"/>
              <a:t>세 번째 수준</a:t>
            </a:r>
          </a:p>
        </p:txBody>
      </p:sp>
      <p:sp>
        <p:nvSpPr>
          <p:cNvPr id="3" name="Content Placeholder 2">
            <a:extLst>
              <a:ext uri="{FF2B5EF4-FFF2-40B4-BE49-F238E27FC236}">
                <a16:creationId xmlns:a16="http://schemas.microsoft.com/office/drawing/2014/main" id="{7287424F-3297-D95B-C851-77D5FA265A69}"/>
              </a:ext>
            </a:extLst>
          </p:cNvPr>
          <p:cNvSpPr>
            <a:spLocks noGrp="1"/>
          </p:cNvSpPr>
          <p:nvPr>
            <p:ph idx="10"/>
          </p:nvPr>
        </p:nvSpPr>
        <p:spPr>
          <a:xfrm>
            <a:off x="304800" y="964541"/>
            <a:ext cx="11277600" cy="445159"/>
          </a:xfrm>
        </p:spPr>
        <p:txBody>
          <a:bodyPr/>
          <a:lstStyle>
            <a:lvl1pPr marL="432000" indent="-432000">
              <a:spcBef>
                <a:spcPts val="0"/>
              </a:spcBef>
              <a:spcAft>
                <a:spcPts val="600"/>
              </a:spcAft>
              <a:buClrTx/>
              <a:buSzPct val="100000"/>
              <a:buFont typeface="Wingdings" panose="05000000000000000000" pitchFamily="2" charset="2"/>
              <a:buChar char="v"/>
              <a:defRPr sz="2400"/>
            </a:lvl1pPr>
            <a:lvl2pPr marL="720000" indent="-252000">
              <a:spcBef>
                <a:spcPts val="0"/>
              </a:spcBef>
              <a:spcAft>
                <a:spcPts val="600"/>
              </a:spcAft>
              <a:buClrTx/>
              <a:buSzPct val="100000"/>
              <a:buFont typeface="Wingdings" panose="05000000000000000000" pitchFamily="2" charset="2"/>
              <a:buChar char="§"/>
              <a:defRPr lang="ko-KR" altLang="en-US" sz="2000" dirty="0" smtClean="0">
                <a:solidFill>
                  <a:schemeClr val="tx1"/>
                </a:solidFill>
                <a:latin typeface="+mn-lt"/>
                <a:cs typeface="+mn-cs"/>
              </a:defRPr>
            </a:lvl2pPr>
            <a:lvl3pPr marL="1080000" indent="-324000">
              <a:spcAft>
                <a:spcPts val="600"/>
              </a:spcAft>
              <a:buClrTx/>
              <a:buSzPct val="100000"/>
              <a:buFont typeface="Arial" panose="020B0604020202020204" pitchFamily="34" charset="0"/>
              <a:buChar char="•"/>
              <a:defRPr sz="1800"/>
            </a:lvl3pPr>
            <a:lvl4pPr marL="1200150" indent="-171450">
              <a:buClrTx/>
              <a:buFont typeface="Arial" panose="020B0604020202020204" pitchFamily="34" charset="0"/>
              <a:buChar char="•"/>
              <a:defRPr sz="1200"/>
            </a:lvl4pPr>
            <a:lvl5pPr marL="1543050" indent="-171450">
              <a:buClrTx/>
              <a:buFont typeface="Courier New" panose="02070309020205020404" pitchFamily="49" charset="0"/>
              <a:buChar char="o"/>
              <a:defRPr sz="1050"/>
            </a:lvl5pPr>
          </a:lstStyle>
          <a:p>
            <a:pPr lvl="0"/>
            <a:r>
              <a:rPr lang="ko-KR" altLang="en-US"/>
              <a:t>마스터 텍스트 스타일을 편집하려면 클릭</a:t>
            </a:r>
          </a:p>
        </p:txBody>
      </p:sp>
    </p:spTree>
    <p:extLst>
      <p:ext uri="{BB962C8B-B14F-4D97-AF65-F5344CB8AC3E}">
        <p14:creationId xmlns:p14="http://schemas.microsoft.com/office/powerpoint/2010/main" val="12702699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content_4">
    <p:spTree>
      <p:nvGrpSpPr>
        <p:cNvPr id="1" name=""/>
        <p:cNvGrpSpPr/>
        <p:nvPr/>
      </p:nvGrpSpPr>
      <p:grpSpPr>
        <a:xfrm>
          <a:off x="0" y="0"/>
          <a:ext cx="0" cy="0"/>
          <a:chOff x="0" y="0"/>
          <a:chExt cx="0" cy="0"/>
        </a:xfrm>
      </p:grpSpPr>
      <p:sp>
        <p:nvSpPr>
          <p:cNvPr id="2" name="Title 1"/>
          <p:cNvSpPr>
            <a:spLocks noGrp="1"/>
          </p:cNvSpPr>
          <p:nvPr>
            <p:ph type="title"/>
          </p:nvPr>
        </p:nvSpPr>
        <p:spPr>
          <a:xfrm>
            <a:off x="310551" y="0"/>
            <a:ext cx="11024559" cy="762000"/>
          </a:xfrm>
        </p:spPr>
        <p:txBody>
          <a:bodyPr/>
          <a:lstStyle>
            <a:lvl1pPr>
              <a:defRPr sz="3200"/>
            </a:lvl1pPr>
          </a:lstStyle>
          <a:p>
            <a:r>
              <a:rPr lang="ko-KR" altLang="en-US"/>
              <a:t>마스터 제목 스타일 편집</a:t>
            </a:r>
            <a:endParaRPr lang="en-US"/>
          </a:p>
        </p:txBody>
      </p:sp>
    </p:spTree>
    <p:extLst>
      <p:ext uri="{BB962C8B-B14F-4D97-AF65-F5344CB8AC3E}">
        <p14:creationId xmlns:p14="http://schemas.microsoft.com/office/powerpoint/2010/main" val="3227596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content_4">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A3150C2-20D0-A45F-5462-61690D256719}"/>
              </a:ext>
            </a:extLst>
          </p:cNvPr>
          <p:cNvSpPr>
            <a:spLocks noGrp="1"/>
          </p:cNvSpPr>
          <p:nvPr>
            <p:ph sz="quarter" idx="10"/>
          </p:nvPr>
        </p:nvSpPr>
        <p:spPr>
          <a:xfrm>
            <a:off x="3551239" y="4124506"/>
            <a:ext cx="5089525" cy="507881"/>
          </a:xfrm>
        </p:spPr>
        <p:txBody>
          <a:bodyPr/>
          <a:lstStyle>
            <a:lvl1pPr marL="0" indent="0" algn="ctr">
              <a:buNone/>
              <a:defRPr sz="2100"/>
            </a:lvl1pPr>
          </a:lstStyle>
          <a:p>
            <a:pPr lvl="0"/>
            <a:r>
              <a:rPr lang="ko-KR" altLang="en-US"/>
              <a:t>마스터 텍스트 스타일을 편집하려면 클릭</a:t>
            </a:r>
          </a:p>
        </p:txBody>
      </p:sp>
      <p:sp>
        <p:nvSpPr>
          <p:cNvPr id="6" name="TextBox 5">
            <a:extLst>
              <a:ext uri="{FF2B5EF4-FFF2-40B4-BE49-F238E27FC236}">
                <a16:creationId xmlns:a16="http://schemas.microsoft.com/office/drawing/2014/main" id="{D28ADDEF-87C0-B90A-6505-6A3A384B7EE8}"/>
              </a:ext>
            </a:extLst>
          </p:cNvPr>
          <p:cNvSpPr txBox="1"/>
          <p:nvPr/>
        </p:nvSpPr>
        <p:spPr>
          <a:xfrm>
            <a:off x="3623209" y="2313750"/>
            <a:ext cx="4945585" cy="1419619"/>
          </a:xfrm>
          <a:prstGeom prst="rect">
            <a:avLst/>
          </a:prstGeom>
          <a:noFill/>
        </p:spPr>
        <p:txBody>
          <a:bodyPr wrap="none" rtlCol="0" anchor="ctr">
            <a:spAutoFit/>
          </a:bodyPr>
          <a:lstStyle/>
          <a:p>
            <a:pPr algn="ctr"/>
            <a:r>
              <a:rPr lang="en-US" altLang="zh-CN" sz="8625"/>
              <a:t>Thank you</a:t>
            </a:r>
            <a:endParaRPr lang="ko-KR" altLang="en-US" sz="8625"/>
          </a:p>
        </p:txBody>
      </p:sp>
    </p:spTree>
    <p:extLst>
      <p:ext uri="{BB962C8B-B14F-4D97-AF65-F5344CB8AC3E}">
        <p14:creationId xmlns:p14="http://schemas.microsoft.com/office/powerpoint/2010/main" val="194193463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04800" y="0"/>
            <a:ext cx="11277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ko-KR" altLang="en-US"/>
              <a:t>마스터 제목 스타일 편집</a:t>
            </a:r>
            <a:endParaRPr lang="en-US" altLang="zh-CN"/>
          </a:p>
        </p:txBody>
      </p:sp>
      <p:sp>
        <p:nvSpPr>
          <p:cNvPr id="1027" name="Rectangle 3"/>
          <p:cNvSpPr>
            <a:spLocks noGrp="1" noChangeArrowheads="1"/>
          </p:cNvSpPr>
          <p:nvPr>
            <p:ph type="body" idx="1"/>
          </p:nvPr>
        </p:nvSpPr>
        <p:spPr bwMode="auto">
          <a:xfrm>
            <a:off x="304800" y="914400"/>
            <a:ext cx="1127760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p:txBody>
      </p:sp>
      <p:sp>
        <p:nvSpPr>
          <p:cNvPr id="32773"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750">
                <a:latin typeface="Verdana" pitchFamily="34" charset="0"/>
                <a:ea typeface="宋体" pitchFamily="2" charset="-122"/>
              </a:defRPr>
            </a:lvl1pPr>
          </a:lstStyle>
          <a:p>
            <a:endParaRPr lang="ko-KR" altLang="en-US"/>
          </a:p>
        </p:txBody>
      </p:sp>
      <p:sp>
        <p:nvSpPr>
          <p:cNvPr id="1030" name="Rectangle 12"/>
          <p:cNvSpPr>
            <a:spLocks noChangeArrowheads="1"/>
          </p:cNvSpPr>
          <p:nvPr/>
        </p:nvSpPr>
        <p:spPr bwMode="auto">
          <a:xfrm>
            <a:off x="304800" y="762000"/>
            <a:ext cx="10058400" cy="152400"/>
          </a:xfrm>
          <a:prstGeom prst="rect">
            <a:avLst/>
          </a:prstGeom>
          <a:gradFill rotWithShape="0">
            <a:gsLst>
              <a:gs pos="0">
                <a:srgbClr val="297F3D">
                  <a:alpha val="99001"/>
                </a:srgbClr>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a:solidFill>
                <a:srgbClr val="000000"/>
              </a:solidFill>
            </a:endParaRPr>
          </a:p>
        </p:txBody>
      </p:sp>
      <p:sp>
        <p:nvSpPr>
          <p:cNvPr id="3" name="TextBox 2">
            <a:extLst>
              <a:ext uri="{FF2B5EF4-FFF2-40B4-BE49-F238E27FC236}">
                <a16:creationId xmlns:a16="http://schemas.microsoft.com/office/drawing/2014/main" id="{047E8E0A-D232-4C57-7AD9-EBC41A1AA7E2}"/>
              </a:ext>
            </a:extLst>
          </p:cNvPr>
          <p:cNvSpPr txBox="1"/>
          <p:nvPr/>
        </p:nvSpPr>
        <p:spPr>
          <a:xfrm>
            <a:off x="11582400" y="6373649"/>
            <a:ext cx="386644" cy="300082"/>
          </a:xfrm>
          <a:prstGeom prst="rect">
            <a:avLst/>
          </a:prstGeom>
          <a:noFill/>
        </p:spPr>
        <p:txBody>
          <a:bodyPr wrap="none" rtlCol="0">
            <a:spAutoFit/>
          </a:bodyPr>
          <a:lstStyle/>
          <a:p>
            <a:fld id="{B6F15528-21DE-4FAA-801E-634DDDAF4B2B}" type="slidenum">
              <a:rPr lang="en-US" altLang="ko-KR" sz="1350" smtClean="0">
                <a:solidFill>
                  <a:srgbClr val="000000"/>
                </a:solidFill>
              </a:rPr>
              <a:pPr/>
              <a:t>‹#›</a:t>
            </a:fld>
            <a:endParaRPr lang="ko-KR" altLang="en-US" sz="1350"/>
          </a:p>
        </p:txBody>
      </p:sp>
    </p:spTree>
    <p:extLst>
      <p:ext uri="{BB962C8B-B14F-4D97-AF65-F5344CB8AC3E}">
        <p14:creationId xmlns:p14="http://schemas.microsoft.com/office/powerpoint/2010/main" val="6314961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lgn="l" rtl="0" eaLnBrk="1" fontAlgn="base" latinLnBrk="1" hangingPunct="1">
        <a:spcBef>
          <a:spcPct val="0"/>
        </a:spcBef>
        <a:spcAft>
          <a:spcPct val="0"/>
        </a:spcAft>
        <a:defRPr sz="2800">
          <a:solidFill>
            <a:schemeClr val="tx1"/>
          </a:solidFill>
          <a:latin typeface="+mj-lt"/>
          <a:ea typeface="+mj-ea"/>
          <a:cs typeface="+mj-cs"/>
        </a:defRPr>
      </a:lvl1pPr>
      <a:lvl2pPr algn="l" rtl="0" eaLnBrk="1" fontAlgn="base" latinLnBrk="1" hangingPunct="1">
        <a:spcBef>
          <a:spcPct val="0"/>
        </a:spcBef>
        <a:spcAft>
          <a:spcPct val="0"/>
        </a:spcAft>
        <a:defRPr sz="2400">
          <a:solidFill>
            <a:schemeClr val="tx1"/>
          </a:solidFill>
          <a:latin typeface="Times New Roman" pitchFamily="18" charset="0"/>
          <a:cs typeface="Arial" charset="0"/>
        </a:defRPr>
      </a:lvl2pPr>
      <a:lvl3pPr algn="l" rtl="0" eaLnBrk="1" fontAlgn="base" latinLnBrk="1" hangingPunct="1">
        <a:spcBef>
          <a:spcPct val="0"/>
        </a:spcBef>
        <a:spcAft>
          <a:spcPct val="0"/>
        </a:spcAft>
        <a:defRPr sz="2400">
          <a:solidFill>
            <a:schemeClr val="tx1"/>
          </a:solidFill>
          <a:latin typeface="Times New Roman" pitchFamily="18" charset="0"/>
          <a:cs typeface="Arial" charset="0"/>
        </a:defRPr>
      </a:lvl3pPr>
      <a:lvl4pPr algn="l" rtl="0" eaLnBrk="1" fontAlgn="base" latinLnBrk="1" hangingPunct="1">
        <a:spcBef>
          <a:spcPct val="0"/>
        </a:spcBef>
        <a:spcAft>
          <a:spcPct val="0"/>
        </a:spcAft>
        <a:defRPr sz="2400">
          <a:solidFill>
            <a:schemeClr val="tx1"/>
          </a:solidFill>
          <a:latin typeface="Times New Roman" pitchFamily="18" charset="0"/>
          <a:cs typeface="Arial" charset="0"/>
        </a:defRPr>
      </a:lvl4pPr>
      <a:lvl5pPr algn="l" rtl="0" eaLnBrk="1" fontAlgn="base" latinLnBrk="1" hangingPunct="1">
        <a:spcBef>
          <a:spcPct val="0"/>
        </a:spcBef>
        <a:spcAft>
          <a:spcPct val="0"/>
        </a:spcAft>
        <a:defRPr sz="2400">
          <a:solidFill>
            <a:schemeClr val="tx1"/>
          </a:solidFill>
          <a:latin typeface="Times New Roman" pitchFamily="18" charset="0"/>
          <a:cs typeface="Arial" charset="0"/>
        </a:defRPr>
      </a:lvl5pPr>
      <a:lvl6pPr marL="342900" algn="l" rtl="0" eaLnBrk="1" fontAlgn="base" latinLnBrk="1" hangingPunct="1">
        <a:spcBef>
          <a:spcPct val="0"/>
        </a:spcBef>
        <a:spcAft>
          <a:spcPct val="0"/>
        </a:spcAft>
        <a:defRPr sz="2400">
          <a:solidFill>
            <a:schemeClr val="tx1"/>
          </a:solidFill>
          <a:latin typeface="Times New Roman" pitchFamily="18" charset="0"/>
          <a:cs typeface="Arial" charset="0"/>
        </a:defRPr>
      </a:lvl6pPr>
      <a:lvl7pPr marL="685800" algn="l" rtl="0" eaLnBrk="1" fontAlgn="base" latinLnBrk="1" hangingPunct="1">
        <a:spcBef>
          <a:spcPct val="0"/>
        </a:spcBef>
        <a:spcAft>
          <a:spcPct val="0"/>
        </a:spcAft>
        <a:defRPr sz="2400">
          <a:solidFill>
            <a:schemeClr val="tx1"/>
          </a:solidFill>
          <a:latin typeface="Times New Roman" pitchFamily="18" charset="0"/>
          <a:cs typeface="Arial" charset="0"/>
        </a:defRPr>
      </a:lvl7pPr>
      <a:lvl8pPr marL="1028700" algn="l" rtl="0" eaLnBrk="1" fontAlgn="base" latinLnBrk="1" hangingPunct="1">
        <a:spcBef>
          <a:spcPct val="0"/>
        </a:spcBef>
        <a:spcAft>
          <a:spcPct val="0"/>
        </a:spcAft>
        <a:defRPr sz="2400">
          <a:solidFill>
            <a:schemeClr val="tx1"/>
          </a:solidFill>
          <a:latin typeface="Times New Roman" pitchFamily="18" charset="0"/>
          <a:cs typeface="Arial" charset="0"/>
        </a:defRPr>
      </a:lvl8pPr>
      <a:lvl9pPr marL="1371600" algn="l" rtl="0" eaLnBrk="1" fontAlgn="base" latinLnBrk="1" hangingPunct="1">
        <a:spcBef>
          <a:spcPct val="0"/>
        </a:spcBef>
        <a:spcAft>
          <a:spcPct val="0"/>
        </a:spcAft>
        <a:defRPr sz="2400">
          <a:solidFill>
            <a:schemeClr val="tx1"/>
          </a:solidFill>
          <a:latin typeface="Times New Roman" pitchFamily="18" charset="0"/>
          <a:cs typeface="Arial" charset="0"/>
        </a:defRPr>
      </a:lvl9pPr>
    </p:titleStyle>
    <p:bodyStyle>
      <a:lvl1pPr marL="257175" indent="-257175" algn="l" rtl="0" eaLnBrk="1" fontAlgn="base" latinLnBrk="1" hangingPunct="1">
        <a:spcBef>
          <a:spcPts val="0"/>
        </a:spcBef>
        <a:spcAft>
          <a:spcPts val="450"/>
        </a:spcAft>
        <a:buClr>
          <a:schemeClr val="tx1"/>
        </a:buClr>
        <a:buSzPct val="75000"/>
        <a:buFont typeface="Times New Roman" pitchFamily="18" charset="0"/>
        <a:buChar char="●"/>
        <a:defRPr sz="1800">
          <a:solidFill>
            <a:schemeClr val="tx1"/>
          </a:solidFill>
          <a:latin typeface="+mn-lt"/>
          <a:ea typeface="+mn-ea"/>
          <a:cs typeface="+mn-cs"/>
        </a:defRPr>
      </a:lvl1pPr>
      <a:lvl2pPr marL="480060" indent="-205740" algn="l" rtl="0" eaLnBrk="1" fontAlgn="base" latinLnBrk="1" hangingPunct="1">
        <a:spcBef>
          <a:spcPts val="0"/>
        </a:spcBef>
        <a:spcAft>
          <a:spcPts val="450"/>
        </a:spcAft>
        <a:buClrTx/>
        <a:buSzPct val="75000"/>
        <a:buFont typeface="Arial" charset="0"/>
        <a:buChar char="–"/>
        <a:defRPr lang="en-US" altLang="zh-CN" sz="1650" dirty="0" smtClean="0">
          <a:solidFill>
            <a:schemeClr val="tx1"/>
          </a:solidFill>
          <a:latin typeface="+mn-lt"/>
          <a:cs typeface="+mn-cs"/>
        </a:defRPr>
      </a:lvl2pPr>
      <a:lvl3pPr marL="754380" indent="-205740" algn="l" rtl="0" eaLnBrk="1" fontAlgn="base" latinLnBrk="1" hangingPunct="1">
        <a:spcBef>
          <a:spcPts val="0"/>
        </a:spcBef>
        <a:spcAft>
          <a:spcPts val="450"/>
        </a:spcAft>
        <a:buClrTx/>
        <a:buSzPct val="65000"/>
        <a:buFont typeface="Wingdings" pitchFamily="2" charset="2"/>
        <a:buChar char="§"/>
        <a:defRPr lang="en-US" altLang="zh-CN" sz="1500" dirty="0">
          <a:solidFill>
            <a:schemeClr val="tx1"/>
          </a:solidFill>
          <a:latin typeface="+mn-lt"/>
          <a:cs typeface="+mn-cs"/>
        </a:defRPr>
      </a:lvl3pPr>
      <a:lvl4pPr marL="1200150" indent="-171450" algn="l" rtl="0" eaLnBrk="1" fontAlgn="base" latinLnBrk="1" hangingPunct="1">
        <a:spcBef>
          <a:spcPct val="20000"/>
        </a:spcBef>
        <a:spcAft>
          <a:spcPct val="0"/>
        </a:spcAft>
        <a:buClr>
          <a:schemeClr val="bg2"/>
        </a:buClr>
        <a:buFont typeface="Arial" panose="020B0604020202020204" pitchFamily="34" charset="0"/>
        <a:buChar char="•"/>
        <a:defRPr sz="1200">
          <a:solidFill>
            <a:schemeClr val="tx1"/>
          </a:solidFill>
          <a:latin typeface="+mn-lt"/>
          <a:cs typeface="+mn-cs"/>
        </a:defRPr>
      </a:lvl4pPr>
      <a:lvl5pPr marL="1543050" indent="-171450" algn="l" rtl="0" eaLnBrk="1" fontAlgn="base" latinLnBrk="1" hangingPunct="1">
        <a:spcBef>
          <a:spcPct val="20000"/>
        </a:spcBef>
        <a:spcAft>
          <a:spcPct val="0"/>
        </a:spcAft>
        <a:buClr>
          <a:schemeClr val="tx2"/>
        </a:buClr>
        <a:buSzPct val="80000"/>
        <a:buFont typeface="Wingdings" pitchFamily="2" charset="2"/>
        <a:buChar char="§"/>
        <a:defRPr sz="1350">
          <a:solidFill>
            <a:schemeClr val="tx1"/>
          </a:solidFill>
          <a:latin typeface="+mn-lt"/>
          <a:cs typeface="+mn-cs"/>
        </a:defRPr>
      </a:lvl5pPr>
      <a:lvl6pPr marL="1885950" indent="-171450" algn="l" rtl="0" eaLnBrk="1" fontAlgn="base" latinLnBrk="1"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228850" indent="-171450" algn="l" rtl="0" eaLnBrk="1" fontAlgn="base" latinLnBrk="1"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2571750" indent="-171450" algn="l" rtl="0" eaLnBrk="1" fontAlgn="base" latinLnBrk="1"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2914650" indent="-171450" algn="l" rtl="0" eaLnBrk="1" fontAlgn="base" latinLnBrk="1"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161CA2A-44B7-9F04-6068-47D43FF3DC60}"/>
              </a:ext>
            </a:extLst>
          </p:cNvPr>
          <p:cNvSpPr>
            <a:spLocks noGrp="1"/>
          </p:cNvSpPr>
          <p:nvPr>
            <p:ph type="ctrTitle"/>
          </p:nvPr>
        </p:nvSpPr>
        <p:spPr>
          <a:xfrm>
            <a:off x="1118507" y="1016453"/>
            <a:ext cx="10882993" cy="1828800"/>
          </a:xfrm>
        </p:spPr>
        <p:txBody>
          <a:bodyPr/>
          <a:lstStyle/>
          <a:p>
            <a:pPr>
              <a:defRPr sz="3500" b="1">
                <a:solidFill>
                  <a:srgbClr val="000000"/>
                </a:solidFill>
                <a:latin typeface="Times New Roman"/>
              </a:defRPr>
            </a:pPr>
            <a:r>
              <a:t>Continuous Gate-State Model for Short-Pulse IBIS</a:t>
            </a:r>
          </a:p>
        </p:txBody>
      </p:sp>
      <p:sp>
        <p:nvSpPr>
          <p:cNvPr id="3" name="부제목 2">
            <a:extLst>
              <a:ext uri="{FF2B5EF4-FFF2-40B4-BE49-F238E27FC236}">
                <a16:creationId xmlns:a16="http://schemas.microsoft.com/office/drawing/2014/main" id="{D62CACD7-6A52-C28F-D2D0-4E8721229DAB}"/>
              </a:ext>
            </a:extLst>
          </p:cNvPr>
          <p:cNvSpPr>
            <a:spLocks noGrp="1"/>
          </p:cNvSpPr>
          <p:nvPr>
            <p:ph type="subTitle" idx="1"/>
          </p:nvPr>
        </p:nvSpPr>
        <p:spPr>
          <a:xfrm>
            <a:off x="1828800" y="5294671"/>
            <a:ext cx="8534400" cy="1563329"/>
          </a:xfrm>
        </p:spPr>
        <p:txBody>
          <a:bodyPr/>
          <a:lstStyle/>
          <a:p>
            <a:pPr algn="ctr">
              <a:defRPr sz="1600">
                <a:solidFill>
                  <a:srgbClr val="000000"/>
                </a:solidFill>
                <a:latin typeface="Times New Roman"/>
              </a:defRPr>
            </a:pPr>
            <a:r>
              <a:t>Simon Hwang</a:t>
            </a:r>
          </a:p>
          <a:p>
            <a:pPr algn="ctr">
              <a:defRPr sz="1600">
                <a:solidFill>
                  <a:srgbClr val="000000"/>
                </a:solidFill>
                <a:latin typeface="Times New Roman"/>
              </a:defRPr>
            </a:pPr>
            <a:r>
              <a:t>Advisor: Dr. Chulsoon Hwang</a:t>
            </a:r>
          </a:p>
          <a:p>
            <a:pPr algn="ctr">
              <a:defRPr sz="1600">
                <a:solidFill>
                  <a:srgbClr val="000000"/>
                </a:solidFill>
                <a:latin typeface="Times New Roman"/>
              </a:defRPr>
            </a:pPr>
            <a:r>
              <a:t>Dr. Zhiping Yang</a:t>
            </a:r>
          </a:p>
          <a:p>
            <a:pPr algn="ctr">
              <a:defRPr sz="1600">
                <a:solidFill>
                  <a:srgbClr val="000000"/>
                </a:solidFill>
                <a:latin typeface="Times New Roman"/>
              </a:defRPr>
            </a:pPr>
            <a:r>
              <a:t>7/17/2026</a:t>
            </a:r>
          </a:p>
        </p:txBody>
      </p:sp>
    </p:spTree>
    <p:extLst>
      <p:ext uri="{BB962C8B-B14F-4D97-AF65-F5344CB8AC3E}">
        <p14:creationId xmlns:p14="http://schemas.microsoft.com/office/powerpoint/2010/main" val="66142218"/>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1. The short-pulse problem: a second edge arrives too early</a:t>
            </a:r>
          </a:p>
        </p:txBody>
      </p:sp>
      <p:sp>
        <p:nvSpPr>
          <p:cNvPr id="3" name="TextBox 2"/>
          <p:cNvSpPr txBox="1"/>
          <p:nvPr/>
        </p:nvSpPr>
        <p:spPr>
          <a:xfrm>
            <a:off x="9555480" y="109728"/>
            <a:ext cx="1965960" cy="228600"/>
          </a:xfrm>
          <a:prstGeom prst="rect">
            <a:avLst/>
          </a:prstGeom>
          <a:noFill/>
        </p:spPr>
        <p:txBody>
          <a:bodyPr wrap="square" lIns="45720" rIns="45720" anchor="t">
            <a:spAutoFit/>
          </a:bodyPr>
          <a:lstStyle/>
          <a:p>
            <a:pPr algn="r">
              <a:defRPr sz="950" b="1">
                <a:solidFill>
                  <a:srgbClr val="666C68"/>
                </a:solidFill>
                <a:latin typeface="Aptos"/>
              </a:defRPr>
            </a:pPr>
            <a:r>
              <a:t>PROBLEM</a:t>
            </a:r>
          </a:p>
        </p:txBody>
      </p:sp>
      <p:sp>
        <p:nvSpPr>
          <p:cNvPr id="4" name="TextBox 3"/>
          <p:cNvSpPr txBox="1"/>
          <p:nvPr/>
        </p:nvSpPr>
        <p:spPr>
          <a:xfrm>
            <a:off x="566928" y="914400"/>
            <a:ext cx="5257800" cy="320040"/>
          </a:xfrm>
          <a:prstGeom prst="rect">
            <a:avLst/>
          </a:prstGeom>
          <a:noFill/>
        </p:spPr>
        <p:txBody>
          <a:bodyPr wrap="square" lIns="45720" rIns="45720" anchor="t">
            <a:spAutoFit/>
          </a:bodyPr>
          <a:lstStyle/>
          <a:p>
            <a:pPr algn="ctr">
              <a:defRPr sz="1900" b="1">
                <a:solidFill>
                  <a:srgbClr val="2B7A43"/>
                </a:solidFill>
                <a:latin typeface="Aptos"/>
              </a:defRPr>
            </a:pPr>
            <a:r>
              <a:t>Long pulse: the first transition finishes</a:t>
            </a:r>
          </a:p>
        </p:txBody>
      </p:sp>
      <p:sp>
        <p:nvSpPr>
          <p:cNvPr id="5" name="TextBox 4"/>
          <p:cNvSpPr txBox="1"/>
          <p:nvPr/>
        </p:nvSpPr>
        <p:spPr>
          <a:xfrm>
            <a:off x="6355080" y="914400"/>
            <a:ext cx="5257800" cy="320040"/>
          </a:xfrm>
          <a:prstGeom prst="rect">
            <a:avLst/>
          </a:prstGeom>
          <a:noFill/>
        </p:spPr>
        <p:txBody>
          <a:bodyPr wrap="square" lIns="45720" rIns="45720" anchor="t">
            <a:spAutoFit/>
          </a:bodyPr>
          <a:lstStyle/>
          <a:p>
            <a:pPr algn="ctr">
              <a:defRPr sz="1900" b="1">
                <a:solidFill>
                  <a:srgbClr val="CA3030"/>
                </a:solidFill>
                <a:latin typeface="Aptos"/>
              </a:defRPr>
            </a:pPr>
            <a:r>
              <a:t>Short pulse: the reverse edge interrupts it</a:t>
            </a:r>
          </a:p>
        </p:txBody>
      </p:sp>
      <p:cxnSp>
        <p:nvCxnSpPr>
          <p:cNvPr id="6" name="Connector 5"/>
          <p:cNvCxnSpPr/>
          <p:nvPr/>
        </p:nvCxnSpPr>
        <p:spPr>
          <a:xfrm>
            <a:off x="822960" y="1965960"/>
            <a:ext cx="4663440" cy="0"/>
          </a:xfrm>
          <a:prstGeom prst="line">
            <a:avLst/>
          </a:prstGeom>
          <a:ln w="22860">
            <a:solidFill>
              <a:srgbClr val="666C68"/>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212080" y="2084831"/>
            <a:ext cx="457200" cy="228600"/>
          </a:xfrm>
          <a:prstGeom prst="rect">
            <a:avLst/>
          </a:prstGeom>
          <a:noFill/>
        </p:spPr>
        <p:txBody>
          <a:bodyPr wrap="square" lIns="45720" rIns="45720" anchor="t">
            <a:spAutoFit/>
          </a:bodyPr>
          <a:lstStyle/>
          <a:p>
            <a:pPr algn="l">
              <a:defRPr sz="1000" b="0">
                <a:solidFill>
                  <a:srgbClr val="666C68"/>
                </a:solidFill>
                <a:latin typeface="Aptos"/>
              </a:defRPr>
            </a:pPr>
            <a:r>
              <a:t>time</a:t>
            </a:r>
          </a:p>
        </p:txBody>
      </p:sp>
      <p:sp>
        <p:nvSpPr>
          <p:cNvPr id="8" name="Rounded Rectangle 7"/>
          <p:cNvSpPr/>
          <p:nvPr/>
        </p:nvSpPr>
        <p:spPr>
          <a:xfrm>
            <a:off x="1051560" y="1645920"/>
            <a:ext cx="731520" cy="502920"/>
          </a:xfrm>
          <a:prstGeom prst="roundRect">
            <a:avLst/>
          </a:prstGeom>
          <a:solidFill>
            <a:srgbClr val="EAF4FF"/>
          </a:solidFill>
          <a:ln w="15875">
            <a:solidFill>
              <a:srgbClr val="2467A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rise</a:t>
            </a:r>
          </a:p>
        </p:txBody>
      </p:sp>
      <p:cxnSp>
        <p:nvCxnSpPr>
          <p:cNvPr id="9" name="Connector 8"/>
          <p:cNvCxnSpPr/>
          <p:nvPr/>
        </p:nvCxnSpPr>
        <p:spPr>
          <a:xfrm>
            <a:off x="1783080" y="1901952"/>
            <a:ext cx="1005840" cy="0"/>
          </a:xfrm>
          <a:prstGeom prst="line">
            <a:avLst/>
          </a:prstGeom>
          <a:ln w="27940">
            <a:solidFill>
              <a:srgbClr val="2467AD"/>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788920" y="1490472"/>
            <a:ext cx="1234440" cy="822960"/>
          </a:xfrm>
          <a:prstGeom prst="roundRect">
            <a:avLst/>
          </a:prstGeom>
          <a:solidFill>
            <a:srgbClr val="F1F8F2"/>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Ku -&gt; 1</a:t>
            </a:r>
            <a:br/>
            <a:r>
              <a:t>Kd -&gt; 0</a:t>
            </a:r>
          </a:p>
        </p:txBody>
      </p:sp>
      <p:cxnSp>
        <p:nvCxnSpPr>
          <p:cNvPr id="11" name="Connector 10"/>
          <p:cNvCxnSpPr/>
          <p:nvPr/>
        </p:nvCxnSpPr>
        <p:spPr>
          <a:xfrm>
            <a:off x="4023360" y="1901952"/>
            <a:ext cx="68580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709160" y="1645920"/>
            <a:ext cx="914400" cy="502920"/>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300" b="1">
                <a:solidFill>
                  <a:srgbClr val="191F1C"/>
                </a:solidFill>
                <a:latin typeface="Aptos"/>
              </a:defRPr>
            </a:pPr>
            <a:r>
              <a:t>settled high</a:t>
            </a:r>
          </a:p>
        </p:txBody>
      </p:sp>
      <p:cxnSp>
        <p:nvCxnSpPr>
          <p:cNvPr id="13" name="Connector 12"/>
          <p:cNvCxnSpPr/>
          <p:nvPr/>
        </p:nvCxnSpPr>
        <p:spPr>
          <a:xfrm>
            <a:off x="6583680" y="1965960"/>
            <a:ext cx="4663440" cy="0"/>
          </a:xfrm>
          <a:prstGeom prst="line">
            <a:avLst/>
          </a:prstGeom>
          <a:ln w="22860">
            <a:solidFill>
              <a:srgbClr val="666C68"/>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812280" y="1645920"/>
            <a:ext cx="731520" cy="502920"/>
          </a:xfrm>
          <a:prstGeom prst="roundRect">
            <a:avLst/>
          </a:prstGeom>
          <a:solidFill>
            <a:srgbClr val="EAF4FF"/>
          </a:solidFill>
          <a:ln w="15875">
            <a:solidFill>
              <a:srgbClr val="2467A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rise</a:t>
            </a:r>
          </a:p>
        </p:txBody>
      </p:sp>
      <p:cxnSp>
        <p:nvCxnSpPr>
          <p:cNvPr id="15" name="Connector 14"/>
          <p:cNvCxnSpPr/>
          <p:nvPr/>
        </p:nvCxnSpPr>
        <p:spPr>
          <a:xfrm>
            <a:off x="7543800" y="1901952"/>
            <a:ext cx="1097280" cy="0"/>
          </a:xfrm>
          <a:prstGeom prst="line">
            <a:avLst/>
          </a:prstGeom>
          <a:ln w="27940">
            <a:solidFill>
              <a:srgbClr val="2467AD"/>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641080" y="1490472"/>
            <a:ext cx="1051560" cy="822960"/>
          </a:xfrm>
          <a:prstGeom prst="roundRect">
            <a:avLst/>
          </a:prstGeom>
          <a:solidFill>
            <a:srgbClr val="FFF1E4"/>
          </a:solidFill>
          <a:ln w="15875">
            <a:solidFill>
              <a:srgbClr val="DA842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partial</a:t>
            </a:r>
            <a:br/>
            <a:r>
              <a:t>Ku/Kd</a:t>
            </a:r>
          </a:p>
        </p:txBody>
      </p:sp>
      <p:cxnSp>
        <p:nvCxnSpPr>
          <p:cNvPr id="17" name="Connector 16"/>
          <p:cNvCxnSpPr/>
          <p:nvPr/>
        </p:nvCxnSpPr>
        <p:spPr>
          <a:xfrm>
            <a:off x="9692640" y="1901952"/>
            <a:ext cx="411480" cy="0"/>
          </a:xfrm>
          <a:prstGeom prst="line">
            <a:avLst/>
          </a:prstGeom>
          <a:ln w="27940">
            <a:solidFill>
              <a:srgbClr val="CA303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10104120" y="1645920"/>
            <a:ext cx="731520" cy="502920"/>
          </a:xfrm>
          <a:prstGeom prst="roundRect">
            <a:avLst/>
          </a:prstGeom>
          <a:solidFill>
            <a:srgbClr val="FCEBEB"/>
          </a:solidFill>
          <a:ln w="15875">
            <a:solidFill>
              <a:srgbClr val="CA303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fall</a:t>
            </a:r>
          </a:p>
        </p:txBody>
      </p:sp>
      <p:sp>
        <p:nvSpPr>
          <p:cNvPr id="19" name="TextBox 18"/>
          <p:cNvSpPr txBox="1"/>
          <p:nvPr/>
        </p:nvSpPr>
        <p:spPr>
          <a:xfrm>
            <a:off x="8366760" y="2487168"/>
            <a:ext cx="2834640" cy="320040"/>
          </a:xfrm>
          <a:prstGeom prst="rect">
            <a:avLst/>
          </a:prstGeom>
          <a:noFill/>
        </p:spPr>
        <p:txBody>
          <a:bodyPr wrap="square" lIns="45720" rIns="45720" anchor="t">
            <a:spAutoFit/>
          </a:bodyPr>
          <a:lstStyle/>
          <a:p>
            <a:pPr algn="ctr">
              <a:defRPr sz="1600" b="1">
                <a:solidFill>
                  <a:srgbClr val="CA3030"/>
                </a:solidFill>
                <a:latin typeface="Aptos"/>
              </a:defRPr>
            </a:pPr>
            <a:r>
              <a:t>Previous state is unfinished</a:t>
            </a:r>
          </a:p>
        </p:txBody>
      </p:sp>
      <p:sp>
        <p:nvSpPr>
          <p:cNvPr id="20" name="TextBox 19"/>
          <p:cNvSpPr txBox="1"/>
          <p:nvPr/>
        </p:nvSpPr>
        <p:spPr>
          <a:xfrm>
            <a:off x="685800" y="3154680"/>
            <a:ext cx="2743200" cy="320040"/>
          </a:xfrm>
          <a:prstGeom prst="rect">
            <a:avLst/>
          </a:prstGeom>
          <a:noFill/>
        </p:spPr>
        <p:txBody>
          <a:bodyPr wrap="square" lIns="45720" rIns="45720" anchor="t">
            <a:spAutoFit/>
          </a:bodyPr>
          <a:lstStyle/>
          <a:p>
            <a:pPr algn="l">
              <a:defRPr sz="1900" b="1">
                <a:solidFill>
                  <a:srgbClr val="CA3030"/>
                </a:solidFill>
                <a:latin typeface="Aptos"/>
              </a:defRPr>
            </a:pPr>
            <a:r>
              <a:t>Legacy replay assumption</a:t>
            </a:r>
          </a:p>
        </p:txBody>
      </p:sp>
      <p:sp>
        <p:nvSpPr>
          <p:cNvPr id="21" name="Rounded Rectangle 20"/>
          <p:cNvSpPr/>
          <p:nvPr/>
        </p:nvSpPr>
        <p:spPr>
          <a:xfrm>
            <a:off x="713232" y="3584448"/>
            <a:ext cx="4434840" cy="960120"/>
          </a:xfrm>
          <a:prstGeom prst="roundRect">
            <a:avLst/>
          </a:prstGeom>
          <a:solidFill>
            <a:srgbClr val="FCEBEB"/>
          </a:solidFill>
          <a:ln w="15875">
            <a:solidFill>
              <a:srgbClr val="CA303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700" b="1">
                <a:solidFill>
                  <a:srgbClr val="191F1C"/>
                </a:solidFill>
                <a:latin typeface="Aptos"/>
              </a:defRPr>
            </a:pPr>
            <a:r>
              <a:t>Every detected edge starts a complete Ku/Kd table at table time = 0.</a:t>
            </a:r>
          </a:p>
        </p:txBody>
      </p:sp>
      <p:sp>
        <p:nvSpPr>
          <p:cNvPr id="22" name="TextBox 21"/>
          <p:cNvSpPr txBox="1"/>
          <p:nvPr/>
        </p:nvSpPr>
        <p:spPr>
          <a:xfrm>
            <a:off x="5989320" y="3154680"/>
            <a:ext cx="2743200" cy="320040"/>
          </a:xfrm>
          <a:prstGeom prst="rect">
            <a:avLst/>
          </a:prstGeom>
          <a:noFill/>
        </p:spPr>
        <p:txBody>
          <a:bodyPr wrap="square" lIns="45720" rIns="45720" anchor="t">
            <a:spAutoFit/>
          </a:bodyPr>
          <a:lstStyle/>
          <a:p>
            <a:pPr algn="l">
              <a:defRPr sz="1900" b="1">
                <a:solidFill>
                  <a:srgbClr val="2B7A43"/>
                </a:solidFill>
                <a:latin typeface="Aptos"/>
              </a:defRPr>
            </a:pPr>
            <a:r>
              <a:t>What a real buffer needs</a:t>
            </a:r>
          </a:p>
        </p:txBody>
      </p:sp>
      <p:sp>
        <p:nvSpPr>
          <p:cNvPr id="23" name="Rounded Rectangle 22"/>
          <p:cNvSpPr/>
          <p:nvPr/>
        </p:nvSpPr>
        <p:spPr>
          <a:xfrm>
            <a:off x="6016752" y="3584448"/>
            <a:ext cx="4892040" cy="96012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700" b="1">
                <a:solidFill>
                  <a:srgbClr val="191F1C"/>
                </a:solidFill>
                <a:latin typeface="Aptos"/>
              </a:defRPr>
            </a:pPr>
            <a:r>
              <a:t>The new command must continue from the partially charged internal drive state.</a:t>
            </a:r>
          </a:p>
        </p:txBody>
      </p:sp>
      <p:sp>
        <p:nvSpPr>
          <p:cNvPr id="24" name="Rounded Rectangle 23"/>
          <p:cNvSpPr/>
          <p:nvPr/>
        </p:nvSpPr>
        <p:spPr>
          <a:xfrm>
            <a:off x="713232" y="4956048"/>
            <a:ext cx="1828800" cy="457200"/>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Observable consequence</a:t>
            </a:r>
          </a:p>
        </p:txBody>
      </p:sp>
      <p:sp>
        <p:nvSpPr>
          <p:cNvPr id="25" name="TextBox 24"/>
          <p:cNvSpPr txBox="1"/>
          <p:nvPr/>
        </p:nvSpPr>
        <p:spPr>
          <a:xfrm>
            <a:off x="2788920" y="4892040"/>
            <a:ext cx="8229600" cy="640080"/>
          </a:xfrm>
          <a:prstGeom prst="rect">
            <a:avLst/>
          </a:prstGeom>
          <a:noFill/>
        </p:spPr>
        <p:txBody>
          <a:bodyPr wrap="square" lIns="45720" rIns="45720" anchor="t">
            <a:spAutoFit/>
          </a:bodyPr>
          <a:lstStyle/>
          <a:p>
            <a:pPr algn="l">
              <a:defRPr sz="1700" b="1">
                <a:solidFill>
                  <a:srgbClr val="191F1C"/>
                </a:solidFill>
                <a:latin typeface="Aptos"/>
              </a:defRPr>
            </a:pPr>
            <a:r>
              <a:t>Legacy pybis can produce a nearly full Ku/Kd response from a pulse too short to create a full transistor-level output transition.</a:t>
            </a:r>
          </a:p>
        </p:txBody>
      </p:sp>
      <p:sp>
        <p:nvSpPr>
          <p:cNvPr id="26" name="Rectangle 25"/>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The problem is not the 1 ps edge rate; it is loss of unfinished switching history at the reverse edge.</a:t>
            </a:r>
          </a:p>
        </p:txBody>
      </p:sp>
      <p:sp>
        <p:nvSpPr>
          <p:cNvPr id="27" name="TextBox 26"/>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Study stimulus: 3.3 V, 1 ps edges, 50 ohm || 2 pF; short-pulse cases reverse before coefficient settling.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2. Original Ku/Kd: effective current strengths played from tables</a:t>
            </a:r>
          </a:p>
        </p:txBody>
      </p:sp>
      <p:sp>
        <p:nvSpPr>
          <p:cNvPr id="3" name="TextBox 2"/>
          <p:cNvSpPr txBox="1"/>
          <p:nvPr/>
        </p:nvSpPr>
        <p:spPr>
          <a:xfrm>
            <a:off x="9555480" y="109728"/>
            <a:ext cx="1965960" cy="228600"/>
          </a:xfrm>
          <a:prstGeom prst="rect">
            <a:avLst/>
          </a:prstGeom>
          <a:noFill/>
        </p:spPr>
        <p:txBody>
          <a:bodyPr wrap="square" lIns="45720" rIns="45720" anchor="t">
            <a:spAutoFit/>
          </a:bodyPr>
          <a:lstStyle/>
          <a:p>
            <a:pPr algn="r">
              <a:defRPr sz="950" b="1">
                <a:solidFill>
                  <a:srgbClr val="666C68"/>
                </a:solidFill>
                <a:latin typeface="Aptos"/>
              </a:defRPr>
            </a:pPr>
            <a:r>
              <a:t>LEGACY MODEL</a:t>
            </a:r>
          </a:p>
        </p:txBody>
      </p:sp>
      <p:sp>
        <p:nvSpPr>
          <p:cNvPr id="4" name="Rounded Rectangle 3"/>
          <p:cNvSpPr/>
          <p:nvPr/>
        </p:nvSpPr>
        <p:spPr>
          <a:xfrm>
            <a:off x="566928" y="1097280"/>
            <a:ext cx="1965960" cy="804672"/>
          </a:xfrm>
          <a:prstGeom prst="roundRect">
            <a:avLst/>
          </a:prstGeom>
          <a:solidFill>
            <a:srgbClr val="EAF4FF"/>
          </a:solidFill>
          <a:ln w="15875">
            <a:solidFill>
              <a:srgbClr val="2467A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700" b="1">
                <a:solidFill>
                  <a:srgbClr val="191F1C"/>
                </a:solidFill>
                <a:latin typeface="Aptos"/>
              </a:defRPr>
            </a:pPr>
            <a:r>
              <a:t>Ku(t)</a:t>
            </a:r>
            <a:br/>
            <a:r>
              <a:t>pullup strength</a:t>
            </a:r>
          </a:p>
        </p:txBody>
      </p:sp>
      <p:sp>
        <p:nvSpPr>
          <p:cNvPr id="5" name="Rounded Rectangle 4"/>
          <p:cNvSpPr/>
          <p:nvPr/>
        </p:nvSpPr>
        <p:spPr>
          <a:xfrm>
            <a:off x="566928" y="2148840"/>
            <a:ext cx="1965960" cy="804672"/>
          </a:xfrm>
          <a:prstGeom prst="roundRect">
            <a:avLst/>
          </a:prstGeom>
          <a:solidFill>
            <a:srgbClr val="FFF1E4"/>
          </a:solidFill>
          <a:ln w="15875">
            <a:solidFill>
              <a:srgbClr val="DA842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700" b="1">
                <a:solidFill>
                  <a:srgbClr val="191F1C"/>
                </a:solidFill>
                <a:latin typeface="Aptos"/>
              </a:defRPr>
            </a:pPr>
            <a:r>
              <a:t>Kd(t)</a:t>
            </a:r>
            <a:br/>
            <a:r>
              <a:t>pulldown strength</a:t>
            </a:r>
          </a:p>
        </p:txBody>
      </p:sp>
      <p:cxnSp>
        <p:nvCxnSpPr>
          <p:cNvPr id="6" name="Connector 5"/>
          <p:cNvCxnSpPr/>
          <p:nvPr/>
        </p:nvCxnSpPr>
        <p:spPr>
          <a:xfrm>
            <a:off x="2532888" y="1499616"/>
            <a:ext cx="804672" cy="0"/>
          </a:xfrm>
          <a:prstGeom prst="line">
            <a:avLst/>
          </a:prstGeom>
          <a:ln w="27940">
            <a:solidFill>
              <a:srgbClr val="2467A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532888" y="2551176"/>
            <a:ext cx="804672" cy="0"/>
          </a:xfrm>
          <a:prstGeom prst="line">
            <a:avLst/>
          </a:prstGeom>
          <a:ln w="27940">
            <a:solidFill>
              <a:srgbClr val="DA8426"/>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337560" y="1115568"/>
            <a:ext cx="2377440" cy="749808"/>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Ku x pullup I-V</a:t>
            </a:r>
          </a:p>
        </p:txBody>
      </p:sp>
      <p:sp>
        <p:nvSpPr>
          <p:cNvPr id="9" name="Rounded Rectangle 8"/>
          <p:cNvSpPr/>
          <p:nvPr/>
        </p:nvSpPr>
        <p:spPr>
          <a:xfrm>
            <a:off x="3337560" y="2167128"/>
            <a:ext cx="2377440" cy="749808"/>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Kd x pulldown I-V</a:t>
            </a:r>
          </a:p>
        </p:txBody>
      </p:sp>
      <p:cxnSp>
        <p:nvCxnSpPr>
          <p:cNvPr id="10" name="Connector 9"/>
          <p:cNvCxnSpPr/>
          <p:nvPr/>
        </p:nvCxnSpPr>
        <p:spPr>
          <a:xfrm>
            <a:off x="5715000" y="2029968"/>
            <a:ext cx="82296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537960" y="1572768"/>
            <a:ext cx="2011680" cy="914400"/>
          </a:xfrm>
          <a:prstGeom prst="roundRect">
            <a:avLst/>
          </a:prstGeom>
          <a:solidFill>
            <a:srgbClr val="F1F8F2"/>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PAD current</a:t>
            </a:r>
            <a:br/>
            <a:r>
              <a:t>and voltage</a:t>
            </a:r>
          </a:p>
        </p:txBody>
      </p:sp>
      <p:sp>
        <p:nvSpPr>
          <p:cNvPr id="12" name="TextBox 11"/>
          <p:cNvSpPr txBox="1"/>
          <p:nvPr/>
        </p:nvSpPr>
        <p:spPr>
          <a:xfrm>
            <a:off x="9006840" y="1005840"/>
            <a:ext cx="2011680" cy="320040"/>
          </a:xfrm>
          <a:prstGeom prst="rect">
            <a:avLst/>
          </a:prstGeom>
          <a:noFill/>
        </p:spPr>
        <p:txBody>
          <a:bodyPr wrap="square" lIns="45720" rIns="45720" anchor="t">
            <a:spAutoFit/>
          </a:bodyPr>
          <a:lstStyle/>
          <a:p>
            <a:pPr algn="l">
              <a:defRPr sz="1800" b="1">
                <a:solidFill>
                  <a:srgbClr val="2B7A43"/>
                </a:solidFill>
                <a:latin typeface="Aptos"/>
              </a:defRPr>
            </a:pPr>
            <a:r>
              <a:t>Meaning</a:t>
            </a:r>
          </a:p>
        </p:txBody>
      </p:sp>
      <p:sp>
        <p:nvSpPr>
          <p:cNvPr id="13" name="TextBox 12"/>
          <p:cNvSpPr txBox="1"/>
          <p:nvPr/>
        </p:nvSpPr>
        <p:spPr>
          <a:xfrm>
            <a:off x="8979408" y="1353312"/>
            <a:ext cx="2468880" cy="1737360"/>
          </a:xfrm>
          <a:prstGeom prst="rect">
            <a:avLst/>
          </a:prstGeom>
          <a:noFill/>
        </p:spPr>
        <p:txBody>
          <a:bodyPr wrap="square" lIns="73152" rIns="36576" tIns="36576" bIns="36576">
            <a:spAutoFit/>
          </a:bodyPr>
          <a:lstStyle/>
          <a:p>
            <a:pPr>
              <a:spcAft>
                <a:spcPts val="400"/>
              </a:spcAft>
              <a:defRPr sz="1450">
                <a:solidFill>
                  <a:srgbClr val="191F1C"/>
                </a:solidFill>
                <a:latin typeface="Aptos"/>
              </a:defRPr>
            </a:pPr>
            <a:r>
              <a:t>- Near 1: network fully enabled</a:t>
            </a:r>
          </a:p>
          <a:p>
            <a:pPr>
              <a:spcAft>
                <a:spcPts val="400"/>
              </a:spcAft>
              <a:defRPr sz="1450">
                <a:solidFill>
                  <a:srgbClr val="191F1C"/>
                </a:solidFill>
                <a:latin typeface="Aptos"/>
              </a:defRPr>
            </a:pPr>
            <a:r>
              <a:t>- Near 0: network disabled</a:t>
            </a:r>
          </a:p>
          <a:p>
            <a:pPr>
              <a:spcAft>
                <a:spcPts val="400"/>
              </a:spcAft>
              <a:defRPr sz="1450">
                <a:solidFill>
                  <a:srgbClr val="191F1C"/>
                </a:solidFill>
                <a:latin typeface="Aptos"/>
              </a:defRPr>
            </a:pPr>
            <a:r>
              <a:t>- Small overshoot is allowed</a:t>
            </a:r>
          </a:p>
          <a:p>
            <a:pPr>
              <a:spcAft>
                <a:spcPts val="400"/>
              </a:spcAft>
              <a:defRPr sz="1450">
                <a:solidFill>
                  <a:srgbClr val="191F1C"/>
                </a:solidFill>
                <a:latin typeface="Aptos"/>
              </a:defRPr>
            </a:pPr>
            <a:r>
              <a:t>- Ku/Kd are model coefficients, not transistor gate voltages</a:t>
            </a:r>
          </a:p>
        </p:txBody>
      </p:sp>
      <p:sp>
        <p:nvSpPr>
          <p:cNvPr id="14" name="TextBox 13"/>
          <p:cNvSpPr txBox="1"/>
          <p:nvPr/>
        </p:nvSpPr>
        <p:spPr>
          <a:xfrm>
            <a:off x="658368" y="3429000"/>
            <a:ext cx="3200400" cy="320040"/>
          </a:xfrm>
          <a:prstGeom prst="rect">
            <a:avLst/>
          </a:prstGeom>
          <a:noFill/>
        </p:spPr>
        <p:txBody>
          <a:bodyPr wrap="square" lIns="45720" rIns="45720" anchor="t">
            <a:spAutoFit/>
          </a:bodyPr>
          <a:lstStyle/>
          <a:p>
            <a:pPr algn="l">
              <a:defRPr sz="1900" b="1">
                <a:solidFill>
                  <a:srgbClr val="CA3030"/>
                </a:solidFill>
                <a:latin typeface="Aptos"/>
              </a:defRPr>
            </a:pPr>
            <a:r>
              <a:t>Legacy event-driven replay</a:t>
            </a:r>
          </a:p>
        </p:txBody>
      </p:sp>
      <p:sp>
        <p:nvSpPr>
          <p:cNvPr id="15" name="Rounded Rectangle 14"/>
          <p:cNvSpPr/>
          <p:nvPr/>
        </p:nvSpPr>
        <p:spPr>
          <a:xfrm>
            <a:off x="685800" y="3794760"/>
            <a:ext cx="4754880" cy="1325880"/>
          </a:xfrm>
          <a:prstGeom prst="roundRect">
            <a:avLst/>
          </a:prstGeom>
          <a:solidFill>
            <a:srgbClr val="F6F8F7"/>
          </a:solidFill>
          <a:ln w="12700">
            <a:solidFill>
              <a:srgbClr val="A4AEA8"/>
            </a:solidFill>
          </a:ln>
        </p:spPr>
        <p:style>
          <a:lnRef idx="1">
            <a:schemeClr val="accent1"/>
          </a:lnRef>
          <a:fillRef idx="3">
            <a:schemeClr val="accent1"/>
          </a:fillRef>
          <a:effectRef idx="2">
            <a:schemeClr val="accent1"/>
          </a:effectRef>
          <a:fontRef idx="minor">
            <a:schemeClr val="lt1"/>
          </a:fontRef>
        </p:style>
        <p:txBody>
          <a:bodyPr rtlCol="0" anchor="ctr" wrap="none" lIns="118872" rIns="73152" tIns="91440" bIns="73152"/>
          <a:lstStyle/>
          <a:p>
            <a:pPr algn="ctr">
              <a:defRPr sz="1350">
                <a:solidFill>
                  <a:srgbClr val="1E3027"/>
                </a:solidFill>
                <a:latin typeface="Consolas"/>
              </a:defRPr>
            </a:pPr>
            <a:r>
              <a:t>* simplified legacy pattern</a:t>
            </a:r>
            <a:br/>
            <a:r>
              <a:t>elapsed = time - last_edge_time</a:t>
            </a:r>
            <a:br/>
            <a:r>
              <a:t>if rising:  Ku,Kd = rising_tables(elapsed)</a:t>
            </a:r>
            <a:br/>
            <a:r>
              <a:t>if falling: Ku,Kd = falling_tables(elapsed)</a:t>
            </a:r>
          </a:p>
        </p:txBody>
      </p:sp>
      <p:sp>
        <p:nvSpPr>
          <p:cNvPr id="16" name="TextBox 15"/>
          <p:cNvSpPr txBox="1"/>
          <p:nvPr/>
        </p:nvSpPr>
        <p:spPr>
          <a:xfrm>
            <a:off x="5989320" y="3429000"/>
            <a:ext cx="2377440" cy="320040"/>
          </a:xfrm>
          <a:prstGeom prst="rect">
            <a:avLst/>
          </a:prstGeom>
          <a:noFill/>
        </p:spPr>
        <p:txBody>
          <a:bodyPr wrap="square" lIns="45720" rIns="45720" anchor="t">
            <a:spAutoFit/>
          </a:bodyPr>
          <a:lstStyle/>
          <a:p>
            <a:pPr algn="l">
              <a:defRPr sz="1900" b="1">
                <a:solidFill>
                  <a:srgbClr val="CA3030"/>
                </a:solidFill>
                <a:latin typeface="Aptos"/>
              </a:defRPr>
            </a:pPr>
            <a:r>
              <a:t>At a reverse edge</a:t>
            </a:r>
          </a:p>
        </p:txBody>
      </p:sp>
      <p:sp>
        <p:nvSpPr>
          <p:cNvPr id="17" name="Rounded Rectangle 16"/>
          <p:cNvSpPr/>
          <p:nvPr/>
        </p:nvSpPr>
        <p:spPr>
          <a:xfrm>
            <a:off x="6053328" y="3886200"/>
            <a:ext cx="2057400" cy="594360"/>
          </a:xfrm>
          <a:prstGeom prst="roundRect">
            <a:avLst/>
          </a:prstGeom>
          <a:solidFill>
            <a:srgbClr val="FCEBEB"/>
          </a:solidFill>
          <a:ln w="15875">
            <a:solidFill>
              <a:srgbClr val="CA303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elapsed resets to 0</a:t>
            </a:r>
          </a:p>
        </p:txBody>
      </p:sp>
      <p:cxnSp>
        <p:nvCxnSpPr>
          <p:cNvPr id="18" name="Connector 17"/>
          <p:cNvCxnSpPr/>
          <p:nvPr/>
        </p:nvCxnSpPr>
        <p:spPr>
          <a:xfrm>
            <a:off x="8110727" y="4187952"/>
            <a:ext cx="621793" cy="0"/>
          </a:xfrm>
          <a:prstGeom prst="line">
            <a:avLst/>
          </a:prstGeom>
          <a:ln w="27940">
            <a:solidFill>
              <a:srgbClr val="CA3030"/>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732520" y="3730752"/>
            <a:ext cx="2423160" cy="914400"/>
          </a:xfrm>
          <a:prstGeom prst="roundRect">
            <a:avLst/>
          </a:prstGeom>
          <a:solidFill>
            <a:srgbClr val="FCEBEB"/>
          </a:solidFill>
          <a:ln w="15875">
            <a:solidFill>
              <a:srgbClr val="CA303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opposite table starts from its settled endpoint</a:t>
            </a:r>
          </a:p>
        </p:txBody>
      </p:sp>
      <p:sp>
        <p:nvSpPr>
          <p:cNvPr id="20" name="TextBox 19"/>
          <p:cNvSpPr txBox="1"/>
          <p:nvPr/>
        </p:nvSpPr>
        <p:spPr>
          <a:xfrm>
            <a:off x="6053328" y="4892040"/>
            <a:ext cx="4800600" cy="256032"/>
          </a:xfrm>
          <a:prstGeom prst="rect">
            <a:avLst/>
          </a:prstGeom>
          <a:noFill/>
        </p:spPr>
        <p:txBody>
          <a:bodyPr wrap="square" lIns="45720" rIns="45720" anchor="t">
            <a:spAutoFit/>
          </a:bodyPr>
          <a:lstStyle/>
          <a:p>
            <a:pPr algn="l">
              <a:defRPr sz="1300" b="1">
                <a:solidFill>
                  <a:srgbClr val="666C68"/>
                </a:solidFill>
                <a:latin typeface="Aptos"/>
              </a:defRPr>
            </a:pPr>
            <a:r>
              <a:t>Actual current scaling in the generated subcircuit:</a:t>
            </a:r>
          </a:p>
        </p:txBody>
      </p:sp>
      <p:sp>
        <p:nvSpPr>
          <p:cNvPr id="21" name="Rounded Rectangle 20"/>
          <p:cNvSpPr/>
          <p:nvPr/>
        </p:nvSpPr>
        <p:spPr>
          <a:xfrm>
            <a:off x="6053328" y="5166360"/>
            <a:ext cx="5074920" cy="658368"/>
          </a:xfrm>
          <a:prstGeom prst="roundRect">
            <a:avLst/>
          </a:prstGeom>
          <a:solidFill>
            <a:srgbClr val="F6F8F7"/>
          </a:solidFill>
          <a:ln w="12700">
            <a:solidFill>
              <a:srgbClr val="A4AEA8"/>
            </a:solidFill>
          </a:ln>
        </p:spPr>
        <p:style>
          <a:lnRef idx="1">
            <a:schemeClr val="accent1"/>
          </a:lnRef>
          <a:fillRef idx="3">
            <a:schemeClr val="accent1"/>
          </a:fillRef>
          <a:effectRef idx="2">
            <a:schemeClr val="accent1"/>
          </a:effectRef>
          <a:fontRef idx="minor">
            <a:schemeClr val="lt1"/>
          </a:fontRef>
        </p:style>
        <p:txBody>
          <a:bodyPr rtlCol="0" anchor="ctr" wrap="none" lIns="118872" rIns="73152" tIns="91440" bIns="73152"/>
          <a:lstStyle/>
          <a:p>
            <a:pPr algn="ctr">
              <a:defRPr sz="1150">
                <a:solidFill>
                  <a:srgbClr val="1E3027"/>
                </a:solidFill>
                <a:latin typeface="Consolas"/>
              </a:defRPr>
            </a:pPr>
            <a:r>
              <a:t>B3 DIE PULLUP_REF   I={V(Ku)*pwl(...)}</a:t>
            </a:r>
            <a:br/>
            <a:r>
              <a:t>B4 DIE PULLDOWN_REF I={V(Kd)*pwl(...)}</a:t>
            </a:r>
          </a:p>
        </p:txBody>
      </p:sp>
      <p:sp>
        <p:nvSpPr>
          <p:cNvPr id="22" name="Rectangle 21"/>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Ku/Kd are the final drive multipliers. The weakness is how their time history is generated, not how they scale the IBIS I-V tables.</a:t>
            </a:r>
          </a:p>
        </p:txBody>
      </p:sp>
      <p:sp>
        <p:nvSpPr>
          <p:cNvPr id="23" name="TextBox 22"/>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Exact current-source pattern: generated driver_OutputInput_Typical.sub. Legacy replay shown in simplified form.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3. Core innovation: store two continuous hidden gate states</a:t>
            </a:r>
          </a:p>
        </p:txBody>
      </p:sp>
      <p:sp>
        <p:nvSpPr>
          <p:cNvPr id="3" name="TextBox 2"/>
          <p:cNvSpPr txBox="1"/>
          <p:nvPr/>
        </p:nvSpPr>
        <p:spPr>
          <a:xfrm>
            <a:off x="9555480" y="109728"/>
            <a:ext cx="1965960" cy="228600"/>
          </a:xfrm>
          <a:prstGeom prst="rect">
            <a:avLst/>
          </a:prstGeom>
          <a:noFill/>
        </p:spPr>
        <p:txBody>
          <a:bodyPr wrap="square" lIns="45720" rIns="45720" anchor="t">
            <a:spAutoFit/>
          </a:bodyPr>
          <a:lstStyle/>
          <a:p>
            <a:pPr algn="r">
              <a:defRPr sz="950" b="1">
                <a:solidFill>
                  <a:srgbClr val="666C68"/>
                </a:solidFill>
                <a:latin typeface="Aptos"/>
              </a:defRPr>
            </a:pPr>
            <a:r>
              <a:t>PROPOSED SOLUTION</a:t>
            </a:r>
          </a:p>
        </p:txBody>
      </p:sp>
      <p:sp>
        <p:nvSpPr>
          <p:cNvPr id="4" name="TextBox 3"/>
          <p:cNvSpPr txBox="1"/>
          <p:nvPr/>
        </p:nvSpPr>
        <p:spPr>
          <a:xfrm>
            <a:off x="566928" y="914400"/>
            <a:ext cx="3840480" cy="347472"/>
          </a:xfrm>
          <a:prstGeom prst="rect">
            <a:avLst/>
          </a:prstGeom>
          <a:noFill/>
        </p:spPr>
        <p:txBody>
          <a:bodyPr wrap="square" lIns="45720" rIns="45720" anchor="t">
            <a:spAutoFit/>
          </a:bodyPr>
          <a:lstStyle/>
          <a:p>
            <a:pPr algn="ctr">
              <a:defRPr sz="2000" b="1">
                <a:solidFill>
                  <a:srgbClr val="CA3030"/>
                </a:solidFill>
                <a:latin typeface="Aptos"/>
              </a:defRPr>
            </a:pPr>
            <a:r>
              <a:t>Do not replay Ku/Kd directly</a:t>
            </a:r>
          </a:p>
        </p:txBody>
      </p:sp>
      <p:sp>
        <p:nvSpPr>
          <p:cNvPr id="5" name="Rounded Rectangle 4"/>
          <p:cNvSpPr/>
          <p:nvPr/>
        </p:nvSpPr>
        <p:spPr>
          <a:xfrm>
            <a:off x="713232" y="1600200"/>
            <a:ext cx="914400" cy="566928"/>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edge</a:t>
            </a:r>
          </a:p>
        </p:txBody>
      </p:sp>
      <p:cxnSp>
        <p:nvCxnSpPr>
          <p:cNvPr id="6" name="Connector 5"/>
          <p:cNvCxnSpPr/>
          <p:nvPr/>
        </p:nvCxnSpPr>
        <p:spPr>
          <a:xfrm>
            <a:off x="1627632" y="1883664"/>
            <a:ext cx="704088" cy="0"/>
          </a:xfrm>
          <a:prstGeom prst="line">
            <a:avLst/>
          </a:prstGeom>
          <a:ln w="27940">
            <a:solidFill>
              <a:srgbClr val="CA3030"/>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331720" y="1417320"/>
            <a:ext cx="2011680" cy="914400"/>
          </a:xfrm>
          <a:prstGeom prst="roundRect">
            <a:avLst/>
          </a:prstGeom>
          <a:solidFill>
            <a:srgbClr val="FCEBEB"/>
          </a:solidFill>
          <a:ln w="15875">
            <a:solidFill>
              <a:srgbClr val="CA303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start Ku/Kd table</a:t>
            </a:r>
            <a:br/>
            <a:r>
              <a:t>at t = 0</a:t>
            </a:r>
          </a:p>
        </p:txBody>
      </p:sp>
      <p:sp>
        <p:nvSpPr>
          <p:cNvPr id="8" name="TextBox 7"/>
          <p:cNvSpPr txBox="1"/>
          <p:nvPr/>
        </p:nvSpPr>
        <p:spPr>
          <a:xfrm>
            <a:off x="1005840" y="2560320"/>
            <a:ext cx="3200400" cy="320040"/>
          </a:xfrm>
          <a:prstGeom prst="rect">
            <a:avLst/>
          </a:prstGeom>
          <a:noFill/>
        </p:spPr>
        <p:txBody>
          <a:bodyPr wrap="square" lIns="45720" rIns="45720" anchor="t">
            <a:spAutoFit/>
          </a:bodyPr>
          <a:lstStyle/>
          <a:p>
            <a:pPr algn="ctr">
              <a:defRPr sz="1600" b="1">
                <a:solidFill>
                  <a:srgbClr val="CA3030"/>
                </a:solidFill>
                <a:latin typeface="Aptos"/>
              </a:defRPr>
            </a:pPr>
            <a:r>
              <a:t>history is discarded</a:t>
            </a:r>
          </a:p>
        </p:txBody>
      </p:sp>
      <p:sp>
        <p:nvSpPr>
          <p:cNvPr id="9" name="TextBox 8"/>
          <p:cNvSpPr txBox="1"/>
          <p:nvPr/>
        </p:nvSpPr>
        <p:spPr>
          <a:xfrm>
            <a:off x="5029200" y="914400"/>
            <a:ext cx="6355080" cy="347472"/>
          </a:xfrm>
          <a:prstGeom prst="rect">
            <a:avLst/>
          </a:prstGeom>
          <a:noFill/>
        </p:spPr>
        <p:txBody>
          <a:bodyPr wrap="square" lIns="45720" rIns="45720" anchor="t">
            <a:spAutoFit/>
          </a:bodyPr>
          <a:lstStyle/>
          <a:p>
            <a:pPr algn="ctr">
              <a:defRPr sz="2000" b="1">
                <a:solidFill>
                  <a:srgbClr val="2B7A43"/>
                </a:solidFill>
                <a:latin typeface="Aptos"/>
              </a:defRPr>
            </a:pPr>
            <a:r>
              <a:t>Store internal progress, then derive Ku/Kd</a:t>
            </a:r>
          </a:p>
        </p:txBody>
      </p:sp>
      <p:sp>
        <p:nvSpPr>
          <p:cNvPr id="10" name="Rounded Rectangle 9"/>
          <p:cNvSpPr/>
          <p:nvPr/>
        </p:nvSpPr>
        <p:spPr>
          <a:xfrm>
            <a:off x="5166360" y="1417320"/>
            <a:ext cx="914400" cy="914400"/>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edge</a:t>
            </a:r>
          </a:p>
        </p:txBody>
      </p:sp>
      <p:cxnSp>
        <p:nvCxnSpPr>
          <p:cNvPr id="11" name="Connector 10"/>
          <p:cNvCxnSpPr/>
          <p:nvPr/>
        </p:nvCxnSpPr>
        <p:spPr>
          <a:xfrm>
            <a:off x="6080760" y="1874519"/>
            <a:ext cx="32004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400800" y="1417320"/>
            <a:ext cx="1234440" cy="91440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delayed</a:t>
            </a:r>
            <a:br/>
            <a:r>
              <a:t>targets</a:t>
            </a:r>
          </a:p>
        </p:txBody>
      </p:sp>
      <p:cxnSp>
        <p:nvCxnSpPr>
          <p:cNvPr id="13" name="Connector 12"/>
          <p:cNvCxnSpPr/>
          <p:nvPr/>
        </p:nvCxnSpPr>
        <p:spPr>
          <a:xfrm>
            <a:off x="7635240" y="1874519"/>
            <a:ext cx="36576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001000" y="1417320"/>
            <a:ext cx="1508760" cy="914400"/>
          </a:xfrm>
          <a:prstGeom prst="roundRect">
            <a:avLst/>
          </a:prstGeom>
          <a:solidFill>
            <a:srgbClr val="F1ECF8"/>
          </a:solidFill>
          <a:ln w="15875">
            <a:solidFill>
              <a:srgbClr val="69499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GUP / GDN</a:t>
            </a:r>
            <a:br/>
            <a:r>
              <a:t>stored states</a:t>
            </a:r>
          </a:p>
        </p:txBody>
      </p:sp>
      <p:cxnSp>
        <p:nvCxnSpPr>
          <p:cNvPr id="15" name="Connector 14"/>
          <p:cNvCxnSpPr/>
          <p:nvPr/>
        </p:nvCxnSpPr>
        <p:spPr>
          <a:xfrm>
            <a:off x="9509760" y="1874519"/>
            <a:ext cx="36576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875520" y="1417320"/>
            <a:ext cx="1417320" cy="91440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directional</a:t>
            </a:r>
            <a:br/>
            <a:r>
              <a:t>PWL maps</a:t>
            </a:r>
          </a:p>
        </p:txBody>
      </p:sp>
      <p:sp>
        <p:nvSpPr>
          <p:cNvPr id="17" name="Rounded Rectangle 16"/>
          <p:cNvSpPr/>
          <p:nvPr/>
        </p:nvSpPr>
        <p:spPr>
          <a:xfrm>
            <a:off x="10058400" y="2743200"/>
            <a:ext cx="1234440" cy="566928"/>
          </a:xfrm>
          <a:prstGeom prst="roundRect">
            <a:avLst/>
          </a:prstGeom>
          <a:solidFill>
            <a:srgbClr val="EAF4FF"/>
          </a:solidFill>
          <a:ln w="15875">
            <a:solidFill>
              <a:srgbClr val="2467A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Ku / Kd</a:t>
            </a:r>
          </a:p>
        </p:txBody>
      </p:sp>
      <p:cxnSp>
        <p:nvCxnSpPr>
          <p:cNvPr id="18" name="Connector 17"/>
          <p:cNvCxnSpPr/>
          <p:nvPr/>
        </p:nvCxnSpPr>
        <p:spPr>
          <a:xfrm>
            <a:off x="10588752" y="2331720"/>
            <a:ext cx="0" cy="41148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58368" y="3337560"/>
            <a:ext cx="2926080" cy="347472"/>
          </a:xfrm>
          <a:prstGeom prst="rect">
            <a:avLst/>
          </a:prstGeom>
          <a:noFill/>
        </p:spPr>
        <p:txBody>
          <a:bodyPr wrap="square" lIns="45720" rIns="45720" anchor="t">
            <a:spAutoFit/>
          </a:bodyPr>
          <a:lstStyle/>
          <a:p>
            <a:pPr algn="l">
              <a:defRPr sz="1900" b="1">
                <a:solidFill>
                  <a:srgbClr val="2B7A43"/>
                </a:solidFill>
                <a:latin typeface="Aptos"/>
              </a:defRPr>
            </a:pPr>
            <a:r>
              <a:t>What the states mean</a:t>
            </a:r>
          </a:p>
        </p:txBody>
      </p:sp>
      <p:sp>
        <p:nvSpPr>
          <p:cNvPr id="20" name="Rounded Rectangle 19"/>
          <p:cNvSpPr/>
          <p:nvPr/>
        </p:nvSpPr>
        <p:spPr>
          <a:xfrm>
            <a:off x="713232" y="3749039"/>
            <a:ext cx="2834640" cy="1325880"/>
          </a:xfrm>
          <a:prstGeom prst="roundRect">
            <a:avLst/>
          </a:prstGeom>
          <a:solidFill>
            <a:srgbClr val="EAF4FF"/>
          </a:solidFill>
          <a:ln w="15875">
            <a:solidFill>
              <a:srgbClr val="2467A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50" b="1">
                <a:solidFill>
                  <a:srgbClr val="191F1C"/>
                </a:solidFill>
                <a:latin typeface="Aptos"/>
              </a:defRPr>
            </a:pPr>
            <a:r>
              <a:t>GUP</a:t>
            </a:r>
            <a:br/>
            <a:r>
              <a:t>partial pullup gate-drive progress</a:t>
            </a:r>
            <a:br/>
            <a:r>
              <a:t>0 = low-state endpoint</a:t>
            </a:r>
            <a:br/>
            <a:r>
              <a:t>1 = high-state endpoint</a:t>
            </a:r>
          </a:p>
        </p:txBody>
      </p:sp>
      <p:sp>
        <p:nvSpPr>
          <p:cNvPr id="21" name="Rounded Rectangle 20"/>
          <p:cNvSpPr/>
          <p:nvPr/>
        </p:nvSpPr>
        <p:spPr>
          <a:xfrm>
            <a:off x="3822191" y="3749039"/>
            <a:ext cx="2834640" cy="1325880"/>
          </a:xfrm>
          <a:prstGeom prst="roundRect">
            <a:avLst/>
          </a:prstGeom>
          <a:solidFill>
            <a:srgbClr val="FFF1E4"/>
          </a:solidFill>
          <a:ln w="15875">
            <a:solidFill>
              <a:srgbClr val="DA842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50" b="1">
                <a:solidFill>
                  <a:srgbClr val="191F1C"/>
                </a:solidFill>
                <a:latin typeface="Aptos"/>
              </a:defRPr>
            </a:pPr>
            <a:r>
              <a:t>GDN</a:t>
            </a:r>
            <a:br/>
            <a:r>
              <a:t>partial pulldown gate-drive progress</a:t>
            </a:r>
            <a:br/>
            <a:r>
              <a:t>1 = low-state endpoint</a:t>
            </a:r>
            <a:br/>
            <a:r>
              <a:t>0 = high-state endpoint</a:t>
            </a:r>
          </a:p>
        </p:txBody>
      </p:sp>
      <p:sp>
        <p:nvSpPr>
          <p:cNvPr id="22" name="Rounded Rectangle 21"/>
          <p:cNvSpPr/>
          <p:nvPr/>
        </p:nvSpPr>
        <p:spPr>
          <a:xfrm>
            <a:off x="6931152" y="3749039"/>
            <a:ext cx="2834640" cy="1325880"/>
          </a:xfrm>
          <a:prstGeom prst="roundRect">
            <a:avLst/>
          </a:prstGeom>
          <a:solidFill>
            <a:srgbClr val="F1F8F2"/>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50" b="1">
                <a:solidFill>
                  <a:srgbClr val="191F1C"/>
                </a:solidFill>
                <a:latin typeface="Aptos"/>
              </a:defRPr>
            </a:pPr>
            <a:r>
              <a:t>Ku/Kd</a:t>
            </a:r>
            <a:br/>
            <a:r>
              <a:t>effective output-network strengths</a:t>
            </a:r>
            <a:br/>
            <a:r>
              <a:t>computed from GUP/GDN</a:t>
            </a:r>
            <a:br/>
            <a:r>
              <a:t>through fitted maps</a:t>
            </a:r>
          </a:p>
        </p:txBody>
      </p:sp>
      <p:sp>
        <p:nvSpPr>
          <p:cNvPr id="23" name="TextBox 22"/>
          <p:cNvSpPr txBox="1"/>
          <p:nvPr/>
        </p:nvSpPr>
        <p:spPr>
          <a:xfrm>
            <a:off x="10012680" y="4041648"/>
            <a:ext cx="1463040" cy="731520"/>
          </a:xfrm>
          <a:prstGeom prst="rect">
            <a:avLst/>
          </a:prstGeom>
          <a:noFill/>
        </p:spPr>
        <p:txBody>
          <a:bodyPr wrap="square" lIns="45720" rIns="45720" anchor="t">
            <a:spAutoFit/>
          </a:bodyPr>
          <a:lstStyle/>
          <a:p>
            <a:pPr algn="ctr">
              <a:defRPr sz="1500" b="1">
                <a:solidFill>
                  <a:srgbClr val="694996"/>
                </a:solidFill>
                <a:latin typeface="Aptos"/>
              </a:defRPr>
            </a:pPr>
            <a:r>
              <a:t>G is memory; K is output strength</a:t>
            </a:r>
          </a:p>
        </p:txBody>
      </p:sp>
      <p:sp>
        <p:nvSpPr>
          <p:cNvPr id="24" name="Rectangle 23"/>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At a reverse edge, only the targets change. GUP and GDN continue from their current capacitor voltages.</a:t>
            </a:r>
          </a:p>
        </p:txBody>
      </p:sp>
      <p:sp>
        <p:nvSpPr>
          <p:cNvPr id="25" name="TextBox 24"/>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Primary experimental mode: InputDrivenTwoStateGateDirectionalResidualFull.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4. Derive GUP/GDN from the four normal Ku/Kd transitions</a:t>
            </a:r>
          </a:p>
        </p:txBody>
      </p:sp>
      <p:sp>
        <p:nvSpPr>
          <p:cNvPr id="3" name="TextBox 2"/>
          <p:cNvSpPr txBox="1"/>
          <p:nvPr/>
        </p:nvSpPr>
        <p:spPr>
          <a:xfrm>
            <a:off x="9555480" y="109728"/>
            <a:ext cx="1965960" cy="228600"/>
          </a:xfrm>
          <a:prstGeom prst="rect">
            <a:avLst/>
          </a:prstGeom>
          <a:noFill/>
        </p:spPr>
        <p:txBody>
          <a:bodyPr wrap="square" lIns="45720" rIns="45720" anchor="t">
            <a:spAutoFit/>
          </a:bodyPr>
          <a:lstStyle/>
          <a:p>
            <a:pPr algn="r">
              <a:defRPr sz="950" b="1">
                <a:solidFill>
                  <a:srgbClr val="666C68"/>
                </a:solidFill>
                <a:latin typeface="Aptos"/>
              </a:defRPr>
            </a:pPr>
            <a:r>
              <a:t>MODEL DERIVATION</a:t>
            </a:r>
          </a:p>
        </p:txBody>
      </p:sp>
      <p:sp>
        <p:nvSpPr>
          <p:cNvPr id="4" name="TextBox 3"/>
          <p:cNvSpPr txBox="1"/>
          <p:nvPr/>
        </p:nvSpPr>
        <p:spPr>
          <a:xfrm>
            <a:off x="548640" y="896112"/>
            <a:ext cx="5394960" cy="320040"/>
          </a:xfrm>
          <a:prstGeom prst="rect">
            <a:avLst/>
          </a:prstGeom>
          <a:noFill/>
        </p:spPr>
        <p:txBody>
          <a:bodyPr wrap="square" lIns="45720" rIns="45720" anchor="t">
            <a:spAutoFit/>
          </a:bodyPr>
          <a:lstStyle/>
          <a:p>
            <a:pPr algn="ctr">
              <a:defRPr sz="1900" b="1">
                <a:solidFill>
                  <a:srgbClr val="2B7A43"/>
                </a:solidFill>
                <a:latin typeface="Aptos"/>
              </a:defRPr>
            </a:pPr>
            <a:r>
              <a:t>Complete rising input</a:t>
            </a:r>
          </a:p>
        </p:txBody>
      </p:sp>
      <p:sp>
        <p:nvSpPr>
          <p:cNvPr id="5" name="TextBox 4"/>
          <p:cNvSpPr txBox="1"/>
          <p:nvPr/>
        </p:nvSpPr>
        <p:spPr>
          <a:xfrm>
            <a:off x="6236208" y="896112"/>
            <a:ext cx="5394960" cy="320040"/>
          </a:xfrm>
          <a:prstGeom prst="rect">
            <a:avLst/>
          </a:prstGeom>
          <a:noFill/>
        </p:spPr>
        <p:txBody>
          <a:bodyPr wrap="square" lIns="45720" rIns="45720" anchor="t">
            <a:spAutoFit/>
          </a:bodyPr>
          <a:lstStyle/>
          <a:p>
            <a:pPr algn="ctr">
              <a:defRPr sz="1900" b="1">
                <a:solidFill>
                  <a:srgbClr val="2B7A43"/>
                </a:solidFill>
                <a:latin typeface="Aptos"/>
              </a:defRPr>
            </a:pPr>
            <a:r>
              <a:t>Complete falling input</a:t>
            </a:r>
          </a:p>
        </p:txBody>
      </p:sp>
      <p:sp>
        <p:nvSpPr>
          <p:cNvPr id="6" name="Rounded Rectangle 5"/>
          <p:cNvSpPr/>
          <p:nvPr/>
        </p:nvSpPr>
        <p:spPr>
          <a:xfrm>
            <a:off x="658368" y="1417320"/>
            <a:ext cx="2423160" cy="1051560"/>
          </a:xfrm>
          <a:prstGeom prst="roundRect">
            <a:avLst/>
          </a:prstGeom>
          <a:solidFill>
            <a:srgbClr val="EAF4FF"/>
          </a:solidFill>
          <a:ln w="15875">
            <a:solidFill>
              <a:srgbClr val="2467A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Ku rise</a:t>
            </a:r>
            <a:br/>
            <a:r>
              <a:t>pullup ON</a:t>
            </a:r>
            <a:br/>
            <a:r>
              <a:t>GUP: 0 -&gt; 1</a:t>
            </a:r>
          </a:p>
        </p:txBody>
      </p:sp>
      <p:sp>
        <p:nvSpPr>
          <p:cNvPr id="7" name="Rounded Rectangle 6"/>
          <p:cNvSpPr/>
          <p:nvPr/>
        </p:nvSpPr>
        <p:spPr>
          <a:xfrm>
            <a:off x="3401568" y="1417320"/>
            <a:ext cx="2423160" cy="1051560"/>
          </a:xfrm>
          <a:prstGeom prst="roundRect">
            <a:avLst/>
          </a:prstGeom>
          <a:solidFill>
            <a:srgbClr val="FFF1E4"/>
          </a:solidFill>
          <a:ln w="15875">
            <a:solidFill>
              <a:srgbClr val="DA842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Kd fall</a:t>
            </a:r>
            <a:br/>
            <a:r>
              <a:t>pulldown OFF</a:t>
            </a:r>
            <a:br/>
            <a:r>
              <a:t>GDN: 1 -&gt; 0</a:t>
            </a:r>
          </a:p>
        </p:txBody>
      </p:sp>
      <p:sp>
        <p:nvSpPr>
          <p:cNvPr id="8" name="Rounded Rectangle 7"/>
          <p:cNvSpPr/>
          <p:nvPr/>
        </p:nvSpPr>
        <p:spPr>
          <a:xfrm>
            <a:off x="6355080" y="1417320"/>
            <a:ext cx="2423160" cy="1051560"/>
          </a:xfrm>
          <a:prstGeom prst="roundRect">
            <a:avLst/>
          </a:prstGeom>
          <a:solidFill>
            <a:srgbClr val="EAF4FF"/>
          </a:solidFill>
          <a:ln w="15875">
            <a:solidFill>
              <a:srgbClr val="2467A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Ku fall</a:t>
            </a:r>
            <a:br/>
            <a:r>
              <a:t>pullup OFF</a:t>
            </a:r>
            <a:br/>
            <a:r>
              <a:t>GUP: 1 -&gt; 0</a:t>
            </a:r>
          </a:p>
        </p:txBody>
      </p:sp>
      <p:sp>
        <p:nvSpPr>
          <p:cNvPr id="9" name="Rounded Rectangle 8"/>
          <p:cNvSpPr/>
          <p:nvPr/>
        </p:nvSpPr>
        <p:spPr>
          <a:xfrm>
            <a:off x="9098280" y="1417320"/>
            <a:ext cx="2423160" cy="1051560"/>
          </a:xfrm>
          <a:prstGeom prst="roundRect">
            <a:avLst/>
          </a:prstGeom>
          <a:solidFill>
            <a:srgbClr val="FFF1E4"/>
          </a:solidFill>
          <a:ln w="15875">
            <a:solidFill>
              <a:srgbClr val="DA842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Kd rise</a:t>
            </a:r>
            <a:br/>
            <a:r>
              <a:t>pulldown ON</a:t>
            </a:r>
            <a:br/>
            <a:r>
              <a:t>GDN: 0 -&gt; 1</a:t>
            </a:r>
          </a:p>
        </p:txBody>
      </p:sp>
      <p:sp>
        <p:nvSpPr>
          <p:cNvPr id="10" name="TextBox 9"/>
          <p:cNvSpPr txBox="1"/>
          <p:nvPr/>
        </p:nvSpPr>
        <p:spPr>
          <a:xfrm>
            <a:off x="658368" y="2852928"/>
            <a:ext cx="4389120" cy="320040"/>
          </a:xfrm>
          <a:prstGeom prst="rect">
            <a:avLst/>
          </a:prstGeom>
          <a:noFill/>
        </p:spPr>
        <p:txBody>
          <a:bodyPr wrap="square" lIns="45720" rIns="45720" anchor="t">
            <a:spAutoFit/>
          </a:bodyPr>
          <a:lstStyle/>
          <a:p>
            <a:pPr algn="l">
              <a:defRPr sz="1800" b="1">
                <a:solidFill>
                  <a:srgbClr val="2B7A43"/>
                </a:solidFill>
                <a:latin typeface="Aptos"/>
              </a:defRPr>
            </a:pPr>
            <a:r>
              <a:t>1. Normalize each transition</a:t>
            </a:r>
          </a:p>
        </p:txBody>
      </p:sp>
      <p:sp>
        <p:nvSpPr>
          <p:cNvPr id="11" name="Rounded Rectangle 10"/>
          <p:cNvSpPr/>
          <p:nvPr/>
        </p:nvSpPr>
        <p:spPr>
          <a:xfrm>
            <a:off x="685800" y="3246120"/>
            <a:ext cx="5120640" cy="640080"/>
          </a:xfrm>
          <a:prstGeom prst="roundRect">
            <a:avLst/>
          </a:prstGeom>
          <a:solidFill>
            <a:srgbClr val="F6F8F7"/>
          </a:solidFill>
          <a:ln w="12700">
            <a:solidFill>
              <a:srgbClr val="A4AEA8"/>
            </a:solidFill>
          </a:ln>
        </p:spPr>
        <p:style>
          <a:lnRef idx="1">
            <a:schemeClr val="accent1"/>
          </a:lnRef>
          <a:fillRef idx="3">
            <a:schemeClr val="accent1"/>
          </a:fillRef>
          <a:effectRef idx="2">
            <a:schemeClr val="accent1"/>
          </a:effectRef>
          <a:fontRef idx="minor">
            <a:schemeClr val="lt1"/>
          </a:fontRef>
        </p:style>
        <p:txBody>
          <a:bodyPr rtlCol="0" anchor="ctr" wrap="none" lIns="118872" rIns="73152" tIns="91440" bIns="73152"/>
          <a:lstStyle/>
          <a:p>
            <a:pPr algn="ctr">
              <a:defRPr sz="1300">
                <a:solidFill>
                  <a:srgbClr val="1E3027"/>
                </a:solidFill>
                <a:latin typeface="Consolas"/>
              </a:defRPr>
            </a:pPr>
            <a:r>
              <a:t>progress(t) = (K(t) - K_start) / (K_end - K_start)</a:t>
            </a:r>
          </a:p>
        </p:txBody>
      </p:sp>
      <p:sp>
        <p:nvSpPr>
          <p:cNvPr id="12" name="TextBox 11"/>
          <p:cNvSpPr txBox="1"/>
          <p:nvPr/>
        </p:nvSpPr>
        <p:spPr>
          <a:xfrm>
            <a:off x="6126480" y="2852928"/>
            <a:ext cx="4572000" cy="320040"/>
          </a:xfrm>
          <a:prstGeom prst="rect">
            <a:avLst/>
          </a:prstGeom>
          <a:noFill/>
        </p:spPr>
        <p:txBody>
          <a:bodyPr wrap="square" lIns="45720" rIns="45720" anchor="t">
            <a:spAutoFit/>
          </a:bodyPr>
          <a:lstStyle/>
          <a:p>
            <a:pPr algn="l">
              <a:defRPr sz="1800" b="1">
                <a:solidFill>
                  <a:srgbClr val="2B7A43"/>
                </a:solidFill>
                <a:latin typeface="Aptos"/>
              </a:defRPr>
            </a:pPr>
            <a:r>
              <a:t>2. Fit a delayed hidden state</a:t>
            </a:r>
          </a:p>
        </p:txBody>
      </p:sp>
      <p:sp>
        <p:nvSpPr>
          <p:cNvPr id="13" name="Rounded Rectangle 12"/>
          <p:cNvSpPr/>
          <p:nvPr/>
        </p:nvSpPr>
        <p:spPr>
          <a:xfrm>
            <a:off x="6144768" y="3246120"/>
            <a:ext cx="5074920" cy="841248"/>
          </a:xfrm>
          <a:prstGeom prst="roundRect">
            <a:avLst/>
          </a:prstGeom>
          <a:solidFill>
            <a:srgbClr val="F6F8F7"/>
          </a:solidFill>
          <a:ln w="12700">
            <a:solidFill>
              <a:srgbClr val="A4AEA8"/>
            </a:solidFill>
          </a:ln>
        </p:spPr>
        <p:style>
          <a:lnRef idx="1">
            <a:schemeClr val="accent1"/>
          </a:lnRef>
          <a:fillRef idx="3">
            <a:schemeClr val="accent1"/>
          </a:fillRef>
          <a:effectRef idx="2">
            <a:schemeClr val="accent1"/>
          </a:effectRef>
          <a:fontRef idx="minor">
            <a:schemeClr val="lt1"/>
          </a:fontRef>
        </p:style>
        <p:txBody>
          <a:bodyPr rtlCol="0" anchor="ctr" wrap="none" lIns="118872" rIns="73152" tIns="91440" bIns="73152"/>
          <a:lstStyle/>
          <a:p>
            <a:pPr algn="ctr">
              <a:defRPr sz="1230">
                <a:solidFill>
                  <a:srgbClr val="1E3027"/>
                </a:solidFill>
                <a:latin typeface="Consolas"/>
              </a:defRPr>
            </a:pPr>
            <a:r>
              <a:t>G(t) = G_start + (G_end-G_start)</a:t>
            </a:r>
            <a:br/>
            <a:r>
              <a:t>       * [1-exp(-(t-delay)/tau)]</a:t>
            </a:r>
          </a:p>
        </p:txBody>
      </p:sp>
      <p:sp>
        <p:nvSpPr>
          <p:cNvPr id="14" name="TextBox 13"/>
          <p:cNvSpPr txBox="1"/>
          <p:nvPr/>
        </p:nvSpPr>
        <p:spPr>
          <a:xfrm>
            <a:off x="658368" y="4343400"/>
            <a:ext cx="5120640" cy="320040"/>
          </a:xfrm>
          <a:prstGeom prst="rect">
            <a:avLst/>
          </a:prstGeom>
          <a:noFill/>
        </p:spPr>
        <p:txBody>
          <a:bodyPr wrap="square" lIns="45720" rIns="45720" anchor="t">
            <a:spAutoFit/>
          </a:bodyPr>
          <a:lstStyle/>
          <a:p>
            <a:pPr algn="l">
              <a:defRPr sz="1800" b="1">
                <a:solidFill>
                  <a:srgbClr val="2B7A43"/>
                </a:solidFill>
                <a:latin typeface="Aptos"/>
              </a:defRPr>
            </a:pPr>
            <a:r>
              <a:t>3. Pair reconstructed state with the original coefficient</a:t>
            </a:r>
          </a:p>
        </p:txBody>
      </p:sp>
      <p:sp>
        <p:nvSpPr>
          <p:cNvPr id="15" name="Rounded Rectangle 14"/>
          <p:cNvSpPr/>
          <p:nvPr/>
        </p:nvSpPr>
        <p:spPr>
          <a:xfrm>
            <a:off x="685800" y="4709160"/>
            <a:ext cx="5120640" cy="566928"/>
          </a:xfrm>
          <a:prstGeom prst="roundRect">
            <a:avLst/>
          </a:prstGeom>
          <a:solidFill>
            <a:srgbClr val="EAF4FF"/>
          </a:solidFill>
          <a:ln w="15875">
            <a:solidFill>
              <a:srgbClr val="2467A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(GUP, Ku) samples -&gt; Ku_on(GUP) and Ku_off(GUP)</a:t>
            </a:r>
          </a:p>
        </p:txBody>
      </p:sp>
      <p:sp>
        <p:nvSpPr>
          <p:cNvPr id="16" name="Rounded Rectangle 15"/>
          <p:cNvSpPr/>
          <p:nvPr/>
        </p:nvSpPr>
        <p:spPr>
          <a:xfrm>
            <a:off x="6144768" y="4709160"/>
            <a:ext cx="5074920" cy="566928"/>
          </a:xfrm>
          <a:prstGeom prst="roundRect">
            <a:avLst/>
          </a:prstGeom>
          <a:solidFill>
            <a:srgbClr val="FFF1E4"/>
          </a:solidFill>
          <a:ln w="15875">
            <a:solidFill>
              <a:srgbClr val="DA842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(GDN, Kd) samples -&gt; Kd_off(GDN) and Kd_on(GDN)</a:t>
            </a:r>
          </a:p>
        </p:txBody>
      </p:sp>
      <p:sp>
        <p:nvSpPr>
          <p:cNvPr id="17" name="TextBox 16"/>
          <p:cNvSpPr txBox="1"/>
          <p:nvPr/>
        </p:nvSpPr>
        <p:spPr>
          <a:xfrm>
            <a:off x="685800" y="5532120"/>
            <a:ext cx="1463040" cy="256032"/>
          </a:xfrm>
          <a:prstGeom prst="rect">
            <a:avLst/>
          </a:prstGeom>
          <a:noFill/>
        </p:spPr>
        <p:txBody>
          <a:bodyPr wrap="square" lIns="45720" rIns="45720" anchor="t">
            <a:spAutoFit/>
          </a:bodyPr>
          <a:lstStyle/>
          <a:p>
            <a:pPr algn="l">
              <a:defRPr sz="1400" b="1">
                <a:solidFill>
                  <a:srgbClr val="CA3030"/>
                </a:solidFill>
                <a:latin typeface="Aptos"/>
              </a:defRPr>
            </a:pPr>
            <a:r>
              <a:t>Why four paths?</a:t>
            </a:r>
          </a:p>
        </p:txBody>
      </p:sp>
      <p:sp>
        <p:nvSpPr>
          <p:cNvPr id="18" name="TextBox 17"/>
          <p:cNvSpPr txBox="1"/>
          <p:nvPr/>
        </p:nvSpPr>
        <p:spPr>
          <a:xfrm>
            <a:off x="2057400" y="5486400"/>
            <a:ext cx="9052560" cy="411480"/>
          </a:xfrm>
          <a:prstGeom prst="rect">
            <a:avLst/>
          </a:prstGeom>
          <a:noFill/>
        </p:spPr>
        <p:txBody>
          <a:bodyPr wrap="square" lIns="45720" rIns="45720" anchor="t">
            <a:spAutoFit/>
          </a:bodyPr>
          <a:lstStyle/>
          <a:p>
            <a:pPr algn="l">
              <a:defRPr sz="1550" b="1">
                <a:solidFill>
                  <a:srgbClr val="191F1C"/>
                </a:solidFill>
                <a:latin typeface="Aptos"/>
              </a:defRPr>
            </a:pPr>
            <a:r>
              <a:t>Pullup/pulldown and on/off transitions have different onset and shape; one shared state law cannot reproduce all four.</a:t>
            </a:r>
          </a:p>
        </p:txBody>
      </p:sp>
      <p:sp>
        <p:nvSpPr>
          <p:cNvPr id="19" name="Rectangle 18"/>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The model is trained only from the original IBIS-derived complete-edge Ku/Kd tables, never from HSPICE waveforms.</a:t>
            </a:r>
          </a:p>
        </p:txBody>
      </p:sp>
      <p:sp>
        <p:nvSpPr>
          <p:cNvPr id="20" name="TextBox 19"/>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Endpoints and progress are inferred from io_buf rising/falling coefficient tables.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5. Delay and tau: when motion begins, and how fast it proceeds</a:t>
            </a:r>
          </a:p>
        </p:txBody>
      </p:sp>
      <p:sp>
        <p:nvSpPr>
          <p:cNvPr id="3" name="TextBox 2"/>
          <p:cNvSpPr txBox="1"/>
          <p:nvPr/>
        </p:nvSpPr>
        <p:spPr>
          <a:xfrm>
            <a:off x="9555480" y="109728"/>
            <a:ext cx="1965960" cy="228600"/>
          </a:xfrm>
          <a:prstGeom prst="rect">
            <a:avLst/>
          </a:prstGeom>
          <a:noFill/>
        </p:spPr>
        <p:txBody>
          <a:bodyPr wrap="square" lIns="45720" rIns="45720" anchor="t">
            <a:spAutoFit/>
          </a:bodyPr>
          <a:lstStyle/>
          <a:p>
            <a:pPr algn="r">
              <a:defRPr sz="950" b="1">
                <a:solidFill>
                  <a:srgbClr val="666C68"/>
                </a:solidFill>
                <a:latin typeface="Aptos"/>
              </a:defRPr>
            </a:pPr>
            <a:r>
              <a:t>PARAMETER EXTRACTION</a:t>
            </a:r>
          </a:p>
        </p:txBody>
      </p:sp>
      <p:sp>
        <p:nvSpPr>
          <p:cNvPr id="4" name="TextBox 3"/>
          <p:cNvSpPr txBox="1"/>
          <p:nvPr/>
        </p:nvSpPr>
        <p:spPr>
          <a:xfrm>
            <a:off x="621792" y="896112"/>
            <a:ext cx="5212080" cy="320040"/>
          </a:xfrm>
          <a:prstGeom prst="rect">
            <a:avLst/>
          </a:prstGeom>
          <a:noFill/>
        </p:spPr>
        <p:txBody>
          <a:bodyPr wrap="square" lIns="45720" rIns="45720" anchor="t">
            <a:spAutoFit/>
          </a:bodyPr>
          <a:lstStyle/>
          <a:p>
            <a:pPr algn="l">
              <a:defRPr sz="1900" b="1">
                <a:solidFill>
                  <a:srgbClr val="2B7A43"/>
                </a:solidFill>
                <a:latin typeface="Aptos"/>
              </a:defRPr>
            </a:pPr>
            <a:r>
              <a:t>Normalized progress of one complete transition</a:t>
            </a:r>
          </a:p>
        </p:txBody>
      </p:sp>
      <p:cxnSp>
        <p:nvCxnSpPr>
          <p:cNvPr id="5" name="Connector 4"/>
          <p:cNvCxnSpPr/>
          <p:nvPr/>
        </p:nvCxnSpPr>
        <p:spPr>
          <a:xfrm>
            <a:off x="868680" y="3886200"/>
            <a:ext cx="4663440" cy="0"/>
          </a:xfrm>
          <a:prstGeom prst="line">
            <a:avLst/>
          </a:prstGeom>
          <a:ln w="20320">
            <a:solidFill>
              <a:srgbClr val="666C68"/>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868680" y="1417320"/>
            <a:ext cx="0" cy="2468880"/>
          </a:xfrm>
          <a:prstGeom prst="line">
            <a:avLst/>
          </a:prstGeom>
          <a:ln w="20320">
            <a:solidFill>
              <a:srgbClr val="666C6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960120" y="3794760"/>
            <a:ext cx="100791" cy="0"/>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60911" y="3794760"/>
            <a:ext cx="100792" cy="0"/>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61703" y="3794760"/>
            <a:ext cx="100792" cy="0"/>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262495" y="3794760"/>
            <a:ext cx="100792" cy="0"/>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363287" y="3794760"/>
            <a:ext cx="100792" cy="0"/>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464079" y="3794760"/>
            <a:ext cx="100791" cy="0"/>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564870" y="3794760"/>
            <a:ext cx="100792" cy="0"/>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665662" y="3775945"/>
            <a:ext cx="100792" cy="18815"/>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766454" y="3553423"/>
            <a:ext cx="100792" cy="222522"/>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867246" y="3352742"/>
            <a:ext cx="100792" cy="200681"/>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968038" y="3171757"/>
            <a:ext cx="100792" cy="180985"/>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068830" y="3008536"/>
            <a:ext cx="100791" cy="163221"/>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169621" y="2861334"/>
            <a:ext cx="100792" cy="147202"/>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270413" y="2728581"/>
            <a:ext cx="100792" cy="132753"/>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371205" y="2608857"/>
            <a:ext cx="100792" cy="119724"/>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471997" y="2500884"/>
            <a:ext cx="100792" cy="107973"/>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572789" y="2403508"/>
            <a:ext cx="100791" cy="97376"/>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673580" y="2315689"/>
            <a:ext cx="100792" cy="87819"/>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774372" y="2236490"/>
            <a:ext cx="100792" cy="79199"/>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875164" y="2165064"/>
            <a:ext cx="100792" cy="71426"/>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2975956" y="2100649"/>
            <a:ext cx="100792" cy="64415"/>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3076748" y="2042555"/>
            <a:ext cx="100791" cy="58094"/>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3177539" y="1990164"/>
            <a:ext cx="100792" cy="52391"/>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278331" y="1942915"/>
            <a:ext cx="100792" cy="47249"/>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379123" y="1900303"/>
            <a:ext cx="100792" cy="42612"/>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3479915" y="1861873"/>
            <a:ext cx="100792" cy="38430"/>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3580707" y="1827216"/>
            <a:ext cx="100792" cy="34657"/>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681499" y="1795959"/>
            <a:ext cx="100791" cy="31257"/>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782290" y="1767771"/>
            <a:ext cx="100792" cy="28188"/>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3883082" y="1742349"/>
            <a:ext cx="100792" cy="25422"/>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3983874" y="1719423"/>
            <a:ext cx="100792" cy="22926"/>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4084666" y="1698746"/>
            <a:ext cx="100792" cy="20677"/>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4185458" y="1680099"/>
            <a:ext cx="100792" cy="18647"/>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4286250" y="1663283"/>
            <a:ext cx="100791" cy="16816"/>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4387041" y="1648116"/>
            <a:ext cx="100792" cy="15167"/>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4487833" y="1634439"/>
            <a:ext cx="100792" cy="13677"/>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4588625" y="1622103"/>
            <a:ext cx="100792" cy="12336"/>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4689417" y="1610979"/>
            <a:ext cx="100792" cy="11124"/>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4790209" y="1600946"/>
            <a:ext cx="100791" cy="10033"/>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4891000" y="1591898"/>
            <a:ext cx="100792" cy="9048"/>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4991792" y="1583738"/>
            <a:ext cx="100792" cy="8160"/>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5092584" y="1577340"/>
            <a:ext cx="100792" cy="6398"/>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193376" y="1577340"/>
            <a:ext cx="100792" cy="0"/>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5294168" y="1577340"/>
            <a:ext cx="100791" cy="0"/>
          </a:xfrm>
          <a:prstGeom prst="line">
            <a:avLst/>
          </a:prstGeom>
          <a:ln w="38100">
            <a:solidFill>
              <a:srgbClr val="694996"/>
            </a:solidFill>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868680" y="3680460"/>
            <a:ext cx="4663440" cy="9144"/>
          </a:xfrm>
          <a:prstGeom prst="rect">
            <a:avLst/>
          </a:prstGeom>
          <a:solidFill>
            <a:srgbClr val="2467AD"/>
          </a:solidFill>
          <a:ln>
            <a:solidFill>
              <a:srgbClr val="2467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74320" y="3570732"/>
            <a:ext cx="502920" cy="228600"/>
          </a:xfrm>
          <a:prstGeom prst="rect">
            <a:avLst/>
          </a:prstGeom>
          <a:noFill/>
        </p:spPr>
        <p:txBody>
          <a:bodyPr wrap="square" lIns="45720" rIns="45720" anchor="t">
            <a:spAutoFit/>
          </a:bodyPr>
          <a:lstStyle/>
          <a:p>
            <a:pPr algn="r">
              <a:defRPr sz="1000" b="1">
                <a:solidFill>
                  <a:srgbClr val="2467AD"/>
                </a:solidFill>
                <a:latin typeface="Aptos"/>
              </a:defRPr>
            </a:pPr>
            <a:r>
              <a:t>5%</a:t>
            </a:r>
          </a:p>
        </p:txBody>
      </p:sp>
      <p:sp>
        <p:nvSpPr>
          <p:cNvPr id="53" name="TextBox 52"/>
          <p:cNvSpPr txBox="1"/>
          <p:nvPr/>
        </p:nvSpPr>
        <p:spPr>
          <a:xfrm>
            <a:off x="5349240" y="3561588"/>
            <a:ext cx="411480" cy="228600"/>
          </a:xfrm>
          <a:prstGeom prst="rect">
            <a:avLst/>
          </a:prstGeom>
          <a:noFill/>
        </p:spPr>
        <p:txBody>
          <a:bodyPr wrap="square" lIns="45720" rIns="45720" anchor="t">
            <a:spAutoFit/>
          </a:bodyPr>
          <a:lstStyle/>
          <a:p>
            <a:pPr algn="l">
              <a:defRPr sz="1000" b="1">
                <a:solidFill>
                  <a:srgbClr val="2467AD"/>
                </a:solidFill>
                <a:latin typeface="Aptos"/>
              </a:defRPr>
            </a:pPr>
            <a:r>
              <a:t>t05</a:t>
            </a:r>
          </a:p>
        </p:txBody>
      </p:sp>
      <p:sp>
        <p:nvSpPr>
          <p:cNvPr id="54" name="Rectangle 53"/>
          <p:cNvSpPr/>
          <p:nvPr/>
        </p:nvSpPr>
        <p:spPr>
          <a:xfrm>
            <a:off x="868680" y="2354580"/>
            <a:ext cx="4663440" cy="9144"/>
          </a:xfrm>
          <a:prstGeom prst="rect">
            <a:avLst/>
          </a:prstGeom>
          <a:solidFill>
            <a:srgbClr val="2B7A43"/>
          </a:solidFill>
          <a:ln>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74320" y="2244852"/>
            <a:ext cx="502920" cy="228600"/>
          </a:xfrm>
          <a:prstGeom prst="rect">
            <a:avLst/>
          </a:prstGeom>
          <a:noFill/>
        </p:spPr>
        <p:txBody>
          <a:bodyPr wrap="square" lIns="45720" rIns="45720" anchor="t">
            <a:spAutoFit/>
          </a:bodyPr>
          <a:lstStyle/>
          <a:p>
            <a:pPr algn="r">
              <a:defRPr sz="1000" b="1">
                <a:solidFill>
                  <a:srgbClr val="2B7A43"/>
                </a:solidFill>
                <a:latin typeface="Aptos"/>
              </a:defRPr>
            </a:pPr>
            <a:r>
              <a:t>63%</a:t>
            </a:r>
          </a:p>
        </p:txBody>
      </p:sp>
      <p:sp>
        <p:nvSpPr>
          <p:cNvPr id="56" name="TextBox 55"/>
          <p:cNvSpPr txBox="1"/>
          <p:nvPr/>
        </p:nvSpPr>
        <p:spPr>
          <a:xfrm>
            <a:off x="5349240" y="2235708"/>
            <a:ext cx="411480" cy="228600"/>
          </a:xfrm>
          <a:prstGeom prst="rect">
            <a:avLst/>
          </a:prstGeom>
          <a:noFill/>
        </p:spPr>
        <p:txBody>
          <a:bodyPr wrap="square" lIns="45720" rIns="45720" anchor="t">
            <a:spAutoFit/>
          </a:bodyPr>
          <a:lstStyle/>
          <a:p>
            <a:pPr algn="l">
              <a:defRPr sz="1000" b="1">
                <a:solidFill>
                  <a:srgbClr val="2B7A43"/>
                </a:solidFill>
                <a:latin typeface="Aptos"/>
              </a:defRPr>
            </a:pPr>
            <a:r>
              <a:t>t63</a:t>
            </a:r>
          </a:p>
        </p:txBody>
      </p:sp>
      <p:sp>
        <p:nvSpPr>
          <p:cNvPr id="57" name="Rectangle 56"/>
          <p:cNvSpPr/>
          <p:nvPr/>
        </p:nvSpPr>
        <p:spPr>
          <a:xfrm>
            <a:off x="868680" y="1737360"/>
            <a:ext cx="4663440" cy="9144"/>
          </a:xfrm>
          <a:prstGeom prst="rect">
            <a:avLst/>
          </a:prstGeom>
          <a:solidFill>
            <a:srgbClr val="DA8426"/>
          </a:solidFill>
          <a:ln>
            <a:solidFill>
              <a:srgbClr val="DA84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74320" y="1627632"/>
            <a:ext cx="502920" cy="228600"/>
          </a:xfrm>
          <a:prstGeom prst="rect">
            <a:avLst/>
          </a:prstGeom>
          <a:noFill/>
        </p:spPr>
        <p:txBody>
          <a:bodyPr wrap="square" lIns="45720" rIns="45720" anchor="t">
            <a:spAutoFit/>
          </a:bodyPr>
          <a:lstStyle/>
          <a:p>
            <a:pPr algn="r">
              <a:defRPr sz="1000" b="1">
                <a:solidFill>
                  <a:srgbClr val="DA8426"/>
                </a:solidFill>
                <a:latin typeface="Aptos"/>
              </a:defRPr>
            </a:pPr>
            <a:r>
              <a:t>90%</a:t>
            </a:r>
          </a:p>
        </p:txBody>
      </p:sp>
      <p:sp>
        <p:nvSpPr>
          <p:cNvPr id="59" name="TextBox 58"/>
          <p:cNvSpPr txBox="1"/>
          <p:nvPr/>
        </p:nvSpPr>
        <p:spPr>
          <a:xfrm>
            <a:off x="5349240" y="1618488"/>
            <a:ext cx="411480" cy="228600"/>
          </a:xfrm>
          <a:prstGeom prst="rect">
            <a:avLst/>
          </a:prstGeom>
          <a:noFill/>
        </p:spPr>
        <p:txBody>
          <a:bodyPr wrap="square" lIns="45720" rIns="45720" anchor="t">
            <a:spAutoFit/>
          </a:bodyPr>
          <a:lstStyle/>
          <a:p>
            <a:pPr algn="l">
              <a:defRPr sz="1000" b="1">
                <a:solidFill>
                  <a:srgbClr val="DA8426"/>
                </a:solidFill>
                <a:latin typeface="Aptos"/>
              </a:defRPr>
            </a:pPr>
            <a:r>
              <a:t>t90</a:t>
            </a:r>
          </a:p>
        </p:txBody>
      </p:sp>
      <p:sp>
        <p:nvSpPr>
          <p:cNvPr id="60" name="TextBox 59"/>
          <p:cNvSpPr txBox="1"/>
          <p:nvPr/>
        </p:nvSpPr>
        <p:spPr>
          <a:xfrm>
            <a:off x="658368" y="4315968"/>
            <a:ext cx="1828800" cy="320040"/>
          </a:xfrm>
          <a:prstGeom prst="rect">
            <a:avLst/>
          </a:prstGeom>
          <a:noFill/>
        </p:spPr>
        <p:txBody>
          <a:bodyPr wrap="square" lIns="45720" rIns="45720" anchor="t">
            <a:spAutoFit/>
          </a:bodyPr>
          <a:lstStyle/>
          <a:p>
            <a:pPr algn="l">
              <a:defRPr sz="1800" b="1">
                <a:solidFill>
                  <a:srgbClr val="2B7A43"/>
                </a:solidFill>
                <a:latin typeface="Aptos"/>
              </a:defRPr>
            </a:pPr>
            <a:r>
              <a:t>Extraction rule</a:t>
            </a:r>
          </a:p>
        </p:txBody>
      </p:sp>
      <p:sp>
        <p:nvSpPr>
          <p:cNvPr id="61" name="Rounded Rectangle 60"/>
          <p:cNvSpPr/>
          <p:nvPr/>
        </p:nvSpPr>
        <p:spPr>
          <a:xfrm>
            <a:off x="685800" y="4645152"/>
            <a:ext cx="5120640" cy="868680"/>
          </a:xfrm>
          <a:prstGeom prst="roundRect">
            <a:avLst/>
          </a:prstGeom>
          <a:solidFill>
            <a:srgbClr val="F6F8F7"/>
          </a:solidFill>
          <a:ln w="12700">
            <a:solidFill>
              <a:srgbClr val="A4AEA8"/>
            </a:solidFill>
          </a:ln>
        </p:spPr>
        <p:style>
          <a:lnRef idx="1">
            <a:schemeClr val="accent1"/>
          </a:lnRef>
          <a:fillRef idx="3">
            <a:schemeClr val="accent1"/>
          </a:fillRef>
          <a:effectRef idx="2">
            <a:schemeClr val="accent1"/>
          </a:effectRef>
          <a:fontRef idx="minor">
            <a:schemeClr val="lt1"/>
          </a:fontRef>
        </p:style>
        <p:txBody>
          <a:bodyPr rtlCol="0" anchor="ctr" wrap="none" lIns="118872" rIns="73152" tIns="91440" bIns="73152"/>
          <a:lstStyle/>
          <a:p>
            <a:pPr algn="ctr">
              <a:defRPr sz="1300">
                <a:solidFill>
                  <a:srgbClr val="1E3027"/>
                </a:solidFill>
                <a:latin typeface="Consolas"/>
              </a:defRPr>
            </a:pPr>
            <a:r>
              <a:t>delay = t05</a:t>
            </a:r>
            <a:br/>
            <a:r>
              <a:t>tau = max(20 ps, t63-delay, (t90-delay)/ln(10))</a:t>
            </a:r>
          </a:p>
        </p:txBody>
      </p:sp>
      <p:sp>
        <p:nvSpPr>
          <p:cNvPr id="62" name="TextBox 61"/>
          <p:cNvSpPr txBox="1"/>
          <p:nvPr/>
        </p:nvSpPr>
        <p:spPr>
          <a:xfrm>
            <a:off x="6144768" y="896112"/>
            <a:ext cx="4663440" cy="320040"/>
          </a:xfrm>
          <a:prstGeom prst="rect">
            <a:avLst/>
          </a:prstGeom>
          <a:noFill/>
        </p:spPr>
        <p:txBody>
          <a:bodyPr wrap="square" lIns="45720" rIns="45720" anchor="t">
            <a:spAutoFit/>
          </a:bodyPr>
          <a:lstStyle/>
          <a:p>
            <a:pPr algn="l">
              <a:defRPr sz="1900" b="1">
                <a:solidFill>
                  <a:srgbClr val="2B7A43"/>
                </a:solidFill>
                <a:latin typeface="Aptos"/>
              </a:defRPr>
            </a:pPr>
            <a:r>
              <a:t>Measured io_buf parameters</a:t>
            </a:r>
          </a:p>
        </p:txBody>
      </p:sp>
      <p:sp>
        <p:nvSpPr>
          <p:cNvPr id="63" name="TextBox 62"/>
          <p:cNvSpPr txBox="1"/>
          <p:nvPr/>
        </p:nvSpPr>
        <p:spPr>
          <a:xfrm>
            <a:off x="6309360" y="1417320"/>
            <a:ext cx="1920240" cy="274320"/>
          </a:xfrm>
          <a:prstGeom prst="rect">
            <a:avLst/>
          </a:prstGeom>
          <a:noFill/>
        </p:spPr>
        <p:txBody>
          <a:bodyPr wrap="square" lIns="45720" rIns="45720" anchor="t">
            <a:spAutoFit/>
          </a:bodyPr>
          <a:lstStyle/>
          <a:p>
            <a:pPr algn="l">
              <a:defRPr sz="1300" b="1">
                <a:solidFill>
                  <a:srgbClr val="666C68"/>
                </a:solidFill>
                <a:latin typeface="Aptos"/>
              </a:defRPr>
            </a:pPr>
            <a:r>
              <a:t>Path</a:t>
            </a:r>
          </a:p>
        </p:txBody>
      </p:sp>
      <p:sp>
        <p:nvSpPr>
          <p:cNvPr id="64" name="TextBox 63"/>
          <p:cNvSpPr txBox="1"/>
          <p:nvPr/>
        </p:nvSpPr>
        <p:spPr>
          <a:xfrm>
            <a:off x="8275320" y="1417320"/>
            <a:ext cx="1234440" cy="274320"/>
          </a:xfrm>
          <a:prstGeom prst="rect">
            <a:avLst/>
          </a:prstGeom>
          <a:noFill/>
        </p:spPr>
        <p:txBody>
          <a:bodyPr wrap="square" lIns="45720" rIns="45720" anchor="t">
            <a:spAutoFit/>
          </a:bodyPr>
          <a:lstStyle/>
          <a:p>
            <a:pPr algn="ctr">
              <a:defRPr sz="1300" b="1">
                <a:solidFill>
                  <a:srgbClr val="666C68"/>
                </a:solidFill>
                <a:latin typeface="Aptos"/>
              </a:defRPr>
            </a:pPr>
            <a:r>
              <a:t>onset delay</a:t>
            </a:r>
          </a:p>
        </p:txBody>
      </p:sp>
      <p:sp>
        <p:nvSpPr>
          <p:cNvPr id="65" name="TextBox 64"/>
          <p:cNvSpPr txBox="1"/>
          <p:nvPr/>
        </p:nvSpPr>
        <p:spPr>
          <a:xfrm>
            <a:off x="9857232" y="1417320"/>
            <a:ext cx="1097280" cy="274320"/>
          </a:xfrm>
          <a:prstGeom prst="rect">
            <a:avLst/>
          </a:prstGeom>
          <a:noFill/>
        </p:spPr>
        <p:txBody>
          <a:bodyPr wrap="square" lIns="45720" rIns="45720" anchor="t">
            <a:spAutoFit/>
          </a:bodyPr>
          <a:lstStyle/>
          <a:p>
            <a:pPr algn="ctr">
              <a:defRPr sz="1300" b="1">
                <a:solidFill>
                  <a:srgbClr val="666C68"/>
                </a:solidFill>
                <a:latin typeface="Aptos"/>
              </a:defRPr>
            </a:pPr>
            <a:r>
              <a:t>tau</a:t>
            </a:r>
          </a:p>
        </p:txBody>
      </p:sp>
      <p:sp>
        <p:nvSpPr>
          <p:cNvPr id="66" name="Rounded Rectangle 65"/>
          <p:cNvSpPr/>
          <p:nvPr/>
        </p:nvSpPr>
        <p:spPr>
          <a:xfrm>
            <a:off x="6263640" y="1755648"/>
            <a:ext cx="1920240" cy="566928"/>
          </a:xfrm>
          <a:prstGeom prst="roundRect">
            <a:avLst/>
          </a:prstGeom>
          <a:solidFill>
            <a:srgbClr val="EAF4FF"/>
          </a:solidFill>
          <a:ln w="15875">
            <a:solidFill>
              <a:srgbClr val="2467A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50" b="1">
                <a:solidFill>
                  <a:srgbClr val="191F1C"/>
                </a:solidFill>
                <a:latin typeface="Aptos"/>
              </a:defRPr>
            </a:pPr>
            <a:r>
              <a:t>Pullup ON</a:t>
            </a:r>
          </a:p>
        </p:txBody>
      </p:sp>
      <p:sp>
        <p:nvSpPr>
          <p:cNvPr id="67" name="Rounded Rectangle 66"/>
          <p:cNvSpPr/>
          <p:nvPr/>
        </p:nvSpPr>
        <p:spPr>
          <a:xfrm>
            <a:off x="8275320" y="1755648"/>
            <a:ext cx="1325880" cy="566928"/>
          </a:xfrm>
          <a:prstGeom prst="roundRect">
            <a:avLst/>
          </a:prstGeom>
          <a:solidFill>
            <a:srgbClr val="F2F3F2"/>
          </a:solidFill>
          <a:ln w="15875">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1.302 ns</a:t>
            </a:r>
          </a:p>
        </p:txBody>
      </p:sp>
      <p:sp>
        <p:nvSpPr>
          <p:cNvPr id="68" name="Rounded Rectangle 67"/>
          <p:cNvSpPr/>
          <p:nvPr/>
        </p:nvSpPr>
        <p:spPr>
          <a:xfrm>
            <a:off x="9765792" y="1755648"/>
            <a:ext cx="1325880" cy="566928"/>
          </a:xfrm>
          <a:prstGeom prst="roundRect">
            <a:avLst/>
          </a:prstGeom>
          <a:solidFill>
            <a:srgbClr val="F2F3F2"/>
          </a:solidFill>
          <a:ln w="15875">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1.284 ns</a:t>
            </a:r>
          </a:p>
        </p:txBody>
      </p:sp>
      <p:sp>
        <p:nvSpPr>
          <p:cNvPr id="69" name="Rounded Rectangle 68"/>
          <p:cNvSpPr/>
          <p:nvPr/>
        </p:nvSpPr>
        <p:spPr>
          <a:xfrm>
            <a:off x="6263640" y="2487168"/>
            <a:ext cx="1920240" cy="566928"/>
          </a:xfrm>
          <a:prstGeom prst="roundRect">
            <a:avLst/>
          </a:prstGeom>
          <a:solidFill>
            <a:srgbClr val="EAF4FF"/>
          </a:solidFill>
          <a:ln w="15875">
            <a:solidFill>
              <a:srgbClr val="2467A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50" b="1">
                <a:solidFill>
                  <a:srgbClr val="191F1C"/>
                </a:solidFill>
                <a:latin typeface="Aptos"/>
              </a:defRPr>
            </a:pPr>
            <a:r>
              <a:t>Pullup OFF</a:t>
            </a:r>
          </a:p>
        </p:txBody>
      </p:sp>
      <p:sp>
        <p:nvSpPr>
          <p:cNvPr id="70" name="Rounded Rectangle 69"/>
          <p:cNvSpPr/>
          <p:nvPr/>
        </p:nvSpPr>
        <p:spPr>
          <a:xfrm>
            <a:off x="8275320" y="2487168"/>
            <a:ext cx="1325880" cy="566928"/>
          </a:xfrm>
          <a:prstGeom prst="roundRect">
            <a:avLst/>
          </a:prstGeom>
          <a:solidFill>
            <a:srgbClr val="F2F3F2"/>
          </a:solidFill>
          <a:ln w="15875">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0.440 ns</a:t>
            </a:r>
          </a:p>
        </p:txBody>
      </p:sp>
      <p:sp>
        <p:nvSpPr>
          <p:cNvPr id="71" name="Rounded Rectangle 70"/>
          <p:cNvSpPr/>
          <p:nvPr/>
        </p:nvSpPr>
        <p:spPr>
          <a:xfrm>
            <a:off x="9765792" y="2487168"/>
            <a:ext cx="1325880" cy="566928"/>
          </a:xfrm>
          <a:prstGeom prst="roundRect">
            <a:avLst/>
          </a:prstGeom>
          <a:solidFill>
            <a:srgbClr val="F2F3F2"/>
          </a:solidFill>
          <a:ln w="15875">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0.363 ns</a:t>
            </a:r>
          </a:p>
        </p:txBody>
      </p:sp>
      <p:sp>
        <p:nvSpPr>
          <p:cNvPr id="72" name="Rounded Rectangle 71"/>
          <p:cNvSpPr/>
          <p:nvPr/>
        </p:nvSpPr>
        <p:spPr>
          <a:xfrm>
            <a:off x="6263640" y="3218687"/>
            <a:ext cx="1920240" cy="566928"/>
          </a:xfrm>
          <a:prstGeom prst="roundRect">
            <a:avLst/>
          </a:prstGeom>
          <a:solidFill>
            <a:srgbClr val="FFF1E4"/>
          </a:solidFill>
          <a:ln w="15875">
            <a:solidFill>
              <a:srgbClr val="DA842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50" b="1">
                <a:solidFill>
                  <a:srgbClr val="191F1C"/>
                </a:solidFill>
                <a:latin typeface="Aptos"/>
              </a:defRPr>
            </a:pPr>
            <a:r>
              <a:t>Pulldown OFF</a:t>
            </a:r>
          </a:p>
        </p:txBody>
      </p:sp>
      <p:sp>
        <p:nvSpPr>
          <p:cNvPr id="73" name="Rounded Rectangle 72"/>
          <p:cNvSpPr/>
          <p:nvPr/>
        </p:nvSpPr>
        <p:spPr>
          <a:xfrm>
            <a:off x="8275320" y="3218687"/>
            <a:ext cx="1325880" cy="566928"/>
          </a:xfrm>
          <a:prstGeom prst="roundRect">
            <a:avLst/>
          </a:prstGeom>
          <a:solidFill>
            <a:srgbClr val="F2F3F2"/>
          </a:solidFill>
          <a:ln w="15875">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1.443 ns</a:t>
            </a:r>
          </a:p>
        </p:txBody>
      </p:sp>
      <p:sp>
        <p:nvSpPr>
          <p:cNvPr id="74" name="Rounded Rectangle 73"/>
          <p:cNvSpPr/>
          <p:nvPr/>
        </p:nvSpPr>
        <p:spPr>
          <a:xfrm>
            <a:off x="9765792" y="3218687"/>
            <a:ext cx="1325880" cy="566928"/>
          </a:xfrm>
          <a:prstGeom prst="roundRect">
            <a:avLst/>
          </a:prstGeom>
          <a:solidFill>
            <a:srgbClr val="F2F3F2"/>
          </a:solidFill>
          <a:ln w="15875">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0.237 ns</a:t>
            </a:r>
          </a:p>
        </p:txBody>
      </p:sp>
      <p:sp>
        <p:nvSpPr>
          <p:cNvPr id="75" name="Rounded Rectangle 74"/>
          <p:cNvSpPr/>
          <p:nvPr/>
        </p:nvSpPr>
        <p:spPr>
          <a:xfrm>
            <a:off x="6263640" y="3950207"/>
            <a:ext cx="1920240" cy="566928"/>
          </a:xfrm>
          <a:prstGeom prst="roundRect">
            <a:avLst/>
          </a:prstGeom>
          <a:solidFill>
            <a:srgbClr val="FFF1E4"/>
          </a:solidFill>
          <a:ln w="15875">
            <a:solidFill>
              <a:srgbClr val="DA842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50" b="1">
                <a:solidFill>
                  <a:srgbClr val="191F1C"/>
                </a:solidFill>
                <a:latin typeface="Aptos"/>
              </a:defRPr>
            </a:pPr>
            <a:r>
              <a:t>Pulldown ON</a:t>
            </a:r>
          </a:p>
        </p:txBody>
      </p:sp>
      <p:sp>
        <p:nvSpPr>
          <p:cNvPr id="76" name="Rounded Rectangle 75"/>
          <p:cNvSpPr/>
          <p:nvPr/>
        </p:nvSpPr>
        <p:spPr>
          <a:xfrm>
            <a:off x="8275320" y="3950207"/>
            <a:ext cx="1325880" cy="566928"/>
          </a:xfrm>
          <a:prstGeom prst="roundRect">
            <a:avLst/>
          </a:prstGeom>
          <a:solidFill>
            <a:srgbClr val="F2F3F2"/>
          </a:solidFill>
          <a:ln w="15875">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2.480 ns</a:t>
            </a:r>
          </a:p>
        </p:txBody>
      </p:sp>
      <p:sp>
        <p:nvSpPr>
          <p:cNvPr id="77" name="Rounded Rectangle 76"/>
          <p:cNvSpPr/>
          <p:nvPr/>
        </p:nvSpPr>
        <p:spPr>
          <a:xfrm>
            <a:off x="9765792" y="3950207"/>
            <a:ext cx="1325880" cy="566928"/>
          </a:xfrm>
          <a:prstGeom prst="roundRect">
            <a:avLst/>
          </a:prstGeom>
          <a:solidFill>
            <a:srgbClr val="F2F3F2"/>
          </a:solidFill>
          <a:ln w="15875">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0.275 ns</a:t>
            </a:r>
          </a:p>
        </p:txBody>
      </p:sp>
      <p:sp>
        <p:nvSpPr>
          <p:cNvPr id="78" name="Rounded Rectangle 77"/>
          <p:cNvSpPr/>
          <p:nvPr/>
        </p:nvSpPr>
        <p:spPr>
          <a:xfrm>
            <a:off x="6263640" y="4892040"/>
            <a:ext cx="1051560" cy="502920"/>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delay</a:t>
            </a:r>
          </a:p>
        </p:txBody>
      </p:sp>
      <p:sp>
        <p:nvSpPr>
          <p:cNvPr id="79" name="TextBox 78"/>
          <p:cNvSpPr txBox="1"/>
          <p:nvPr/>
        </p:nvSpPr>
        <p:spPr>
          <a:xfrm>
            <a:off x="7452360" y="4937760"/>
            <a:ext cx="3520440" cy="274320"/>
          </a:xfrm>
          <a:prstGeom prst="rect">
            <a:avLst/>
          </a:prstGeom>
          <a:noFill/>
        </p:spPr>
        <p:txBody>
          <a:bodyPr wrap="square" lIns="45720" rIns="45720" anchor="t">
            <a:spAutoFit/>
          </a:bodyPr>
          <a:lstStyle/>
          <a:p>
            <a:pPr algn="l">
              <a:defRPr sz="1500" b="0">
                <a:solidFill>
                  <a:srgbClr val="191F1C"/>
                </a:solidFill>
                <a:latin typeface="Aptos"/>
              </a:defRPr>
            </a:pPr>
            <a:r>
              <a:t>transport time before a state responds</a:t>
            </a:r>
          </a:p>
        </p:txBody>
      </p:sp>
      <p:sp>
        <p:nvSpPr>
          <p:cNvPr id="80" name="Rounded Rectangle 79"/>
          <p:cNvSpPr/>
          <p:nvPr/>
        </p:nvSpPr>
        <p:spPr>
          <a:xfrm>
            <a:off x="6263640" y="5486400"/>
            <a:ext cx="1051560" cy="502920"/>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tau</a:t>
            </a:r>
          </a:p>
        </p:txBody>
      </p:sp>
      <p:sp>
        <p:nvSpPr>
          <p:cNvPr id="81" name="TextBox 80"/>
          <p:cNvSpPr txBox="1"/>
          <p:nvPr/>
        </p:nvSpPr>
        <p:spPr>
          <a:xfrm>
            <a:off x="7452360" y="5532120"/>
            <a:ext cx="3840480" cy="274320"/>
          </a:xfrm>
          <a:prstGeom prst="rect">
            <a:avLst/>
          </a:prstGeom>
          <a:noFill/>
        </p:spPr>
        <p:txBody>
          <a:bodyPr wrap="square" lIns="45720" rIns="45720" anchor="t">
            <a:spAutoFit/>
          </a:bodyPr>
          <a:lstStyle/>
          <a:p>
            <a:pPr algn="l">
              <a:defRPr sz="1500" b="0">
                <a:solidFill>
                  <a:srgbClr val="191F1C"/>
                </a:solidFill>
                <a:latin typeface="Aptos"/>
              </a:defRPr>
            </a:pPr>
            <a:r>
              <a:t>exponential charge/discharge speed after onset</a:t>
            </a:r>
          </a:p>
        </p:txBody>
      </p:sp>
      <p:sp>
        <p:nvSpPr>
          <p:cNvPr id="82" name="Rectangle 81"/>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Delay and tau are fitted independently for PU-on, PU-off, PD-off, and PD-on.</a:t>
            </a:r>
          </a:p>
        </p:txBody>
      </p:sp>
      <p:sp>
        <p:nvSpPr>
          <p:cNvPr id="83" name="TextBox 82"/>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Actual selected tau uses t63-t05; the 90% term is a safeguard against an unrealistically fast tail.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6. Runtime part 1: delayed command memory and analog gate memory</a:t>
            </a:r>
          </a:p>
        </p:txBody>
      </p:sp>
      <p:sp>
        <p:nvSpPr>
          <p:cNvPr id="3" name="TextBox 2"/>
          <p:cNvSpPr txBox="1"/>
          <p:nvPr/>
        </p:nvSpPr>
        <p:spPr>
          <a:xfrm>
            <a:off x="9555480" y="109728"/>
            <a:ext cx="1965960" cy="228600"/>
          </a:xfrm>
          <a:prstGeom prst="rect">
            <a:avLst/>
          </a:prstGeom>
          <a:noFill/>
        </p:spPr>
        <p:txBody>
          <a:bodyPr wrap="square" lIns="45720" rIns="45720" anchor="t">
            <a:spAutoFit/>
          </a:bodyPr>
          <a:lstStyle/>
          <a:p>
            <a:pPr algn="r">
              <a:defRPr sz="950" b="1">
                <a:solidFill>
                  <a:srgbClr val="666C68"/>
                </a:solidFill>
                <a:latin typeface="Aptos"/>
              </a:defRPr>
            </a:pPr>
            <a:r>
              <a:t>NGSPICE IMPLEMENTATION</a:t>
            </a:r>
          </a:p>
        </p:txBody>
      </p:sp>
      <p:sp>
        <p:nvSpPr>
          <p:cNvPr id="4" name="TextBox 3"/>
          <p:cNvSpPr txBox="1"/>
          <p:nvPr/>
        </p:nvSpPr>
        <p:spPr>
          <a:xfrm>
            <a:off x="530352" y="932688"/>
            <a:ext cx="5577840" cy="292608"/>
          </a:xfrm>
          <a:prstGeom prst="rect">
            <a:avLst/>
          </a:prstGeom>
          <a:noFill/>
        </p:spPr>
        <p:txBody>
          <a:bodyPr wrap="square" lIns="45720" rIns="45720" anchor="t">
            <a:spAutoFit/>
          </a:bodyPr>
          <a:lstStyle/>
          <a:p>
            <a:pPr algn="l">
              <a:defRPr sz="1750" b="1">
                <a:solidFill>
                  <a:srgbClr val="2B7A43"/>
                </a:solidFill>
                <a:latin typeface="Aptos"/>
              </a:defRPr>
            </a:pPr>
            <a:r>
              <a:t>A. Command capacitor: requested endpoint</a:t>
            </a:r>
          </a:p>
        </p:txBody>
      </p:sp>
      <p:sp>
        <p:nvSpPr>
          <p:cNvPr id="5" name="Rounded Rectangle 4"/>
          <p:cNvSpPr/>
          <p:nvPr/>
        </p:nvSpPr>
        <p:spPr>
          <a:xfrm>
            <a:off x="566928" y="1243584"/>
            <a:ext cx="5559552" cy="2057400"/>
          </a:xfrm>
          <a:prstGeom prst="roundRect">
            <a:avLst/>
          </a:prstGeom>
          <a:solidFill>
            <a:srgbClr val="F6F8F7"/>
          </a:solidFill>
          <a:ln w="12700">
            <a:solidFill>
              <a:srgbClr val="A4AEA8"/>
            </a:solidFill>
          </a:ln>
        </p:spPr>
        <p:style>
          <a:lnRef idx="1">
            <a:schemeClr val="accent1"/>
          </a:lnRef>
          <a:fillRef idx="3">
            <a:schemeClr val="accent1"/>
          </a:fillRef>
          <a:effectRef idx="2">
            <a:schemeClr val="accent1"/>
          </a:effectRef>
          <a:fontRef idx="minor">
            <a:schemeClr val="lt1"/>
          </a:fontRef>
        </p:style>
        <p:txBody>
          <a:bodyPr rtlCol="0" anchor="ctr" wrap="none" lIns="118872" rIns="73152" tIns="91440" bIns="73152"/>
          <a:lstStyle/>
          <a:p>
            <a:pPr algn="ctr">
              <a:defRPr sz="1070">
                <a:solidFill>
                  <a:srgbClr val="1E3027"/>
                </a:solidFill>
                <a:latin typeface="Consolas"/>
              </a:defRPr>
            </a:pPr>
            <a:r>
              <a:t>TPUONP  RISEEDGE 0 PUONP  0 Z0=50 Td=1.302n</a:t>
            </a:r>
            <a:br/>
            <a:r>
              <a:t>TPUOFFP FALLEDGE 0 PUOFFP 0 Z0=50 Td=0.440n</a:t>
            </a:r>
            <a:br/>
            <a:r>
              <a:t>CGUPCMD GUPCMD 0 {gate_c} ic=0</a:t>
            </a:r>
            <a:br/>
            <a:r>
              <a:t>BGUPCMDON  GUPCMD 0 I=-{gate_c}*V(PUONP)/edge_delay</a:t>
            </a:r>
            <a:br/>
            <a:r>
              <a:t>BGUPCMDOFF GUPCMD 0 I= {gate_c}*V(PUOFFP)/edge_delay</a:t>
            </a:r>
            <a:br/>
            <a:r>
              <a:t>BGUPTARGET GUPTARGET 0 V=min(max(V(GUPCMD),0),1)</a:t>
            </a:r>
          </a:p>
        </p:txBody>
      </p:sp>
      <p:sp>
        <p:nvSpPr>
          <p:cNvPr id="6" name="Rounded Rectangle 5"/>
          <p:cNvSpPr/>
          <p:nvPr/>
        </p:nvSpPr>
        <p:spPr>
          <a:xfrm>
            <a:off x="749808" y="3547872"/>
            <a:ext cx="5166360" cy="713232"/>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CGUPCMD answers:</a:t>
            </a:r>
            <a:br/>
            <a:r>
              <a:t>Where is the pullup commanded to go?</a:t>
            </a:r>
          </a:p>
        </p:txBody>
      </p:sp>
      <p:sp>
        <p:nvSpPr>
          <p:cNvPr id="7" name="TextBox 6"/>
          <p:cNvSpPr txBox="1"/>
          <p:nvPr/>
        </p:nvSpPr>
        <p:spPr>
          <a:xfrm>
            <a:off x="6263640" y="932688"/>
            <a:ext cx="5394960" cy="292608"/>
          </a:xfrm>
          <a:prstGeom prst="rect">
            <a:avLst/>
          </a:prstGeom>
          <a:noFill/>
        </p:spPr>
        <p:txBody>
          <a:bodyPr wrap="square" lIns="45720" rIns="45720" anchor="t">
            <a:spAutoFit/>
          </a:bodyPr>
          <a:lstStyle/>
          <a:p>
            <a:pPr algn="l">
              <a:defRPr sz="1750" b="1">
                <a:solidFill>
                  <a:srgbClr val="694996"/>
                </a:solidFill>
                <a:latin typeface="Aptos"/>
              </a:defRPr>
            </a:pPr>
            <a:r>
              <a:t>B. Gate capacitor: actual partial state</a:t>
            </a:r>
          </a:p>
        </p:txBody>
      </p:sp>
      <p:sp>
        <p:nvSpPr>
          <p:cNvPr id="8" name="Rounded Rectangle 7"/>
          <p:cNvSpPr/>
          <p:nvPr/>
        </p:nvSpPr>
        <p:spPr>
          <a:xfrm>
            <a:off x="6309360" y="1243584"/>
            <a:ext cx="5257800" cy="2057400"/>
          </a:xfrm>
          <a:prstGeom prst="roundRect">
            <a:avLst/>
          </a:prstGeom>
          <a:solidFill>
            <a:srgbClr val="F6F8F7"/>
          </a:solidFill>
          <a:ln w="12700">
            <a:solidFill>
              <a:srgbClr val="A4AEA8"/>
            </a:solidFill>
          </a:ln>
        </p:spPr>
        <p:style>
          <a:lnRef idx="1">
            <a:schemeClr val="accent1"/>
          </a:lnRef>
          <a:fillRef idx="3">
            <a:schemeClr val="accent1"/>
          </a:fillRef>
          <a:effectRef idx="2">
            <a:schemeClr val="accent1"/>
          </a:effectRef>
          <a:fontRef idx="minor">
            <a:schemeClr val="lt1"/>
          </a:fontRef>
        </p:style>
        <p:txBody>
          <a:bodyPr rtlCol="0" anchor="ctr" wrap="none" lIns="118872" rIns="73152" tIns="91440" bIns="73152"/>
          <a:lstStyle/>
          <a:p>
            <a:pPr algn="ctr">
              <a:defRPr sz="1080">
                <a:solidFill>
                  <a:srgbClr val="1E3027"/>
                </a:solidFill>
                <a:latin typeface="Consolas"/>
              </a:defRPr>
            </a:pPr>
            <a:r>
              <a:t>BGUP GUP 0 I=-{gate_c}*(V(GUPTARGET)-V(GUP))</a:t>
            </a:r>
            <a:br/>
            <a:r>
              <a:t>+ / ((V(GUPTARGET)&gt;V(GUP)) ? 1.284n : 0.363n)</a:t>
            </a:r>
            <a:br/>
            <a:r>
              <a:t>CGUP GUP 0 {gate_c} ic=0</a:t>
            </a:r>
            <a:br/>
            <a:r>
              <a:t>RGUP GUP 0 1e12</a:t>
            </a:r>
            <a:br/>
            <a:br/>
            <a:r>
              <a:t>dGUP/dt = (GUPTARGET-GUP)/selected_tau</a:t>
            </a:r>
          </a:p>
        </p:txBody>
      </p:sp>
      <p:sp>
        <p:nvSpPr>
          <p:cNvPr id="9" name="Rounded Rectangle 8"/>
          <p:cNvSpPr/>
          <p:nvPr/>
        </p:nvSpPr>
        <p:spPr>
          <a:xfrm>
            <a:off x="6492240" y="3547872"/>
            <a:ext cx="4892040" cy="713232"/>
          </a:xfrm>
          <a:prstGeom prst="roundRect">
            <a:avLst/>
          </a:prstGeom>
          <a:solidFill>
            <a:srgbClr val="F1ECF8"/>
          </a:solidFill>
          <a:ln w="15875">
            <a:solidFill>
              <a:srgbClr val="69499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CGUP answers:</a:t>
            </a:r>
            <a:br/>
            <a:r>
              <a:t>How far has the pullup actually moved?</a:t>
            </a:r>
          </a:p>
        </p:txBody>
      </p:sp>
      <p:sp>
        <p:nvSpPr>
          <p:cNvPr id="10" name="TextBox 9"/>
          <p:cNvSpPr txBox="1"/>
          <p:nvPr/>
        </p:nvSpPr>
        <p:spPr>
          <a:xfrm>
            <a:off x="594360" y="4617720"/>
            <a:ext cx="4389120" cy="320040"/>
          </a:xfrm>
          <a:prstGeom prst="rect">
            <a:avLst/>
          </a:prstGeom>
          <a:noFill/>
        </p:spPr>
        <p:txBody>
          <a:bodyPr wrap="square" lIns="45720" rIns="45720" anchor="t">
            <a:spAutoFit/>
          </a:bodyPr>
          <a:lstStyle/>
          <a:p>
            <a:pPr algn="l">
              <a:defRPr sz="1800" b="1">
                <a:solidFill>
                  <a:srgbClr val="2B7A43"/>
                </a:solidFill>
                <a:latin typeface="Aptos"/>
              </a:defRPr>
            </a:pPr>
            <a:r>
              <a:t>Example: state at the reverse edge</a:t>
            </a:r>
          </a:p>
        </p:txBody>
      </p:sp>
      <p:sp>
        <p:nvSpPr>
          <p:cNvPr id="11" name="Rounded Rectangle 10"/>
          <p:cNvSpPr/>
          <p:nvPr/>
        </p:nvSpPr>
        <p:spPr>
          <a:xfrm>
            <a:off x="658368" y="4983480"/>
            <a:ext cx="2057400" cy="822960"/>
          </a:xfrm>
          <a:prstGeom prst="roundRect">
            <a:avLst/>
          </a:prstGeom>
          <a:solidFill>
            <a:srgbClr val="EAF4FF"/>
          </a:solidFill>
          <a:ln w="15875">
            <a:solidFill>
              <a:srgbClr val="2467A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before reverse</a:t>
            </a:r>
            <a:br/>
            <a:r>
              <a:t>GUPTARGET = 1</a:t>
            </a:r>
            <a:br/>
            <a:r>
              <a:t>GUP = 0.31</a:t>
            </a:r>
          </a:p>
        </p:txBody>
      </p:sp>
      <p:cxnSp>
        <p:nvCxnSpPr>
          <p:cNvPr id="12" name="Connector 11"/>
          <p:cNvCxnSpPr/>
          <p:nvPr/>
        </p:nvCxnSpPr>
        <p:spPr>
          <a:xfrm>
            <a:off x="2715768" y="5394960"/>
            <a:ext cx="758952" cy="0"/>
          </a:xfrm>
          <a:prstGeom prst="line">
            <a:avLst/>
          </a:prstGeom>
          <a:ln w="27940">
            <a:solidFill>
              <a:srgbClr val="CA3030"/>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474720" y="5093208"/>
            <a:ext cx="1600200" cy="594360"/>
          </a:xfrm>
          <a:prstGeom prst="roundRect">
            <a:avLst/>
          </a:prstGeom>
          <a:solidFill>
            <a:srgbClr val="FCEBEB"/>
          </a:solidFill>
          <a:ln w="15875">
            <a:solidFill>
              <a:srgbClr val="CA303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fall command</a:t>
            </a:r>
          </a:p>
        </p:txBody>
      </p:sp>
      <p:cxnSp>
        <p:nvCxnSpPr>
          <p:cNvPr id="14" name="Connector 13"/>
          <p:cNvCxnSpPr/>
          <p:nvPr/>
        </p:nvCxnSpPr>
        <p:spPr>
          <a:xfrm>
            <a:off x="5074920" y="5394960"/>
            <a:ext cx="77724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852160" y="4983480"/>
            <a:ext cx="2057400" cy="822960"/>
          </a:xfrm>
          <a:prstGeom prst="roundRect">
            <a:avLst/>
          </a:prstGeom>
          <a:solidFill>
            <a:srgbClr val="F1F8F2"/>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after reverse</a:t>
            </a:r>
            <a:br/>
            <a:r>
              <a:t>GUPTARGET = 0</a:t>
            </a:r>
            <a:br/>
            <a:r>
              <a:t>GUP = 0.31</a:t>
            </a:r>
          </a:p>
        </p:txBody>
      </p:sp>
      <p:sp>
        <p:nvSpPr>
          <p:cNvPr id="16" name="TextBox 15"/>
          <p:cNvSpPr txBox="1"/>
          <p:nvPr/>
        </p:nvSpPr>
        <p:spPr>
          <a:xfrm>
            <a:off x="8229600" y="5138928"/>
            <a:ext cx="2926080" cy="502920"/>
          </a:xfrm>
          <a:prstGeom prst="rect">
            <a:avLst/>
          </a:prstGeom>
          <a:noFill/>
        </p:spPr>
        <p:txBody>
          <a:bodyPr wrap="square" lIns="45720" rIns="45720" anchor="t">
            <a:spAutoFit/>
          </a:bodyPr>
          <a:lstStyle/>
          <a:p>
            <a:pPr algn="ctr">
              <a:defRPr sz="1600" b="1">
                <a:solidFill>
                  <a:srgbClr val="694996"/>
                </a:solidFill>
                <a:latin typeface="Aptos"/>
              </a:defRPr>
            </a:pPr>
            <a:r>
              <a:t>Value stays continuous; only its slope changes.</a:t>
            </a:r>
          </a:p>
        </p:txBody>
      </p:sp>
      <p:sp>
        <p:nvSpPr>
          <p:cNvPr id="17" name="Rectangle 16"/>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Command caps remember the delayed target; gate caps remember partial analog progress. They are intentionally separate.</a:t>
            </a:r>
          </a:p>
        </p:txBody>
      </p:sp>
      <p:sp>
        <p:nvSpPr>
          <p:cNvPr id="18" name="TextBox 17"/>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Exact structure from generated driver_OutputInput_Typical.sub; gate_c=1 pF is numerical state scaling, not a physical extracted capacitance.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7. Runtime part 2: map hidden state into effective Ku/Kd</a:t>
            </a:r>
          </a:p>
        </p:txBody>
      </p:sp>
      <p:sp>
        <p:nvSpPr>
          <p:cNvPr id="3" name="TextBox 2"/>
          <p:cNvSpPr txBox="1"/>
          <p:nvPr/>
        </p:nvSpPr>
        <p:spPr>
          <a:xfrm>
            <a:off x="9555480" y="109728"/>
            <a:ext cx="1965960" cy="228600"/>
          </a:xfrm>
          <a:prstGeom prst="rect">
            <a:avLst/>
          </a:prstGeom>
          <a:noFill/>
        </p:spPr>
        <p:txBody>
          <a:bodyPr wrap="square" lIns="45720" rIns="45720" anchor="t">
            <a:spAutoFit/>
          </a:bodyPr>
          <a:lstStyle/>
          <a:p>
            <a:pPr algn="r">
              <a:defRPr sz="950" b="1">
                <a:solidFill>
                  <a:srgbClr val="666C68"/>
                </a:solidFill>
                <a:latin typeface="Aptos"/>
              </a:defRPr>
            </a:pPr>
            <a:r>
              <a:t>NGSPICE IMPLEMENTATION</a:t>
            </a:r>
          </a:p>
        </p:txBody>
      </p:sp>
      <p:sp>
        <p:nvSpPr>
          <p:cNvPr id="4" name="TextBox 3"/>
          <p:cNvSpPr txBox="1"/>
          <p:nvPr/>
        </p:nvSpPr>
        <p:spPr>
          <a:xfrm>
            <a:off x="566928" y="877824"/>
            <a:ext cx="10972800" cy="347472"/>
          </a:xfrm>
          <a:prstGeom prst="rect">
            <a:avLst/>
          </a:prstGeom>
          <a:noFill/>
        </p:spPr>
        <p:txBody>
          <a:bodyPr wrap="square" lIns="45720" rIns="45720" anchor="t">
            <a:spAutoFit/>
          </a:bodyPr>
          <a:lstStyle/>
          <a:p>
            <a:pPr algn="ctr">
              <a:defRPr sz="1900" b="1">
                <a:solidFill>
                  <a:srgbClr val="2B7A43"/>
                </a:solidFill>
                <a:latin typeface="Aptos"/>
              </a:defRPr>
            </a:pPr>
            <a:r>
              <a:t>GUP/GDN are progress coordinates; Ku/Kd are current-strength coefficients</a:t>
            </a:r>
          </a:p>
        </p:txBody>
      </p:sp>
      <p:sp>
        <p:nvSpPr>
          <p:cNvPr id="5" name="Rounded Rectangle 4"/>
          <p:cNvSpPr/>
          <p:nvPr/>
        </p:nvSpPr>
        <p:spPr>
          <a:xfrm>
            <a:off x="685800" y="1481328"/>
            <a:ext cx="1417320" cy="566928"/>
          </a:xfrm>
          <a:prstGeom prst="roundRect">
            <a:avLst/>
          </a:prstGeom>
          <a:solidFill>
            <a:srgbClr val="F1ECF8"/>
          </a:solidFill>
          <a:ln w="15875">
            <a:solidFill>
              <a:srgbClr val="69499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GUP = 0.40</a:t>
            </a:r>
          </a:p>
        </p:txBody>
      </p:sp>
      <p:cxnSp>
        <p:nvCxnSpPr>
          <p:cNvPr id="6" name="Connector 5"/>
          <p:cNvCxnSpPr/>
          <p:nvPr/>
        </p:nvCxnSpPr>
        <p:spPr>
          <a:xfrm>
            <a:off x="2103120" y="1764792"/>
            <a:ext cx="777240" cy="0"/>
          </a:xfrm>
          <a:prstGeom prst="line">
            <a:avLst/>
          </a:prstGeom>
          <a:ln w="27940">
            <a:solidFill>
              <a:srgbClr val="2467A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880360" y="1298448"/>
            <a:ext cx="2057400" cy="914400"/>
          </a:xfrm>
          <a:prstGeom prst="roundRect">
            <a:avLst/>
          </a:prstGeom>
          <a:solidFill>
            <a:srgbClr val="EAF4FF"/>
          </a:solidFill>
          <a:ln w="15875">
            <a:solidFill>
              <a:srgbClr val="2467A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turning ON map</a:t>
            </a:r>
            <a:br/>
            <a:r>
              <a:t>Ku about 0.23</a:t>
            </a:r>
          </a:p>
        </p:txBody>
      </p:sp>
      <p:cxnSp>
        <p:nvCxnSpPr>
          <p:cNvPr id="8" name="Connector 7"/>
          <p:cNvCxnSpPr/>
          <p:nvPr/>
        </p:nvCxnSpPr>
        <p:spPr>
          <a:xfrm>
            <a:off x="2103120" y="2514600"/>
            <a:ext cx="777240" cy="0"/>
          </a:xfrm>
          <a:prstGeom prst="line">
            <a:avLst/>
          </a:prstGeom>
          <a:ln w="27940">
            <a:solidFill>
              <a:srgbClr val="CA3030"/>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880360" y="2057400"/>
            <a:ext cx="2057400" cy="914400"/>
          </a:xfrm>
          <a:prstGeom prst="roundRect">
            <a:avLst/>
          </a:prstGeom>
          <a:solidFill>
            <a:srgbClr val="FCEBEB"/>
          </a:solidFill>
          <a:ln w="15875">
            <a:solidFill>
              <a:srgbClr val="CA303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turning OFF map</a:t>
            </a:r>
            <a:br/>
            <a:r>
              <a:t>Ku about 0.43</a:t>
            </a:r>
          </a:p>
        </p:txBody>
      </p:sp>
      <p:sp>
        <p:nvSpPr>
          <p:cNvPr id="10" name="Rounded Rectangle 9"/>
          <p:cNvSpPr/>
          <p:nvPr/>
        </p:nvSpPr>
        <p:spPr>
          <a:xfrm>
            <a:off x="6263640" y="1481328"/>
            <a:ext cx="1417320" cy="566928"/>
          </a:xfrm>
          <a:prstGeom prst="roundRect">
            <a:avLst/>
          </a:prstGeom>
          <a:solidFill>
            <a:srgbClr val="F1ECF8"/>
          </a:solidFill>
          <a:ln w="15875">
            <a:solidFill>
              <a:srgbClr val="69499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GDN = 0.50</a:t>
            </a:r>
          </a:p>
        </p:txBody>
      </p:sp>
      <p:cxnSp>
        <p:nvCxnSpPr>
          <p:cNvPr id="11" name="Connector 10"/>
          <p:cNvCxnSpPr/>
          <p:nvPr/>
        </p:nvCxnSpPr>
        <p:spPr>
          <a:xfrm>
            <a:off x="7680960" y="1764792"/>
            <a:ext cx="777240" cy="0"/>
          </a:xfrm>
          <a:prstGeom prst="line">
            <a:avLst/>
          </a:prstGeom>
          <a:ln w="27940">
            <a:solidFill>
              <a:srgbClr val="DA8426"/>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458200" y="1298448"/>
            <a:ext cx="2057400" cy="914400"/>
          </a:xfrm>
          <a:prstGeom prst="roundRect">
            <a:avLst/>
          </a:prstGeom>
          <a:solidFill>
            <a:srgbClr val="FFF1E4"/>
          </a:solidFill>
          <a:ln w="15875">
            <a:solidFill>
              <a:srgbClr val="DA842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turning OFF map</a:t>
            </a:r>
            <a:br/>
            <a:r>
              <a:t>Kd about 0.56</a:t>
            </a:r>
          </a:p>
        </p:txBody>
      </p:sp>
      <p:cxnSp>
        <p:nvCxnSpPr>
          <p:cNvPr id="13" name="Connector 12"/>
          <p:cNvCxnSpPr/>
          <p:nvPr/>
        </p:nvCxnSpPr>
        <p:spPr>
          <a:xfrm>
            <a:off x="7680960" y="2514600"/>
            <a:ext cx="77724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458200" y="2057400"/>
            <a:ext cx="2057400" cy="914400"/>
          </a:xfrm>
          <a:prstGeom prst="roundRect">
            <a:avLst/>
          </a:prstGeom>
          <a:solidFill>
            <a:srgbClr val="F1F8F2"/>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turning ON map</a:t>
            </a:r>
            <a:br/>
            <a:r>
              <a:t>Kd about 0.43</a:t>
            </a:r>
          </a:p>
        </p:txBody>
      </p:sp>
      <p:sp>
        <p:nvSpPr>
          <p:cNvPr id="15" name="TextBox 14"/>
          <p:cNvSpPr txBox="1"/>
          <p:nvPr/>
        </p:nvSpPr>
        <p:spPr>
          <a:xfrm>
            <a:off x="658368" y="3310128"/>
            <a:ext cx="5029200" cy="320040"/>
          </a:xfrm>
          <a:prstGeom prst="rect">
            <a:avLst/>
          </a:prstGeom>
          <a:noFill/>
        </p:spPr>
        <p:txBody>
          <a:bodyPr wrap="square" lIns="45720" rIns="45720" anchor="t">
            <a:spAutoFit/>
          </a:bodyPr>
          <a:lstStyle/>
          <a:p>
            <a:pPr algn="l">
              <a:defRPr sz="1850" b="1">
                <a:solidFill>
                  <a:srgbClr val="2B7A43"/>
                </a:solidFill>
                <a:latin typeface="Aptos"/>
              </a:defRPr>
            </a:pPr>
            <a:r>
              <a:t>Direction selector and final coefficient nodes</a:t>
            </a:r>
          </a:p>
        </p:txBody>
      </p:sp>
      <p:sp>
        <p:nvSpPr>
          <p:cNvPr id="16" name="Rounded Rectangle 15"/>
          <p:cNvSpPr/>
          <p:nvPr/>
        </p:nvSpPr>
        <p:spPr>
          <a:xfrm>
            <a:off x="685800" y="3675887"/>
            <a:ext cx="5257800" cy="1783080"/>
          </a:xfrm>
          <a:prstGeom prst="roundRect">
            <a:avLst/>
          </a:prstGeom>
          <a:solidFill>
            <a:srgbClr val="F6F8F7"/>
          </a:solidFill>
          <a:ln w="12700">
            <a:solidFill>
              <a:srgbClr val="A4AEA8"/>
            </a:solidFill>
          </a:ln>
        </p:spPr>
        <p:style>
          <a:lnRef idx="1">
            <a:schemeClr val="accent1"/>
          </a:lnRef>
          <a:fillRef idx="3">
            <a:schemeClr val="accent1"/>
          </a:fillRef>
          <a:effectRef idx="2">
            <a:schemeClr val="accent1"/>
          </a:effectRef>
          <a:fontRef idx="minor">
            <a:schemeClr val="lt1"/>
          </a:fontRef>
        </p:style>
        <p:txBody>
          <a:bodyPr rtlCol="0" anchor="ctr" wrap="none" lIns="118872" rIns="73152" tIns="91440" bIns="73152"/>
          <a:lstStyle/>
          <a:p>
            <a:pPr algn="ctr">
              <a:defRPr sz="1080">
                <a:solidFill>
                  <a:srgbClr val="1E3027"/>
                </a:solidFill>
                <a:latin typeface="Consolas"/>
              </a:defRPr>
            </a:pPr>
            <a:r>
              <a:t>BKUGATE_BASE ... V=(GUPTARGET&gt;=GUP)</a:t>
            </a:r>
            <a:br/>
            <a:r>
              <a:t>+ ? V(KUGATE_ON) : V(KUGATE_OFF)</a:t>
            </a:r>
            <a:br/>
            <a:r>
              <a:t>BKDGATE_BASE ... V=(GDNTARGET&gt;=GDN)</a:t>
            </a:r>
            <a:br/>
            <a:r>
              <a:t>+ ? V(KDGATE_ON) : V(KDGATE_OFF)</a:t>
            </a:r>
            <a:br/>
            <a:br/>
            <a:r>
              <a:t>B44 Ku 0 I=-C*(KUTARGET-Ku)/5p</a:t>
            </a:r>
            <a:br/>
            <a:r>
              <a:t>B45 Kd 0 I=-C*(KDTARGET-Kd)/5p</a:t>
            </a:r>
          </a:p>
        </p:txBody>
      </p:sp>
      <p:sp>
        <p:nvSpPr>
          <p:cNvPr id="17" name="TextBox 16"/>
          <p:cNvSpPr txBox="1"/>
          <p:nvPr/>
        </p:nvSpPr>
        <p:spPr>
          <a:xfrm>
            <a:off x="6263640" y="3310128"/>
            <a:ext cx="5029200" cy="320040"/>
          </a:xfrm>
          <a:prstGeom prst="rect">
            <a:avLst/>
          </a:prstGeom>
          <a:noFill/>
        </p:spPr>
        <p:txBody>
          <a:bodyPr wrap="square" lIns="45720" rIns="45720" anchor="t">
            <a:spAutoFit/>
          </a:bodyPr>
          <a:lstStyle/>
          <a:p>
            <a:pPr algn="l">
              <a:defRPr sz="1850" b="1">
                <a:solidFill>
                  <a:srgbClr val="2B7A43"/>
                </a:solidFill>
                <a:latin typeface="Aptos"/>
              </a:defRPr>
            </a:pPr>
            <a:r>
              <a:t>Then the ordinary IBIS output equations stay unchanged</a:t>
            </a:r>
          </a:p>
        </p:txBody>
      </p:sp>
      <p:sp>
        <p:nvSpPr>
          <p:cNvPr id="18" name="Rounded Rectangle 17"/>
          <p:cNvSpPr/>
          <p:nvPr/>
        </p:nvSpPr>
        <p:spPr>
          <a:xfrm>
            <a:off x="6309360" y="3675887"/>
            <a:ext cx="4983480" cy="1298448"/>
          </a:xfrm>
          <a:prstGeom prst="roundRect">
            <a:avLst/>
          </a:prstGeom>
          <a:solidFill>
            <a:srgbClr val="F6F8F7"/>
          </a:solidFill>
          <a:ln w="12700">
            <a:solidFill>
              <a:srgbClr val="A4AEA8"/>
            </a:solidFill>
          </a:ln>
        </p:spPr>
        <p:style>
          <a:lnRef idx="1">
            <a:schemeClr val="accent1"/>
          </a:lnRef>
          <a:fillRef idx="3">
            <a:schemeClr val="accent1"/>
          </a:fillRef>
          <a:effectRef idx="2">
            <a:schemeClr val="accent1"/>
          </a:effectRef>
          <a:fontRef idx="minor">
            <a:schemeClr val="lt1"/>
          </a:fontRef>
        </p:style>
        <p:txBody>
          <a:bodyPr rtlCol="0" anchor="ctr" wrap="none" lIns="118872" rIns="73152" tIns="91440" bIns="73152"/>
          <a:lstStyle/>
          <a:p>
            <a:pPr algn="ctr">
              <a:defRPr sz="1150">
                <a:solidFill>
                  <a:srgbClr val="1E3027"/>
                </a:solidFill>
                <a:latin typeface="Consolas"/>
              </a:defRPr>
            </a:pPr>
            <a:r>
              <a:t>B3 DIE PULLUP_REF</a:t>
            </a:r>
            <a:br/>
            <a:r>
              <a:t>+ I={V(Ku)*pwl(V(DIE,VSS), ...)}</a:t>
            </a:r>
            <a:br/>
            <a:br/>
            <a:r>
              <a:t>B4 DIE PULLDOWN_REF</a:t>
            </a:r>
            <a:br/>
            <a:r>
              <a:t>+ I={V(Kd)*pwl(V(DIE,VSS), ...)}</a:t>
            </a:r>
          </a:p>
        </p:txBody>
      </p:sp>
      <p:sp>
        <p:nvSpPr>
          <p:cNvPr id="19" name="Rounded Rectangle 18"/>
          <p:cNvSpPr/>
          <p:nvPr/>
        </p:nvSpPr>
        <p:spPr>
          <a:xfrm>
            <a:off x="6309360" y="5166360"/>
            <a:ext cx="4983480" cy="640080"/>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50" b="1">
                <a:solidFill>
                  <a:srgbClr val="191F1C"/>
                </a:solidFill>
                <a:latin typeface="Aptos"/>
              </a:defRPr>
            </a:pPr>
            <a:r>
              <a:t>Small 5 ps coefficient capacitors smooth map-branch changes; they do not create the main switching history.</a:t>
            </a:r>
          </a:p>
        </p:txBody>
      </p:sp>
      <p:sp>
        <p:nvSpPr>
          <p:cNvPr id="20" name="Rectangle 19"/>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The same G value can yield a different K value by direction, so one shared G-to-K map is not sufficient.</a:t>
            </a:r>
          </a:p>
        </p:txBody>
      </p:sp>
      <p:sp>
        <p:nvSpPr>
          <p:cNvPr id="21" name="TextBox 20"/>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Illustrative values are read from the generated direction-specific PWL maps for io_buf.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8. Everything together: the generated ngspice signal path</a:t>
            </a:r>
          </a:p>
        </p:txBody>
      </p:sp>
      <p:sp>
        <p:nvSpPr>
          <p:cNvPr id="3" name="TextBox 2"/>
          <p:cNvSpPr txBox="1"/>
          <p:nvPr/>
        </p:nvSpPr>
        <p:spPr>
          <a:xfrm>
            <a:off x="9555480" y="109728"/>
            <a:ext cx="1965960" cy="228600"/>
          </a:xfrm>
          <a:prstGeom prst="rect">
            <a:avLst/>
          </a:prstGeom>
          <a:noFill/>
        </p:spPr>
        <p:txBody>
          <a:bodyPr wrap="square" lIns="45720" rIns="45720" anchor="t">
            <a:spAutoFit/>
          </a:bodyPr>
          <a:lstStyle/>
          <a:p>
            <a:pPr algn="r">
              <a:defRPr sz="950" b="1">
                <a:solidFill>
                  <a:srgbClr val="666C68"/>
                </a:solidFill>
                <a:latin typeface="Aptos"/>
              </a:defRPr>
            </a:pPr>
            <a:r>
              <a:t>IMPLEMENTATION SUMMARY</a:t>
            </a:r>
          </a:p>
        </p:txBody>
      </p:sp>
      <p:sp>
        <p:nvSpPr>
          <p:cNvPr id="4" name="Rounded Rectangle 3"/>
          <p:cNvSpPr/>
          <p:nvPr/>
        </p:nvSpPr>
        <p:spPr>
          <a:xfrm>
            <a:off x="365760" y="987552"/>
            <a:ext cx="1234440" cy="777240"/>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350" b="1">
                <a:solidFill>
                  <a:srgbClr val="191F1C"/>
                </a:solidFill>
                <a:latin typeface="Aptos"/>
              </a:defRPr>
            </a:pPr>
            <a:r>
              <a:t>1</a:t>
            </a:r>
            <a:br/>
            <a:r>
              <a:t>input edge</a:t>
            </a:r>
          </a:p>
        </p:txBody>
      </p:sp>
      <p:cxnSp>
        <p:nvCxnSpPr>
          <p:cNvPr id="5" name="Connector 4"/>
          <p:cNvCxnSpPr/>
          <p:nvPr/>
        </p:nvCxnSpPr>
        <p:spPr>
          <a:xfrm>
            <a:off x="1600200" y="1380744"/>
            <a:ext cx="228600" cy="0"/>
          </a:xfrm>
          <a:prstGeom prst="line">
            <a:avLst/>
          </a:prstGeom>
          <a:ln w="21590">
            <a:solidFill>
              <a:srgbClr val="2B7A43"/>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1828800" y="987552"/>
            <a:ext cx="1417320" cy="77724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350" b="1">
                <a:solidFill>
                  <a:srgbClr val="191F1C"/>
                </a:solidFill>
                <a:latin typeface="Aptos"/>
              </a:defRPr>
            </a:pPr>
            <a:r>
              <a:t>2</a:t>
            </a:r>
            <a:br/>
            <a:r>
              <a:t>delayed event</a:t>
            </a:r>
          </a:p>
        </p:txBody>
      </p:sp>
      <p:cxnSp>
        <p:nvCxnSpPr>
          <p:cNvPr id="7" name="Connector 6"/>
          <p:cNvCxnSpPr/>
          <p:nvPr/>
        </p:nvCxnSpPr>
        <p:spPr>
          <a:xfrm>
            <a:off x="3246120" y="1380744"/>
            <a:ext cx="228600" cy="0"/>
          </a:xfrm>
          <a:prstGeom prst="line">
            <a:avLst/>
          </a:prstGeom>
          <a:ln w="21590">
            <a:solidFill>
              <a:srgbClr val="2B7A43"/>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474720" y="987552"/>
            <a:ext cx="1417320" cy="77724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350" b="1">
                <a:solidFill>
                  <a:srgbClr val="191F1C"/>
                </a:solidFill>
                <a:latin typeface="Aptos"/>
              </a:defRPr>
            </a:pPr>
            <a:r>
              <a:t>3</a:t>
            </a:r>
            <a:br/>
            <a:r>
              <a:t>command cap</a:t>
            </a:r>
          </a:p>
        </p:txBody>
      </p:sp>
      <p:cxnSp>
        <p:nvCxnSpPr>
          <p:cNvPr id="9" name="Connector 8"/>
          <p:cNvCxnSpPr/>
          <p:nvPr/>
        </p:nvCxnSpPr>
        <p:spPr>
          <a:xfrm>
            <a:off x="4892040" y="1380744"/>
            <a:ext cx="228600" cy="0"/>
          </a:xfrm>
          <a:prstGeom prst="line">
            <a:avLst/>
          </a:prstGeom>
          <a:ln w="21590">
            <a:solidFill>
              <a:srgbClr val="2B7A43"/>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120640" y="987552"/>
            <a:ext cx="1508760" cy="777240"/>
          </a:xfrm>
          <a:prstGeom prst="roundRect">
            <a:avLst/>
          </a:prstGeom>
          <a:solidFill>
            <a:srgbClr val="F1ECF8"/>
          </a:solidFill>
          <a:ln w="15875">
            <a:solidFill>
              <a:srgbClr val="69499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350" b="1">
                <a:solidFill>
                  <a:srgbClr val="191F1C"/>
                </a:solidFill>
                <a:latin typeface="Aptos"/>
              </a:defRPr>
            </a:pPr>
            <a:r>
              <a:t>4</a:t>
            </a:r>
            <a:br/>
            <a:r>
              <a:t>gate-state cap</a:t>
            </a:r>
          </a:p>
        </p:txBody>
      </p:sp>
      <p:cxnSp>
        <p:nvCxnSpPr>
          <p:cNvPr id="11" name="Connector 10"/>
          <p:cNvCxnSpPr/>
          <p:nvPr/>
        </p:nvCxnSpPr>
        <p:spPr>
          <a:xfrm>
            <a:off x="6629400" y="1380744"/>
            <a:ext cx="228600" cy="0"/>
          </a:xfrm>
          <a:prstGeom prst="line">
            <a:avLst/>
          </a:prstGeom>
          <a:ln w="21590">
            <a:solidFill>
              <a:srgbClr val="2B7A43"/>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858000" y="987552"/>
            <a:ext cx="1554480" cy="777240"/>
          </a:xfrm>
          <a:prstGeom prst="roundRect">
            <a:avLst/>
          </a:prstGeom>
          <a:solidFill>
            <a:srgbClr val="EAF4FF"/>
          </a:solidFill>
          <a:ln w="15875">
            <a:solidFill>
              <a:srgbClr val="2467A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350" b="1">
                <a:solidFill>
                  <a:srgbClr val="191F1C"/>
                </a:solidFill>
                <a:latin typeface="Aptos"/>
              </a:defRPr>
            </a:pPr>
            <a:r>
              <a:t>5</a:t>
            </a:r>
            <a:br/>
            <a:r>
              <a:t>directional map</a:t>
            </a:r>
          </a:p>
        </p:txBody>
      </p:sp>
      <p:cxnSp>
        <p:nvCxnSpPr>
          <p:cNvPr id="13" name="Connector 12"/>
          <p:cNvCxnSpPr/>
          <p:nvPr/>
        </p:nvCxnSpPr>
        <p:spPr>
          <a:xfrm>
            <a:off x="8412480" y="1380744"/>
            <a:ext cx="228600" cy="0"/>
          </a:xfrm>
          <a:prstGeom prst="line">
            <a:avLst/>
          </a:prstGeom>
          <a:ln w="21590">
            <a:solidFill>
              <a:srgbClr val="2B7A43"/>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641080" y="987552"/>
            <a:ext cx="1097280" cy="777240"/>
          </a:xfrm>
          <a:prstGeom prst="roundRect">
            <a:avLst/>
          </a:prstGeom>
          <a:solidFill>
            <a:srgbClr val="FFF1E4"/>
          </a:solidFill>
          <a:ln w="15875">
            <a:solidFill>
              <a:srgbClr val="DA842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350" b="1">
                <a:solidFill>
                  <a:srgbClr val="191F1C"/>
                </a:solidFill>
                <a:latin typeface="Aptos"/>
              </a:defRPr>
            </a:pPr>
            <a:r>
              <a:t>6</a:t>
            </a:r>
            <a:br/>
            <a:r>
              <a:t>Ku/Kd</a:t>
            </a:r>
          </a:p>
        </p:txBody>
      </p:sp>
      <p:cxnSp>
        <p:nvCxnSpPr>
          <p:cNvPr id="15" name="Connector 14"/>
          <p:cNvCxnSpPr/>
          <p:nvPr/>
        </p:nvCxnSpPr>
        <p:spPr>
          <a:xfrm>
            <a:off x="9738359" y="1380744"/>
            <a:ext cx="228601" cy="0"/>
          </a:xfrm>
          <a:prstGeom prst="line">
            <a:avLst/>
          </a:prstGeom>
          <a:ln w="21590">
            <a:solidFill>
              <a:srgbClr val="2B7A43"/>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966960" y="987552"/>
            <a:ext cx="1371600" cy="777240"/>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350" b="1">
                <a:solidFill>
                  <a:srgbClr val="191F1C"/>
                </a:solidFill>
                <a:latin typeface="Aptos"/>
              </a:defRPr>
            </a:pPr>
            <a:r>
              <a:t>7</a:t>
            </a:r>
            <a:br/>
            <a:r>
              <a:t>IBIS I-V</a:t>
            </a:r>
          </a:p>
        </p:txBody>
      </p:sp>
      <p:sp>
        <p:nvSpPr>
          <p:cNvPr id="17" name="Rounded Rectangle 16"/>
          <p:cNvSpPr/>
          <p:nvPr/>
        </p:nvSpPr>
        <p:spPr>
          <a:xfrm>
            <a:off x="502920" y="2148840"/>
            <a:ext cx="5486400" cy="2971800"/>
          </a:xfrm>
          <a:prstGeom prst="roundRect">
            <a:avLst/>
          </a:prstGeom>
          <a:solidFill>
            <a:srgbClr val="F6F8F7"/>
          </a:solidFill>
          <a:ln w="12700">
            <a:solidFill>
              <a:srgbClr val="A4AEA8"/>
            </a:solidFill>
          </a:ln>
        </p:spPr>
        <p:style>
          <a:lnRef idx="1">
            <a:schemeClr val="accent1"/>
          </a:lnRef>
          <a:fillRef idx="3">
            <a:schemeClr val="accent1"/>
          </a:fillRef>
          <a:effectRef idx="2">
            <a:schemeClr val="accent1"/>
          </a:effectRef>
          <a:fontRef idx="minor">
            <a:schemeClr val="lt1"/>
          </a:fontRef>
        </p:style>
        <p:txBody>
          <a:bodyPr rtlCol="0" anchor="ctr" wrap="none" lIns="118872" rIns="73152" tIns="91440" bIns="73152"/>
          <a:lstStyle/>
          <a:p>
            <a:pPr algn="ctr">
              <a:defRPr sz="1030">
                <a:solidFill>
                  <a:srgbClr val="1E3027"/>
                </a:solidFill>
                <a:latin typeface="Consolas"/>
              </a:defRPr>
            </a:pPr>
            <a:r>
              <a:t>* 1-3: edge -&gt; delayed command -&gt; target</a:t>
            </a:r>
            <a:br/>
            <a:r>
              <a:t>TPUONP RISEEDGE 0 PUONP 0 Z0=50 Td=1.3019n</a:t>
            </a:r>
            <a:br/>
            <a:r>
              <a:t>CGUPCMD GUPCMD 0 1p ic=0</a:t>
            </a:r>
            <a:br/>
            <a:r>
              <a:t>BGUPCMDON GUPCMD 0 I=-1p*V(PUONP)/edge_delay</a:t>
            </a:r>
            <a:br/>
            <a:r>
              <a:t>BGUPTARGET GUPTARGET 0 V=min(max(V(GUPCMD),0),1)</a:t>
            </a:r>
            <a:br/>
            <a:br/>
            <a:r>
              <a:t>* 4: continuous hidden state</a:t>
            </a:r>
            <a:br/>
            <a:r>
              <a:t>BGUP GUP 0 I=-1p*(V(GUPTARGET)-V(GUP))/tau_selected</a:t>
            </a:r>
            <a:br/>
            <a:r>
              <a:t>CGUP GUP 0 1p ic=0</a:t>
            </a:r>
          </a:p>
        </p:txBody>
      </p:sp>
      <p:sp>
        <p:nvSpPr>
          <p:cNvPr id="18" name="Rounded Rectangle 17"/>
          <p:cNvSpPr/>
          <p:nvPr/>
        </p:nvSpPr>
        <p:spPr>
          <a:xfrm>
            <a:off x="6199632" y="2148840"/>
            <a:ext cx="5440680" cy="2971800"/>
          </a:xfrm>
          <a:prstGeom prst="roundRect">
            <a:avLst/>
          </a:prstGeom>
          <a:solidFill>
            <a:srgbClr val="F6F8F7"/>
          </a:solidFill>
          <a:ln w="12700">
            <a:solidFill>
              <a:srgbClr val="A4AEA8"/>
            </a:solidFill>
          </a:ln>
        </p:spPr>
        <p:style>
          <a:lnRef idx="1">
            <a:schemeClr val="accent1"/>
          </a:lnRef>
          <a:fillRef idx="3">
            <a:schemeClr val="accent1"/>
          </a:fillRef>
          <a:effectRef idx="2">
            <a:schemeClr val="accent1"/>
          </a:effectRef>
          <a:fontRef idx="minor">
            <a:schemeClr val="lt1"/>
          </a:fontRef>
        </p:style>
        <p:txBody>
          <a:bodyPr rtlCol="0" anchor="ctr" wrap="none" lIns="118872" rIns="73152" tIns="91440" bIns="73152"/>
          <a:lstStyle/>
          <a:p>
            <a:pPr algn="ctr">
              <a:defRPr sz="1030">
                <a:solidFill>
                  <a:srgbClr val="1E3027"/>
                </a:solidFill>
                <a:latin typeface="Consolas"/>
              </a:defRPr>
            </a:pPr>
            <a:r>
              <a:t>* 5-6: state -&gt; directional coefficient</a:t>
            </a:r>
            <a:br/>
            <a:r>
              <a:t>BKUGATE_BASE KUGATE_BASE 0 V=</a:t>
            </a:r>
            <a:br/>
            <a:r>
              <a:t>+ (GUPTARGET&gt;=GUP) ? KUGATE_ON : KUGATE_OFF</a:t>
            </a:r>
            <a:br/>
            <a:r>
              <a:t>B44 Ku 0 I=-1p*(V(KUTARGET)-V(Ku))/5p</a:t>
            </a:r>
            <a:br/>
            <a:r>
              <a:t>Cku Ku 0 1p ic=0.00194</a:t>
            </a:r>
            <a:br/>
            <a:br/>
            <a:r>
              <a:t>* 7: coefficient -&gt; IBIS current</a:t>
            </a:r>
            <a:br/>
            <a:r>
              <a:t>B3 DIE PULLUP_REF I={V(Ku)*pwl(...)}</a:t>
            </a:r>
          </a:p>
        </p:txBody>
      </p:sp>
      <p:sp>
        <p:nvSpPr>
          <p:cNvPr id="19" name="Rounded Rectangle 18"/>
          <p:cNvSpPr/>
          <p:nvPr/>
        </p:nvSpPr>
        <p:spPr>
          <a:xfrm>
            <a:off x="566928" y="5422392"/>
            <a:ext cx="2011680" cy="438912"/>
          </a:xfrm>
          <a:prstGeom prst="roundRect">
            <a:avLst/>
          </a:prstGeom>
          <a:solidFill>
            <a:srgbClr val="FFF1E4"/>
          </a:solidFill>
          <a:ln w="15875">
            <a:solidFill>
              <a:srgbClr val="DA842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Parallel pulldown path</a:t>
            </a:r>
          </a:p>
        </p:txBody>
      </p:sp>
      <p:sp>
        <p:nvSpPr>
          <p:cNvPr id="20" name="TextBox 19"/>
          <p:cNvSpPr txBox="1"/>
          <p:nvPr/>
        </p:nvSpPr>
        <p:spPr>
          <a:xfrm>
            <a:off x="2743200" y="5449824"/>
            <a:ext cx="7955279" cy="320040"/>
          </a:xfrm>
          <a:prstGeom prst="rect">
            <a:avLst/>
          </a:prstGeom>
          <a:noFill/>
        </p:spPr>
        <p:txBody>
          <a:bodyPr wrap="square" lIns="45720" rIns="45720" anchor="t">
            <a:spAutoFit/>
          </a:bodyPr>
          <a:lstStyle/>
          <a:p>
            <a:pPr algn="l">
              <a:defRPr sz="1550" b="1">
                <a:solidFill>
                  <a:srgbClr val="191F1C"/>
                </a:solidFill>
                <a:latin typeface="Aptos"/>
              </a:defRPr>
            </a:pPr>
            <a:r>
              <a:t>uses PDOFFP/PDONP, GDNCMD, GDN, Kd-on/off maps, and the PD-specific taus.</a:t>
            </a:r>
          </a:p>
        </p:txBody>
      </p:sp>
      <p:sp>
        <p:nvSpPr>
          <p:cNvPr id="21" name="Rectangle 20"/>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Every box corresponds to a real node or element in the generated .sub file; no external runtime controller is required.</a:t>
            </a:r>
          </a:p>
        </p:txBody>
      </p:sp>
      <p:sp>
        <p:nvSpPr>
          <p:cNvPr id="22" name="TextBox 21"/>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Condensed exact syntax from cases/short_pulse_1ns_high/ngspice_two_state_directional_residual/driver_OutputInput_Typical.sub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9. Real 1 ns short-high example: follow every event</a:t>
            </a:r>
          </a:p>
        </p:txBody>
      </p:sp>
      <p:sp>
        <p:nvSpPr>
          <p:cNvPr id="3" name="TextBox 2"/>
          <p:cNvSpPr txBox="1"/>
          <p:nvPr/>
        </p:nvSpPr>
        <p:spPr>
          <a:xfrm>
            <a:off x="9555480" y="109728"/>
            <a:ext cx="1965960" cy="228600"/>
          </a:xfrm>
          <a:prstGeom prst="rect">
            <a:avLst/>
          </a:prstGeom>
          <a:noFill/>
        </p:spPr>
        <p:txBody>
          <a:bodyPr wrap="square" lIns="45720" rIns="45720" anchor="t">
            <a:spAutoFit/>
          </a:bodyPr>
          <a:lstStyle/>
          <a:p>
            <a:pPr algn="r">
              <a:defRPr sz="950" b="1">
                <a:solidFill>
                  <a:srgbClr val="666C68"/>
                </a:solidFill>
                <a:latin typeface="Aptos"/>
              </a:defRPr>
            </a:pPr>
            <a:r>
              <a:t>WORKED EXAMPLE</a:t>
            </a:r>
          </a:p>
        </p:txBody>
      </p:sp>
      <p:sp>
        <p:nvSpPr>
          <p:cNvPr id="4" name="Rectangle 3"/>
          <p:cNvSpPr/>
          <p:nvPr/>
        </p:nvSpPr>
        <p:spPr>
          <a:xfrm>
            <a:off x="4864607" y="1027514"/>
            <a:ext cx="6867144" cy="4848690"/>
          </a:xfrm>
          <a:prstGeom prst="rect">
            <a:avLst/>
          </a:prstGeom>
          <a:solidFill>
            <a:srgbClr val="FFFFFF"/>
          </a:solidFill>
          <a:ln w="1016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hort_pulse_1ns_high_directional_residual_vs_native_ibis.png"/>
          <p:cNvPicPr>
            <a:picLocks noChangeAspect="1"/>
          </p:cNvPicPr>
          <p:nvPr/>
        </p:nvPicPr>
        <p:blipFill>
          <a:blip r:embed="rId2"/>
          <a:stretch>
            <a:fillRect/>
          </a:stretch>
        </p:blipFill>
        <p:spPr>
          <a:xfrm>
            <a:off x="4892040" y="1054946"/>
            <a:ext cx="6812280" cy="4793826"/>
          </a:xfrm>
          <a:prstGeom prst="rect">
            <a:avLst/>
          </a:prstGeom>
        </p:spPr>
      </p:pic>
      <p:sp>
        <p:nvSpPr>
          <p:cNvPr id="6" name="TextBox 5"/>
          <p:cNvSpPr txBox="1"/>
          <p:nvPr/>
        </p:nvSpPr>
        <p:spPr>
          <a:xfrm>
            <a:off x="502920" y="914400"/>
            <a:ext cx="4114800" cy="320040"/>
          </a:xfrm>
          <a:prstGeom prst="rect">
            <a:avLst/>
          </a:prstGeom>
          <a:noFill/>
        </p:spPr>
        <p:txBody>
          <a:bodyPr wrap="square" lIns="45720" rIns="45720" anchor="t">
            <a:spAutoFit/>
          </a:bodyPr>
          <a:lstStyle/>
          <a:p>
            <a:pPr algn="ctr">
              <a:defRPr sz="1850" b="1">
                <a:solidFill>
                  <a:srgbClr val="2B7A43"/>
                </a:solidFill>
                <a:latin typeface="Aptos"/>
              </a:defRPr>
            </a:pPr>
            <a:r>
              <a:t>Input and delayed internal events</a:t>
            </a:r>
          </a:p>
        </p:txBody>
      </p:sp>
      <p:sp>
        <p:nvSpPr>
          <p:cNvPr id="7" name="Rounded Rectangle 6"/>
          <p:cNvSpPr/>
          <p:nvPr/>
        </p:nvSpPr>
        <p:spPr>
          <a:xfrm>
            <a:off x="640080" y="1417320"/>
            <a:ext cx="1143000" cy="438912"/>
          </a:xfrm>
          <a:prstGeom prst="roundRect">
            <a:avLst/>
          </a:prstGeom>
          <a:solidFill>
            <a:srgbClr val="F2F3F2"/>
          </a:solidFill>
          <a:ln w="15875">
            <a:solidFill>
              <a:srgbClr val="2467A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300" b="1">
                <a:solidFill>
                  <a:srgbClr val="191F1C"/>
                </a:solidFill>
                <a:latin typeface="Aptos"/>
              </a:defRPr>
            </a:pPr>
            <a:r>
              <a:t>5.000 ns</a:t>
            </a:r>
          </a:p>
        </p:txBody>
      </p:sp>
      <p:sp>
        <p:nvSpPr>
          <p:cNvPr id="8" name="TextBox 7"/>
          <p:cNvSpPr txBox="1"/>
          <p:nvPr/>
        </p:nvSpPr>
        <p:spPr>
          <a:xfrm>
            <a:off x="1901952" y="1472184"/>
            <a:ext cx="2423160" cy="274320"/>
          </a:xfrm>
          <a:prstGeom prst="rect">
            <a:avLst/>
          </a:prstGeom>
          <a:noFill/>
        </p:spPr>
        <p:txBody>
          <a:bodyPr wrap="square" lIns="45720" rIns="45720" anchor="t">
            <a:spAutoFit/>
          </a:bodyPr>
          <a:lstStyle/>
          <a:p>
            <a:pPr algn="l">
              <a:defRPr sz="1450" b="1">
                <a:solidFill>
                  <a:srgbClr val="2467AD"/>
                </a:solidFill>
                <a:latin typeface="Aptos"/>
              </a:defRPr>
            </a:pPr>
            <a:r>
              <a:t>input rises</a:t>
            </a:r>
          </a:p>
        </p:txBody>
      </p:sp>
      <p:sp>
        <p:nvSpPr>
          <p:cNvPr id="9" name="Rounded Rectangle 8"/>
          <p:cNvSpPr/>
          <p:nvPr/>
        </p:nvSpPr>
        <p:spPr>
          <a:xfrm>
            <a:off x="640080" y="1993392"/>
            <a:ext cx="1143000" cy="438912"/>
          </a:xfrm>
          <a:prstGeom prst="roundRect">
            <a:avLst/>
          </a:prstGeom>
          <a:solidFill>
            <a:srgbClr val="F2F3F2"/>
          </a:solidFill>
          <a:ln w="15875">
            <a:solidFill>
              <a:srgbClr val="CA303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300" b="1">
                <a:solidFill>
                  <a:srgbClr val="191F1C"/>
                </a:solidFill>
                <a:latin typeface="Aptos"/>
              </a:defRPr>
            </a:pPr>
            <a:r>
              <a:t>6.000 ns</a:t>
            </a:r>
          </a:p>
        </p:txBody>
      </p:sp>
      <p:sp>
        <p:nvSpPr>
          <p:cNvPr id="10" name="TextBox 9"/>
          <p:cNvSpPr txBox="1"/>
          <p:nvPr/>
        </p:nvSpPr>
        <p:spPr>
          <a:xfrm>
            <a:off x="1901952" y="2048256"/>
            <a:ext cx="2423160" cy="274320"/>
          </a:xfrm>
          <a:prstGeom prst="rect">
            <a:avLst/>
          </a:prstGeom>
          <a:noFill/>
        </p:spPr>
        <p:txBody>
          <a:bodyPr wrap="square" lIns="45720" rIns="45720" anchor="t">
            <a:spAutoFit/>
          </a:bodyPr>
          <a:lstStyle/>
          <a:p>
            <a:pPr algn="l">
              <a:defRPr sz="1450" b="1">
                <a:solidFill>
                  <a:srgbClr val="CA3030"/>
                </a:solidFill>
                <a:latin typeface="Aptos"/>
              </a:defRPr>
            </a:pPr>
            <a:r>
              <a:t>input falls</a:t>
            </a:r>
          </a:p>
        </p:txBody>
      </p:sp>
      <p:sp>
        <p:nvSpPr>
          <p:cNvPr id="11" name="Rounded Rectangle 10"/>
          <p:cNvSpPr/>
          <p:nvPr/>
        </p:nvSpPr>
        <p:spPr>
          <a:xfrm>
            <a:off x="640080" y="2569464"/>
            <a:ext cx="1143000" cy="438912"/>
          </a:xfrm>
          <a:prstGeom prst="roundRect">
            <a:avLst/>
          </a:prstGeom>
          <a:solidFill>
            <a:srgbClr val="F2F3F2"/>
          </a:solidFill>
          <a:ln w="15875">
            <a:solidFill>
              <a:srgbClr val="2467A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300" b="1">
                <a:solidFill>
                  <a:srgbClr val="191F1C"/>
                </a:solidFill>
                <a:latin typeface="Aptos"/>
              </a:defRPr>
            </a:pPr>
            <a:r>
              <a:t>6.302 ns</a:t>
            </a:r>
          </a:p>
        </p:txBody>
      </p:sp>
      <p:sp>
        <p:nvSpPr>
          <p:cNvPr id="12" name="TextBox 11"/>
          <p:cNvSpPr txBox="1"/>
          <p:nvPr/>
        </p:nvSpPr>
        <p:spPr>
          <a:xfrm>
            <a:off x="1901952" y="2624328"/>
            <a:ext cx="2423160" cy="274320"/>
          </a:xfrm>
          <a:prstGeom prst="rect">
            <a:avLst/>
          </a:prstGeom>
          <a:noFill/>
        </p:spPr>
        <p:txBody>
          <a:bodyPr wrap="square" lIns="45720" rIns="45720" anchor="t">
            <a:spAutoFit/>
          </a:bodyPr>
          <a:lstStyle/>
          <a:p>
            <a:pPr algn="l">
              <a:defRPr sz="1450" b="1">
                <a:solidFill>
                  <a:srgbClr val="2467AD"/>
                </a:solidFill>
                <a:latin typeface="Aptos"/>
              </a:defRPr>
            </a:pPr>
            <a:r>
              <a:t>PU-on arrives</a:t>
            </a:r>
          </a:p>
        </p:txBody>
      </p:sp>
      <p:sp>
        <p:nvSpPr>
          <p:cNvPr id="13" name="Rounded Rectangle 12"/>
          <p:cNvSpPr/>
          <p:nvPr/>
        </p:nvSpPr>
        <p:spPr>
          <a:xfrm>
            <a:off x="640080" y="3145536"/>
            <a:ext cx="1143000" cy="438912"/>
          </a:xfrm>
          <a:prstGeom prst="roundRect">
            <a:avLst/>
          </a:prstGeom>
          <a:solidFill>
            <a:srgbClr val="F2F3F2"/>
          </a:solidFill>
          <a:ln w="15875">
            <a:solidFill>
              <a:srgbClr val="CA303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300" b="1">
                <a:solidFill>
                  <a:srgbClr val="191F1C"/>
                </a:solidFill>
                <a:latin typeface="Aptos"/>
              </a:defRPr>
            </a:pPr>
            <a:r>
              <a:t>6.440 ns</a:t>
            </a:r>
          </a:p>
        </p:txBody>
      </p:sp>
      <p:sp>
        <p:nvSpPr>
          <p:cNvPr id="14" name="TextBox 13"/>
          <p:cNvSpPr txBox="1"/>
          <p:nvPr/>
        </p:nvSpPr>
        <p:spPr>
          <a:xfrm>
            <a:off x="1901952" y="3200400"/>
            <a:ext cx="2423160" cy="274320"/>
          </a:xfrm>
          <a:prstGeom prst="rect">
            <a:avLst/>
          </a:prstGeom>
          <a:noFill/>
        </p:spPr>
        <p:txBody>
          <a:bodyPr wrap="square" lIns="45720" rIns="45720" anchor="t">
            <a:spAutoFit/>
          </a:bodyPr>
          <a:lstStyle/>
          <a:p>
            <a:pPr algn="l">
              <a:defRPr sz="1450" b="1">
                <a:solidFill>
                  <a:srgbClr val="CA3030"/>
                </a:solidFill>
                <a:latin typeface="Aptos"/>
              </a:defRPr>
            </a:pPr>
            <a:r>
              <a:t>PU-off arrives</a:t>
            </a:r>
          </a:p>
        </p:txBody>
      </p:sp>
      <p:sp>
        <p:nvSpPr>
          <p:cNvPr id="15" name="Rounded Rectangle 14"/>
          <p:cNvSpPr/>
          <p:nvPr/>
        </p:nvSpPr>
        <p:spPr>
          <a:xfrm>
            <a:off x="640080" y="3721608"/>
            <a:ext cx="1143000" cy="438912"/>
          </a:xfrm>
          <a:prstGeom prst="roundRect">
            <a:avLst/>
          </a:prstGeom>
          <a:solidFill>
            <a:srgbClr val="F2F3F2"/>
          </a:solidFill>
          <a:ln w="15875">
            <a:solidFill>
              <a:srgbClr val="DA842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300" b="1">
                <a:solidFill>
                  <a:srgbClr val="191F1C"/>
                </a:solidFill>
                <a:latin typeface="Aptos"/>
              </a:defRPr>
            </a:pPr>
            <a:r>
              <a:t>6.443 ns</a:t>
            </a:r>
          </a:p>
        </p:txBody>
      </p:sp>
      <p:sp>
        <p:nvSpPr>
          <p:cNvPr id="16" name="TextBox 15"/>
          <p:cNvSpPr txBox="1"/>
          <p:nvPr/>
        </p:nvSpPr>
        <p:spPr>
          <a:xfrm>
            <a:off x="1901952" y="3776472"/>
            <a:ext cx="2423160" cy="274320"/>
          </a:xfrm>
          <a:prstGeom prst="rect">
            <a:avLst/>
          </a:prstGeom>
          <a:noFill/>
        </p:spPr>
        <p:txBody>
          <a:bodyPr wrap="square" lIns="45720" rIns="45720" anchor="t">
            <a:spAutoFit/>
          </a:bodyPr>
          <a:lstStyle/>
          <a:p>
            <a:pPr algn="l">
              <a:defRPr sz="1450" b="1">
                <a:solidFill>
                  <a:srgbClr val="DA8426"/>
                </a:solidFill>
                <a:latin typeface="Aptos"/>
              </a:defRPr>
            </a:pPr>
            <a:r>
              <a:t>PD-off arrives</a:t>
            </a:r>
          </a:p>
        </p:txBody>
      </p:sp>
      <p:sp>
        <p:nvSpPr>
          <p:cNvPr id="17" name="Rounded Rectangle 16"/>
          <p:cNvSpPr/>
          <p:nvPr/>
        </p:nvSpPr>
        <p:spPr>
          <a:xfrm>
            <a:off x="640080" y="4297680"/>
            <a:ext cx="1143000" cy="438912"/>
          </a:xfrm>
          <a:prstGeom prst="roundRect">
            <a:avLst/>
          </a:prstGeom>
          <a:solidFill>
            <a:srgbClr val="F2F3F2"/>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300" b="1">
                <a:solidFill>
                  <a:srgbClr val="191F1C"/>
                </a:solidFill>
                <a:latin typeface="Aptos"/>
              </a:defRPr>
            </a:pPr>
            <a:r>
              <a:t>8.480 ns</a:t>
            </a:r>
          </a:p>
        </p:txBody>
      </p:sp>
      <p:sp>
        <p:nvSpPr>
          <p:cNvPr id="18" name="TextBox 17"/>
          <p:cNvSpPr txBox="1"/>
          <p:nvPr/>
        </p:nvSpPr>
        <p:spPr>
          <a:xfrm>
            <a:off x="1901952" y="4352544"/>
            <a:ext cx="2423160" cy="274320"/>
          </a:xfrm>
          <a:prstGeom prst="rect">
            <a:avLst/>
          </a:prstGeom>
          <a:noFill/>
        </p:spPr>
        <p:txBody>
          <a:bodyPr wrap="square" lIns="45720" rIns="45720" anchor="t">
            <a:spAutoFit/>
          </a:bodyPr>
          <a:lstStyle/>
          <a:p>
            <a:pPr algn="l">
              <a:defRPr sz="1450" b="1">
                <a:solidFill>
                  <a:srgbClr val="2B7A43"/>
                </a:solidFill>
                <a:latin typeface="Aptos"/>
              </a:defRPr>
            </a:pPr>
            <a:r>
              <a:t>PD-on arrives</a:t>
            </a:r>
          </a:p>
        </p:txBody>
      </p:sp>
      <p:sp>
        <p:nvSpPr>
          <p:cNvPr id="19" name="Rounded Rectangle 18"/>
          <p:cNvSpPr/>
          <p:nvPr/>
        </p:nvSpPr>
        <p:spPr>
          <a:xfrm>
            <a:off x="658368" y="5029200"/>
            <a:ext cx="3794760" cy="502920"/>
          </a:xfrm>
          <a:prstGeom prst="roundRect">
            <a:avLst/>
          </a:prstGeom>
          <a:solidFill>
            <a:srgbClr val="EAF4FF"/>
          </a:solidFill>
          <a:ln w="15875">
            <a:solidFill>
              <a:srgbClr val="2467A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GUP target is high for only about 0.138 ns</a:t>
            </a:r>
          </a:p>
        </p:txBody>
      </p:sp>
      <p:sp>
        <p:nvSpPr>
          <p:cNvPr id="20" name="Rounded Rectangle 19"/>
          <p:cNvSpPr/>
          <p:nvPr/>
        </p:nvSpPr>
        <p:spPr>
          <a:xfrm>
            <a:off x="658368" y="5559552"/>
            <a:ext cx="3794760" cy="502920"/>
          </a:xfrm>
          <a:prstGeom prst="roundRect">
            <a:avLst/>
          </a:prstGeom>
          <a:solidFill>
            <a:srgbClr val="F1F8F2"/>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50" b="1">
                <a:solidFill>
                  <a:srgbClr val="191F1C"/>
                </a:solidFill>
                <a:latin typeface="Aptos"/>
              </a:defRPr>
            </a:pPr>
            <a:r>
              <a:t>Result: Ku makes a small partial bump, not a full turn-on</a:t>
            </a:r>
          </a:p>
        </p:txBody>
      </p:sp>
      <p:sp>
        <p:nvSpPr>
          <p:cNvPr id="21" name="Rectangle 20"/>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The gate-state model gets the partial Ku behavior; the long PD-on delay exposes the remaining short-high Kd recovery problem.</a:t>
            </a:r>
          </a:p>
        </p:txBody>
      </p:sp>
      <p:sp>
        <p:nvSpPr>
          <p:cNvPr id="22" name="TextBox 21"/>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Cached waveform evidence; black = HSPICE native IBIS, red = two_state_directional_residual.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10. First evidence gate: can the model reproduce normal Ku/Kd?</a:t>
            </a:r>
          </a:p>
        </p:txBody>
      </p:sp>
      <p:sp>
        <p:nvSpPr>
          <p:cNvPr id="3" name="TextBox 2"/>
          <p:cNvSpPr txBox="1"/>
          <p:nvPr/>
        </p:nvSpPr>
        <p:spPr>
          <a:xfrm>
            <a:off x="9555480" y="109728"/>
            <a:ext cx="1965960" cy="228600"/>
          </a:xfrm>
          <a:prstGeom prst="rect">
            <a:avLst/>
          </a:prstGeom>
          <a:noFill/>
        </p:spPr>
        <p:txBody>
          <a:bodyPr wrap="square" lIns="45720" rIns="45720" anchor="t">
            <a:spAutoFit/>
          </a:bodyPr>
          <a:lstStyle/>
          <a:p>
            <a:pPr algn="r">
              <a:defRPr sz="950" b="1">
                <a:solidFill>
                  <a:srgbClr val="666C68"/>
                </a:solidFill>
                <a:latin typeface="Aptos"/>
              </a:defRPr>
            </a:pPr>
            <a:r>
              <a:t>VALIDATION</a:t>
            </a:r>
          </a:p>
        </p:txBody>
      </p:sp>
      <p:sp>
        <p:nvSpPr>
          <p:cNvPr id="4" name="Rectangle 3"/>
          <p:cNvSpPr/>
          <p:nvPr/>
        </p:nvSpPr>
        <p:spPr>
          <a:xfrm>
            <a:off x="475488" y="1013504"/>
            <a:ext cx="8421624" cy="4730406"/>
          </a:xfrm>
          <a:prstGeom prst="rect">
            <a:avLst/>
          </a:prstGeom>
          <a:solidFill>
            <a:srgbClr val="FFFFFF"/>
          </a:solidFill>
          <a:ln w="1016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reconstruction_gate_evidence.png"/>
          <p:cNvPicPr>
            <a:picLocks noChangeAspect="1"/>
          </p:cNvPicPr>
          <p:nvPr/>
        </p:nvPicPr>
        <p:blipFill>
          <a:blip r:embed="rId2"/>
          <a:stretch>
            <a:fillRect/>
          </a:stretch>
        </p:blipFill>
        <p:spPr>
          <a:xfrm>
            <a:off x="502920" y="1040936"/>
            <a:ext cx="8366760" cy="4675542"/>
          </a:xfrm>
          <a:prstGeom prst="rect">
            <a:avLst/>
          </a:prstGeom>
        </p:spPr>
      </p:pic>
      <p:sp>
        <p:nvSpPr>
          <p:cNvPr id="6" name="TextBox 5"/>
          <p:cNvSpPr txBox="1"/>
          <p:nvPr/>
        </p:nvSpPr>
        <p:spPr>
          <a:xfrm>
            <a:off x="9098280" y="914400"/>
            <a:ext cx="2103120" cy="320040"/>
          </a:xfrm>
          <a:prstGeom prst="rect">
            <a:avLst/>
          </a:prstGeom>
          <a:noFill/>
        </p:spPr>
        <p:txBody>
          <a:bodyPr wrap="square" lIns="45720" rIns="45720" anchor="t">
            <a:spAutoFit/>
          </a:bodyPr>
          <a:lstStyle/>
          <a:p>
            <a:pPr algn="l">
              <a:defRPr sz="1900" b="1">
                <a:solidFill>
                  <a:srgbClr val="2B7A43"/>
                </a:solidFill>
                <a:latin typeface="Aptos"/>
              </a:defRPr>
            </a:pPr>
            <a:r>
              <a:t>Model evolution</a:t>
            </a:r>
          </a:p>
        </p:txBody>
      </p:sp>
      <p:sp>
        <p:nvSpPr>
          <p:cNvPr id="7" name="Rounded Rectangle 6"/>
          <p:cNvSpPr/>
          <p:nvPr/>
        </p:nvSpPr>
        <p:spPr>
          <a:xfrm>
            <a:off x="9098280" y="1371600"/>
            <a:ext cx="2331720" cy="1143000"/>
          </a:xfrm>
          <a:prstGeom prst="roundRect">
            <a:avLst/>
          </a:prstGeom>
          <a:solidFill>
            <a:srgbClr val="FFFFFF"/>
          </a:solidFill>
          <a:ln w="1270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08007" y="1444752"/>
            <a:ext cx="2112263" cy="256032"/>
          </a:xfrm>
          <a:prstGeom prst="rect">
            <a:avLst/>
          </a:prstGeom>
          <a:noFill/>
        </p:spPr>
        <p:txBody>
          <a:bodyPr wrap="square" lIns="45720" rIns="45720" anchor="t">
            <a:spAutoFit/>
          </a:bodyPr>
          <a:lstStyle/>
          <a:p>
            <a:pPr algn="l">
              <a:defRPr sz="1350" b="1">
                <a:solidFill>
                  <a:srgbClr val="666C68"/>
                </a:solidFill>
                <a:latin typeface="Aptos"/>
              </a:defRPr>
            </a:pPr>
            <a:r>
              <a:t>Single map</a:t>
            </a:r>
          </a:p>
        </p:txBody>
      </p:sp>
      <p:sp>
        <p:nvSpPr>
          <p:cNvPr id="9" name="TextBox 8"/>
          <p:cNvSpPr txBox="1"/>
          <p:nvPr/>
        </p:nvSpPr>
        <p:spPr>
          <a:xfrm>
            <a:off x="9208007" y="1700784"/>
            <a:ext cx="2112263" cy="475488"/>
          </a:xfrm>
          <a:prstGeom prst="rect">
            <a:avLst/>
          </a:prstGeom>
          <a:noFill/>
        </p:spPr>
        <p:txBody>
          <a:bodyPr wrap="square" lIns="45720" rIns="45720" anchor="t">
            <a:spAutoFit/>
          </a:bodyPr>
          <a:lstStyle/>
          <a:p>
            <a:pPr algn="l">
              <a:defRPr sz="1350" b="1">
                <a:solidFill>
                  <a:srgbClr val="191F1C"/>
                </a:solidFill>
                <a:latin typeface="Aptos"/>
              </a:defRPr>
            </a:pPr>
            <a:r>
              <a:t>max error 0.20467</a:t>
            </a:r>
          </a:p>
        </p:txBody>
      </p:sp>
      <p:sp>
        <p:nvSpPr>
          <p:cNvPr id="10" name="TextBox 9"/>
          <p:cNvSpPr txBox="1"/>
          <p:nvPr/>
        </p:nvSpPr>
        <p:spPr>
          <a:xfrm>
            <a:off x="9208007" y="2176272"/>
            <a:ext cx="2112263" cy="228600"/>
          </a:xfrm>
          <a:prstGeom prst="rect">
            <a:avLst/>
          </a:prstGeom>
          <a:noFill/>
        </p:spPr>
        <p:txBody>
          <a:bodyPr wrap="square" lIns="45720" rIns="45720" anchor="t">
            <a:spAutoFit/>
          </a:bodyPr>
          <a:lstStyle/>
          <a:p>
            <a:pPr algn="l">
              <a:defRPr sz="1250" b="1">
                <a:solidFill>
                  <a:srgbClr val="CA3030"/>
                </a:solidFill>
                <a:latin typeface="Aptos"/>
              </a:defRPr>
            </a:pPr>
            <a:r>
              <a:t>FAIL</a:t>
            </a:r>
          </a:p>
        </p:txBody>
      </p:sp>
      <p:sp>
        <p:nvSpPr>
          <p:cNvPr id="11" name="Rounded Rectangle 10"/>
          <p:cNvSpPr/>
          <p:nvPr/>
        </p:nvSpPr>
        <p:spPr>
          <a:xfrm>
            <a:off x="9098280" y="2697480"/>
            <a:ext cx="2331720" cy="1143000"/>
          </a:xfrm>
          <a:prstGeom prst="roundRect">
            <a:avLst/>
          </a:prstGeom>
          <a:solidFill>
            <a:srgbClr val="FFFFFF"/>
          </a:solidFill>
          <a:ln w="1270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08007" y="2770632"/>
            <a:ext cx="2112263" cy="256032"/>
          </a:xfrm>
          <a:prstGeom prst="rect">
            <a:avLst/>
          </a:prstGeom>
          <a:noFill/>
        </p:spPr>
        <p:txBody>
          <a:bodyPr wrap="square" lIns="45720" rIns="45720" anchor="t">
            <a:spAutoFit/>
          </a:bodyPr>
          <a:lstStyle/>
          <a:p>
            <a:pPr algn="l">
              <a:defRPr sz="1350" b="1">
                <a:solidFill>
                  <a:srgbClr val="666C68"/>
                </a:solidFill>
                <a:latin typeface="Aptos"/>
              </a:defRPr>
            </a:pPr>
            <a:r>
              <a:t>+ directional maps</a:t>
            </a:r>
          </a:p>
        </p:txBody>
      </p:sp>
      <p:sp>
        <p:nvSpPr>
          <p:cNvPr id="13" name="TextBox 12"/>
          <p:cNvSpPr txBox="1"/>
          <p:nvPr/>
        </p:nvSpPr>
        <p:spPr>
          <a:xfrm>
            <a:off x="9208007" y="3026664"/>
            <a:ext cx="2112263" cy="475488"/>
          </a:xfrm>
          <a:prstGeom prst="rect">
            <a:avLst/>
          </a:prstGeom>
          <a:noFill/>
        </p:spPr>
        <p:txBody>
          <a:bodyPr wrap="square" lIns="45720" rIns="45720" anchor="t">
            <a:spAutoFit/>
          </a:bodyPr>
          <a:lstStyle/>
          <a:p>
            <a:pPr algn="l">
              <a:defRPr sz="1350" b="1">
                <a:solidFill>
                  <a:srgbClr val="191F1C"/>
                </a:solidFill>
                <a:latin typeface="Aptos"/>
              </a:defRPr>
            </a:pPr>
            <a:r>
              <a:t>max error 0.07389</a:t>
            </a:r>
          </a:p>
        </p:txBody>
      </p:sp>
      <p:sp>
        <p:nvSpPr>
          <p:cNvPr id="14" name="TextBox 13"/>
          <p:cNvSpPr txBox="1"/>
          <p:nvPr/>
        </p:nvSpPr>
        <p:spPr>
          <a:xfrm>
            <a:off x="9208007" y="3502152"/>
            <a:ext cx="2112263" cy="228600"/>
          </a:xfrm>
          <a:prstGeom prst="rect">
            <a:avLst/>
          </a:prstGeom>
          <a:noFill/>
        </p:spPr>
        <p:txBody>
          <a:bodyPr wrap="square" lIns="45720" rIns="45720" anchor="t">
            <a:spAutoFit/>
          </a:bodyPr>
          <a:lstStyle/>
          <a:p>
            <a:pPr algn="l">
              <a:defRPr sz="1250" b="1">
                <a:solidFill>
                  <a:srgbClr val="CA3030"/>
                </a:solidFill>
                <a:latin typeface="Aptos"/>
              </a:defRPr>
            </a:pPr>
            <a:r>
              <a:t>FAIL</a:t>
            </a:r>
          </a:p>
        </p:txBody>
      </p:sp>
      <p:sp>
        <p:nvSpPr>
          <p:cNvPr id="15" name="Rounded Rectangle 14"/>
          <p:cNvSpPr/>
          <p:nvPr/>
        </p:nvSpPr>
        <p:spPr>
          <a:xfrm>
            <a:off x="9098280" y="4023360"/>
            <a:ext cx="2331720" cy="1143000"/>
          </a:xfrm>
          <a:prstGeom prst="roundRect">
            <a:avLst/>
          </a:prstGeom>
          <a:solidFill>
            <a:srgbClr val="FFFFFF"/>
          </a:solidFill>
          <a:ln w="1270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08007" y="4096512"/>
            <a:ext cx="2112263" cy="256032"/>
          </a:xfrm>
          <a:prstGeom prst="rect">
            <a:avLst/>
          </a:prstGeom>
          <a:noFill/>
        </p:spPr>
        <p:txBody>
          <a:bodyPr wrap="square" lIns="45720" rIns="45720" anchor="t">
            <a:spAutoFit/>
          </a:bodyPr>
          <a:lstStyle/>
          <a:p>
            <a:pPr algn="l">
              <a:defRPr sz="1350" b="1">
                <a:solidFill>
                  <a:srgbClr val="666C68"/>
                </a:solidFill>
                <a:latin typeface="Aptos"/>
              </a:defRPr>
            </a:pPr>
            <a:r>
              <a:t>+ Kd rate residual</a:t>
            </a:r>
          </a:p>
        </p:txBody>
      </p:sp>
      <p:sp>
        <p:nvSpPr>
          <p:cNvPr id="17" name="TextBox 16"/>
          <p:cNvSpPr txBox="1"/>
          <p:nvPr/>
        </p:nvSpPr>
        <p:spPr>
          <a:xfrm>
            <a:off x="9208007" y="4352544"/>
            <a:ext cx="2112263" cy="475488"/>
          </a:xfrm>
          <a:prstGeom prst="rect">
            <a:avLst/>
          </a:prstGeom>
          <a:noFill/>
        </p:spPr>
        <p:txBody>
          <a:bodyPr wrap="square" lIns="45720" rIns="45720" anchor="t">
            <a:spAutoFit/>
          </a:bodyPr>
          <a:lstStyle/>
          <a:p>
            <a:pPr algn="l">
              <a:defRPr sz="1350" b="1">
                <a:solidFill>
                  <a:srgbClr val="191F1C"/>
                </a:solidFill>
                <a:latin typeface="Aptos"/>
              </a:defRPr>
            </a:pPr>
            <a:r>
              <a:t>max error 0.04869</a:t>
            </a:r>
          </a:p>
        </p:txBody>
      </p:sp>
      <p:sp>
        <p:nvSpPr>
          <p:cNvPr id="18" name="TextBox 17"/>
          <p:cNvSpPr txBox="1"/>
          <p:nvPr/>
        </p:nvSpPr>
        <p:spPr>
          <a:xfrm>
            <a:off x="9208007" y="4828032"/>
            <a:ext cx="2112263" cy="228600"/>
          </a:xfrm>
          <a:prstGeom prst="rect">
            <a:avLst/>
          </a:prstGeom>
          <a:noFill/>
        </p:spPr>
        <p:txBody>
          <a:bodyPr wrap="square" lIns="45720" rIns="45720" anchor="t">
            <a:spAutoFit/>
          </a:bodyPr>
          <a:lstStyle/>
          <a:p>
            <a:pPr algn="l">
              <a:defRPr sz="1250" b="1">
                <a:solidFill>
                  <a:srgbClr val="2B7A43"/>
                </a:solidFill>
                <a:latin typeface="Aptos"/>
              </a:defRPr>
            </a:pPr>
            <a:r>
              <a:t>PASS</a:t>
            </a:r>
          </a:p>
        </p:txBody>
      </p:sp>
      <p:sp>
        <p:nvSpPr>
          <p:cNvPr id="19" name="Rectangle 18"/>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Only the directional-map plus residual model passes the predefined complete-edge reconstruction gate.</a:t>
            </a:r>
          </a:p>
        </p:txBody>
      </p:sp>
      <p:sp>
        <p:nvSpPr>
          <p:cNvPr id="20" name="TextBox 19"/>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Offline cached reconstruction data; black = original IBIS-derived coefficient table, red = compact-model reconstruction.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11. Measured result: one quadrant works; short-high Kd remains open</a:t>
            </a:r>
          </a:p>
        </p:txBody>
      </p:sp>
      <p:sp>
        <p:nvSpPr>
          <p:cNvPr id="3" name="TextBox 2"/>
          <p:cNvSpPr txBox="1"/>
          <p:nvPr/>
        </p:nvSpPr>
        <p:spPr>
          <a:xfrm>
            <a:off x="9555480" y="109728"/>
            <a:ext cx="1965960" cy="228600"/>
          </a:xfrm>
          <a:prstGeom prst="rect">
            <a:avLst/>
          </a:prstGeom>
          <a:noFill/>
        </p:spPr>
        <p:txBody>
          <a:bodyPr wrap="square" lIns="45720" rIns="45720" anchor="t">
            <a:spAutoFit/>
          </a:bodyPr>
          <a:lstStyle/>
          <a:p>
            <a:pPr algn="r">
              <a:defRPr sz="950" b="1">
                <a:solidFill>
                  <a:srgbClr val="666C68"/>
                </a:solidFill>
                <a:latin typeface="Aptos"/>
              </a:defRPr>
            </a:pPr>
            <a:r>
              <a:t>VALIDATION</a:t>
            </a:r>
          </a:p>
        </p:txBody>
      </p:sp>
      <p:sp>
        <p:nvSpPr>
          <p:cNvPr id="4" name="Rectangle 3"/>
          <p:cNvSpPr/>
          <p:nvPr/>
        </p:nvSpPr>
        <p:spPr>
          <a:xfrm>
            <a:off x="1277874" y="777240"/>
            <a:ext cx="7310627" cy="5312664"/>
          </a:xfrm>
          <a:prstGeom prst="rect">
            <a:avLst/>
          </a:prstGeom>
          <a:solidFill>
            <a:srgbClr val="FFFFFF"/>
          </a:solidFill>
          <a:ln w="1016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hree_quadrants_one_open.png"/>
          <p:cNvPicPr>
            <a:picLocks noChangeAspect="1"/>
          </p:cNvPicPr>
          <p:nvPr/>
        </p:nvPicPr>
        <p:blipFill>
          <a:blip r:embed="rId2"/>
          <a:stretch>
            <a:fillRect/>
          </a:stretch>
        </p:blipFill>
        <p:spPr>
          <a:xfrm>
            <a:off x="1305306" y="804672"/>
            <a:ext cx="7255764" cy="5257800"/>
          </a:xfrm>
          <a:prstGeom prst="rect">
            <a:avLst/>
          </a:prstGeom>
        </p:spPr>
      </p:pic>
      <p:sp>
        <p:nvSpPr>
          <p:cNvPr id="6" name="Rounded Rectangle 5"/>
          <p:cNvSpPr/>
          <p:nvPr/>
        </p:nvSpPr>
        <p:spPr>
          <a:xfrm>
            <a:off x="9582912" y="960120"/>
            <a:ext cx="1874519" cy="475488"/>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Short-low 2 ns</a:t>
            </a:r>
          </a:p>
        </p:txBody>
      </p:sp>
      <p:sp>
        <p:nvSpPr>
          <p:cNvPr id="7" name="TextBox 6"/>
          <p:cNvSpPr txBox="1"/>
          <p:nvPr/>
        </p:nvSpPr>
        <p:spPr>
          <a:xfrm>
            <a:off x="9528048" y="1554480"/>
            <a:ext cx="2057400" cy="1508760"/>
          </a:xfrm>
          <a:prstGeom prst="rect">
            <a:avLst/>
          </a:prstGeom>
          <a:noFill/>
        </p:spPr>
        <p:txBody>
          <a:bodyPr wrap="square" lIns="73152" rIns="36576" tIns="36576" bIns="36576">
            <a:spAutoFit/>
          </a:bodyPr>
          <a:lstStyle/>
          <a:p>
            <a:pPr>
              <a:spcAft>
                <a:spcPts val="200"/>
              </a:spcAft>
              <a:defRPr sz="1320">
                <a:solidFill>
                  <a:srgbClr val="191F1C"/>
                </a:solidFill>
                <a:latin typeface="Aptos"/>
              </a:defRPr>
            </a:pPr>
            <a:r>
              <a:t>- Pad, Ku, and Kd improve together</a:t>
            </a:r>
          </a:p>
          <a:p>
            <a:pPr>
              <a:spcAft>
                <a:spcPts val="200"/>
              </a:spcAft>
              <a:defRPr sz="1320">
                <a:solidFill>
                  <a:srgbClr val="191F1C"/>
                </a:solidFill>
                <a:latin typeface="Aptos"/>
              </a:defRPr>
            </a:pPr>
            <a:r>
              <a:t>- Pad RMSE: 23.271 mV</a:t>
            </a:r>
          </a:p>
          <a:p>
            <a:pPr>
              <a:spcAft>
                <a:spcPts val="200"/>
              </a:spcAft>
              <a:defRPr sz="1320">
                <a:solidFill>
                  <a:srgbClr val="191F1C"/>
                </a:solidFill>
                <a:latin typeface="Aptos"/>
              </a:defRPr>
            </a:pPr>
            <a:r>
              <a:t>- Ku RMSE: 0.02141</a:t>
            </a:r>
          </a:p>
          <a:p>
            <a:pPr>
              <a:spcAft>
                <a:spcPts val="200"/>
              </a:spcAft>
              <a:defRPr sz="1320">
                <a:solidFill>
                  <a:srgbClr val="191F1C"/>
                </a:solidFill>
                <a:latin typeface="Aptos"/>
              </a:defRPr>
            </a:pPr>
            <a:r>
              <a:t>- Kd RMSE: 0.01319</a:t>
            </a:r>
          </a:p>
          <a:p>
            <a:pPr>
              <a:spcAft>
                <a:spcPts val="200"/>
              </a:spcAft>
              <a:defRPr sz="1320">
                <a:solidFill>
                  <a:srgbClr val="191F1C"/>
                </a:solidFill>
                <a:latin typeface="Aptos"/>
              </a:defRPr>
            </a:pPr>
            <a:r>
              <a:t>- Status: GOOD</a:t>
            </a:r>
          </a:p>
        </p:txBody>
      </p:sp>
      <p:sp>
        <p:nvSpPr>
          <p:cNvPr id="8" name="Rounded Rectangle 7"/>
          <p:cNvSpPr/>
          <p:nvPr/>
        </p:nvSpPr>
        <p:spPr>
          <a:xfrm>
            <a:off x="9582912" y="3246120"/>
            <a:ext cx="1874519" cy="475488"/>
          </a:xfrm>
          <a:prstGeom prst="roundRect">
            <a:avLst/>
          </a:prstGeom>
          <a:solidFill>
            <a:srgbClr val="FCEBEB"/>
          </a:solidFill>
          <a:ln w="15875">
            <a:solidFill>
              <a:srgbClr val="CA303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Short-high 1 ns</a:t>
            </a:r>
          </a:p>
        </p:txBody>
      </p:sp>
      <p:sp>
        <p:nvSpPr>
          <p:cNvPr id="9" name="TextBox 8"/>
          <p:cNvSpPr txBox="1"/>
          <p:nvPr/>
        </p:nvSpPr>
        <p:spPr>
          <a:xfrm>
            <a:off x="9528048" y="3840480"/>
            <a:ext cx="2057400" cy="1417320"/>
          </a:xfrm>
          <a:prstGeom prst="rect">
            <a:avLst/>
          </a:prstGeom>
          <a:noFill/>
        </p:spPr>
        <p:txBody>
          <a:bodyPr wrap="square" lIns="73152" rIns="36576" tIns="36576" bIns="36576">
            <a:spAutoFit/>
          </a:bodyPr>
          <a:lstStyle/>
          <a:p>
            <a:pPr>
              <a:spcAft>
                <a:spcPts val="200"/>
              </a:spcAft>
              <a:defRPr sz="1320">
                <a:solidFill>
                  <a:srgbClr val="191F1C"/>
                </a:solidFill>
                <a:latin typeface="Aptos"/>
              </a:defRPr>
            </a:pPr>
            <a:r>
              <a:t>- Ku is partial and close</a:t>
            </a:r>
          </a:p>
          <a:p>
            <a:pPr>
              <a:spcAft>
                <a:spcPts val="200"/>
              </a:spcAft>
              <a:defRPr sz="1320">
                <a:solidFill>
                  <a:srgbClr val="191F1C"/>
                </a:solidFill>
                <a:latin typeface="Aptos"/>
              </a:defRPr>
            </a:pPr>
            <a:r>
              <a:t>- Pad swing is tiny</a:t>
            </a:r>
          </a:p>
          <a:p>
            <a:pPr>
              <a:spcAft>
                <a:spcPts val="200"/>
              </a:spcAft>
              <a:defRPr sz="1320">
                <a:solidFill>
                  <a:srgbClr val="191F1C"/>
                </a:solidFill>
                <a:latin typeface="Aptos"/>
              </a:defRPr>
            </a:pPr>
            <a:r>
              <a:t>- Kd recovery diverges</a:t>
            </a:r>
          </a:p>
          <a:p>
            <a:pPr>
              <a:spcAft>
                <a:spcPts val="200"/>
              </a:spcAft>
              <a:defRPr sz="1320">
                <a:solidFill>
                  <a:srgbClr val="191F1C"/>
                </a:solidFill>
                <a:latin typeface="Aptos"/>
              </a:defRPr>
            </a:pPr>
            <a:r>
              <a:t>- Kd RMSE: 0.48754</a:t>
            </a:r>
          </a:p>
          <a:p>
            <a:pPr>
              <a:spcAft>
                <a:spcPts val="200"/>
              </a:spcAft>
              <a:defRPr sz="1320">
                <a:solidFill>
                  <a:srgbClr val="191F1C"/>
                </a:solidFill>
                <a:latin typeface="Aptos"/>
              </a:defRPr>
            </a:pPr>
            <a:r>
              <a:t>- Status: OPEN</a:t>
            </a:r>
          </a:p>
        </p:txBody>
      </p:sp>
      <p:sp>
        <p:nvSpPr>
          <p:cNvPr id="10" name="Rounded Rectangle 9"/>
          <p:cNvSpPr/>
          <p:nvPr/>
        </p:nvSpPr>
        <p:spPr>
          <a:xfrm>
            <a:off x="9509760" y="5230368"/>
            <a:ext cx="2103120" cy="658368"/>
          </a:xfrm>
          <a:prstGeom prst="roundRect">
            <a:avLst/>
          </a:prstGeom>
          <a:solidFill>
            <a:srgbClr val="FFF1E4"/>
          </a:solidFill>
          <a:ln w="15875">
            <a:solidFill>
              <a:srgbClr val="DA842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150" b="1">
                <a:solidFill>
                  <a:srgbClr val="191F1C"/>
                </a:solidFill>
                <a:latin typeface="Aptos"/>
              </a:defRPr>
            </a:pPr>
            <a:r>
              <a:t>Normal edge: WARN</a:t>
            </a:r>
            <a:br/>
            <a:r>
              <a:t>18.739 mV vs 5.289 mV legacy</a:t>
            </a:r>
          </a:p>
        </p:txBody>
      </p:sp>
      <p:sp>
        <p:nvSpPr>
          <p:cNvPr id="11" name="Rectangle 10"/>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Success requires pad, Ku, and Kd together. A small pad error cannot hide a wrong coefficient trajectory.</a:t>
            </a:r>
          </a:p>
        </p:txBody>
      </p:sp>
      <p:sp>
        <p:nvSpPr>
          <p:cNvPr id="12" name="TextBox 11"/>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Cached HSPICE/native-IBIS and ngspice directional-residual results; transistor reference appears only on pad panels.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12. Current conclusion and focused next step</a:t>
            </a:r>
          </a:p>
        </p:txBody>
      </p:sp>
      <p:sp>
        <p:nvSpPr>
          <p:cNvPr id="3" name="TextBox 2"/>
          <p:cNvSpPr txBox="1"/>
          <p:nvPr/>
        </p:nvSpPr>
        <p:spPr>
          <a:xfrm>
            <a:off x="9555480" y="109728"/>
            <a:ext cx="1965960" cy="228600"/>
          </a:xfrm>
          <a:prstGeom prst="rect">
            <a:avLst/>
          </a:prstGeom>
          <a:noFill/>
        </p:spPr>
        <p:txBody>
          <a:bodyPr wrap="square" lIns="45720" rIns="45720" anchor="t">
            <a:spAutoFit/>
          </a:bodyPr>
          <a:lstStyle/>
          <a:p>
            <a:pPr algn="r">
              <a:defRPr sz="950" b="1">
                <a:solidFill>
                  <a:srgbClr val="666C68"/>
                </a:solidFill>
                <a:latin typeface="Aptos"/>
              </a:defRPr>
            </a:pPr>
            <a:r>
              <a:t>CONCLUSION</a:t>
            </a:r>
          </a:p>
        </p:txBody>
      </p:sp>
      <p:sp>
        <p:nvSpPr>
          <p:cNvPr id="4" name="TextBox 3"/>
          <p:cNvSpPr txBox="1"/>
          <p:nvPr/>
        </p:nvSpPr>
        <p:spPr>
          <a:xfrm>
            <a:off x="658368" y="914400"/>
            <a:ext cx="2743200" cy="347472"/>
          </a:xfrm>
          <a:prstGeom prst="rect">
            <a:avLst/>
          </a:prstGeom>
          <a:noFill/>
        </p:spPr>
        <p:txBody>
          <a:bodyPr wrap="square" lIns="45720" rIns="45720" anchor="t">
            <a:spAutoFit/>
          </a:bodyPr>
          <a:lstStyle/>
          <a:p>
            <a:pPr algn="l">
              <a:defRPr sz="2000" b="1">
                <a:solidFill>
                  <a:srgbClr val="2B7A43"/>
                </a:solidFill>
                <a:latin typeface="Aptos"/>
              </a:defRPr>
            </a:pPr>
            <a:r>
              <a:t>What is proven</a:t>
            </a:r>
          </a:p>
        </p:txBody>
      </p:sp>
      <p:sp>
        <p:nvSpPr>
          <p:cNvPr id="5" name="Rounded Rectangle 4"/>
          <p:cNvSpPr/>
          <p:nvPr/>
        </p:nvSpPr>
        <p:spPr>
          <a:xfrm>
            <a:off x="713232" y="1353312"/>
            <a:ext cx="3474720" cy="82296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Continuous GUP/GDN states remove the forced table restart.</a:t>
            </a:r>
          </a:p>
        </p:txBody>
      </p:sp>
      <p:sp>
        <p:nvSpPr>
          <p:cNvPr id="6" name="Rounded Rectangle 5"/>
          <p:cNvSpPr/>
          <p:nvPr/>
        </p:nvSpPr>
        <p:spPr>
          <a:xfrm>
            <a:off x="713232" y="2359152"/>
            <a:ext cx="3474720" cy="82296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Four directional delay/tau paths are derived from IBIS tables only.</a:t>
            </a:r>
          </a:p>
        </p:txBody>
      </p:sp>
      <p:sp>
        <p:nvSpPr>
          <p:cNvPr id="7" name="Rounded Rectangle 6"/>
          <p:cNvSpPr/>
          <p:nvPr/>
        </p:nvSpPr>
        <p:spPr>
          <a:xfrm>
            <a:off x="713232" y="3364992"/>
            <a:ext cx="3474720" cy="82296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Directional maps plus Kd residual pass normal table reconstruction.</a:t>
            </a:r>
          </a:p>
        </p:txBody>
      </p:sp>
      <p:sp>
        <p:nvSpPr>
          <p:cNvPr id="8" name="Rounded Rectangle 7"/>
          <p:cNvSpPr/>
          <p:nvPr/>
        </p:nvSpPr>
        <p:spPr>
          <a:xfrm>
            <a:off x="713232" y="4370832"/>
            <a:ext cx="3474720" cy="82296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A short-low case is coefficient-correct, not just pad-correct.</a:t>
            </a:r>
          </a:p>
        </p:txBody>
      </p:sp>
      <p:sp>
        <p:nvSpPr>
          <p:cNvPr id="9" name="TextBox 8"/>
          <p:cNvSpPr txBox="1"/>
          <p:nvPr/>
        </p:nvSpPr>
        <p:spPr>
          <a:xfrm>
            <a:off x="4526280" y="914400"/>
            <a:ext cx="2743200" cy="347472"/>
          </a:xfrm>
          <a:prstGeom prst="rect">
            <a:avLst/>
          </a:prstGeom>
          <a:noFill/>
        </p:spPr>
        <p:txBody>
          <a:bodyPr wrap="square" lIns="45720" rIns="45720" anchor="t">
            <a:spAutoFit/>
          </a:bodyPr>
          <a:lstStyle/>
          <a:p>
            <a:pPr algn="l">
              <a:defRPr sz="2000" b="1">
                <a:solidFill>
                  <a:srgbClr val="CA3030"/>
                </a:solidFill>
                <a:latin typeface="Aptos"/>
              </a:defRPr>
            </a:pPr>
            <a:r>
              <a:t>What is not proven</a:t>
            </a:r>
          </a:p>
        </p:txBody>
      </p:sp>
      <p:sp>
        <p:nvSpPr>
          <p:cNvPr id="10" name="Rounded Rectangle 9"/>
          <p:cNvSpPr/>
          <p:nvPr/>
        </p:nvSpPr>
        <p:spPr>
          <a:xfrm>
            <a:off x="4572000" y="1353312"/>
            <a:ext cx="3017520" cy="822960"/>
          </a:xfrm>
          <a:prstGeom prst="roundRect">
            <a:avLst/>
          </a:prstGeom>
          <a:solidFill>
            <a:srgbClr val="FCEBEB"/>
          </a:solidFill>
          <a:ln w="15875">
            <a:solidFill>
              <a:srgbClr val="CA303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Normal long-pulse behavior is still worse than legacy.</a:t>
            </a:r>
          </a:p>
        </p:txBody>
      </p:sp>
      <p:sp>
        <p:nvSpPr>
          <p:cNvPr id="11" name="Rounded Rectangle 10"/>
          <p:cNvSpPr/>
          <p:nvPr/>
        </p:nvSpPr>
        <p:spPr>
          <a:xfrm>
            <a:off x="4572000" y="2359152"/>
            <a:ext cx="3017520" cy="822960"/>
          </a:xfrm>
          <a:prstGeom prst="roundRect">
            <a:avLst/>
          </a:prstGeom>
          <a:solidFill>
            <a:srgbClr val="FCEBEB"/>
          </a:solidFill>
          <a:ln w="15875">
            <a:solidFill>
              <a:srgbClr val="CA303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Short-high Kd hold/recovery is not represented correctly.</a:t>
            </a:r>
          </a:p>
        </p:txBody>
      </p:sp>
      <p:sp>
        <p:nvSpPr>
          <p:cNvPr id="12" name="Rounded Rectangle 11"/>
          <p:cNvSpPr/>
          <p:nvPr/>
        </p:nvSpPr>
        <p:spPr>
          <a:xfrm>
            <a:off x="4572000" y="3364992"/>
            <a:ext cx="3017520" cy="822960"/>
          </a:xfrm>
          <a:prstGeom prst="roundRect">
            <a:avLst/>
          </a:prstGeom>
          <a:solidFill>
            <a:srgbClr val="FCEBEB"/>
          </a:solidFill>
          <a:ln w="15875">
            <a:solidFill>
              <a:srgbClr val="CA303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The method is validated only on io_buf so far.</a:t>
            </a:r>
          </a:p>
        </p:txBody>
      </p:sp>
      <p:sp>
        <p:nvSpPr>
          <p:cNvPr id="13" name="Rounded Rectangle 12"/>
          <p:cNvSpPr/>
          <p:nvPr/>
        </p:nvSpPr>
        <p:spPr>
          <a:xfrm>
            <a:off x="4572000" y="4370832"/>
            <a:ext cx="3017520" cy="822960"/>
          </a:xfrm>
          <a:prstGeom prst="roundRect">
            <a:avLst/>
          </a:prstGeom>
          <a:solidFill>
            <a:srgbClr val="FCEBEB"/>
          </a:solidFill>
          <a:ln w="15875">
            <a:solidFill>
              <a:srgbClr val="CA303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It is experimental, not the pybis default.</a:t>
            </a:r>
          </a:p>
        </p:txBody>
      </p:sp>
      <p:sp>
        <p:nvSpPr>
          <p:cNvPr id="14" name="TextBox 13"/>
          <p:cNvSpPr txBox="1"/>
          <p:nvPr/>
        </p:nvSpPr>
        <p:spPr>
          <a:xfrm>
            <a:off x="7955279" y="914400"/>
            <a:ext cx="2743200" cy="347472"/>
          </a:xfrm>
          <a:prstGeom prst="rect">
            <a:avLst/>
          </a:prstGeom>
          <a:noFill/>
        </p:spPr>
        <p:txBody>
          <a:bodyPr wrap="square" lIns="45720" rIns="45720" anchor="t">
            <a:spAutoFit/>
          </a:bodyPr>
          <a:lstStyle/>
          <a:p>
            <a:pPr algn="l">
              <a:defRPr sz="2000" b="1">
                <a:solidFill>
                  <a:srgbClr val="694996"/>
                </a:solidFill>
                <a:latin typeface="Aptos"/>
              </a:defRPr>
            </a:pPr>
            <a:r>
              <a:t>Next candidate</a:t>
            </a:r>
          </a:p>
        </p:txBody>
      </p:sp>
      <p:sp>
        <p:nvSpPr>
          <p:cNvPr id="15" name="Rounded Rectangle 14"/>
          <p:cNvSpPr/>
          <p:nvPr/>
        </p:nvSpPr>
        <p:spPr>
          <a:xfrm>
            <a:off x="8028431" y="1353312"/>
            <a:ext cx="914400" cy="475488"/>
          </a:xfrm>
          <a:prstGeom prst="roundRect">
            <a:avLst/>
          </a:prstGeom>
          <a:solidFill>
            <a:srgbClr val="F1ECF8"/>
          </a:solidFill>
          <a:ln w="15875">
            <a:solidFill>
              <a:srgbClr val="69499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Keep</a:t>
            </a:r>
          </a:p>
        </p:txBody>
      </p:sp>
      <p:sp>
        <p:nvSpPr>
          <p:cNvPr id="16" name="TextBox 15"/>
          <p:cNvSpPr txBox="1"/>
          <p:nvPr/>
        </p:nvSpPr>
        <p:spPr>
          <a:xfrm>
            <a:off x="9098280" y="1344168"/>
            <a:ext cx="2240280" cy="640080"/>
          </a:xfrm>
          <a:prstGeom prst="rect">
            <a:avLst/>
          </a:prstGeom>
          <a:noFill/>
        </p:spPr>
        <p:txBody>
          <a:bodyPr wrap="square" lIns="45720" rIns="45720" anchor="t">
            <a:spAutoFit/>
          </a:bodyPr>
          <a:lstStyle/>
          <a:p>
            <a:pPr algn="l">
              <a:defRPr sz="1450" b="1">
                <a:solidFill>
                  <a:srgbClr val="191F1C"/>
                </a:solidFill>
                <a:latin typeface="Aptos"/>
              </a:defRPr>
            </a:pPr>
            <a:r>
              <a:t>GUP/GDN, directional maps, reconstruction gate</a:t>
            </a:r>
          </a:p>
        </p:txBody>
      </p:sp>
      <p:sp>
        <p:nvSpPr>
          <p:cNvPr id="17" name="Rounded Rectangle 16"/>
          <p:cNvSpPr/>
          <p:nvPr/>
        </p:nvSpPr>
        <p:spPr>
          <a:xfrm>
            <a:off x="8028431" y="2240280"/>
            <a:ext cx="914400" cy="475488"/>
          </a:xfrm>
          <a:prstGeom prst="roundRect">
            <a:avLst/>
          </a:prstGeom>
          <a:solidFill>
            <a:srgbClr val="F1ECF8"/>
          </a:solidFill>
          <a:ln w="15875">
            <a:solidFill>
              <a:srgbClr val="69499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Add</a:t>
            </a:r>
          </a:p>
        </p:txBody>
      </p:sp>
      <p:sp>
        <p:nvSpPr>
          <p:cNvPr id="18" name="TextBox 17"/>
          <p:cNvSpPr txBox="1"/>
          <p:nvPr/>
        </p:nvSpPr>
        <p:spPr>
          <a:xfrm>
            <a:off x="9098280" y="2194560"/>
            <a:ext cx="2240280" cy="777240"/>
          </a:xfrm>
          <a:prstGeom prst="rect">
            <a:avLst/>
          </a:prstGeom>
          <a:noFill/>
        </p:spPr>
        <p:txBody>
          <a:bodyPr wrap="square" lIns="45720" rIns="45720" anchor="t">
            <a:spAutoFit/>
          </a:bodyPr>
          <a:lstStyle/>
          <a:p>
            <a:pPr algn="l">
              <a:defRPr sz="1450" b="1">
                <a:solidFill>
                  <a:srgbClr val="191F1C"/>
                </a:solidFill>
                <a:latin typeface="Aptos"/>
              </a:defRPr>
            </a:pPr>
            <a:r>
              <a:t>one causal pending-command or recovery-phase state for Kd</a:t>
            </a:r>
          </a:p>
        </p:txBody>
      </p:sp>
      <p:sp>
        <p:nvSpPr>
          <p:cNvPr id="19" name="Rounded Rectangle 18"/>
          <p:cNvSpPr/>
          <p:nvPr/>
        </p:nvSpPr>
        <p:spPr>
          <a:xfrm>
            <a:off x="8028431" y="3246120"/>
            <a:ext cx="914400" cy="475488"/>
          </a:xfrm>
          <a:prstGeom prst="roundRect">
            <a:avLst/>
          </a:prstGeom>
          <a:solidFill>
            <a:srgbClr val="F1ECF8"/>
          </a:solidFill>
          <a:ln w="15875">
            <a:solidFill>
              <a:srgbClr val="69499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Protect</a:t>
            </a:r>
          </a:p>
        </p:txBody>
      </p:sp>
      <p:sp>
        <p:nvSpPr>
          <p:cNvPr id="20" name="TextBox 19"/>
          <p:cNvSpPr txBox="1"/>
          <p:nvPr/>
        </p:nvSpPr>
        <p:spPr>
          <a:xfrm>
            <a:off x="9098280" y="3200400"/>
            <a:ext cx="2240280" cy="777240"/>
          </a:xfrm>
          <a:prstGeom prst="rect">
            <a:avLst/>
          </a:prstGeom>
          <a:noFill/>
        </p:spPr>
        <p:txBody>
          <a:bodyPr wrap="square" lIns="45720" rIns="45720" anchor="t">
            <a:spAutoFit/>
          </a:bodyPr>
          <a:lstStyle/>
          <a:p>
            <a:pPr algn="l">
              <a:defRPr sz="1450" b="1">
                <a:solidFill>
                  <a:srgbClr val="191F1C"/>
                </a:solidFill>
                <a:latin typeface="Aptos"/>
              </a:defRPr>
            </a:pPr>
            <a:r>
              <a:t>legacy-equivalent normal behavior outside interruption</a:t>
            </a:r>
          </a:p>
        </p:txBody>
      </p:sp>
      <p:sp>
        <p:nvSpPr>
          <p:cNvPr id="21" name="Rounded Rectangle 20"/>
          <p:cNvSpPr/>
          <p:nvPr/>
        </p:nvSpPr>
        <p:spPr>
          <a:xfrm>
            <a:off x="8028431" y="4279392"/>
            <a:ext cx="914400" cy="475488"/>
          </a:xfrm>
          <a:prstGeom prst="roundRect">
            <a:avLst/>
          </a:prstGeom>
          <a:solidFill>
            <a:srgbClr val="F1ECF8"/>
          </a:solidFill>
          <a:ln w="15875">
            <a:solidFill>
              <a:srgbClr val="69499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Validate</a:t>
            </a:r>
          </a:p>
        </p:txBody>
      </p:sp>
      <p:sp>
        <p:nvSpPr>
          <p:cNvPr id="22" name="TextBox 21"/>
          <p:cNvSpPr txBox="1"/>
          <p:nvPr/>
        </p:nvSpPr>
        <p:spPr>
          <a:xfrm>
            <a:off x="9098280" y="4206240"/>
            <a:ext cx="2240280" cy="960120"/>
          </a:xfrm>
          <a:prstGeom prst="rect">
            <a:avLst/>
          </a:prstGeom>
          <a:noFill/>
        </p:spPr>
        <p:txBody>
          <a:bodyPr wrap="square" lIns="45720" rIns="45720" anchor="t">
            <a:spAutoFit/>
          </a:bodyPr>
          <a:lstStyle/>
          <a:p>
            <a:pPr algn="l">
              <a:defRPr sz="1450" b="1">
                <a:solidFill>
                  <a:srgbClr val="191F1C"/>
                </a:solidFill>
                <a:latin typeface="Aptos"/>
              </a:defRPr>
            </a:pPr>
            <a:r>
              <a:t>both pulse directions, widths, repeated toggles, loads, and other buffers</a:t>
            </a:r>
          </a:p>
        </p:txBody>
      </p:sp>
      <p:sp>
        <p:nvSpPr>
          <p:cNvPr id="23" name="Rounded Rectangle 22"/>
          <p:cNvSpPr/>
          <p:nvPr/>
        </p:nvSpPr>
        <p:spPr>
          <a:xfrm>
            <a:off x="8028431" y="5440680"/>
            <a:ext cx="2011680" cy="475488"/>
          </a:xfrm>
          <a:prstGeom prst="roundRect">
            <a:avLst/>
          </a:prstGeom>
          <a:solidFill>
            <a:srgbClr val="F1F8F2"/>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50" b="1">
                <a:solidFill>
                  <a:srgbClr val="191F1C"/>
                </a:solidFill>
                <a:latin typeface="Aptos"/>
              </a:defRPr>
            </a:pPr>
            <a:r>
              <a:t>Best structural method so far</a:t>
            </a:r>
          </a:p>
        </p:txBody>
      </p:sp>
      <p:sp>
        <p:nvSpPr>
          <p:cNvPr id="24" name="TextBox 23"/>
          <p:cNvSpPr txBox="1"/>
          <p:nvPr/>
        </p:nvSpPr>
        <p:spPr>
          <a:xfrm>
            <a:off x="10104120" y="5449824"/>
            <a:ext cx="1417320" cy="411480"/>
          </a:xfrm>
          <a:prstGeom prst="rect">
            <a:avLst/>
          </a:prstGeom>
          <a:noFill/>
        </p:spPr>
        <p:txBody>
          <a:bodyPr wrap="square" lIns="45720" rIns="45720" anchor="t">
            <a:spAutoFit/>
          </a:bodyPr>
          <a:lstStyle/>
          <a:p>
            <a:pPr algn="ctr">
              <a:defRPr sz="1350" b="1">
                <a:solidFill>
                  <a:srgbClr val="2B7A43"/>
                </a:solidFill>
                <a:latin typeface="Aptos"/>
              </a:defRPr>
            </a:pPr>
            <a:r>
              <a:t>two_state_directional_residual</a:t>
            </a:r>
          </a:p>
        </p:txBody>
      </p:sp>
      <p:sp>
        <p:nvSpPr>
          <p:cNvPr id="25" name="Rectangle 24"/>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The core innovation is validated as a structure; the remaining work is narrow and measurable: short-high Kd recovery plus normal-path preservation.</a:t>
            </a:r>
          </a:p>
        </p:txBody>
      </p:sp>
      <p:sp>
        <p:nvSpPr>
          <p:cNvPr id="26" name="TextBox 25"/>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Conclusion applies to the current io_buf study and declared 50 ohm || 2 pF validation scope.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Appendix: why the Kd rate residual was added</a:t>
            </a:r>
          </a:p>
        </p:txBody>
      </p:sp>
      <p:sp>
        <p:nvSpPr>
          <p:cNvPr id="3" name="TextBox 2"/>
          <p:cNvSpPr txBox="1"/>
          <p:nvPr/>
        </p:nvSpPr>
        <p:spPr>
          <a:xfrm>
            <a:off x="9555480" y="109728"/>
            <a:ext cx="1965960" cy="228600"/>
          </a:xfrm>
          <a:prstGeom prst="rect">
            <a:avLst/>
          </a:prstGeom>
          <a:noFill/>
        </p:spPr>
        <p:txBody>
          <a:bodyPr wrap="square" lIns="45720" rIns="45720" anchor="t">
            <a:spAutoFit/>
          </a:bodyPr>
          <a:lstStyle/>
          <a:p>
            <a:pPr algn="r">
              <a:defRPr sz="950" b="1">
                <a:solidFill>
                  <a:srgbClr val="666C68"/>
                </a:solidFill>
                <a:latin typeface="Aptos"/>
              </a:defRPr>
            </a:pPr>
            <a:r>
              <a:t>OPTIONAL DETAIL</a:t>
            </a:r>
          </a:p>
        </p:txBody>
      </p:sp>
      <p:sp>
        <p:nvSpPr>
          <p:cNvPr id="4" name="Rectangle 3"/>
          <p:cNvSpPr/>
          <p:nvPr/>
        </p:nvSpPr>
        <p:spPr>
          <a:xfrm>
            <a:off x="475488" y="1115567"/>
            <a:ext cx="6912864" cy="4626864"/>
          </a:xfrm>
          <a:prstGeom prst="rect">
            <a:avLst/>
          </a:prstGeom>
          <a:solidFill>
            <a:srgbClr val="FFFFFF"/>
          </a:solidFill>
          <a:ln w="1016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rectional_maps_and_residual.png"/>
          <p:cNvPicPr>
            <a:picLocks noChangeAspect="1"/>
          </p:cNvPicPr>
          <p:nvPr/>
        </p:nvPicPr>
        <p:blipFill>
          <a:blip r:embed="rId2"/>
          <a:stretch>
            <a:fillRect/>
          </a:stretch>
        </p:blipFill>
        <p:spPr>
          <a:xfrm>
            <a:off x="502920" y="1142999"/>
            <a:ext cx="6858000" cy="4572000"/>
          </a:xfrm>
          <a:prstGeom prst="rect">
            <a:avLst/>
          </a:prstGeom>
        </p:spPr>
      </p:pic>
      <p:sp>
        <p:nvSpPr>
          <p:cNvPr id="6" name="TextBox 5"/>
          <p:cNvSpPr txBox="1"/>
          <p:nvPr/>
        </p:nvSpPr>
        <p:spPr>
          <a:xfrm>
            <a:off x="7635240" y="960120"/>
            <a:ext cx="3200400" cy="320040"/>
          </a:xfrm>
          <a:prstGeom prst="rect">
            <a:avLst/>
          </a:prstGeom>
          <a:noFill/>
        </p:spPr>
        <p:txBody>
          <a:bodyPr wrap="square" lIns="45720" rIns="45720" anchor="t">
            <a:spAutoFit/>
          </a:bodyPr>
          <a:lstStyle/>
          <a:p>
            <a:pPr algn="l">
              <a:defRPr sz="1900" b="1">
                <a:solidFill>
                  <a:srgbClr val="CA3030"/>
                </a:solidFill>
                <a:latin typeface="Aptos"/>
              </a:defRPr>
            </a:pPr>
            <a:r>
              <a:t>Observed limitation</a:t>
            </a:r>
          </a:p>
        </p:txBody>
      </p:sp>
      <p:sp>
        <p:nvSpPr>
          <p:cNvPr id="7" name="Rounded Rectangle 6"/>
          <p:cNvSpPr/>
          <p:nvPr/>
        </p:nvSpPr>
        <p:spPr>
          <a:xfrm>
            <a:off x="7699248" y="1353312"/>
            <a:ext cx="3703320" cy="868680"/>
          </a:xfrm>
          <a:prstGeom prst="roundRect">
            <a:avLst/>
          </a:prstGeom>
          <a:solidFill>
            <a:srgbClr val="FCEBEB"/>
          </a:solidFill>
          <a:ln w="15875">
            <a:solidFill>
              <a:srgbClr val="CA303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Static directional maps reproduce the main Kd shape but miss its small negative excursion.</a:t>
            </a:r>
          </a:p>
        </p:txBody>
      </p:sp>
      <p:sp>
        <p:nvSpPr>
          <p:cNvPr id="8" name="TextBox 7"/>
          <p:cNvSpPr txBox="1"/>
          <p:nvPr/>
        </p:nvSpPr>
        <p:spPr>
          <a:xfrm>
            <a:off x="7635240" y="2514600"/>
            <a:ext cx="3200400" cy="320040"/>
          </a:xfrm>
          <a:prstGeom prst="rect">
            <a:avLst/>
          </a:prstGeom>
          <a:noFill/>
        </p:spPr>
        <p:txBody>
          <a:bodyPr wrap="square" lIns="45720" rIns="45720" anchor="t">
            <a:spAutoFit/>
          </a:bodyPr>
          <a:lstStyle/>
          <a:p>
            <a:pPr algn="l">
              <a:defRPr sz="1900" b="1">
                <a:solidFill>
                  <a:srgbClr val="2B7A43"/>
                </a:solidFill>
                <a:latin typeface="Aptos"/>
              </a:defRPr>
            </a:pPr>
            <a:r>
              <a:t>Measured refinement</a:t>
            </a:r>
          </a:p>
        </p:txBody>
      </p:sp>
      <p:sp>
        <p:nvSpPr>
          <p:cNvPr id="9" name="Rounded Rectangle 8"/>
          <p:cNvSpPr/>
          <p:nvPr/>
        </p:nvSpPr>
        <p:spPr>
          <a:xfrm>
            <a:off x="7699248" y="2880360"/>
            <a:ext cx="3703320" cy="1097280"/>
          </a:xfrm>
          <a:prstGeom prst="roundRect">
            <a:avLst/>
          </a:prstGeom>
          <a:solidFill>
            <a:srgbClr val="F6F8F7"/>
          </a:solidFill>
          <a:ln w="12700">
            <a:solidFill>
              <a:srgbClr val="A4AEA8"/>
            </a:solidFill>
          </a:ln>
        </p:spPr>
        <p:style>
          <a:lnRef idx="1">
            <a:schemeClr val="accent1"/>
          </a:lnRef>
          <a:fillRef idx="3">
            <a:schemeClr val="accent1"/>
          </a:fillRef>
          <a:effectRef idx="2">
            <a:schemeClr val="accent1"/>
          </a:effectRef>
          <a:fontRef idx="minor">
            <a:schemeClr val="lt1"/>
          </a:fontRef>
        </p:style>
        <p:txBody>
          <a:bodyPr rtlCol="0" anchor="ctr" wrap="none" lIns="118872" rIns="73152" tIns="91440" bIns="73152"/>
          <a:lstStyle/>
          <a:p>
            <a:pPr algn="ctr">
              <a:defRPr sz="1300">
                <a:solidFill>
                  <a:srgbClr val="1E3027"/>
                </a:solidFill>
                <a:latin typeface="Consolas"/>
              </a:defRPr>
            </a:pPr>
            <a:r>
              <a:t>Kd = Kd_map(GDN)</a:t>
            </a:r>
            <a:br/>
            <a:r>
              <a:t>   + residual_table</a:t>
            </a:r>
            <a:br/>
            <a:r>
              <a:t>   + 0.000238691 ns * dGDN/dt</a:t>
            </a:r>
          </a:p>
        </p:txBody>
      </p:sp>
      <p:sp>
        <p:nvSpPr>
          <p:cNvPr id="10" name="Rounded Rectangle 9"/>
          <p:cNvSpPr/>
          <p:nvPr/>
        </p:nvSpPr>
        <p:spPr>
          <a:xfrm>
            <a:off x="7699248" y="4315968"/>
            <a:ext cx="3703320" cy="749808"/>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50" b="1">
                <a:solidFill>
                  <a:srgbClr val="191F1C"/>
                </a:solidFill>
                <a:latin typeface="Aptos"/>
              </a:defRPr>
            </a:pPr>
            <a:r>
              <a:t>This refinement lowers worst reconstruction max error from 0.07389 to 0.04869.</a:t>
            </a:r>
          </a:p>
        </p:txBody>
      </p:sp>
      <p:sp>
        <p:nvSpPr>
          <p:cNvPr id="11" name="Rounded Rectangle 10"/>
          <p:cNvSpPr/>
          <p:nvPr/>
        </p:nvSpPr>
        <p:spPr>
          <a:xfrm>
            <a:off x="7699248" y="5257800"/>
            <a:ext cx="3703320" cy="658368"/>
          </a:xfrm>
          <a:prstGeom prst="roundRect">
            <a:avLst/>
          </a:prstGeom>
          <a:solidFill>
            <a:srgbClr val="FFF1E4"/>
          </a:solidFill>
          <a:ln w="15875">
            <a:solidFill>
              <a:srgbClr val="DA842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50" b="1">
                <a:solidFill>
                  <a:srgbClr val="191F1C"/>
                </a:solidFill>
                <a:latin typeface="Aptos"/>
              </a:defRPr>
            </a:pPr>
            <a:r>
              <a:t>It improves normal-table fidelity; it does not solve short-high Kd recovery staging.</a:t>
            </a:r>
          </a:p>
        </p:txBody>
      </p:sp>
      <p:sp>
        <p:nvSpPr>
          <p:cNvPr id="12" name="Rectangle 11"/>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Residual is a measured correction to the gate-state model, not a substitute for state memory.</a:t>
            </a:r>
          </a:p>
        </p:txBody>
      </p:sp>
      <p:sp>
        <p:nvSpPr>
          <p:cNvPr id="13" name="TextBox 12"/>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Cached fit diagnostic and generated BKDRES/BGDNRATE implementation.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Appendix: reference hierarchy and testbench scope</a:t>
            </a:r>
          </a:p>
        </p:txBody>
      </p:sp>
      <p:sp>
        <p:nvSpPr>
          <p:cNvPr id="3" name="TextBox 2"/>
          <p:cNvSpPr txBox="1"/>
          <p:nvPr/>
        </p:nvSpPr>
        <p:spPr>
          <a:xfrm>
            <a:off x="9555480" y="109728"/>
            <a:ext cx="1965960" cy="228600"/>
          </a:xfrm>
          <a:prstGeom prst="rect">
            <a:avLst/>
          </a:prstGeom>
          <a:noFill/>
        </p:spPr>
        <p:txBody>
          <a:bodyPr wrap="square" lIns="45720" rIns="45720" anchor="t">
            <a:spAutoFit/>
          </a:bodyPr>
          <a:lstStyle/>
          <a:p>
            <a:pPr algn="r">
              <a:defRPr sz="950" b="1">
                <a:solidFill>
                  <a:srgbClr val="666C68"/>
                </a:solidFill>
                <a:latin typeface="Aptos"/>
              </a:defRPr>
            </a:pPr>
            <a:r>
              <a:t>OPTIONAL DETAIL</a:t>
            </a:r>
          </a:p>
        </p:txBody>
      </p:sp>
      <p:sp>
        <p:nvSpPr>
          <p:cNvPr id="4" name="Rounded Rectangle 3"/>
          <p:cNvSpPr/>
          <p:nvPr/>
        </p:nvSpPr>
        <p:spPr>
          <a:xfrm>
            <a:off x="594360" y="1234440"/>
            <a:ext cx="1463040" cy="749808"/>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Input</a:t>
            </a:r>
            <a:br/>
            <a:r>
              <a:t>3.3 V, 1 ps</a:t>
            </a:r>
          </a:p>
        </p:txBody>
      </p:sp>
      <p:cxnSp>
        <p:nvCxnSpPr>
          <p:cNvPr id="5" name="Connector 4"/>
          <p:cNvCxnSpPr/>
          <p:nvPr/>
        </p:nvCxnSpPr>
        <p:spPr>
          <a:xfrm>
            <a:off x="2057400" y="1609344"/>
            <a:ext cx="68580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2743200" y="1234440"/>
            <a:ext cx="1828800" cy="749808"/>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io_buf driver</a:t>
            </a:r>
          </a:p>
        </p:txBody>
      </p:sp>
      <p:cxnSp>
        <p:nvCxnSpPr>
          <p:cNvPr id="7" name="Connector 6"/>
          <p:cNvCxnSpPr/>
          <p:nvPr/>
        </p:nvCxnSpPr>
        <p:spPr>
          <a:xfrm>
            <a:off x="4572000" y="1609344"/>
            <a:ext cx="68580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257800" y="1325880"/>
            <a:ext cx="1143000" cy="566928"/>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PAD</a:t>
            </a:r>
          </a:p>
        </p:txBody>
      </p:sp>
      <p:cxnSp>
        <p:nvCxnSpPr>
          <p:cNvPr id="9" name="Connector 8"/>
          <p:cNvCxnSpPr/>
          <p:nvPr/>
        </p:nvCxnSpPr>
        <p:spPr>
          <a:xfrm>
            <a:off x="6400800" y="1609344"/>
            <a:ext cx="68580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086600" y="1234440"/>
            <a:ext cx="1920240" cy="749808"/>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50 ohm || 2 pF</a:t>
            </a:r>
          </a:p>
        </p:txBody>
      </p:sp>
      <p:sp>
        <p:nvSpPr>
          <p:cNvPr id="11" name="Rounded Rectangle 10"/>
          <p:cNvSpPr/>
          <p:nvPr/>
        </p:nvSpPr>
        <p:spPr>
          <a:xfrm>
            <a:off x="713232" y="2743200"/>
            <a:ext cx="3246120" cy="685800"/>
          </a:xfrm>
          <a:prstGeom prst="roundRect">
            <a:avLst/>
          </a:prstGeom>
          <a:solidFill>
            <a:srgbClr val="F5F5F5"/>
          </a:solidFill>
          <a:ln w="15875">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700" b="1">
                <a:solidFill>
                  <a:srgbClr val="191F1C"/>
                </a:solidFill>
                <a:latin typeface="Aptos"/>
              </a:defRPr>
            </a:pPr>
            <a:r>
              <a:t>HSPICE native IBIS</a:t>
            </a:r>
          </a:p>
        </p:txBody>
      </p:sp>
      <p:sp>
        <p:nvSpPr>
          <p:cNvPr id="12" name="TextBox 11"/>
          <p:cNvSpPr txBox="1"/>
          <p:nvPr/>
        </p:nvSpPr>
        <p:spPr>
          <a:xfrm>
            <a:off x="804672" y="3584448"/>
            <a:ext cx="3017520" cy="1143000"/>
          </a:xfrm>
          <a:prstGeom prst="rect">
            <a:avLst/>
          </a:prstGeom>
          <a:noFill/>
        </p:spPr>
        <p:txBody>
          <a:bodyPr wrap="square" lIns="73152" rIns="36576" tIns="36576" bIns="36576">
            <a:spAutoFit/>
          </a:bodyPr>
          <a:lstStyle/>
          <a:p>
            <a:pPr>
              <a:spcAft>
                <a:spcPts val="700"/>
              </a:spcAft>
              <a:defRPr sz="1500">
                <a:solidFill>
                  <a:srgbClr val="191F1C"/>
                </a:solidFill>
                <a:latin typeface="Aptos"/>
              </a:defRPr>
            </a:pPr>
            <a:r>
              <a:t>- Pad + Ku + Kd</a:t>
            </a:r>
          </a:p>
          <a:p>
            <a:pPr>
              <a:spcAft>
                <a:spcPts val="700"/>
              </a:spcAft>
              <a:defRPr sz="1500">
                <a:solidFill>
                  <a:srgbClr val="191F1C"/>
                </a:solidFill>
                <a:latin typeface="Aptos"/>
              </a:defRPr>
            </a:pPr>
            <a:r>
              <a:t>- Coefficient-playback reference</a:t>
            </a:r>
          </a:p>
          <a:p>
            <a:pPr>
              <a:spcAft>
                <a:spcPts val="700"/>
              </a:spcAft>
              <a:defRPr sz="1500">
                <a:solidFill>
                  <a:srgbClr val="191F1C"/>
                </a:solidFill>
                <a:latin typeface="Aptos"/>
              </a:defRPr>
            </a:pPr>
            <a:r>
              <a:t>- Cached; validation only</a:t>
            </a:r>
          </a:p>
        </p:txBody>
      </p:sp>
      <p:sp>
        <p:nvSpPr>
          <p:cNvPr id="13" name="Rounded Rectangle 12"/>
          <p:cNvSpPr/>
          <p:nvPr/>
        </p:nvSpPr>
        <p:spPr>
          <a:xfrm>
            <a:off x="4370832" y="2743200"/>
            <a:ext cx="3246120" cy="685800"/>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700" b="1">
                <a:solidFill>
                  <a:srgbClr val="191F1C"/>
                </a:solidFill>
                <a:latin typeface="Aptos"/>
              </a:defRPr>
            </a:pPr>
            <a:r>
              <a:t>HSPICE transistor io_buf.sp</a:t>
            </a:r>
          </a:p>
        </p:txBody>
      </p:sp>
      <p:sp>
        <p:nvSpPr>
          <p:cNvPr id="14" name="TextBox 13"/>
          <p:cNvSpPr txBox="1"/>
          <p:nvPr/>
        </p:nvSpPr>
        <p:spPr>
          <a:xfrm>
            <a:off x="4462272" y="3584448"/>
            <a:ext cx="3017520" cy="1143000"/>
          </a:xfrm>
          <a:prstGeom prst="rect">
            <a:avLst/>
          </a:prstGeom>
          <a:noFill/>
        </p:spPr>
        <p:txBody>
          <a:bodyPr wrap="square" lIns="73152" rIns="36576" tIns="36576" bIns="36576">
            <a:spAutoFit/>
          </a:bodyPr>
          <a:lstStyle/>
          <a:p>
            <a:pPr>
              <a:spcAft>
                <a:spcPts val="700"/>
              </a:spcAft>
              <a:defRPr sz="1500">
                <a:solidFill>
                  <a:srgbClr val="191F1C"/>
                </a:solidFill>
                <a:latin typeface="Aptos"/>
              </a:defRPr>
            </a:pPr>
            <a:r>
              <a:t>- Pad only</a:t>
            </a:r>
          </a:p>
          <a:p>
            <a:pPr>
              <a:spcAft>
                <a:spcPts val="700"/>
              </a:spcAft>
              <a:defRPr sz="1500">
                <a:solidFill>
                  <a:srgbClr val="191F1C"/>
                </a:solidFill>
                <a:latin typeface="Aptos"/>
              </a:defRPr>
            </a:pPr>
            <a:r>
              <a:t>- Circuit-level reference</a:t>
            </a:r>
          </a:p>
          <a:p>
            <a:pPr>
              <a:spcAft>
                <a:spcPts val="700"/>
              </a:spcAft>
              <a:defRPr sz="1500">
                <a:solidFill>
                  <a:srgbClr val="191F1C"/>
                </a:solidFill>
                <a:latin typeface="Aptos"/>
              </a:defRPr>
            </a:pPr>
            <a:r>
              <a:t>- No physical Ku/Kd observables</a:t>
            </a:r>
          </a:p>
        </p:txBody>
      </p:sp>
      <p:sp>
        <p:nvSpPr>
          <p:cNvPr id="15" name="Rounded Rectangle 14"/>
          <p:cNvSpPr/>
          <p:nvPr/>
        </p:nvSpPr>
        <p:spPr>
          <a:xfrm>
            <a:off x="8028431" y="2743200"/>
            <a:ext cx="3246120" cy="68580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700" b="1">
                <a:solidFill>
                  <a:srgbClr val="191F1C"/>
                </a:solidFill>
                <a:latin typeface="Aptos"/>
              </a:defRPr>
            </a:pPr>
            <a:r>
              <a:t>ngspice + pybis</a:t>
            </a:r>
          </a:p>
        </p:txBody>
      </p:sp>
      <p:sp>
        <p:nvSpPr>
          <p:cNvPr id="16" name="TextBox 15"/>
          <p:cNvSpPr txBox="1"/>
          <p:nvPr/>
        </p:nvSpPr>
        <p:spPr>
          <a:xfrm>
            <a:off x="8119872" y="3584448"/>
            <a:ext cx="3017520" cy="1143000"/>
          </a:xfrm>
          <a:prstGeom prst="rect">
            <a:avLst/>
          </a:prstGeom>
          <a:noFill/>
        </p:spPr>
        <p:txBody>
          <a:bodyPr wrap="square" lIns="73152" rIns="36576" tIns="36576" bIns="36576">
            <a:spAutoFit/>
          </a:bodyPr>
          <a:lstStyle/>
          <a:p>
            <a:pPr>
              <a:spcAft>
                <a:spcPts val="700"/>
              </a:spcAft>
              <a:defRPr sz="1500">
                <a:solidFill>
                  <a:srgbClr val="191F1C"/>
                </a:solidFill>
                <a:latin typeface="Aptos"/>
              </a:defRPr>
            </a:pPr>
            <a:r>
              <a:t>- Pad + Ku + Kd + G states</a:t>
            </a:r>
          </a:p>
          <a:p>
            <a:pPr>
              <a:spcAft>
                <a:spcPts val="700"/>
              </a:spcAft>
              <a:defRPr sz="1500">
                <a:solidFill>
                  <a:srgbClr val="191F1C"/>
                </a:solidFill>
                <a:latin typeface="Aptos"/>
              </a:defRPr>
            </a:pPr>
            <a:r>
              <a:t>- Candidate under test</a:t>
            </a:r>
          </a:p>
          <a:p>
            <a:pPr>
              <a:spcAft>
                <a:spcPts val="700"/>
              </a:spcAft>
              <a:defRPr sz="1500">
                <a:solidFill>
                  <a:srgbClr val="191F1C"/>
                </a:solidFill>
                <a:latin typeface="Aptos"/>
              </a:defRPr>
            </a:pPr>
            <a:r>
              <a:t>- Derived from IBIS tables only</a:t>
            </a:r>
          </a:p>
        </p:txBody>
      </p:sp>
      <p:sp>
        <p:nvSpPr>
          <p:cNvPr id="17" name="Rounded Rectangle 16"/>
          <p:cNvSpPr/>
          <p:nvPr/>
        </p:nvSpPr>
        <p:spPr>
          <a:xfrm>
            <a:off x="749808" y="5230368"/>
            <a:ext cx="1234440" cy="502920"/>
          </a:xfrm>
          <a:prstGeom prst="roundRect">
            <a:avLst/>
          </a:prstGeom>
          <a:solidFill>
            <a:srgbClr val="FCEBEB"/>
          </a:solidFill>
          <a:ln w="15875">
            <a:solidFill>
              <a:srgbClr val="CA303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Important</a:t>
            </a:r>
          </a:p>
        </p:txBody>
      </p:sp>
      <p:sp>
        <p:nvSpPr>
          <p:cNvPr id="18" name="TextBox 17"/>
          <p:cNvSpPr txBox="1"/>
          <p:nvPr/>
        </p:nvSpPr>
        <p:spPr>
          <a:xfrm>
            <a:off x="2148840" y="5193792"/>
            <a:ext cx="9006840" cy="640080"/>
          </a:xfrm>
          <a:prstGeom prst="rect">
            <a:avLst/>
          </a:prstGeom>
          <a:noFill/>
        </p:spPr>
        <p:txBody>
          <a:bodyPr wrap="square" lIns="45720" rIns="45720" anchor="t">
            <a:spAutoFit/>
          </a:bodyPr>
          <a:lstStyle/>
          <a:p>
            <a:pPr algn="l">
              <a:defRPr sz="1600" b="1">
                <a:solidFill>
                  <a:srgbClr val="191F1C"/>
                </a:solidFill>
                <a:latin typeface="Aptos"/>
              </a:defRPr>
            </a:pPr>
            <a:r>
              <a:t>Native IBIS and transistor io_buf.sp are different references. Ku/Kd agreement means playback consistency; transistor agreement is a separate pad-level check.</a:t>
            </a:r>
          </a:p>
        </p:txBody>
      </p:sp>
      <p:sp>
        <p:nvSpPr>
          <p:cNvPr id="19" name="Rectangle 18"/>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HSPICE is never used to tune the generated model; it is an external audit of cached results.</a:t>
            </a:r>
          </a:p>
        </p:txBody>
      </p:sp>
      <p:sp>
        <p:nvSpPr>
          <p:cNvPr id="20" name="TextBox 19"/>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Canonical study: results/io_buf_two_state_gate_model_2026-06-30</a:t>
            </a:r>
          </a:p>
        </p:txBody>
      </p:sp>
    </p:spTree>
  </p:cSld>
  <p:clrMapOvr>
    <a:masterClrMapping/>
  </p:clrMapOvr>
</p:sld>
</file>

<file path=ppt/theme/theme1.xml><?xml version="1.0" encoding="utf-8"?>
<a:theme xmlns:a="http://schemas.openxmlformats.org/drawingml/2006/main" name="1_MST_EMC_lab_theme">
  <a:themeElements>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Level">
      <a:majorFont>
        <a:latin typeface="Times New Roman"/>
        <a:ea typeface=""/>
        <a:cs typeface="Arial"/>
      </a:majorFont>
      <a:minorFont>
        <a:latin typeface="Times New Roman"/>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chemeClr val="tx1"/>
          </a:solidFill>
        </a:ln>
      </a:spPr>
      <a:bodyPr rtlCol="0" anchor="ctr"/>
      <a:lstStyle>
        <a:defPPr algn="ctr">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MST_EMC_lab_theme" id="{F84A9E38-8E53-459B-962B-D11E178A4856}" vid="{AF41A44A-DCC1-4496-8938-47400BABA3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Slides>
  <Notes>1</Notes>
  <HiddenSlides>0</HiddenSlide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1_MST_EMC_lab_theme</vt:lpstr>
      <vt:lpstr>IBIS Simulation in Ngspice</vt:lpstr>
      <vt:lpstr>"Replay Problem" for Short Pulse</vt:lpstr>
      <vt:lpstr>Why "Value-matched" Method Fails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Lee, Seonghi</dc:creator>
  <cp:revision>53</cp:revision>
  <dcterms:created xsi:type="dcterms:W3CDTF">2025-07-07T19:11:35Z</dcterms:created>
  <dcterms:modified xsi:type="dcterms:W3CDTF">2026-07-14T07:11:59Z</dcterms:modified>
</cp:coreProperties>
</file>