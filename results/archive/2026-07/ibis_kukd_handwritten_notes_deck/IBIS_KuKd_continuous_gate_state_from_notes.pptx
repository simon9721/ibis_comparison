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
  </p:notesMasterIdLst>
  <p:sldIdLst>
    <p:sldId id="256" r:id="rId2"/>
    <p:sldId id="257" r:id="rId4"/>
    <p:sldId id="258" r:id="rId3"/>
    <p:sldId id="259" r:id="rId11"/>
    <p:sldId id="260" r:id="rId12"/>
    <p:sldId id="261" r:id="rId13"/>
    <p:sldId id="262" r:id="rId14"/>
    <p:sldId id="263" r:id="rId15"/>
    <p:sldId id="264" r:id="rId16"/>
    <p:sldId id="265" r:id="rId17"/>
    <p:sldId id="266" r:id="rId18"/>
    <p:sldId id="267" r:id="rId19"/>
    <p:sldId id="268" r:id="rId20"/>
    <p:sldId id="269"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B8"/>
    <a:srgbClr val="FBFB00"/>
    <a:srgbClr val="FFFF29"/>
    <a:srgbClr val="C321CF"/>
    <a:srgbClr val="C52BA8"/>
    <a:srgbClr val="99CCFF"/>
    <a:srgbClr val="6699FF"/>
    <a:srgbClr val="FFCC99"/>
    <a:srgbClr val="33CCFF"/>
    <a:srgbClr val="00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7CE76EB-5733-E639-DFBE-C032C02CA049}" v="311" dt="2026-07-10T21:33:20.263"/>
    <p1510:client id="{4B2B0703-2C84-945A-F101-9A0363D83DEB}" v="2" dt="2026-07-10T16:42:58.35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3.xml"/><Relationship Id="rId4" Type="http://schemas.openxmlformats.org/officeDocument/2006/relationships/slide" Target="slides/slide2.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 Id="rId10" Type="http://schemas.microsoft.com/office/2015/10/relationships/revisionInfo" Target="revisionInfo.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4FF5152-AD57-4057-A738-BC536A645BFF}" type="datetimeFigureOut">
              <a:rPr lang="en-US" smtClean="0"/>
              <a:t>7/14/2026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DFBD6F9-9B61-4F1F-A828-501CEB5BCFB1}" type="slidenum">
              <a:rPr lang="en-US" smtClean="0"/>
              <a:t>‹#›</a:t>
            </a:fld>
            <a:endParaRPr lang="en-US"/>
          </a:p>
        </p:txBody>
      </p:sp>
    </p:spTree>
    <p:extLst>
      <p:ext uri="{BB962C8B-B14F-4D97-AF65-F5344CB8AC3E}">
        <p14:creationId xmlns:p14="http://schemas.microsoft.com/office/powerpoint/2010/main" val="6509444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t>This deck transcribes the handwritten IBIS Ku/Kd notes into a structured explanation. The central idea is to replace elapsed-time table position with two continuous stored states: GUP for pullup drive and GDN for pulldown drive.</a:t>
            </a:r>
            <a:endParaRPr lang="ko-KR" altLang="en-US"/>
          </a:p>
        </p:txBody>
      </p:sp>
      <p:sp>
        <p:nvSpPr>
          <p:cNvPr id="4" name="슬라이드 번호 개체 틀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012E5D0-9393-4591-81EA-D49C04BB4842}" type="slidenum">
              <a:rPr kumimoji="0" lang="ko-KR" altLang="en-US" sz="1200" b="0" i="0" u="none" strike="noStrike" kern="1200" cap="none" spc="0" normalizeH="0" baseline="0" noProof="0" smtClean="0">
                <a:ln>
                  <a:noFill/>
                </a:ln>
                <a:solidFill>
                  <a:prstClr val="black"/>
                </a:solidFill>
                <a:effectLst/>
                <a:uLnTx/>
                <a:uFillTx/>
                <a:latin typeface="맑은 고딕" panose="02110004020202020204"/>
                <a:ea typeface="맑은 고딕" panose="020B0503020000020004" pitchFamily="34" charset="-127"/>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ko-KR" altLang="en-US" sz="1200" b="0" i="0" u="none" strike="noStrike" kern="1200" cap="none" spc="0" normalizeH="0" baseline="0" noProof="0">
              <a:ln>
                <a:noFill/>
              </a:ln>
              <a:solidFill>
                <a:prstClr val="black"/>
              </a:solidFill>
              <a:effectLst/>
              <a:uLnTx/>
              <a:uFillTx/>
              <a:latin typeface="맑은 고딕" panose="02110004020202020204"/>
              <a:ea typeface="맑은 고딕" panose="020B0503020000020004" pitchFamily="34" charset="-127"/>
              <a:cs typeface="+mn-cs"/>
            </a:endParaRPr>
          </a:p>
        </p:txBody>
      </p:sp>
    </p:spTree>
    <p:extLst>
      <p:ext uri="{BB962C8B-B14F-4D97-AF65-F5344CB8AC3E}">
        <p14:creationId xmlns:p14="http://schemas.microsoft.com/office/powerpoint/2010/main" val="1119779915"/>
      </p:ext>
    </p:extLst>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legacy model detects an edge and replays a complete Ku/Kd transition table from its beginning. If the input reverses before that table finishes, switching to the opposite table at t=0 can assign a different coefficient immediately. The red conceptual curve shows this reset. The green curve shows the behavior we want: preserve the current state and only reverse its direction of motion.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handwritten circuit uses an RC node as memory. The target is either zero or one. The capacitor voltage cannot jump, so it records how far the transition has progressed. In the generated model this stored voltage is called GUP or GDN rather than Vc.</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Defining tau as RC gives the first-order state equation. The closed-form solution starts from the state value G0 present when the command changes. This initial value is why the model can reverse from the middle rather than restart at an endpoint.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a normalized first-order rising response, one tau reaches 63.2 percent of the total change. For a falling response, one tau leaves 36.8 percent. In practice the onset delay is removed first, and tau is measured over the active transition in the extracted Ku/Kd tables.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Pullup and pulldown do not have to be symmetric. An input rise turns the pullup on and turns the pulldown off. An input fall turns the pullup off and the pulldown on. Each path therefore gets its own onset delay and tau, extracted from the corresponding original coefficient table.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every sample in an original Ku or Kd table, reconstruct the gate-state value that would exist at the same time using the fitted delay and tau. Pair that gate-state value with the original coefficient. The resulting point cloud becomes a PWL function K=f(G). The original coefficient information is preserved; only its independent variable changes from elapsed time to stored state.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in the top row happens once while generating the pybis SPICE model: extract coefficient tables, fit delays and taus, build the PWL state maps, and write the netlist. During simulation, the actual pulse history drives the targets. Ngspice integrates GUP and GDN and evaluates the precomputed maps at each timestep.</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Starting from stable low, GUP is zero and GDN is one. A rising command eventually changes the targets to one and zero after their separately fitted onset delays. The states then move continuously with PU-on and PD-off time constants. Ku and Kd are read from the corresponding directional maps.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Suppose the input falls before the rising transition settles. At the reverse edge, the targets flip and the model selects PU-off and PD-on taus. GUP and GDN themselves remain exactly at the values accumulated up to that instant. Their derivatives reverse sign, which creates a corner in slope but no jump in state. The coefficients remain continuous if the directional maps agree at the switching state.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capacitor is the memory element. The behavioral current source produces the first-order derivative. With a one-picofarad numerical capacitor, ngspice integrates the state at every timestep. The sign shown follows the current orientation of the generated behavioral source. R_eff is implicit because tau divided by C is the equivalent resistance.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GUP and GDN are hidden drive states, not replacements for Ku and Kd. The precomputed PWL maps convert gate state into the effective coefficients. Those coefficients retain their original IBIS role: scaling the full pullup and pulldown current-voltage tables.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complete conceptual chain in the notes. It explains how to eliminate elapsed-time restart while continuing to use the original Ku/Kd information. It does not by itself prove that one first-order state per network reproduces every interrupted transition. That must be checked against normal-table reconstruction, short pulses, and transistor-level pad behavior.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three original handwritten pages used for this deck. They are included so the transcription and notation can be checked directly.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pic>
        <p:nvPicPr>
          <p:cNvPr id="4" name="Picture 18" descr="new_logo_final"/>
          <p:cNvPicPr>
            <a:picLocks noChangeAspect="1" noChangeArrowheads="1"/>
          </p:cNvPicPr>
          <p:nvPr/>
        </p:nvPicPr>
        <p:blipFill>
          <a:blip r:embed="rId2" cstate="print">
            <a:lum bright="70000" contrast="-70000"/>
            <a:extLst>
              <a:ext uri="{28A0092B-C50C-407E-A947-70E740481C1C}">
                <a14:useLocalDpi xmlns:a14="http://schemas.microsoft.com/office/drawing/2010/main" val="0"/>
              </a:ext>
            </a:extLst>
          </a:blip>
          <a:srcRect/>
          <a:stretch>
            <a:fillRect/>
          </a:stretch>
        </p:blipFill>
        <p:spPr bwMode="auto">
          <a:xfrm>
            <a:off x="0" y="4572000"/>
            <a:ext cx="30480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17" descr="new_logo_final"/>
          <p:cNvPicPr>
            <a:picLocks noChangeAspect="1" noChangeArrowheads="1"/>
          </p:cNvPicPr>
          <p:nvPr/>
        </p:nvPicPr>
        <p:blipFill>
          <a:blip r:embed="rId2" cstate="print">
            <a:lum bright="70000" contrast="-70000"/>
            <a:extLst>
              <a:ext uri="{28A0092B-C50C-407E-A947-70E740481C1C}">
                <a14:useLocalDpi xmlns:a14="http://schemas.microsoft.com/office/drawing/2010/main" val="0"/>
              </a:ext>
            </a:extLst>
          </a:blip>
          <a:srcRect/>
          <a:stretch>
            <a:fillRect/>
          </a:stretch>
        </p:blipFill>
        <p:spPr bwMode="auto">
          <a:xfrm>
            <a:off x="0" y="2286000"/>
            <a:ext cx="30480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16" descr="new_logo_final"/>
          <p:cNvPicPr>
            <a:picLocks noChangeAspect="1" noChangeArrowheads="1"/>
          </p:cNvPicPr>
          <p:nvPr/>
        </p:nvPicPr>
        <p:blipFill>
          <a:blip r:embed="rId3" cstate="print">
            <a:lum bright="70000" contrast="-70000"/>
            <a:extLst>
              <a:ext uri="{28A0092B-C50C-407E-A947-70E740481C1C}">
                <a14:useLocalDpi xmlns:a14="http://schemas.microsoft.com/office/drawing/2010/main" val="0"/>
              </a:ext>
            </a:extLst>
          </a:blip>
          <a:srcRect/>
          <a:stretch>
            <a:fillRect/>
          </a:stretch>
        </p:blipFill>
        <p:spPr bwMode="auto">
          <a:xfrm>
            <a:off x="0" y="0"/>
            <a:ext cx="30480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11"/>
          <p:cNvSpPr>
            <a:spLocks noChangeArrowheads="1"/>
          </p:cNvSpPr>
          <p:nvPr/>
        </p:nvSpPr>
        <p:spPr bwMode="auto">
          <a:xfrm>
            <a:off x="609600" y="2971800"/>
            <a:ext cx="10871200" cy="152400"/>
          </a:xfrm>
          <a:prstGeom prst="rect">
            <a:avLst/>
          </a:prstGeom>
          <a:gradFill rotWithShape="1">
            <a:gsLst>
              <a:gs pos="0">
                <a:srgbClr val="287F3D"/>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sz="1350">
              <a:solidFill>
                <a:srgbClr val="000000"/>
              </a:solidFill>
            </a:endParaRPr>
          </a:p>
        </p:txBody>
      </p:sp>
      <p:sp>
        <p:nvSpPr>
          <p:cNvPr id="33794" name="Rectangle 2"/>
          <p:cNvSpPr>
            <a:spLocks noGrp="1" noChangeArrowheads="1"/>
          </p:cNvSpPr>
          <p:nvPr>
            <p:ph type="ctrTitle"/>
          </p:nvPr>
        </p:nvSpPr>
        <p:spPr>
          <a:xfrm>
            <a:off x="914400" y="1057275"/>
            <a:ext cx="10363200" cy="1828800"/>
          </a:xfrm>
        </p:spPr>
        <p:txBody>
          <a:bodyPr anchor="ctr"/>
          <a:lstStyle>
            <a:lvl1pPr algn="ctr">
              <a:defRPr sz="4400"/>
            </a:lvl1pPr>
          </a:lstStyle>
          <a:p>
            <a:r>
              <a:rPr lang="ko-KR" altLang="en-US"/>
              <a:t>마스터 제목 스타일 편집</a:t>
            </a:r>
            <a:endParaRPr lang="en-US" altLang="zh-CN"/>
          </a:p>
        </p:txBody>
      </p:sp>
      <p:sp>
        <p:nvSpPr>
          <p:cNvPr id="33795" name="Rectangle 3"/>
          <p:cNvSpPr>
            <a:spLocks noGrp="1" noChangeArrowheads="1"/>
          </p:cNvSpPr>
          <p:nvPr>
            <p:ph type="subTitle" idx="1"/>
          </p:nvPr>
        </p:nvSpPr>
        <p:spPr>
          <a:xfrm>
            <a:off x="1828800" y="3657600"/>
            <a:ext cx="8534400" cy="1981200"/>
          </a:xfrm>
        </p:spPr>
        <p:txBody>
          <a:bodyPr/>
          <a:lstStyle>
            <a:lvl1pPr marL="0" indent="0" algn="ctr">
              <a:buFont typeface="Times New Roman" pitchFamily="18" charset="0"/>
              <a:buNone/>
              <a:defRPr sz="2800"/>
            </a:lvl1pPr>
          </a:lstStyle>
          <a:p>
            <a:r>
              <a:rPr lang="ko-KR" altLang="en-US"/>
              <a:t>클릭하여 마스터 부제목 스타일 편집</a:t>
            </a:r>
            <a:endParaRPr lang="en-US" altLang="zh-CN"/>
          </a:p>
        </p:txBody>
      </p:sp>
      <p:sp>
        <p:nvSpPr>
          <p:cNvPr id="2" name="Oval 1">
            <a:extLst>
              <a:ext uri="{FF2B5EF4-FFF2-40B4-BE49-F238E27FC236}">
                <a16:creationId xmlns:a16="http://schemas.microsoft.com/office/drawing/2014/main" id="{1185D946-0A64-0C7F-AA63-488808319B35}"/>
              </a:ext>
            </a:extLst>
          </p:cNvPr>
          <p:cNvSpPr/>
          <p:nvPr/>
        </p:nvSpPr>
        <p:spPr>
          <a:xfrm>
            <a:off x="11381117" y="6288658"/>
            <a:ext cx="684363" cy="483079"/>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p>
        </p:txBody>
      </p:sp>
    </p:spTree>
    <p:extLst>
      <p:ext uri="{BB962C8B-B14F-4D97-AF65-F5344CB8AC3E}">
        <p14:creationId xmlns:p14="http://schemas.microsoft.com/office/powerpoint/2010/main" val="4203716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_1">
    <p:spTree>
      <p:nvGrpSpPr>
        <p:cNvPr id="1" name=""/>
        <p:cNvGrpSpPr/>
        <p:nvPr/>
      </p:nvGrpSpPr>
      <p:grpSpPr>
        <a:xfrm>
          <a:off x="0" y="0"/>
          <a:ext cx="0" cy="0"/>
          <a:chOff x="0" y="0"/>
          <a:chExt cx="0" cy="0"/>
        </a:xfrm>
      </p:grpSpPr>
      <p:sp>
        <p:nvSpPr>
          <p:cNvPr id="2" name="Title 1"/>
          <p:cNvSpPr>
            <a:spLocks noGrp="1"/>
          </p:cNvSpPr>
          <p:nvPr>
            <p:ph type="title"/>
          </p:nvPr>
        </p:nvSpPr>
        <p:spPr>
          <a:xfrm>
            <a:off x="304800" y="0"/>
            <a:ext cx="11277600" cy="762000"/>
          </a:xfrm>
        </p:spPr>
        <p:txBody>
          <a:bodyPr anchor="ctr"/>
          <a:lstStyle>
            <a:lvl1pPr>
              <a:defRPr sz="3200"/>
            </a:lvl1pPr>
          </a:lstStyle>
          <a:p>
            <a:r>
              <a:rPr lang="ko-KR" altLang="en-US"/>
              <a:t>마스터 제목 스타일 편집</a:t>
            </a:r>
            <a:endParaRPr lang="en-US"/>
          </a:p>
        </p:txBody>
      </p:sp>
      <p:sp>
        <p:nvSpPr>
          <p:cNvPr id="4" name="Content Placeholder 2">
            <a:extLst>
              <a:ext uri="{FF2B5EF4-FFF2-40B4-BE49-F238E27FC236}">
                <a16:creationId xmlns:a16="http://schemas.microsoft.com/office/drawing/2014/main" id="{38C6936E-D099-1BE8-8BB3-AAFCF768FD35}"/>
              </a:ext>
            </a:extLst>
          </p:cNvPr>
          <p:cNvSpPr>
            <a:spLocks noGrp="1"/>
          </p:cNvSpPr>
          <p:nvPr>
            <p:ph idx="10"/>
          </p:nvPr>
        </p:nvSpPr>
        <p:spPr>
          <a:xfrm>
            <a:off x="304800" y="1038225"/>
            <a:ext cx="11277600" cy="5438775"/>
          </a:xfrm>
        </p:spPr>
        <p:txBody>
          <a:bodyPr/>
          <a:lstStyle>
            <a:lvl1pPr marL="432000" indent="-432000">
              <a:spcBef>
                <a:spcPts val="0"/>
              </a:spcBef>
              <a:spcAft>
                <a:spcPts val="600"/>
              </a:spcAft>
              <a:buClrTx/>
              <a:buSzPct val="100000"/>
              <a:buFont typeface="Wingdings" panose="05000000000000000000" pitchFamily="2" charset="2"/>
              <a:buChar char="v"/>
              <a:defRPr sz="2400"/>
            </a:lvl1pPr>
            <a:lvl2pPr marL="720000" indent="-252000">
              <a:spcBef>
                <a:spcPts val="0"/>
              </a:spcBef>
              <a:spcAft>
                <a:spcPts val="600"/>
              </a:spcAft>
              <a:buClrTx/>
              <a:buSzPct val="100000"/>
              <a:buFont typeface="Wingdings" panose="05000000000000000000" pitchFamily="2" charset="2"/>
              <a:buChar char="§"/>
              <a:defRPr lang="ko-KR" altLang="en-US" sz="2000" dirty="0" smtClean="0">
                <a:solidFill>
                  <a:schemeClr val="tx1"/>
                </a:solidFill>
                <a:latin typeface="+mn-lt"/>
                <a:cs typeface="+mn-cs"/>
              </a:defRPr>
            </a:lvl2pPr>
            <a:lvl3pPr marL="1080000" indent="-324000">
              <a:spcAft>
                <a:spcPts val="600"/>
              </a:spcAft>
              <a:buClrTx/>
              <a:buSzPct val="100000"/>
              <a:buFont typeface="Arial" panose="020B0604020202020204" pitchFamily="34" charset="0"/>
              <a:buChar char="•"/>
              <a:defRPr sz="1800"/>
            </a:lvl3pPr>
            <a:lvl4pPr marL="1200150" indent="-171450">
              <a:buClrTx/>
              <a:buFont typeface="Arial" panose="020B0604020202020204" pitchFamily="34" charset="0"/>
              <a:buChar char="•"/>
              <a:defRPr sz="1200"/>
            </a:lvl4pPr>
            <a:lvl5pPr marL="1543050" indent="-171450">
              <a:buClrTx/>
              <a:buFont typeface="Courier New" panose="02070309020205020404" pitchFamily="49" charset="0"/>
              <a:buChar char="o"/>
              <a:defRPr sz="1050"/>
            </a:lvl5pPr>
          </a:lstStyle>
          <a:p>
            <a:pPr lvl="0"/>
            <a:r>
              <a:rPr lang="ko-KR" altLang="en-US"/>
              <a:t>마스터 텍스트 스타일을 편집하려면 클릭</a:t>
            </a:r>
          </a:p>
          <a:p>
            <a:pPr lvl="1"/>
            <a:r>
              <a:rPr lang="ko-KR" altLang="en-US"/>
              <a:t>두 번째 수준</a:t>
            </a:r>
            <a:endParaRPr lang="en-US" altLang="ko-KR"/>
          </a:p>
          <a:p>
            <a:pPr lvl="2"/>
            <a:r>
              <a:rPr lang="ko-KR" altLang="en-US"/>
              <a:t>세 번째 수준</a:t>
            </a:r>
          </a:p>
        </p:txBody>
      </p:sp>
    </p:spTree>
    <p:extLst>
      <p:ext uri="{BB962C8B-B14F-4D97-AF65-F5344CB8AC3E}">
        <p14:creationId xmlns:p14="http://schemas.microsoft.com/office/powerpoint/2010/main" val="112201020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2">
    <p:spTree>
      <p:nvGrpSpPr>
        <p:cNvPr id="1" name=""/>
        <p:cNvGrpSpPr/>
        <p:nvPr/>
      </p:nvGrpSpPr>
      <p:grpSpPr>
        <a:xfrm>
          <a:off x="0" y="0"/>
          <a:ext cx="0" cy="0"/>
          <a:chOff x="0" y="0"/>
          <a:chExt cx="0" cy="0"/>
        </a:xfrm>
      </p:grpSpPr>
      <p:sp>
        <p:nvSpPr>
          <p:cNvPr id="2" name="Title 1"/>
          <p:cNvSpPr>
            <a:spLocks noGrp="1"/>
          </p:cNvSpPr>
          <p:nvPr>
            <p:ph type="title"/>
          </p:nvPr>
        </p:nvSpPr>
        <p:spPr>
          <a:xfrm>
            <a:off x="304800" y="0"/>
            <a:ext cx="11277600" cy="762000"/>
          </a:xfrm>
        </p:spPr>
        <p:txBody>
          <a:bodyPr anchor="ctr"/>
          <a:lstStyle>
            <a:lvl1pPr>
              <a:defRPr sz="3200"/>
            </a:lvl1pPr>
          </a:lstStyle>
          <a:p>
            <a:r>
              <a:rPr lang="ko-KR" altLang="en-US"/>
              <a:t>마스터 제목 스타일 편집</a:t>
            </a:r>
            <a:endParaRPr lang="en-US"/>
          </a:p>
        </p:txBody>
      </p:sp>
      <p:sp>
        <p:nvSpPr>
          <p:cNvPr id="6" name="Content Placeholder 2">
            <a:extLst>
              <a:ext uri="{FF2B5EF4-FFF2-40B4-BE49-F238E27FC236}">
                <a16:creationId xmlns:a16="http://schemas.microsoft.com/office/drawing/2014/main" id="{AAA6B0B8-599D-92DF-18BE-0154789C5094}"/>
              </a:ext>
            </a:extLst>
          </p:cNvPr>
          <p:cNvSpPr>
            <a:spLocks noGrp="1"/>
          </p:cNvSpPr>
          <p:nvPr>
            <p:ph idx="1"/>
          </p:nvPr>
        </p:nvSpPr>
        <p:spPr>
          <a:xfrm>
            <a:off x="304800" y="5279366"/>
            <a:ext cx="11277600" cy="1197634"/>
          </a:xfrm>
        </p:spPr>
        <p:txBody>
          <a:bodyPr/>
          <a:lstStyle>
            <a:lvl1pPr marL="432000" indent="-432000">
              <a:spcBef>
                <a:spcPts val="0"/>
              </a:spcBef>
              <a:spcAft>
                <a:spcPts val="600"/>
              </a:spcAft>
              <a:buClrTx/>
              <a:buSzPct val="100000"/>
              <a:buFont typeface="Wingdings" panose="05000000000000000000" pitchFamily="2" charset="2"/>
              <a:buChar char="v"/>
              <a:defRPr sz="2400"/>
            </a:lvl1pPr>
            <a:lvl2pPr marL="720000" indent="-252000">
              <a:spcBef>
                <a:spcPts val="0"/>
              </a:spcBef>
              <a:spcAft>
                <a:spcPts val="600"/>
              </a:spcAft>
              <a:buClrTx/>
              <a:buSzPct val="100000"/>
              <a:buFont typeface="Wingdings" panose="05000000000000000000" pitchFamily="2" charset="2"/>
              <a:buChar char="§"/>
              <a:defRPr lang="ko-KR" altLang="en-US" sz="2000" dirty="0" smtClean="0">
                <a:solidFill>
                  <a:schemeClr val="tx1"/>
                </a:solidFill>
                <a:latin typeface="+mn-lt"/>
                <a:cs typeface="+mn-cs"/>
              </a:defRPr>
            </a:lvl2pPr>
            <a:lvl3pPr marL="1080000" indent="-324000">
              <a:spcAft>
                <a:spcPts val="600"/>
              </a:spcAft>
              <a:buClrTx/>
              <a:buSzPct val="100000"/>
              <a:buFont typeface="Arial" panose="020B0604020202020204" pitchFamily="34" charset="0"/>
              <a:buChar char="•"/>
              <a:defRPr sz="1800"/>
            </a:lvl3pPr>
            <a:lvl4pPr marL="1200150" indent="-171450">
              <a:buClrTx/>
              <a:buFont typeface="Arial" panose="020B0604020202020204" pitchFamily="34" charset="0"/>
              <a:buChar char="•"/>
              <a:defRPr sz="1200"/>
            </a:lvl4pPr>
            <a:lvl5pPr marL="1543050" indent="-171450">
              <a:buClrTx/>
              <a:buFont typeface="Courier New" panose="02070309020205020404" pitchFamily="49" charset="0"/>
              <a:buChar char="o"/>
              <a:defRPr sz="1050"/>
            </a:lvl5pPr>
          </a:lstStyle>
          <a:p>
            <a:pPr lvl="0"/>
            <a:r>
              <a:rPr lang="ko-KR" altLang="en-US"/>
              <a:t>마스터 텍스트 스타일을 편집하려면 클릭</a:t>
            </a:r>
          </a:p>
          <a:p>
            <a:pPr lvl="1"/>
            <a:r>
              <a:rPr lang="ko-KR" altLang="en-US"/>
              <a:t>두 번째 수준</a:t>
            </a:r>
            <a:endParaRPr lang="en-US" altLang="ko-KR"/>
          </a:p>
          <a:p>
            <a:pPr lvl="2"/>
            <a:r>
              <a:rPr lang="ko-KR" altLang="en-US"/>
              <a:t>세 번째 수준</a:t>
            </a:r>
          </a:p>
        </p:txBody>
      </p:sp>
    </p:spTree>
    <p:extLst>
      <p:ext uri="{BB962C8B-B14F-4D97-AF65-F5344CB8AC3E}">
        <p14:creationId xmlns:p14="http://schemas.microsoft.com/office/powerpoint/2010/main" val="30497197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1_content_2">
    <p:spTree>
      <p:nvGrpSpPr>
        <p:cNvPr id="1" name=""/>
        <p:cNvGrpSpPr/>
        <p:nvPr/>
      </p:nvGrpSpPr>
      <p:grpSpPr>
        <a:xfrm>
          <a:off x="0" y="0"/>
          <a:ext cx="0" cy="0"/>
          <a:chOff x="0" y="0"/>
          <a:chExt cx="0" cy="0"/>
        </a:xfrm>
      </p:grpSpPr>
      <p:sp>
        <p:nvSpPr>
          <p:cNvPr id="2" name="Title 1"/>
          <p:cNvSpPr>
            <a:spLocks noGrp="1"/>
          </p:cNvSpPr>
          <p:nvPr>
            <p:ph type="title"/>
          </p:nvPr>
        </p:nvSpPr>
        <p:spPr>
          <a:xfrm>
            <a:off x="304800" y="0"/>
            <a:ext cx="11277600" cy="762000"/>
          </a:xfrm>
        </p:spPr>
        <p:txBody>
          <a:bodyPr anchor="ctr"/>
          <a:lstStyle>
            <a:lvl1pPr>
              <a:defRPr sz="3200"/>
            </a:lvl1pPr>
          </a:lstStyle>
          <a:p>
            <a:r>
              <a:rPr lang="ko-KR" altLang="en-US"/>
              <a:t>마스터 제목 스타일 편집</a:t>
            </a:r>
            <a:endParaRPr lang="en-US"/>
          </a:p>
        </p:txBody>
      </p:sp>
      <p:sp>
        <p:nvSpPr>
          <p:cNvPr id="6" name="Content Placeholder 2">
            <a:extLst>
              <a:ext uri="{FF2B5EF4-FFF2-40B4-BE49-F238E27FC236}">
                <a16:creationId xmlns:a16="http://schemas.microsoft.com/office/drawing/2014/main" id="{AAA6B0B8-599D-92DF-18BE-0154789C5094}"/>
              </a:ext>
            </a:extLst>
          </p:cNvPr>
          <p:cNvSpPr>
            <a:spLocks noGrp="1"/>
          </p:cNvSpPr>
          <p:nvPr>
            <p:ph idx="1" hasCustomPrompt="1"/>
          </p:nvPr>
        </p:nvSpPr>
        <p:spPr>
          <a:xfrm>
            <a:off x="304800" y="5279366"/>
            <a:ext cx="11277600" cy="1197634"/>
          </a:xfrm>
        </p:spPr>
        <p:txBody>
          <a:bodyPr/>
          <a:lstStyle>
            <a:lvl1pPr marL="432000" indent="-432000">
              <a:spcBef>
                <a:spcPts val="0"/>
              </a:spcBef>
              <a:spcAft>
                <a:spcPts val="600"/>
              </a:spcAft>
              <a:buClrTx/>
              <a:buSzPct val="100000"/>
              <a:buFont typeface="Wingdings" panose="05000000000000000000" pitchFamily="2" charset="2"/>
              <a:buChar char="§"/>
              <a:defRPr sz="2000"/>
            </a:lvl1pPr>
            <a:lvl2pPr marL="720000" indent="-252000">
              <a:spcBef>
                <a:spcPts val="0"/>
              </a:spcBef>
              <a:spcAft>
                <a:spcPts val="600"/>
              </a:spcAft>
              <a:buClrTx/>
              <a:buSzPct val="100000"/>
              <a:buFont typeface="Arial" panose="020B0604020202020204" pitchFamily="34" charset="0"/>
              <a:buChar char="•"/>
              <a:defRPr lang="ko-KR" altLang="en-US" sz="1800" dirty="0" smtClean="0">
                <a:solidFill>
                  <a:schemeClr val="tx1"/>
                </a:solidFill>
                <a:latin typeface="+mn-lt"/>
                <a:cs typeface="+mn-cs"/>
              </a:defRPr>
            </a:lvl2pPr>
            <a:lvl3pPr marL="1080000" indent="-324000">
              <a:spcAft>
                <a:spcPts val="600"/>
              </a:spcAft>
              <a:buClrTx/>
              <a:buSzPct val="100000"/>
              <a:buFont typeface="Arial" panose="020B0604020202020204" pitchFamily="34" charset="0"/>
              <a:buChar char="•"/>
              <a:defRPr sz="1800"/>
            </a:lvl3pPr>
            <a:lvl4pPr marL="1200150" indent="-171450">
              <a:buClrTx/>
              <a:buFont typeface="Arial" panose="020B0604020202020204" pitchFamily="34" charset="0"/>
              <a:buChar char="•"/>
              <a:defRPr sz="1200"/>
            </a:lvl4pPr>
            <a:lvl5pPr marL="1543050" indent="-171450">
              <a:buClrTx/>
              <a:buFont typeface="Courier New" panose="02070309020205020404" pitchFamily="49" charset="0"/>
              <a:buChar char="o"/>
              <a:defRPr sz="1050"/>
            </a:lvl5pPr>
          </a:lstStyle>
          <a:p>
            <a:pPr lvl="0"/>
            <a:r>
              <a:rPr lang="ko-KR" altLang="en-US"/>
              <a:t>두 번째 수준</a:t>
            </a:r>
            <a:endParaRPr lang="en-US" altLang="ko-KR"/>
          </a:p>
          <a:p>
            <a:pPr lvl="1"/>
            <a:r>
              <a:rPr lang="ko-KR" altLang="en-US"/>
              <a:t>세 번째 수준</a:t>
            </a:r>
          </a:p>
        </p:txBody>
      </p:sp>
      <p:sp>
        <p:nvSpPr>
          <p:cNvPr id="3" name="Content Placeholder 2">
            <a:extLst>
              <a:ext uri="{FF2B5EF4-FFF2-40B4-BE49-F238E27FC236}">
                <a16:creationId xmlns:a16="http://schemas.microsoft.com/office/drawing/2014/main" id="{7287424F-3297-D95B-C851-77D5FA265A69}"/>
              </a:ext>
            </a:extLst>
          </p:cNvPr>
          <p:cNvSpPr>
            <a:spLocks noGrp="1"/>
          </p:cNvSpPr>
          <p:nvPr>
            <p:ph idx="10"/>
          </p:nvPr>
        </p:nvSpPr>
        <p:spPr>
          <a:xfrm>
            <a:off x="304800" y="964541"/>
            <a:ext cx="11277600" cy="445159"/>
          </a:xfrm>
        </p:spPr>
        <p:txBody>
          <a:bodyPr/>
          <a:lstStyle>
            <a:lvl1pPr marL="432000" indent="-432000">
              <a:spcBef>
                <a:spcPts val="0"/>
              </a:spcBef>
              <a:spcAft>
                <a:spcPts val="600"/>
              </a:spcAft>
              <a:buClrTx/>
              <a:buSzPct val="100000"/>
              <a:buFont typeface="Wingdings" panose="05000000000000000000" pitchFamily="2" charset="2"/>
              <a:buChar char="v"/>
              <a:defRPr sz="2400"/>
            </a:lvl1pPr>
            <a:lvl2pPr marL="720000" indent="-252000">
              <a:spcBef>
                <a:spcPts val="0"/>
              </a:spcBef>
              <a:spcAft>
                <a:spcPts val="600"/>
              </a:spcAft>
              <a:buClrTx/>
              <a:buSzPct val="100000"/>
              <a:buFont typeface="Wingdings" panose="05000000000000000000" pitchFamily="2" charset="2"/>
              <a:buChar char="§"/>
              <a:defRPr lang="ko-KR" altLang="en-US" sz="2000" dirty="0" smtClean="0">
                <a:solidFill>
                  <a:schemeClr val="tx1"/>
                </a:solidFill>
                <a:latin typeface="+mn-lt"/>
                <a:cs typeface="+mn-cs"/>
              </a:defRPr>
            </a:lvl2pPr>
            <a:lvl3pPr marL="1080000" indent="-324000">
              <a:spcAft>
                <a:spcPts val="600"/>
              </a:spcAft>
              <a:buClrTx/>
              <a:buSzPct val="100000"/>
              <a:buFont typeface="Arial" panose="020B0604020202020204" pitchFamily="34" charset="0"/>
              <a:buChar char="•"/>
              <a:defRPr sz="1800"/>
            </a:lvl3pPr>
            <a:lvl4pPr marL="1200150" indent="-171450">
              <a:buClrTx/>
              <a:buFont typeface="Arial" panose="020B0604020202020204" pitchFamily="34" charset="0"/>
              <a:buChar char="•"/>
              <a:defRPr sz="1200"/>
            </a:lvl4pPr>
            <a:lvl5pPr marL="1543050" indent="-171450">
              <a:buClrTx/>
              <a:buFont typeface="Courier New" panose="02070309020205020404" pitchFamily="49" charset="0"/>
              <a:buChar char="o"/>
              <a:defRPr sz="1050"/>
            </a:lvl5pPr>
          </a:lstStyle>
          <a:p>
            <a:pPr lvl="0"/>
            <a:r>
              <a:rPr lang="ko-KR" altLang="en-US"/>
              <a:t>마스터 텍스트 스타일을 편집하려면 클릭</a:t>
            </a:r>
          </a:p>
        </p:txBody>
      </p:sp>
    </p:spTree>
    <p:extLst>
      <p:ext uri="{BB962C8B-B14F-4D97-AF65-F5344CB8AC3E}">
        <p14:creationId xmlns:p14="http://schemas.microsoft.com/office/powerpoint/2010/main" val="12702699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content_4">
    <p:spTree>
      <p:nvGrpSpPr>
        <p:cNvPr id="1" name=""/>
        <p:cNvGrpSpPr/>
        <p:nvPr/>
      </p:nvGrpSpPr>
      <p:grpSpPr>
        <a:xfrm>
          <a:off x="0" y="0"/>
          <a:ext cx="0" cy="0"/>
          <a:chOff x="0" y="0"/>
          <a:chExt cx="0" cy="0"/>
        </a:xfrm>
      </p:grpSpPr>
      <p:sp>
        <p:nvSpPr>
          <p:cNvPr id="2" name="Title 1"/>
          <p:cNvSpPr>
            <a:spLocks noGrp="1"/>
          </p:cNvSpPr>
          <p:nvPr>
            <p:ph type="title"/>
          </p:nvPr>
        </p:nvSpPr>
        <p:spPr>
          <a:xfrm>
            <a:off x="310551" y="0"/>
            <a:ext cx="11024559" cy="762000"/>
          </a:xfrm>
        </p:spPr>
        <p:txBody>
          <a:bodyPr/>
          <a:lstStyle>
            <a:lvl1pPr>
              <a:defRPr sz="3200"/>
            </a:lvl1pPr>
          </a:lstStyle>
          <a:p>
            <a:r>
              <a:rPr lang="ko-KR" altLang="en-US"/>
              <a:t>마스터 제목 스타일 편집</a:t>
            </a:r>
            <a:endParaRPr lang="en-US"/>
          </a:p>
        </p:txBody>
      </p:sp>
    </p:spTree>
    <p:extLst>
      <p:ext uri="{BB962C8B-B14F-4D97-AF65-F5344CB8AC3E}">
        <p14:creationId xmlns:p14="http://schemas.microsoft.com/office/powerpoint/2010/main" val="32275966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1_content_4">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6A3150C2-20D0-A45F-5462-61690D256719}"/>
              </a:ext>
            </a:extLst>
          </p:cNvPr>
          <p:cNvSpPr>
            <a:spLocks noGrp="1"/>
          </p:cNvSpPr>
          <p:nvPr>
            <p:ph sz="quarter" idx="10"/>
          </p:nvPr>
        </p:nvSpPr>
        <p:spPr>
          <a:xfrm>
            <a:off x="3551239" y="4124506"/>
            <a:ext cx="5089525" cy="507881"/>
          </a:xfrm>
        </p:spPr>
        <p:txBody>
          <a:bodyPr/>
          <a:lstStyle>
            <a:lvl1pPr marL="0" indent="0" algn="ctr">
              <a:buNone/>
              <a:defRPr sz="2100"/>
            </a:lvl1pPr>
          </a:lstStyle>
          <a:p>
            <a:pPr lvl="0"/>
            <a:r>
              <a:rPr lang="ko-KR" altLang="en-US"/>
              <a:t>마스터 텍스트 스타일을 편집하려면 클릭</a:t>
            </a:r>
          </a:p>
        </p:txBody>
      </p:sp>
      <p:sp>
        <p:nvSpPr>
          <p:cNvPr id="6" name="TextBox 5">
            <a:extLst>
              <a:ext uri="{FF2B5EF4-FFF2-40B4-BE49-F238E27FC236}">
                <a16:creationId xmlns:a16="http://schemas.microsoft.com/office/drawing/2014/main" id="{D28ADDEF-87C0-B90A-6505-6A3A384B7EE8}"/>
              </a:ext>
            </a:extLst>
          </p:cNvPr>
          <p:cNvSpPr txBox="1"/>
          <p:nvPr/>
        </p:nvSpPr>
        <p:spPr>
          <a:xfrm>
            <a:off x="3623209" y="2313750"/>
            <a:ext cx="4945585" cy="1419619"/>
          </a:xfrm>
          <a:prstGeom prst="rect">
            <a:avLst/>
          </a:prstGeom>
          <a:noFill/>
        </p:spPr>
        <p:txBody>
          <a:bodyPr wrap="none" rtlCol="0" anchor="ctr">
            <a:spAutoFit/>
          </a:bodyPr>
          <a:lstStyle/>
          <a:p>
            <a:pPr algn="ctr"/>
            <a:r>
              <a:rPr lang="en-US" altLang="zh-CN" sz="8625"/>
              <a:t>Thank you</a:t>
            </a:r>
            <a:endParaRPr lang="ko-KR" altLang="en-US" sz="8625"/>
          </a:p>
        </p:txBody>
      </p:sp>
    </p:spTree>
    <p:extLst>
      <p:ext uri="{BB962C8B-B14F-4D97-AF65-F5344CB8AC3E}">
        <p14:creationId xmlns:p14="http://schemas.microsoft.com/office/powerpoint/2010/main" val="194193463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304800" y="0"/>
            <a:ext cx="112776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ko-KR" altLang="en-US"/>
              <a:t>마스터 제목 스타일 편집</a:t>
            </a:r>
            <a:endParaRPr lang="en-US" altLang="zh-CN"/>
          </a:p>
        </p:txBody>
      </p:sp>
      <p:sp>
        <p:nvSpPr>
          <p:cNvPr id="1027" name="Rectangle 3"/>
          <p:cNvSpPr>
            <a:spLocks noGrp="1" noChangeArrowheads="1"/>
          </p:cNvSpPr>
          <p:nvPr>
            <p:ph type="body" idx="1"/>
          </p:nvPr>
        </p:nvSpPr>
        <p:spPr bwMode="auto">
          <a:xfrm>
            <a:off x="304800" y="914400"/>
            <a:ext cx="11277600" cy="556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p:txBody>
      </p:sp>
      <p:sp>
        <p:nvSpPr>
          <p:cNvPr id="32773" name="Rectangle 5"/>
          <p:cNvSpPr>
            <a:spLocks noGrp="1" noChangeArrowheads="1"/>
          </p:cNvSpPr>
          <p:nvPr>
            <p:ph type="ftr" sz="quarter" idx="3"/>
          </p:nvPr>
        </p:nvSpPr>
        <p:spPr bwMode="auto">
          <a:xfrm>
            <a:off x="4165600" y="6248400"/>
            <a:ext cx="3860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750">
                <a:latin typeface="Verdana" pitchFamily="34" charset="0"/>
                <a:ea typeface="宋体" pitchFamily="2" charset="-122"/>
              </a:defRPr>
            </a:lvl1pPr>
          </a:lstStyle>
          <a:p>
            <a:endParaRPr lang="ko-KR" altLang="en-US"/>
          </a:p>
        </p:txBody>
      </p:sp>
      <p:sp>
        <p:nvSpPr>
          <p:cNvPr id="1030" name="Rectangle 12"/>
          <p:cNvSpPr>
            <a:spLocks noChangeArrowheads="1"/>
          </p:cNvSpPr>
          <p:nvPr/>
        </p:nvSpPr>
        <p:spPr bwMode="auto">
          <a:xfrm>
            <a:off x="304800" y="762000"/>
            <a:ext cx="10058400" cy="152400"/>
          </a:xfrm>
          <a:prstGeom prst="rect">
            <a:avLst/>
          </a:prstGeom>
          <a:gradFill rotWithShape="0">
            <a:gsLst>
              <a:gs pos="0">
                <a:srgbClr val="297F3D">
                  <a:alpha val="99001"/>
                </a:srgbClr>
              </a:gs>
              <a:gs pos="100000">
                <a:srgbClr val="FFFF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sz="1350">
              <a:solidFill>
                <a:srgbClr val="000000"/>
              </a:solidFill>
            </a:endParaRPr>
          </a:p>
        </p:txBody>
      </p:sp>
      <p:sp>
        <p:nvSpPr>
          <p:cNvPr id="3" name="TextBox 2">
            <a:extLst>
              <a:ext uri="{FF2B5EF4-FFF2-40B4-BE49-F238E27FC236}">
                <a16:creationId xmlns:a16="http://schemas.microsoft.com/office/drawing/2014/main" id="{047E8E0A-D232-4C57-7AD9-EBC41A1AA7E2}"/>
              </a:ext>
            </a:extLst>
          </p:cNvPr>
          <p:cNvSpPr txBox="1"/>
          <p:nvPr/>
        </p:nvSpPr>
        <p:spPr>
          <a:xfrm>
            <a:off x="11582400" y="6373649"/>
            <a:ext cx="386644" cy="300082"/>
          </a:xfrm>
          <a:prstGeom prst="rect">
            <a:avLst/>
          </a:prstGeom>
          <a:noFill/>
        </p:spPr>
        <p:txBody>
          <a:bodyPr wrap="none" rtlCol="0">
            <a:spAutoFit/>
          </a:bodyPr>
          <a:lstStyle/>
          <a:p>
            <a:fld id="{B6F15528-21DE-4FAA-801E-634DDDAF4B2B}" type="slidenum">
              <a:rPr lang="en-US" altLang="ko-KR" sz="1350" smtClean="0">
                <a:solidFill>
                  <a:srgbClr val="000000"/>
                </a:solidFill>
              </a:rPr>
              <a:pPr/>
              <a:t>‹#›</a:t>
            </a:fld>
            <a:endParaRPr lang="ko-KR" altLang="en-US" sz="1350"/>
          </a:p>
        </p:txBody>
      </p:sp>
    </p:spTree>
    <p:extLst>
      <p:ext uri="{BB962C8B-B14F-4D97-AF65-F5344CB8AC3E}">
        <p14:creationId xmlns:p14="http://schemas.microsoft.com/office/powerpoint/2010/main" val="63149617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txStyles>
    <p:titleStyle>
      <a:lvl1pPr algn="l" rtl="0" eaLnBrk="1" fontAlgn="base" latinLnBrk="1" hangingPunct="1">
        <a:spcBef>
          <a:spcPct val="0"/>
        </a:spcBef>
        <a:spcAft>
          <a:spcPct val="0"/>
        </a:spcAft>
        <a:defRPr sz="2800">
          <a:solidFill>
            <a:schemeClr val="tx1"/>
          </a:solidFill>
          <a:latin typeface="+mj-lt"/>
          <a:ea typeface="+mj-ea"/>
          <a:cs typeface="+mj-cs"/>
        </a:defRPr>
      </a:lvl1pPr>
      <a:lvl2pPr algn="l" rtl="0" eaLnBrk="1" fontAlgn="base" latinLnBrk="1" hangingPunct="1">
        <a:spcBef>
          <a:spcPct val="0"/>
        </a:spcBef>
        <a:spcAft>
          <a:spcPct val="0"/>
        </a:spcAft>
        <a:defRPr sz="2400">
          <a:solidFill>
            <a:schemeClr val="tx1"/>
          </a:solidFill>
          <a:latin typeface="Times New Roman" pitchFamily="18" charset="0"/>
          <a:cs typeface="Arial" charset="0"/>
        </a:defRPr>
      </a:lvl2pPr>
      <a:lvl3pPr algn="l" rtl="0" eaLnBrk="1" fontAlgn="base" latinLnBrk="1" hangingPunct="1">
        <a:spcBef>
          <a:spcPct val="0"/>
        </a:spcBef>
        <a:spcAft>
          <a:spcPct val="0"/>
        </a:spcAft>
        <a:defRPr sz="2400">
          <a:solidFill>
            <a:schemeClr val="tx1"/>
          </a:solidFill>
          <a:latin typeface="Times New Roman" pitchFamily="18" charset="0"/>
          <a:cs typeface="Arial" charset="0"/>
        </a:defRPr>
      </a:lvl3pPr>
      <a:lvl4pPr algn="l" rtl="0" eaLnBrk="1" fontAlgn="base" latinLnBrk="1" hangingPunct="1">
        <a:spcBef>
          <a:spcPct val="0"/>
        </a:spcBef>
        <a:spcAft>
          <a:spcPct val="0"/>
        </a:spcAft>
        <a:defRPr sz="2400">
          <a:solidFill>
            <a:schemeClr val="tx1"/>
          </a:solidFill>
          <a:latin typeface="Times New Roman" pitchFamily="18" charset="0"/>
          <a:cs typeface="Arial" charset="0"/>
        </a:defRPr>
      </a:lvl4pPr>
      <a:lvl5pPr algn="l" rtl="0" eaLnBrk="1" fontAlgn="base" latinLnBrk="1" hangingPunct="1">
        <a:spcBef>
          <a:spcPct val="0"/>
        </a:spcBef>
        <a:spcAft>
          <a:spcPct val="0"/>
        </a:spcAft>
        <a:defRPr sz="2400">
          <a:solidFill>
            <a:schemeClr val="tx1"/>
          </a:solidFill>
          <a:latin typeface="Times New Roman" pitchFamily="18" charset="0"/>
          <a:cs typeface="Arial" charset="0"/>
        </a:defRPr>
      </a:lvl5pPr>
      <a:lvl6pPr marL="342900" algn="l" rtl="0" eaLnBrk="1" fontAlgn="base" latinLnBrk="1" hangingPunct="1">
        <a:spcBef>
          <a:spcPct val="0"/>
        </a:spcBef>
        <a:spcAft>
          <a:spcPct val="0"/>
        </a:spcAft>
        <a:defRPr sz="2400">
          <a:solidFill>
            <a:schemeClr val="tx1"/>
          </a:solidFill>
          <a:latin typeface="Times New Roman" pitchFamily="18" charset="0"/>
          <a:cs typeface="Arial" charset="0"/>
        </a:defRPr>
      </a:lvl6pPr>
      <a:lvl7pPr marL="685800" algn="l" rtl="0" eaLnBrk="1" fontAlgn="base" latinLnBrk="1" hangingPunct="1">
        <a:spcBef>
          <a:spcPct val="0"/>
        </a:spcBef>
        <a:spcAft>
          <a:spcPct val="0"/>
        </a:spcAft>
        <a:defRPr sz="2400">
          <a:solidFill>
            <a:schemeClr val="tx1"/>
          </a:solidFill>
          <a:latin typeface="Times New Roman" pitchFamily="18" charset="0"/>
          <a:cs typeface="Arial" charset="0"/>
        </a:defRPr>
      </a:lvl7pPr>
      <a:lvl8pPr marL="1028700" algn="l" rtl="0" eaLnBrk="1" fontAlgn="base" latinLnBrk="1" hangingPunct="1">
        <a:spcBef>
          <a:spcPct val="0"/>
        </a:spcBef>
        <a:spcAft>
          <a:spcPct val="0"/>
        </a:spcAft>
        <a:defRPr sz="2400">
          <a:solidFill>
            <a:schemeClr val="tx1"/>
          </a:solidFill>
          <a:latin typeface="Times New Roman" pitchFamily="18" charset="0"/>
          <a:cs typeface="Arial" charset="0"/>
        </a:defRPr>
      </a:lvl8pPr>
      <a:lvl9pPr marL="1371600" algn="l" rtl="0" eaLnBrk="1" fontAlgn="base" latinLnBrk="1" hangingPunct="1">
        <a:spcBef>
          <a:spcPct val="0"/>
        </a:spcBef>
        <a:spcAft>
          <a:spcPct val="0"/>
        </a:spcAft>
        <a:defRPr sz="2400">
          <a:solidFill>
            <a:schemeClr val="tx1"/>
          </a:solidFill>
          <a:latin typeface="Times New Roman" pitchFamily="18" charset="0"/>
          <a:cs typeface="Arial" charset="0"/>
        </a:defRPr>
      </a:lvl9pPr>
    </p:titleStyle>
    <p:bodyStyle>
      <a:lvl1pPr marL="257175" indent="-257175" algn="l" rtl="0" eaLnBrk="1" fontAlgn="base" latinLnBrk="1" hangingPunct="1">
        <a:spcBef>
          <a:spcPts val="0"/>
        </a:spcBef>
        <a:spcAft>
          <a:spcPts val="450"/>
        </a:spcAft>
        <a:buClr>
          <a:schemeClr val="tx1"/>
        </a:buClr>
        <a:buSzPct val="75000"/>
        <a:buFont typeface="Times New Roman" pitchFamily="18" charset="0"/>
        <a:buChar char="●"/>
        <a:defRPr sz="1800">
          <a:solidFill>
            <a:schemeClr val="tx1"/>
          </a:solidFill>
          <a:latin typeface="+mn-lt"/>
          <a:ea typeface="+mn-ea"/>
          <a:cs typeface="+mn-cs"/>
        </a:defRPr>
      </a:lvl1pPr>
      <a:lvl2pPr marL="480060" indent="-205740" algn="l" rtl="0" eaLnBrk="1" fontAlgn="base" latinLnBrk="1" hangingPunct="1">
        <a:spcBef>
          <a:spcPts val="0"/>
        </a:spcBef>
        <a:spcAft>
          <a:spcPts val="450"/>
        </a:spcAft>
        <a:buClrTx/>
        <a:buSzPct val="75000"/>
        <a:buFont typeface="Arial" charset="0"/>
        <a:buChar char="–"/>
        <a:defRPr lang="en-US" altLang="zh-CN" sz="1650" dirty="0" smtClean="0">
          <a:solidFill>
            <a:schemeClr val="tx1"/>
          </a:solidFill>
          <a:latin typeface="+mn-lt"/>
          <a:cs typeface="+mn-cs"/>
        </a:defRPr>
      </a:lvl2pPr>
      <a:lvl3pPr marL="754380" indent="-205740" algn="l" rtl="0" eaLnBrk="1" fontAlgn="base" latinLnBrk="1" hangingPunct="1">
        <a:spcBef>
          <a:spcPts val="0"/>
        </a:spcBef>
        <a:spcAft>
          <a:spcPts val="450"/>
        </a:spcAft>
        <a:buClrTx/>
        <a:buSzPct val="65000"/>
        <a:buFont typeface="Wingdings" pitchFamily="2" charset="2"/>
        <a:buChar char="§"/>
        <a:defRPr lang="en-US" altLang="zh-CN" sz="1500" dirty="0">
          <a:solidFill>
            <a:schemeClr val="tx1"/>
          </a:solidFill>
          <a:latin typeface="+mn-lt"/>
          <a:cs typeface="+mn-cs"/>
        </a:defRPr>
      </a:lvl3pPr>
      <a:lvl4pPr marL="1200150" indent="-171450" algn="l" rtl="0" eaLnBrk="1" fontAlgn="base" latinLnBrk="1" hangingPunct="1">
        <a:spcBef>
          <a:spcPct val="20000"/>
        </a:spcBef>
        <a:spcAft>
          <a:spcPct val="0"/>
        </a:spcAft>
        <a:buClr>
          <a:schemeClr val="bg2"/>
        </a:buClr>
        <a:buFont typeface="Arial" panose="020B0604020202020204" pitchFamily="34" charset="0"/>
        <a:buChar char="•"/>
        <a:defRPr sz="1200">
          <a:solidFill>
            <a:schemeClr val="tx1"/>
          </a:solidFill>
          <a:latin typeface="+mn-lt"/>
          <a:cs typeface="+mn-cs"/>
        </a:defRPr>
      </a:lvl4pPr>
      <a:lvl5pPr marL="1543050" indent="-171450" algn="l" rtl="0" eaLnBrk="1" fontAlgn="base" latinLnBrk="1" hangingPunct="1">
        <a:spcBef>
          <a:spcPct val="20000"/>
        </a:spcBef>
        <a:spcAft>
          <a:spcPct val="0"/>
        </a:spcAft>
        <a:buClr>
          <a:schemeClr val="tx2"/>
        </a:buClr>
        <a:buSzPct val="80000"/>
        <a:buFont typeface="Wingdings" pitchFamily="2" charset="2"/>
        <a:buChar char="§"/>
        <a:defRPr sz="1350">
          <a:solidFill>
            <a:schemeClr val="tx1"/>
          </a:solidFill>
          <a:latin typeface="+mn-lt"/>
          <a:cs typeface="+mn-cs"/>
        </a:defRPr>
      </a:lvl5pPr>
      <a:lvl6pPr marL="1885950" indent="-171450" algn="l" rtl="0" eaLnBrk="1" fontAlgn="base" latinLnBrk="1"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228850" indent="-171450" algn="l" rtl="0" eaLnBrk="1" fontAlgn="base" latinLnBrk="1"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2571750" indent="-171450" algn="l" rtl="0" eaLnBrk="1" fontAlgn="base" latinLnBrk="1"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2914650" indent="-171450" algn="l" rtl="0" eaLnBrk="1" fontAlgn="base" latinLnBrk="1"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p:bodyStyle>
    <p:otherStyle>
      <a:defPPr>
        <a:defRPr lang="en-US"/>
      </a:defPPr>
      <a:lvl1pPr marL="0" algn="l" defTabSz="685800" rtl="0" eaLnBrk="1" latinLnBrk="1" hangingPunct="1">
        <a:defRPr sz="1350" kern="1200">
          <a:solidFill>
            <a:schemeClr val="tx1"/>
          </a:solidFill>
          <a:latin typeface="+mn-lt"/>
          <a:ea typeface="+mn-ea"/>
          <a:cs typeface="+mn-cs"/>
        </a:defRPr>
      </a:lvl1pPr>
      <a:lvl2pPr marL="342900" algn="l" defTabSz="685800" rtl="0" eaLnBrk="1" latinLnBrk="1" hangingPunct="1">
        <a:defRPr sz="1350" kern="1200">
          <a:solidFill>
            <a:schemeClr val="tx1"/>
          </a:solidFill>
          <a:latin typeface="+mn-lt"/>
          <a:ea typeface="+mn-ea"/>
          <a:cs typeface="+mn-cs"/>
        </a:defRPr>
      </a:lvl2pPr>
      <a:lvl3pPr marL="685800" algn="l" defTabSz="685800" rtl="0" eaLnBrk="1" latinLnBrk="1" hangingPunct="1">
        <a:defRPr sz="1350" kern="1200">
          <a:solidFill>
            <a:schemeClr val="tx1"/>
          </a:solidFill>
          <a:latin typeface="+mn-lt"/>
          <a:ea typeface="+mn-ea"/>
          <a:cs typeface="+mn-cs"/>
        </a:defRPr>
      </a:lvl3pPr>
      <a:lvl4pPr marL="1028700" algn="l" defTabSz="685800" rtl="0" eaLnBrk="1" latinLnBrk="1" hangingPunct="1">
        <a:defRPr sz="1350" kern="1200">
          <a:solidFill>
            <a:schemeClr val="tx1"/>
          </a:solidFill>
          <a:latin typeface="+mn-lt"/>
          <a:ea typeface="+mn-ea"/>
          <a:cs typeface="+mn-cs"/>
        </a:defRPr>
      </a:lvl4pPr>
      <a:lvl5pPr marL="1371600" algn="l" defTabSz="685800" rtl="0" eaLnBrk="1" latinLnBrk="1" hangingPunct="1">
        <a:defRPr sz="1350" kern="1200">
          <a:solidFill>
            <a:schemeClr val="tx1"/>
          </a:solidFill>
          <a:latin typeface="+mn-lt"/>
          <a:ea typeface="+mn-ea"/>
          <a:cs typeface="+mn-cs"/>
        </a:defRPr>
      </a:lvl5pPr>
      <a:lvl6pPr marL="1714500" algn="l" defTabSz="685800" rtl="0" eaLnBrk="1" latinLnBrk="1" hangingPunct="1">
        <a:defRPr sz="1350" kern="1200">
          <a:solidFill>
            <a:schemeClr val="tx1"/>
          </a:solidFill>
          <a:latin typeface="+mn-lt"/>
          <a:ea typeface="+mn-ea"/>
          <a:cs typeface="+mn-cs"/>
        </a:defRPr>
      </a:lvl6pPr>
      <a:lvl7pPr marL="2057400" algn="l" defTabSz="685800" rtl="0" eaLnBrk="1" latinLnBrk="1" hangingPunct="1">
        <a:defRPr sz="1350" kern="1200">
          <a:solidFill>
            <a:schemeClr val="tx1"/>
          </a:solidFill>
          <a:latin typeface="+mn-lt"/>
          <a:ea typeface="+mn-ea"/>
          <a:cs typeface="+mn-cs"/>
        </a:defRPr>
      </a:lvl7pPr>
      <a:lvl8pPr marL="2400300" algn="l" defTabSz="685800" rtl="0" eaLnBrk="1" latinLnBrk="1" hangingPunct="1">
        <a:defRPr sz="1350" kern="1200">
          <a:solidFill>
            <a:schemeClr val="tx1"/>
          </a:solidFill>
          <a:latin typeface="+mn-lt"/>
          <a:ea typeface="+mn-ea"/>
          <a:cs typeface="+mn-cs"/>
        </a:defRPr>
      </a:lvl8pPr>
      <a:lvl9pPr marL="2743200" algn="l" defTabSz="685800" rtl="0" eaLnBrk="1" latinLnBrk="1"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image" Target="../media/image1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20.png"/><Relationship Id="rId6" Type="http://schemas.openxmlformats.org/officeDocument/2006/relationships/image" Target="../media/image2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image" Target="../media/image25.png"/><Relationship Id="rId4" Type="http://schemas.openxmlformats.org/officeDocument/2006/relationships/image" Target="../media/image26.png"/><Relationship Id="rId5" Type="http://schemas.openxmlformats.org/officeDocument/2006/relationships/image" Target="../media/image2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image" Target="../media/image28.png"/><Relationship Id="rId4" Type="http://schemas.openxmlformats.org/officeDocument/2006/relationships/image" Target="../media/image2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 Id="rId3" Type="http://schemas.openxmlformats.org/officeDocument/2006/relationships/image" Target="../media/image30.png"/><Relationship Id="rId4" Type="http://schemas.openxmlformats.org/officeDocument/2006/relationships/image" Target="../media/image31.png"/><Relationship Id="rId5" Type="http://schemas.openxmlformats.org/officeDocument/2006/relationships/image" Target="../media/image3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 Id="rId3" Type="http://schemas.openxmlformats.org/officeDocument/2006/relationships/image" Target="../media/image33.jpg"/><Relationship Id="rId4" Type="http://schemas.openxmlformats.org/officeDocument/2006/relationships/image" Target="../media/image34.jpg"/><Relationship Id="rId5" Type="http://schemas.openxmlformats.org/officeDocument/2006/relationships/image" Target="../media/image35.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161CA2A-44B7-9F04-6068-47D43FF3DC60}"/>
              </a:ext>
            </a:extLst>
          </p:cNvPr>
          <p:cNvSpPr>
            <a:spLocks noGrp="1"/>
          </p:cNvSpPr>
          <p:nvPr>
            <p:ph type="ctrTitle"/>
          </p:nvPr>
        </p:nvSpPr>
        <p:spPr>
          <a:xfrm>
            <a:off x="1118507" y="1016453"/>
            <a:ext cx="10882993" cy="1828800"/>
          </a:xfrm>
        </p:spPr>
        <p:txBody>
          <a:bodyPr/>
          <a:lstStyle/>
          <a:p>
            <a:pPr>
              <a:defRPr sz="3500" b="1">
                <a:solidFill>
                  <a:srgbClr val="000000"/>
                </a:solidFill>
                <a:latin typeface="Times New Roman"/>
              </a:defRPr>
            </a:pPr>
            <a:r>
              <a:t>Continuous Gate-State Model for IBIS Ku/Kd</a:t>
            </a:r>
          </a:p>
        </p:txBody>
      </p:sp>
      <p:sp>
        <p:nvSpPr>
          <p:cNvPr id="3" name="부제목 2">
            <a:extLst>
              <a:ext uri="{FF2B5EF4-FFF2-40B4-BE49-F238E27FC236}">
                <a16:creationId xmlns:a16="http://schemas.microsoft.com/office/drawing/2014/main" id="{D62CACD7-6A52-C28F-D2D0-4E8721229DAB}"/>
              </a:ext>
            </a:extLst>
          </p:cNvPr>
          <p:cNvSpPr>
            <a:spLocks noGrp="1"/>
          </p:cNvSpPr>
          <p:nvPr>
            <p:ph type="subTitle" idx="1"/>
          </p:nvPr>
        </p:nvSpPr>
        <p:spPr>
          <a:xfrm>
            <a:off x="1828800" y="5294671"/>
            <a:ext cx="8534400" cy="1563329"/>
          </a:xfrm>
        </p:spPr>
        <p:txBody>
          <a:bodyPr/>
          <a:lstStyle/>
          <a:p>
            <a:pPr algn="ctr">
              <a:defRPr sz="1600">
                <a:solidFill>
                  <a:srgbClr val="000000"/>
                </a:solidFill>
                <a:latin typeface="Times New Roman"/>
              </a:defRPr>
            </a:pPr>
            <a:r>
              <a:t>From handwritten RC-state derivation to runtime ngspice behavior</a:t>
            </a:r>
          </a:p>
          <a:p>
            <a:pPr algn="ctr">
              <a:defRPr sz="1600">
                <a:solidFill>
                  <a:srgbClr val="000000"/>
                </a:solidFill>
                <a:latin typeface="Times New Roman"/>
              </a:defRPr>
            </a:pPr>
            <a:r>
              <a:t>IBIS short-pulse study</a:t>
            </a:r>
          </a:p>
        </p:txBody>
      </p:sp>
    </p:spTree>
    <p:extLst>
      <p:ext uri="{BB962C8B-B14F-4D97-AF65-F5344CB8AC3E}">
        <p14:creationId xmlns:p14="http://schemas.microsoft.com/office/powerpoint/2010/main" val="66142218"/>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700" b="0">
                <a:solidFill>
                  <a:srgbClr val="000000"/>
                </a:solidFill>
                <a:latin typeface="Times New Roman"/>
              </a:defRPr>
            </a:pPr>
            <a:r>
              <a:t>1. The original replay loses continuity at a reversal</a:t>
            </a:r>
          </a:p>
        </p:txBody>
      </p:sp>
      <p:sp>
        <p:nvSpPr>
          <p:cNvPr id="3" name="TextBox 2"/>
          <p:cNvSpPr txBox="1"/>
          <p:nvPr/>
        </p:nvSpPr>
        <p:spPr>
          <a:xfrm>
            <a:off x="9372600" y="109728"/>
            <a:ext cx="2148840" cy="228600"/>
          </a:xfrm>
          <a:prstGeom prst="rect">
            <a:avLst/>
          </a:prstGeom>
          <a:noFill/>
        </p:spPr>
        <p:txBody>
          <a:bodyPr wrap="square" lIns="45720" rIns="45720" anchor="t">
            <a:spAutoFit/>
          </a:bodyPr>
          <a:lstStyle/>
          <a:p>
            <a:pPr algn="r">
              <a:defRPr sz="950" b="1">
                <a:solidFill>
                  <a:srgbClr val="666C68"/>
                </a:solidFill>
                <a:latin typeface="Aptos"/>
              </a:defRPr>
            </a:pPr>
            <a:r>
              <a:t>PROBLEM</a:t>
            </a:r>
          </a:p>
        </p:txBody>
      </p:sp>
      <p:pic>
        <p:nvPicPr>
          <p:cNvPr id="4" name="Picture 3" descr="01_replay_discontinuity.png"/>
          <p:cNvPicPr>
            <a:picLocks noChangeAspect="1"/>
          </p:cNvPicPr>
          <p:nvPr/>
        </p:nvPicPr>
        <p:blipFill>
          <a:blip r:embed="rId3"/>
          <a:stretch>
            <a:fillRect/>
          </a:stretch>
        </p:blipFill>
        <p:spPr>
          <a:xfrm>
            <a:off x="594360" y="1954426"/>
            <a:ext cx="6720840" cy="2446227"/>
          </a:xfrm>
          <a:prstGeom prst="rect">
            <a:avLst/>
          </a:prstGeom>
        </p:spPr>
      </p:pic>
      <p:pic>
        <p:nvPicPr>
          <p:cNvPr id="5" name="Picture 4" descr="Equation: K(t_{\mathrm{rev}}^- )\;\neq\;K_{\mathrm{opposite}}(0)"/>
          <p:cNvPicPr>
            <a:picLocks noChangeAspect="1"/>
          </p:cNvPicPr>
          <p:nvPr/>
        </p:nvPicPr>
        <p:blipFill>
          <a:blip r:embed="rId4"/>
          <a:stretch>
            <a:fillRect/>
          </a:stretch>
        </p:blipFill>
        <p:spPr>
          <a:xfrm>
            <a:off x="7452360" y="1511319"/>
            <a:ext cx="3931920" cy="452081"/>
          </a:xfrm>
          <a:prstGeom prst="rect">
            <a:avLst/>
          </a:prstGeom>
        </p:spPr>
      </p:pic>
      <p:sp>
        <p:nvSpPr>
          <p:cNvPr id="6" name="TextBox 5"/>
          <p:cNvSpPr txBox="1"/>
          <p:nvPr/>
        </p:nvSpPr>
        <p:spPr>
          <a:xfrm>
            <a:off x="7315200" y="2468880"/>
            <a:ext cx="4023360" cy="2103120"/>
          </a:xfrm>
          <a:prstGeom prst="rect">
            <a:avLst/>
          </a:prstGeom>
          <a:noFill/>
        </p:spPr>
        <p:txBody>
          <a:bodyPr wrap="square" lIns="73152" rIns="36576" tIns="36576" bIns="36576">
            <a:spAutoFit/>
          </a:bodyPr>
          <a:lstStyle/>
          <a:p>
            <a:pPr>
              <a:spcAft>
                <a:spcPts val="700"/>
              </a:spcAft>
              <a:defRPr sz="1600">
                <a:solidFill>
                  <a:srgbClr val="191F1C"/>
                </a:solidFill>
                <a:latin typeface="Aptos"/>
              </a:defRPr>
            </a:pPr>
            <a:r>
              <a:t>- A long pulse lets the first table finish, so restart looks acceptable.</a:t>
            </a:r>
          </a:p>
          <a:p>
            <a:pPr>
              <a:spcAft>
                <a:spcPts val="700"/>
              </a:spcAft>
              <a:defRPr sz="1600">
                <a:solidFill>
                  <a:srgbClr val="191F1C"/>
                </a:solidFill>
                <a:latin typeface="Aptos"/>
              </a:defRPr>
            </a:pPr>
            <a:r>
              <a:t>- A short pulse reverses while Ku and Kd are still between endpoints.</a:t>
            </a:r>
          </a:p>
          <a:p>
            <a:pPr>
              <a:spcAft>
                <a:spcPts val="700"/>
              </a:spcAft>
              <a:defRPr sz="1600">
                <a:solidFill>
                  <a:srgbClr val="191F1C"/>
                </a:solidFill>
                <a:latin typeface="Aptos"/>
              </a:defRPr>
            </a:pPr>
            <a:r>
              <a:t>- The missing quantity is a continuous memory of transition progress.</a:t>
            </a:r>
          </a:p>
        </p:txBody>
      </p:sp>
      <p:sp>
        <p:nvSpPr>
          <p:cNvPr id="7" name="Rectangle 6"/>
          <p:cNvSpPr/>
          <p:nvPr/>
        </p:nvSpPr>
        <p:spPr>
          <a:xfrm>
            <a:off x="384048" y="6062472"/>
            <a:ext cx="11109960" cy="393192"/>
          </a:xfrm>
          <a:prstGeom prst="rect">
            <a:avLst/>
          </a:prstGeom>
          <a:solidFill>
            <a:srgbClr val="F1F8F2"/>
          </a:solidFill>
          <a:ln>
            <a:solidFill>
              <a:srgbClr val="F1F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2B7A43"/>
                </a:solidFill>
                <a:latin typeface="Aptos"/>
              </a:defRPr>
            </a:pPr>
            <a:r>
              <a:t>The problem is not the table values themselves; it is how transition state is carried across a new edge.</a:t>
            </a:r>
          </a:p>
        </p:txBody>
      </p:sp>
      <p:sp>
        <p:nvSpPr>
          <p:cNvPr id="8" name="TextBox 7"/>
          <p:cNvSpPr txBox="1"/>
          <p:nvPr/>
        </p:nvSpPr>
        <p:spPr>
          <a:xfrm>
            <a:off x="475488" y="6547104"/>
            <a:ext cx="10789920" cy="164592"/>
          </a:xfrm>
          <a:prstGeom prst="rect">
            <a:avLst/>
          </a:prstGeom>
          <a:noFill/>
        </p:spPr>
        <p:txBody>
          <a:bodyPr wrap="square" lIns="45720" rIns="45720" anchor="t">
            <a:spAutoFit/>
          </a:bodyPr>
          <a:lstStyle/>
          <a:p>
            <a:pPr algn="l">
              <a:defRPr sz="750" b="0">
                <a:solidFill>
                  <a:srgbClr val="666C68"/>
                </a:solidFill>
                <a:latin typeface="Aptos"/>
              </a:defRPr>
            </a:pPr>
            <a:r>
              <a:t>Source: handwritten notes, IBIS kukd .pdf (2026-07-22)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700" b="0">
                <a:solidFill>
                  <a:srgbClr val="000000"/>
                </a:solidFill>
                <a:latin typeface="Times New Roman"/>
              </a:defRPr>
            </a:pPr>
            <a:r>
              <a:t>2. A capacitor voltage is a natural continuous memory</a:t>
            </a:r>
          </a:p>
        </p:txBody>
      </p:sp>
      <p:sp>
        <p:nvSpPr>
          <p:cNvPr id="3" name="TextBox 2"/>
          <p:cNvSpPr txBox="1"/>
          <p:nvPr/>
        </p:nvSpPr>
        <p:spPr>
          <a:xfrm>
            <a:off x="9372600" y="109728"/>
            <a:ext cx="2148840" cy="228600"/>
          </a:xfrm>
          <a:prstGeom prst="rect">
            <a:avLst/>
          </a:prstGeom>
          <a:noFill/>
        </p:spPr>
        <p:txBody>
          <a:bodyPr wrap="square" lIns="45720" rIns="45720" anchor="t">
            <a:spAutoFit/>
          </a:bodyPr>
          <a:lstStyle/>
          <a:p>
            <a:pPr algn="r">
              <a:defRPr sz="950" b="1">
                <a:solidFill>
                  <a:srgbClr val="666C68"/>
                </a:solidFill>
                <a:latin typeface="Aptos"/>
              </a:defRPr>
            </a:pPr>
            <a:r>
              <a:t>STATE</a:t>
            </a:r>
          </a:p>
        </p:txBody>
      </p:sp>
      <p:sp>
        <p:nvSpPr>
          <p:cNvPr id="4" name="Rounded Rectangle 3"/>
          <p:cNvSpPr/>
          <p:nvPr/>
        </p:nvSpPr>
        <p:spPr>
          <a:xfrm>
            <a:off x="685800" y="1840230"/>
            <a:ext cx="1428750" cy="857250"/>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400" b="1">
                <a:solidFill>
                  <a:srgbClr val="191F1C"/>
                </a:solidFill>
                <a:latin typeface="Aptos"/>
              </a:defRPr>
            </a:pPr>
            <a:r>
              <a:t>Gtarget</a:t>
            </a:r>
            <a:br/>
            <a:r>
              <a:t>0 or 1</a:t>
            </a:r>
          </a:p>
        </p:txBody>
      </p:sp>
      <p:cxnSp>
        <p:nvCxnSpPr>
          <p:cNvPr id="5" name="Connector 4"/>
          <p:cNvCxnSpPr/>
          <p:nvPr/>
        </p:nvCxnSpPr>
        <p:spPr>
          <a:xfrm>
            <a:off x="2114550" y="2263139"/>
            <a:ext cx="457200" cy="0"/>
          </a:xfrm>
          <a:prstGeom prst="line">
            <a:avLst/>
          </a:prstGeom>
          <a:ln w="22860">
            <a:solidFill>
              <a:srgbClr val="191F1C"/>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2571750" y="2011680"/>
            <a:ext cx="1200150" cy="502920"/>
          </a:xfrm>
          <a:prstGeom prst="rect">
            <a:avLst/>
          </a:prstGeom>
          <a:solidFill>
            <a:srgbClr val="FFFFFF"/>
          </a:solidFill>
          <a:ln w="22860">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latin typeface="Aptos"/>
              </a:defRPr>
            </a:pPr>
            <a:r>
              <a:t>R</a:t>
            </a:r>
          </a:p>
        </p:txBody>
      </p:sp>
      <p:cxnSp>
        <p:nvCxnSpPr>
          <p:cNvPr id="7" name="Connector 6"/>
          <p:cNvCxnSpPr/>
          <p:nvPr/>
        </p:nvCxnSpPr>
        <p:spPr>
          <a:xfrm>
            <a:off x="3771900" y="2263139"/>
            <a:ext cx="628650" cy="0"/>
          </a:xfrm>
          <a:prstGeom prst="line">
            <a:avLst/>
          </a:prstGeom>
          <a:ln w="22860">
            <a:solidFill>
              <a:srgbClr val="191F1C"/>
            </a:solidFill>
          </a:ln>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4320540" y="2183130"/>
            <a:ext cx="160020" cy="160020"/>
          </a:xfrm>
          <a:prstGeom prst="ellipse">
            <a:avLst/>
          </a:prstGeom>
          <a:solidFill>
            <a:srgbClr val="2B7A43"/>
          </a:solidFill>
          <a:ln>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Connector 8"/>
          <p:cNvCxnSpPr/>
          <p:nvPr/>
        </p:nvCxnSpPr>
        <p:spPr>
          <a:xfrm>
            <a:off x="4400550" y="2263139"/>
            <a:ext cx="0" cy="685800"/>
          </a:xfrm>
          <a:prstGeom prst="line">
            <a:avLst/>
          </a:prstGeom>
          <a:ln w="22860">
            <a:solidFill>
              <a:srgbClr val="191F1C"/>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000500" y="2948939"/>
            <a:ext cx="800100" cy="0"/>
          </a:xfrm>
          <a:prstGeom prst="line">
            <a:avLst/>
          </a:prstGeom>
          <a:ln w="30480">
            <a:solidFill>
              <a:srgbClr val="191F1C"/>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4000500" y="3177540"/>
            <a:ext cx="800100" cy="0"/>
          </a:xfrm>
          <a:prstGeom prst="line">
            <a:avLst/>
          </a:prstGeom>
          <a:ln w="30480">
            <a:solidFill>
              <a:srgbClr val="191F1C"/>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4400550" y="3177540"/>
            <a:ext cx="0" cy="434340"/>
          </a:xfrm>
          <a:prstGeom prst="line">
            <a:avLst/>
          </a:prstGeom>
          <a:ln w="22860">
            <a:solidFill>
              <a:srgbClr val="191F1C"/>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4057650" y="3611880"/>
            <a:ext cx="685800" cy="0"/>
          </a:xfrm>
          <a:prstGeom prst="line">
            <a:avLst/>
          </a:prstGeom>
          <a:ln w="22860">
            <a:solidFill>
              <a:srgbClr val="191F1C"/>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4171950" y="3749040"/>
            <a:ext cx="457200" cy="0"/>
          </a:xfrm>
          <a:prstGeom prst="line">
            <a:avLst/>
          </a:prstGeom>
          <a:ln w="22860">
            <a:solidFill>
              <a:srgbClr val="191F1C"/>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4274820" y="3886200"/>
            <a:ext cx="251460" cy="0"/>
          </a:xfrm>
          <a:prstGeom prst="line">
            <a:avLst/>
          </a:prstGeom>
          <a:ln w="22860">
            <a:solidFill>
              <a:srgbClr val="191F1C"/>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4572000" y="1965960"/>
            <a:ext cx="1771650" cy="400050"/>
          </a:xfrm>
          <a:prstGeom prst="rect">
            <a:avLst/>
          </a:prstGeom>
          <a:noFill/>
        </p:spPr>
        <p:txBody>
          <a:bodyPr wrap="square" lIns="45720" rIns="45720" anchor="t">
            <a:spAutoFit/>
          </a:bodyPr>
          <a:lstStyle/>
          <a:p>
            <a:pPr algn="l">
              <a:defRPr sz="1500" b="1">
                <a:solidFill>
                  <a:srgbClr val="2B7A43"/>
                </a:solidFill>
                <a:latin typeface="Aptos"/>
              </a:defRPr>
            </a:pPr>
            <a:r>
              <a:t>GUP or GDN</a:t>
            </a:r>
          </a:p>
        </p:txBody>
      </p:sp>
      <p:sp>
        <p:nvSpPr>
          <p:cNvPr id="17" name="TextBox 16"/>
          <p:cNvSpPr txBox="1"/>
          <p:nvPr/>
        </p:nvSpPr>
        <p:spPr>
          <a:xfrm>
            <a:off x="4857750" y="2948939"/>
            <a:ext cx="1943100" cy="514350"/>
          </a:xfrm>
          <a:prstGeom prst="rect">
            <a:avLst/>
          </a:prstGeom>
          <a:noFill/>
        </p:spPr>
        <p:txBody>
          <a:bodyPr wrap="square" lIns="45720" rIns="45720" anchor="t">
            <a:spAutoFit/>
          </a:bodyPr>
          <a:lstStyle/>
          <a:p>
            <a:pPr algn="l">
              <a:defRPr sz="1300" b="0">
                <a:solidFill>
                  <a:srgbClr val="666C68"/>
                </a:solidFill>
                <a:latin typeface="Aptos"/>
              </a:defRPr>
            </a:pPr>
            <a:r>
              <a:t>C stores the state</a:t>
            </a:r>
          </a:p>
        </p:txBody>
      </p:sp>
      <p:pic>
        <p:nvPicPr>
          <p:cNvPr id="18" name="Picture 17" descr="Equation: I_C=C\frac{dV_C}{dt}=\frac{V_{\mathrm{target}}-V_C}{R}"/>
          <p:cNvPicPr>
            <a:picLocks noChangeAspect="1"/>
          </p:cNvPicPr>
          <p:nvPr/>
        </p:nvPicPr>
        <p:blipFill>
          <a:blip r:embed="rId3"/>
          <a:stretch>
            <a:fillRect/>
          </a:stretch>
        </p:blipFill>
        <p:spPr>
          <a:xfrm>
            <a:off x="6374965" y="1234440"/>
            <a:ext cx="4349349" cy="777240"/>
          </a:xfrm>
          <a:prstGeom prst="rect">
            <a:avLst/>
          </a:prstGeom>
        </p:spPr>
      </p:pic>
      <p:pic>
        <p:nvPicPr>
          <p:cNvPr id="19" name="Picture 18" descr="Equation: \frac{dV_C}{dt}=\frac{V_{\mathrm{target}}-V_C}{RC}"/>
          <p:cNvPicPr>
            <a:picLocks noChangeAspect="1"/>
          </p:cNvPicPr>
          <p:nvPr/>
        </p:nvPicPr>
        <p:blipFill>
          <a:blip r:embed="rId4"/>
          <a:stretch>
            <a:fillRect/>
          </a:stretch>
        </p:blipFill>
        <p:spPr>
          <a:xfrm>
            <a:off x="6944586" y="2331720"/>
            <a:ext cx="3210107" cy="777240"/>
          </a:xfrm>
          <a:prstGeom prst="rect">
            <a:avLst/>
          </a:prstGeom>
        </p:spPr>
      </p:pic>
      <p:sp>
        <p:nvSpPr>
          <p:cNvPr id="20" name="Rounded Rectangle 19"/>
          <p:cNvSpPr/>
          <p:nvPr/>
        </p:nvSpPr>
        <p:spPr>
          <a:xfrm>
            <a:off x="6675120" y="3703320"/>
            <a:ext cx="3657600" cy="868680"/>
          </a:xfrm>
          <a:prstGeom prst="roundRect">
            <a:avLst/>
          </a:prstGeom>
          <a:solidFill>
            <a:srgbClr val="F1F8F2"/>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800" b="1">
                <a:solidFill>
                  <a:srgbClr val="191F1C"/>
                </a:solidFill>
                <a:latin typeface="Aptos"/>
              </a:defRPr>
            </a:pPr>
            <a:r>
              <a:t>Vc,PU becomes GUP</a:t>
            </a:r>
            <a:br/>
            <a:r>
              <a:t>Vc,PD becomes GDN</a:t>
            </a:r>
          </a:p>
        </p:txBody>
      </p:sp>
      <p:sp>
        <p:nvSpPr>
          <p:cNvPr id="21" name="TextBox 20"/>
          <p:cNvSpPr txBox="1"/>
          <p:nvPr/>
        </p:nvSpPr>
        <p:spPr>
          <a:xfrm>
            <a:off x="914400" y="4251960"/>
            <a:ext cx="4389120" cy="502920"/>
          </a:xfrm>
          <a:prstGeom prst="rect">
            <a:avLst/>
          </a:prstGeom>
          <a:noFill/>
        </p:spPr>
        <p:txBody>
          <a:bodyPr wrap="square" lIns="45720" rIns="45720" anchor="t">
            <a:spAutoFit/>
          </a:bodyPr>
          <a:lstStyle/>
          <a:p>
            <a:pPr algn="ctr">
              <a:defRPr sz="1800" b="1">
                <a:solidFill>
                  <a:srgbClr val="2B7A43"/>
                </a:solidFill>
                <a:latin typeface="Aptos"/>
              </a:defRPr>
            </a:pPr>
            <a:r>
              <a:t>The solver stores capacitor charge between timesteps.</a:t>
            </a:r>
          </a:p>
        </p:txBody>
      </p:sp>
      <p:sp>
        <p:nvSpPr>
          <p:cNvPr id="22" name="Rectangle 21"/>
          <p:cNvSpPr/>
          <p:nvPr/>
        </p:nvSpPr>
        <p:spPr>
          <a:xfrm>
            <a:off x="384048" y="6062472"/>
            <a:ext cx="11109960" cy="393192"/>
          </a:xfrm>
          <a:prstGeom prst="rect">
            <a:avLst/>
          </a:prstGeom>
          <a:solidFill>
            <a:srgbClr val="F1F8F2"/>
          </a:solidFill>
          <a:ln>
            <a:solidFill>
              <a:srgbClr val="F1F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2B7A43"/>
                </a:solidFill>
                <a:latin typeface="Aptos"/>
              </a:defRPr>
            </a:pPr>
            <a:r>
              <a:t>GUP and GDN are not recomputed from elapsed time; they persist as capacitor voltages.</a:t>
            </a:r>
          </a:p>
        </p:txBody>
      </p:sp>
      <p:sp>
        <p:nvSpPr>
          <p:cNvPr id="23" name="TextBox 22"/>
          <p:cNvSpPr txBox="1"/>
          <p:nvPr/>
        </p:nvSpPr>
        <p:spPr>
          <a:xfrm>
            <a:off x="475488" y="6547104"/>
            <a:ext cx="10789920" cy="164592"/>
          </a:xfrm>
          <a:prstGeom prst="rect">
            <a:avLst/>
          </a:prstGeom>
          <a:noFill/>
        </p:spPr>
        <p:txBody>
          <a:bodyPr wrap="square" lIns="45720" rIns="45720" anchor="t">
            <a:spAutoFit/>
          </a:bodyPr>
          <a:lstStyle/>
          <a:p>
            <a:pPr algn="l">
              <a:defRPr sz="750" b="0">
                <a:solidFill>
                  <a:srgbClr val="666C68"/>
                </a:solidFill>
                <a:latin typeface="Aptos"/>
              </a:defRPr>
            </a:pPr>
            <a:r>
              <a:t>Source: handwritten notes, IBIS kukd .pdf (2026-07-22)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700" b="0">
                <a:solidFill>
                  <a:srgbClr val="000000"/>
                </a:solidFill>
                <a:latin typeface="Times New Roman"/>
              </a:defRPr>
            </a:pPr>
            <a:r>
              <a:t>3. The state follows a first-order RC equation</a:t>
            </a:r>
          </a:p>
        </p:txBody>
      </p:sp>
      <p:sp>
        <p:nvSpPr>
          <p:cNvPr id="3" name="TextBox 2"/>
          <p:cNvSpPr txBox="1"/>
          <p:nvPr/>
        </p:nvSpPr>
        <p:spPr>
          <a:xfrm>
            <a:off x="9372600" y="109728"/>
            <a:ext cx="2148840" cy="228600"/>
          </a:xfrm>
          <a:prstGeom prst="rect">
            <a:avLst/>
          </a:prstGeom>
          <a:noFill/>
        </p:spPr>
        <p:txBody>
          <a:bodyPr wrap="square" lIns="45720" rIns="45720" anchor="t">
            <a:spAutoFit/>
          </a:bodyPr>
          <a:lstStyle/>
          <a:p>
            <a:pPr algn="r">
              <a:defRPr sz="950" b="1">
                <a:solidFill>
                  <a:srgbClr val="666C68"/>
                </a:solidFill>
                <a:latin typeface="Aptos"/>
              </a:defRPr>
            </a:pPr>
            <a:r>
              <a:t>EQUATION</a:t>
            </a:r>
          </a:p>
        </p:txBody>
      </p:sp>
      <p:pic>
        <p:nvPicPr>
          <p:cNvPr id="4" name="Picture 3" descr="Equation: \tau=RC"/>
          <p:cNvPicPr>
            <a:picLocks noChangeAspect="1"/>
          </p:cNvPicPr>
          <p:nvPr/>
        </p:nvPicPr>
        <p:blipFill>
          <a:blip r:embed="rId3"/>
          <a:stretch>
            <a:fillRect/>
          </a:stretch>
        </p:blipFill>
        <p:spPr>
          <a:xfrm>
            <a:off x="777240" y="1289183"/>
            <a:ext cx="2468880" cy="530592"/>
          </a:xfrm>
          <a:prstGeom prst="rect">
            <a:avLst/>
          </a:prstGeom>
        </p:spPr>
      </p:pic>
      <p:pic>
        <p:nvPicPr>
          <p:cNvPr id="5" name="Picture 4" descr="Equation: \frac{dG}{dt}=\frac{G_{\mathrm{target}}-G}{\tau}"/>
          <p:cNvPicPr>
            <a:picLocks noChangeAspect="1"/>
          </p:cNvPicPr>
          <p:nvPr/>
        </p:nvPicPr>
        <p:blipFill>
          <a:blip r:embed="rId4"/>
          <a:stretch>
            <a:fillRect/>
          </a:stretch>
        </p:blipFill>
        <p:spPr>
          <a:xfrm>
            <a:off x="3886200" y="1051560"/>
            <a:ext cx="3657600" cy="960120"/>
          </a:xfrm>
          <a:prstGeom prst="rect">
            <a:avLst/>
          </a:prstGeom>
        </p:spPr>
      </p:pic>
      <p:pic>
        <p:nvPicPr>
          <p:cNvPr id="6" name="Picture 5" descr="Equation: G(t)=G_{\mathrm{target}}+\left(G_0-G_{\mathrm{target}}\right)e^{-(t-t_0)/\tau}"/>
          <p:cNvPicPr>
            <a:picLocks noChangeAspect="1"/>
          </p:cNvPicPr>
          <p:nvPr/>
        </p:nvPicPr>
        <p:blipFill>
          <a:blip r:embed="rId5"/>
          <a:stretch>
            <a:fillRect/>
          </a:stretch>
        </p:blipFill>
        <p:spPr>
          <a:xfrm>
            <a:off x="1143000" y="2684903"/>
            <a:ext cx="9784080" cy="710953"/>
          </a:xfrm>
          <a:prstGeom prst="rect">
            <a:avLst/>
          </a:prstGeom>
        </p:spPr>
      </p:pic>
      <p:sp>
        <p:nvSpPr>
          <p:cNvPr id="7" name="Rounded Rectangle 6"/>
          <p:cNvSpPr/>
          <p:nvPr/>
        </p:nvSpPr>
        <p:spPr>
          <a:xfrm>
            <a:off x="2011680" y="4069080"/>
            <a:ext cx="8138160" cy="658368"/>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800" b="1">
                <a:solidFill>
                  <a:srgbClr val="191F1C"/>
                </a:solidFill>
                <a:latin typeface="Aptos"/>
              </a:defRPr>
            </a:pPr>
            <a:r>
              <a:t>G0 is the state already stored at the command edge</a:t>
            </a:r>
          </a:p>
        </p:txBody>
      </p:sp>
      <p:sp>
        <p:nvSpPr>
          <p:cNvPr id="8" name="TextBox 7"/>
          <p:cNvSpPr txBox="1"/>
          <p:nvPr/>
        </p:nvSpPr>
        <p:spPr>
          <a:xfrm>
            <a:off x="2148840" y="4892040"/>
            <a:ext cx="7772400" cy="868680"/>
          </a:xfrm>
          <a:prstGeom prst="rect">
            <a:avLst/>
          </a:prstGeom>
          <a:noFill/>
        </p:spPr>
        <p:txBody>
          <a:bodyPr wrap="square" lIns="73152" rIns="36576" tIns="36576" bIns="36576">
            <a:spAutoFit/>
          </a:bodyPr>
          <a:lstStyle/>
          <a:p>
            <a:pPr>
              <a:spcAft>
                <a:spcPts val="300"/>
              </a:spcAft>
              <a:defRPr sz="1600">
                <a:solidFill>
                  <a:srgbClr val="191F1C"/>
                </a:solidFill>
                <a:latin typeface="Aptos"/>
              </a:defRPr>
            </a:pPr>
            <a:r>
              <a:t>- Changing the target changes the derivative.</a:t>
            </a:r>
          </a:p>
          <a:p>
            <a:pPr>
              <a:spcAft>
                <a:spcPts val="300"/>
              </a:spcAft>
              <a:defRPr sz="1600">
                <a:solidFill>
                  <a:srgbClr val="191F1C"/>
                </a:solidFill>
                <a:latin typeface="Aptos"/>
              </a:defRPr>
            </a:pPr>
            <a:r>
              <a:t>- Changing direction selects a different tau.</a:t>
            </a:r>
          </a:p>
          <a:p>
            <a:pPr>
              <a:spcAft>
                <a:spcPts val="300"/>
              </a:spcAft>
              <a:defRPr sz="1600">
                <a:solidFill>
                  <a:srgbClr val="191F1C"/>
                </a:solidFill>
                <a:latin typeface="Aptos"/>
              </a:defRPr>
            </a:pPr>
            <a:r>
              <a:t>- Neither action resets G itself.</a:t>
            </a:r>
          </a:p>
        </p:txBody>
      </p:sp>
      <p:sp>
        <p:nvSpPr>
          <p:cNvPr id="9" name="Rectangle 8"/>
          <p:cNvSpPr/>
          <p:nvPr/>
        </p:nvSpPr>
        <p:spPr>
          <a:xfrm>
            <a:off x="384048" y="6062472"/>
            <a:ext cx="11109960" cy="393192"/>
          </a:xfrm>
          <a:prstGeom prst="rect">
            <a:avLst/>
          </a:prstGeom>
          <a:solidFill>
            <a:srgbClr val="F1F8F2"/>
          </a:solidFill>
          <a:ln>
            <a:solidFill>
              <a:srgbClr val="F1F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2B7A43"/>
                </a:solidFill>
                <a:latin typeface="Aptos"/>
              </a:defRPr>
            </a:pPr>
            <a:r>
              <a:t>The state value is continuous; only its destination and rate change at an edge.</a:t>
            </a:r>
          </a:p>
        </p:txBody>
      </p:sp>
      <p:sp>
        <p:nvSpPr>
          <p:cNvPr id="10" name="TextBox 9"/>
          <p:cNvSpPr txBox="1"/>
          <p:nvPr/>
        </p:nvSpPr>
        <p:spPr>
          <a:xfrm>
            <a:off x="475488" y="6547104"/>
            <a:ext cx="10789920" cy="164592"/>
          </a:xfrm>
          <a:prstGeom prst="rect">
            <a:avLst/>
          </a:prstGeom>
          <a:noFill/>
        </p:spPr>
        <p:txBody>
          <a:bodyPr wrap="square" lIns="45720" rIns="45720" anchor="t">
            <a:spAutoFit/>
          </a:bodyPr>
          <a:lstStyle/>
          <a:p>
            <a:pPr algn="l">
              <a:defRPr sz="750" b="0">
                <a:solidFill>
                  <a:srgbClr val="666C68"/>
                </a:solidFill>
                <a:latin typeface="Aptos"/>
              </a:defRPr>
            </a:pPr>
            <a:r>
              <a:t>Source: handwritten notes, IBIS kukd .pdf (2026-07-22)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700" b="0">
                <a:solidFill>
                  <a:srgbClr val="000000"/>
                </a:solidFill>
                <a:latin typeface="Times New Roman"/>
              </a:defRPr>
            </a:pPr>
            <a:r>
              <a:t>4. Tau is the characteristic transition time</a:t>
            </a:r>
          </a:p>
        </p:txBody>
      </p:sp>
      <p:sp>
        <p:nvSpPr>
          <p:cNvPr id="3" name="TextBox 2"/>
          <p:cNvSpPr txBox="1"/>
          <p:nvPr/>
        </p:nvSpPr>
        <p:spPr>
          <a:xfrm>
            <a:off x="9372600" y="109728"/>
            <a:ext cx="2148840" cy="228600"/>
          </a:xfrm>
          <a:prstGeom prst="rect">
            <a:avLst/>
          </a:prstGeom>
          <a:noFill/>
        </p:spPr>
        <p:txBody>
          <a:bodyPr wrap="square" lIns="45720" rIns="45720" anchor="t">
            <a:spAutoFit/>
          </a:bodyPr>
          <a:lstStyle/>
          <a:p>
            <a:pPr algn="r">
              <a:defRPr sz="950" b="1">
                <a:solidFill>
                  <a:srgbClr val="666C68"/>
                </a:solidFill>
                <a:latin typeface="Aptos"/>
              </a:defRPr>
            </a:pPr>
            <a:r>
              <a:t>CALIBRATION</a:t>
            </a:r>
          </a:p>
        </p:txBody>
      </p:sp>
      <p:pic>
        <p:nvPicPr>
          <p:cNvPr id="4" name="Picture 3" descr="02_tau_63_percent.png"/>
          <p:cNvPicPr>
            <a:picLocks noChangeAspect="1"/>
          </p:cNvPicPr>
          <p:nvPr/>
        </p:nvPicPr>
        <p:blipFill>
          <a:blip r:embed="rId3"/>
          <a:stretch>
            <a:fillRect/>
          </a:stretch>
        </p:blipFill>
        <p:spPr>
          <a:xfrm>
            <a:off x="594360" y="2112034"/>
            <a:ext cx="6492240" cy="2313891"/>
          </a:xfrm>
          <a:prstGeom prst="rect">
            <a:avLst/>
          </a:prstGeom>
        </p:spPr>
      </p:pic>
      <p:pic>
        <p:nvPicPr>
          <p:cNvPr id="5" name="Picture 4" descr="Equation: G_{\mathrm{rise}}(t)=1-e^{-t/\tau}"/>
          <p:cNvPicPr>
            <a:picLocks noChangeAspect="1"/>
          </p:cNvPicPr>
          <p:nvPr/>
        </p:nvPicPr>
        <p:blipFill>
          <a:blip r:embed="rId4"/>
          <a:stretch>
            <a:fillRect/>
          </a:stretch>
        </p:blipFill>
        <p:spPr>
          <a:xfrm>
            <a:off x="7178040" y="1343404"/>
            <a:ext cx="4160520" cy="605030"/>
          </a:xfrm>
          <a:prstGeom prst="rect">
            <a:avLst/>
          </a:prstGeom>
        </p:spPr>
      </p:pic>
      <p:pic>
        <p:nvPicPr>
          <p:cNvPr id="6" name="Picture 5" descr="Equation: G_{\mathrm{fall}}(t)=e^{-t/\tau}"/>
          <p:cNvPicPr>
            <a:picLocks noChangeAspect="1"/>
          </p:cNvPicPr>
          <p:nvPr/>
        </p:nvPicPr>
        <p:blipFill>
          <a:blip r:embed="rId5"/>
          <a:stretch>
            <a:fillRect/>
          </a:stretch>
        </p:blipFill>
        <p:spPr>
          <a:xfrm>
            <a:off x="7547468" y="2240280"/>
            <a:ext cx="3421662" cy="640080"/>
          </a:xfrm>
          <a:prstGeom prst="rect">
            <a:avLst/>
          </a:prstGeom>
        </p:spPr>
      </p:pic>
      <p:pic>
        <p:nvPicPr>
          <p:cNvPr id="7" name="Picture 6" descr="Equation: G_{\mathrm{rise}}(\tau)=1-e^{-1}\approx0.632"/>
          <p:cNvPicPr>
            <a:picLocks noChangeAspect="1"/>
          </p:cNvPicPr>
          <p:nvPr/>
        </p:nvPicPr>
        <p:blipFill>
          <a:blip r:embed="rId6"/>
          <a:stretch>
            <a:fillRect/>
          </a:stretch>
        </p:blipFill>
        <p:spPr>
          <a:xfrm>
            <a:off x="6995160" y="3362706"/>
            <a:ext cx="4526280" cy="452628"/>
          </a:xfrm>
          <a:prstGeom prst="rect">
            <a:avLst/>
          </a:prstGeom>
        </p:spPr>
      </p:pic>
      <p:sp>
        <p:nvSpPr>
          <p:cNvPr id="8" name="Rounded Rectangle 7"/>
          <p:cNvSpPr/>
          <p:nvPr/>
        </p:nvSpPr>
        <p:spPr>
          <a:xfrm>
            <a:off x="7315200" y="4343400"/>
            <a:ext cx="3886200" cy="731520"/>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600" b="1">
                <a:solidFill>
                  <a:srgbClr val="191F1C"/>
                </a:solidFill>
                <a:latin typeface="Aptos"/>
              </a:defRPr>
            </a:pPr>
            <a:r>
              <a:t>First remove onset delay; then measure the transition rate.</a:t>
            </a:r>
          </a:p>
        </p:txBody>
      </p:sp>
      <p:sp>
        <p:nvSpPr>
          <p:cNvPr id="9" name="Rectangle 8"/>
          <p:cNvSpPr/>
          <p:nvPr/>
        </p:nvSpPr>
        <p:spPr>
          <a:xfrm>
            <a:off x="384048" y="6062472"/>
            <a:ext cx="11109960" cy="393192"/>
          </a:xfrm>
          <a:prstGeom prst="rect">
            <a:avLst/>
          </a:prstGeom>
          <a:solidFill>
            <a:srgbClr val="F1F8F2"/>
          </a:solidFill>
          <a:ln>
            <a:solidFill>
              <a:srgbClr val="F1F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2B7A43"/>
                </a:solidFill>
                <a:latin typeface="Aptos"/>
              </a:defRPr>
            </a:pPr>
            <a:r>
              <a:t>Tau controls how quickly a stored state moves, not when the response first begins.</a:t>
            </a:r>
          </a:p>
        </p:txBody>
      </p:sp>
      <p:sp>
        <p:nvSpPr>
          <p:cNvPr id="10" name="TextBox 9"/>
          <p:cNvSpPr txBox="1"/>
          <p:nvPr/>
        </p:nvSpPr>
        <p:spPr>
          <a:xfrm>
            <a:off x="475488" y="6547104"/>
            <a:ext cx="10789920" cy="164592"/>
          </a:xfrm>
          <a:prstGeom prst="rect">
            <a:avLst/>
          </a:prstGeom>
          <a:noFill/>
        </p:spPr>
        <p:txBody>
          <a:bodyPr wrap="square" lIns="45720" rIns="45720" anchor="t">
            <a:spAutoFit/>
          </a:bodyPr>
          <a:lstStyle/>
          <a:p>
            <a:pPr algn="l">
              <a:defRPr sz="750" b="0">
                <a:solidFill>
                  <a:srgbClr val="666C68"/>
                </a:solidFill>
                <a:latin typeface="Aptos"/>
              </a:defRPr>
            </a:pPr>
            <a:r>
              <a:t>Source: handwritten notes, IBIS kukd .pdf (2026-07-22)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700" b="0">
                <a:solidFill>
                  <a:srgbClr val="000000"/>
                </a:solidFill>
                <a:latin typeface="Times New Roman"/>
              </a:defRPr>
            </a:pPr>
            <a:r>
              <a:t>5. Four physical directions require four time constants</a:t>
            </a:r>
          </a:p>
        </p:txBody>
      </p:sp>
      <p:sp>
        <p:nvSpPr>
          <p:cNvPr id="3" name="TextBox 2"/>
          <p:cNvSpPr txBox="1"/>
          <p:nvPr/>
        </p:nvSpPr>
        <p:spPr>
          <a:xfrm>
            <a:off x="9372600" y="109728"/>
            <a:ext cx="2148840" cy="228600"/>
          </a:xfrm>
          <a:prstGeom prst="rect">
            <a:avLst/>
          </a:prstGeom>
          <a:noFill/>
        </p:spPr>
        <p:txBody>
          <a:bodyPr wrap="square" lIns="45720" rIns="45720" anchor="t">
            <a:spAutoFit/>
          </a:bodyPr>
          <a:lstStyle/>
          <a:p>
            <a:pPr algn="r">
              <a:defRPr sz="950" b="1">
                <a:solidFill>
                  <a:srgbClr val="666C68"/>
                </a:solidFill>
                <a:latin typeface="Aptos"/>
              </a:defRPr>
            </a:pPr>
            <a:r>
              <a:t>CALIBRATION</a:t>
            </a:r>
          </a:p>
        </p:txBody>
      </p:sp>
      <p:sp>
        <p:nvSpPr>
          <p:cNvPr id="4" name="TextBox 3"/>
          <p:cNvSpPr txBox="1"/>
          <p:nvPr/>
        </p:nvSpPr>
        <p:spPr>
          <a:xfrm>
            <a:off x="685800" y="1097280"/>
            <a:ext cx="2103120" cy="365760"/>
          </a:xfrm>
          <a:prstGeom prst="rect">
            <a:avLst/>
          </a:prstGeom>
          <a:noFill/>
        </p:spPr>
        <p:txBody>
          <a:bodyPr wrap="square" lIns="45720" rIns="45720" anchor="t">
            <a:spAutoFit/>
          </a:bodyPr>
          <a:lstStyle/>
          <a:p>
            <a:pPr algn="l">
              <a:defRPr sz="2000" b="1">
                <a:solidFill>
                  <a:srgbClr val="2B7A43"/>
                </a:solidFill>
                <a:latin typeface="Aptos"/>
              </a:defRPr>
            </a:pPr>
            <a:r>
              <a:t>Input rises</a:t>
            </a:r>
          </a:p>
        </p:txBody>
      </p:sp>
      <p:sp>
        <p:nvSpPr>
          <p:cNvPr id="5" name="Rounded Rectangle 4"/>
          <p:cNvSpPr/>
          <p:nvPr/>
        </p:nvSpPr>
        <p:spPr>
          <a:xfrm>
            <a:off x="685800" y="1600200"/>
            <a:ext cx="2331720" cy="868680"/>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600" b="1">
                <a:solidFill>
                  <a:srgbClr val="191F1C"/>
                </a:solidFill>
                <a:latin typeface="Aptos"/>
              </a:defRPr>
            </a:pPr>
            <a:r>
              <a:t>GUP: 0 -&gt; 1</a:t>
            </a:r>
            <a:br/>
            <a:r>
              <a:t>pullup ON</a:t>
            </a:r>
          </a:p>
        </p:txBody>
      </p:sp>
      <p:sp>
        <p:nvSpPr>
          <p:cNvPr id="6" name="Rounded Rectangle 5"/>
          <p:cNvSpPr/>
          <p:nvPr/>
        </p:nvSpPr>
        <p:spPr>
          <a:xfrm>
            <a:off x="3337560" y="1600200"/>
            <a:ext cx="2331720" cy="868680"/>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600" b="1">
                <a:solidFill>
                  <a:srgbClr val="191F1C"/>
                </a:solidFill>
                <a:latin typeface="Aptos"/>
              </a:defRPr>
            </a:pPr>
            <a:r>
              <a:t>GDN: 1 -&gt; 0</a:t>
            </a:r>
            <a:br/>
            <a:r>
              <a:t>pulldown OFF</a:t>
            </a:r>
          </a:p>
        </p:txBody>
      </p:sp>
      <p:pic>
        <p:nvPicPr>
          <p:cNvPr id="7" name="Picture 6" descr="Equation: \tau_{\mathrm{PU,on}},\;t_{d,\mathrm{PU,on}}"/>
          <p:cNvPicPr>
            <a:picLocks noChangeAspect="1"/>
          </p:cNvPicPr>
          <p:nvPr/>
        </p:nvPicPr>
        <p:blipFill>
          <a:blip r:embed="rId3"/>
          <a:stretch>
            <a:fillRect/>
          </a:stretch>
        </p:blipFill>
        <p:spPr>
          <a:xfrm>
            <a:off x="685800" y="2883531"/>
            <a:ext cx="2423160" cy="359416"/>
          </a:xfrm>
          <a:prstGeom prst="rect">
            <a:avLst/>
          </a:prstGeom>
        </p:spPr>
      </p:pic>
      <p:pic>
        <p:nvPicPr>
          <p:cNvPr id="8" name="Picture 7" descr="Equation: \tau_{\mathrm{PD,off}},\;t_{d,\mathrm{PD,off}}"/>
          <p:cNvPicPr>
            <a:picLocks noChangeAspect="1"/>
          </p:cNvPicPr>
          <p:nvPr/>
        </p:nvPicPr>
        <p:blipFill>
          <a:blip r:embed="rId4"/>
          <a:stretch>
            <a:fillRect/>
          </a:stretch>
        </p:blipFill>
        <p:spPr>
          <a:xfrm>
            <a:off x="3246120" y="2875362"/>
            <a:ext cx="2606040" cy="375754"/>
          </a:xfrm>
          <a:prstGeom prst="rect">
            <a:avLst/>
          </a:prstGeom>
        </p:spPr>
      </p:pic>
      <p:sp>
        <p:nvSpPr>
          <p:cNvPr id="9" name="TextBox 8"/>
          <p:cNvSpPr txBox="1"/>
          <p:nvPr/>
        </p:nvSpPr>
        <p:spPr>
          <a:xfrm>
            <a:off x="6263640" y="1097280"/>
            <a:ext cx="2103120" cy="365760"/>
          </a:xfrm>
          <a:prstGeom prst="rect">
            <a:avLst/>
          </a:prstGeom>
          <a:noFill/>
        </p:spPr>
        <p:txBody>
          <a:bodyPr wrap="square" lIns="45720" rIns="45720" anchor="t">
            <a:spAutoFit/>
          </a:bodyPr>
          <a:lstStyle/>
          <a:p>
            <a:pPr algn="l">
              <a:defRPr sz="2000" b="1">
                <a:solidFill>
                  <a:srgbClr val="2B7A43"/>
                </a:solidFill>
                <a:latin typeface="Aptos"/>
              </a:defRPr>
            </a:pPr>
            <a:r>
              <a:t>Input falls</a:t>
            </a:r>
          </a:p>
        </p:txBody>
      </p:sp>
      <p:sp>
        <p:nvSpPr>
          <p:cNvPr id="10" name="Rounded Rectangle 9"/>
          <p:cNvSpPr/>
          <p:nvPr/>
        </p:nvSpPr>
        <p:spPr>
          <a:xfrm>
            <a:off x="6263640" y="1600200"/>
            <a:ext cx="2331720" cy="868680"/>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600" b="1">
                <a:solidFill>
                  <a:srgbClr val="191F1C"/>
                </a:solidFill>
                <a:latin typeface="Aptos"/>
              </a:defRPr>
            </a:pPr>
            <a:r>
              <a:t>GUP: 1 -&gt; 0</a:t>
            </a:r>
            <a:br/>
            <a:r>
              <a:t>pullup OFF</a:t>
            </a:r>
          </a:p>
        </p:txBody>
      </p:sp>
      <p:sp>
        <p:nvSpPr>
          <p:cNvPr id="11" name="Rounded Rectangle 10"/>
          <p:cNvSpPr/>
          <p:nvPr/>
        </p:nvSpPr>
        <p:spPr>
          <a:xfrm>
            <a:off x="8915400" y="1600200"/>
            <a:ext cx="2331720" cy="868680"/>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600" b="1">
                <a:solidFill>
                  <a:srgbClr val="191F1C"/>
                </a:solidFill>
                <a:latin typeface="Aptos"/>
              </a:defRPr>
            </a:pPr>
            <a:r>
              <a:t>GDN: 0 -&gt; 1</a:t>
            </a:r>
            <a:br/>
            <a:r>
              <a:t>pulldown ON</a:t>
            </a:r>
          </a:p>
        </p:txBody>
      </p:sp>
      <p:pic>
        <p:nvPicPr>
          <p:cNvPr id="12" name="Picture 11" descr="Equation: \tau_{\mathrm{PU,off}},\;t_{d,\mathrm{PU,off}}"/>
          <p:cNvPicPr>
            <a:picLocks noChangeAspect="1"/>
          </p:cNvPicPr>
          <p:nvPr/>
        </p:nvPicPr>
        <p:blipFill>
          <a:blip r:embed="rId5"/>
          <a:stretch>
            <a:fillRect/>
          </a:stretch>
        </p:blipFill>
        <p:spPr>
          <a:xfrm>
            <a:off x="6172200" y="2874484"/>
            <a:ext cx="2606040" cy="377510"/>
          </a:xfrm>
          <a:prstGeom prst="rect">
            <a:avLst/>
          </a:prstGeom>
        </p:spPr>
      </p:pic>
      <p:pic>
        <p:nvPicPr>
          <p:cNvPr id="13" name="Picture 12" descr="Equation: \tau_{\mathrm{PD,on}},\;t_{d,\mathrm{PD,on}}"/>
          <p:cNvPicPr>
            <a:picLocks noChangeAspect="1"/>
          </p:cNvPicPr>
          <p:nvPr/>
        </p:nvPicPr>
        <p:blipFill>
          <a:blip r:embed="rId6"/>
          <a:stretch>
            <a:fillRect/>
          </a:stretch>
        </p:blipFill>
        <p:spPr>
          <a:xfrm>
            <a:off x="8823960" y="2870889"/>
            <a:ext cx="2606040" cy="384701"/>
          </a:xfrm>
          <a:prstGeom prst="rect">
            <a:avLst/>
          </a:prstGeom>
        </p:spPr>
      </p:pic>
      <p:sp>
        <p:nvSpPr>
          <p:cNvPr id="14" name="TextBox 13"/>
          <p:cNvSpPr txBox="1"/>
          <p:nvPr/>
        </p:nvSpPr>
        <p:spPr>
          <a:xfrm>
            <a:off x="1051560" y="4069080"/>
            <a:ext cx="10058400" cy="1234440"/>
          </a:xfrm>
          <a:prstGeom prst="rect">
            <a:avLst/>
          </a:prstGeom>
          <a:noFill/>
        </p:spPr>
        <p:txBody>
          <a:bodyPr wrap="square" lIns="73152" rIns="36576" tIns="36576" bIns="36576">
            <a:spAutoFit/>
          </a:bodyPr>
          <a:lstStyle/>
          <a:p>
            <a:pPr>
              <a:spcAft>
                <a:spcPts val="500"/>
              </a:spcAft>
              <a:defRPr sz="1700">
                <a:solidFill>
                  <a:srgbClr val="191F1C"/>
                </a:solidFill>
                <a:latin typeface="Aptos"/>
              </a:defRPr>
            </a:pPr>
            <a:r>
              <a:t>- Onset delay: when the relevant Ku/Kd table first leaves its initial value.</a:t>
            </a:r>
          </a:p>
          <a:p>
            <a:pPr>
              <a:spcAft>
                <a:spcPts val="500"/>
              </a:spcAft>
              <a:defRPr sz="1700">
                <a:solidFill>
                  <a:srgbClr val="191F1C"/>
                </a:solidFill>
                <a:latin typeface="Aptos"/>
              </a:defRPr>
            </a:pPr>
            <a:r>
              <a:t>- Tau: rate of the active first-order transition after onset.</a:t>
            </a:r>
          </a:p>
          <a:p>
            <a:pPr>
              <a:spcAft>
                <a:spcPts val="500"/>
              </a:spcAft>
              <a:defRPr sz="1700">
                <a:solidFill>
                  <a:srgbClr val="191F1C"/>
                </a:solidFill>
                <a:latin typeface="Aptos"/>
              </a:defRPr>
            </a:pPr>
            <a:r>
              <a:t>- All values are derived offline from the original IBIS/pybis coefficient tables.</a:t>
            </a:r>
          </a:p>
        </p:txBody>
      </p:sp>
      <p:sp>
        <p:nvSpPr>
          <p:cNvPr id="15" name="Rectangle 14"/>
          <p:cNvSpPr/>
          <p:nvPr/>
        </p:nvSpPr>
        <p:spPr>
          <a:xfrm>
            <a:off x="384048" y="6062472"/>
            <a:ext cx="11109960" cy="393192"/>
          </a:xfrm>
          <a:prstGeom prst="rect">
            <a:avLst/>
          </a:prstGeom>
          <a:solidFill>
            <a:srgbClr val="F1F8F2"/>
          </a:solidFill>
          <a:ln>
            <a:solidFill>
              <a:srgbClr val="F1F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2B7A43"/>
                </a:solidFill>
                <a:latin typeface="Aptos"/>
              </a:defRPr>
            </a:pPr>
            <a:r>
              <a:t>Direction-specific timing preserves real pullup/pulldown asymmetry.</a:t>
            </a:r>
          </a:p>
        </p:txBody>
      </p:sp>
      <p:sp>
        <p:nvSpPr>
          <p:cNvPr id="16" name="TextBox 15"/>
          <p:cNvSpPr txBox="1"/>
          <p:nvPr/>
        </p:nvSpPr>
        <p:spPr>
          <a:xfrm>
            <a:off x="475488" y="6547104"/>
            <a:ext cx="10789920" cy="164592"/>
          </a:xfrm>
          <a:prstGeom prst="rect">
            <a:avLst/>
          </a:prstGeom>
          <a:noFill/>
        </p:spPr>
        <p:txBody>
          <a:bodyPr wrap="square" lIns="45720" rIns="45720" anchor="t">
            <a:spAutoFit/>
          </a:bodyPr>
          <a:lstStyle/>
          <a:p>
            <a:pPr algn="l">
              <a:defRPr sz="750" b="0">
                <a:solidFill>
                  <a:srgbClr val="666C68"/>
                </a:solidFill>
                <a:latin typeface="Aptos"/>
              </a:defRPr>
            </a:pPr>
            <a:r>
              <a:t>Source: handwritten notes, IBIS kukd .pdf (2026-07-22)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700" b="0">
                <a:solidFill>
                  <a:srgbClr val="000000"/>
                </a:solidFill>
                <a:latin typeface="Times New Roman"/>
              </a:defRPr>
            </a:pPr>
            <a:r>
              <a:t>6. Offline: replace table time with gate state</a:t>
            </a:r>
          </a:p>
        </p:txBody>
      </p:sp>
      <p:sp>
        <p:nvSpPr>
          <p:cNvPr id="3" name="TextBox 2"/>
          <p:cNvSpPr txBox="1"/>
          <p:nvPr/>
        </p:nvSpPr>
        <p:spPr>
          <a:xfrm>
            <a:off x="9372600" y="109728"/>
            <a:ext cx="2148840" cy="228600"/>
          </a:xfrm>
          <a:prstGeom prst="rect">
            <a:avLst/>
          </a:prstGeom>
          <a:noFill/>
        </p:spPr>
        <p:txBody>
          <a:bodyPr wrap="square" lIns="45720" rIns="45720" anchor="t">
            <a:spAutoFit/>
          </a:bodyPr>
          <a:lstStyle/>
          <a:p>
            <a:pPr algn="r">
              <a:defRPr sz="950" b="1">
                <a:solidFill>
                  <a:srgbClr val="666C68"/>
                </a:solidFill>
                <a:latin typeface="Aptos"/>
              </a:defRPr>
            </a:pPr>
            <a:r>
              <a:t>MAPPING</a:t>
            </a:r>
          </a:p>
        </p:txBody>
      </p:sp>
      <p:pic>
        <p:nvPicPr>
          <p:cNvPr id="4" name="Picture 3" descr="03_time_to_gate_mapping.png"/>
          <p:cNvPicPr>
            <a:picLocks noChangeAspect="1"/>
          </p:cNvPicPr>
          <p:nvPr/>
        </p:nvPicPr>
        <p:blipFill>
          <a:blip r:embed="rId3"/>
          <a:stretch>
            <a:fillRect/>
          </a:stretch>
        </p:blipFill>
        <p:spPr>
          <a:xfrm>
            <a:off x="411480" y="2064100"/>
            <a:ext cx="7452360" cy="2226878"/>
          </a:xfrm>
          <a:prstGeom prst="rect">
            <a:avLst/>
          </a:prstGeom>
        </p:spPr>
      </p:pic>
      <p:pic>
        <p:nvPicPr>
          <p:cNvPr id="5" name="Picture 4" descr="Equation: t_i\;\longrightarrow\;G_i=G(t_i)\;\longrightarrow\;(G_i,K_i)"/>
          <p:cNvPicPr>
            <a:picLocks noChangeAspect="1"/>
          </p:cNvPicPr>
          <p:nvPr/>
        </p:nvPicPr>
        <p:blipFill>
          <a:blip r:embed="rId4"/>
          <a:stretch>
            <a:fillRect/>
          </a:stretch>
        </p:blipFill>
        <p:spPr>
          <a:xfrm>
            <a:off x="7909560" y="1677079"/>
            <a:ext cx="3611880" cy="257720"/>
          </a:xfrm>
          <a:prstGeom prst="rect">
            <a:avLst/>
          </a:prstGeom>
        </p:spPr>
      </p:pic>
      <p:pic>
        <p:nvPicPr>
          <p:cNvPr id="6" name="Picture 5" descr="Equation: K_u=f_{\mathrm{PU,dir}}(GUP)"/>
          <p:cNvPicPr>
            <a:picLocks noChangeAspect="1"/>
          </p:cNvPicPr>
          <p:nvPr/>
        </p:nvPicPr>
        <p:blipFill>
          <a:blip r:embed="rId5"/>
          <a:stretch>
            <a:fillRect/>
          </a:stretch>
        </p:blipFill>
        <p:spPr>
          <a:xfrm>
            <a:off x="7909560" y="2589997"/>
            <a:ext cx="3611880" cy="443564"/>
          </a:xfrm>
          <a:prstGeom prst="rect">
            <a:avLst/>
          </a:prstGeom>
        </p:spPr>
      </p:pic>
      <p:pic>
        <p:nvPicPr>
          <p:cNvPr id="7" name="Picture 6" descr="Equation: K_d=f_{\mathrm{PD,dir}}(GDN)"/>
          <p:cNvPicPr>
            <a:picLocks noChangeAspect="1"/>
          </p:cNvPicPr>
          <p:nvPr/>
        </p:nvPicPr>
        <p:blipFill>
          <a:blip r:embed="rId6"/>
          <a:stretch>
            <a:fillRect/>
          </a:stretch>
        </p:blipFill>
        <p:spPr>
          <a:xfrm>
            <a:off x="7909560" y="3462876"/>
            <a:ext cx="3611880" cy="435166"/>
          </a:xfrm>
          <a:prstGeom prst="rect">
            <a:avLst/>
          </a:prstGeom>
        </p:spPr>
      </p:pic>
      <p:sp>
        <p:nvSpPr>
          <p:cNvPr id="8" name="Rounded Rectangle 7"/>
          <p:cNvSpPr/>
          <p:nvPr/>
        </p:nvSpPr>
        <p:spPr>
          <a:xfrm>
            <a:off x="7863840" y="4343400"/>
            <a:ext cx="3657600" cy="731520"/>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500" b="1">
                <a:solidFill>
                  <a:srgbClr val="191F1C"/>
                </a:solidFill>
                <a:latin typeface="Aptos"/>
              </a:defRPr>
            </a:pPr>
            <a:r>
              <a:t>Four original tables -&gt; four direction-aware state maps</a:t>
            </a:r>
          </a:p>
        </p:txBody>
      </p:sp>
      <p:sp>
        <p:nvSpPr>
          <p:cNvPr id="9" name="Rectangle 8"/>
          <p:cNvSpPr/>
          <p:nvPr/>
        </p:nvSpPr>
        <p:spPr>
          <a:xfrm>
            <a:off x="384048" y="6062472"/>
            <a:ext cx="11109960" cy="393192"/>
          </a:xfrm>
          <a:prstGeom prst="rect">
            <a:avLst/>
          </a:prstGeom>
          <a:solidFill>
            <a:srgbClr val="F1F8F2"/>
          </a:solidFill>
          <a:ln>
            <a:solidFill>
              <a:srgbClr val="F1F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2B7A43"/>
                </a:solidFill>
                <a:latin typeface="Aptos"/>
              </a:defRPr>
            </a:pPr>
            <a:r>
              <a:t>Ku/Kd tables are still used; they become functions of continuous state rather than elapsed time.</a:t>
            </a:r>
          </a:p>
        </p:txBody>
      </p:sp>
      <p:sp>
        <p:nvSpPr>
          <p:cNvPr id="10" name="TextBox 9"/>
          <p:cNvSpPr txBox="1"/>
          <p:nvPr/>
        </p:nvSpPr>
        <p:spPr>
          <a:xfrm>
            <a:off x="475488" y="6547104"/>
            <a:ext cx="10789920" cy="164592"/>
          </a:xfrm>
          <a:prstGeom prst="rect">
            <a:avLst/>
          </a:prstGeom>
          <a:noFill/>
        </p:spPr>
        <p:txBody>
          <a:bodyPr wrap="square" lIns="45720" rIns="45720" anchor="t">
            <a:spAutoFit/>
          </a:bodyPr>
          <a:lstStyle/>
          <a:p>
            <a:pPr algn="l">
              <a:defRPr sz="750" b="0">
                <a:solidFill>
                  <a:srgbClr val="666C68"/>
                </a:solidFill>
                <a:latin typeface="Aptos"/>
              </a:defRPr>
            </a:pPr>
            <a:r>
              <a:t>Source: handwritten notes, IBIS kukd .pdf (2026-07-22)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700" b="0">
                <a:solidFill>
                  <a:srgbClr val="000000"/>
                </a:solidFill>
                <a:latin typeface="Times New Roman"/>
              </a:defRPr>
            </a:pPr>
            <a:r>
              <a:t>7. Offline preparation and runtime simulation are separate</a:t>
            </a:r>
          </a:p>
        </p:txBody>
      </p:sp>
      <p:sp>
        <p:nvSpPr>
          <p:cNvPr id="3" name="TextBox 2"/>
          <p:cNvSpPr txBox="1"/>
          <p:nvPr/>
        </p:nvSpPr>
        <p:spPr>
          <a:xfrm>
            <a:off x="9372600" y="109728"/>
            <a:ext cx="2148840" cy="228600"/>
          </a:xfrm>
          <a:prstGeom prst="rect">
            <a:avLst/>
          </a:prstGeom>
          <a:noFill/>
        </p:spPr>
        <p:txBody>
          <a:bodyPr wrap="square" lIns="45720" rIns="45720" anchor="t">
            <a:spAutoFit/>
          </a:bodyPr>
          <a:lstStyle/>
          <a:p>
            <a:pPr algn="r">
              <a:defRPr sz="950" b="1">
                <a:solidFill>
                  <a:srgbClr val="666C68"/>
                </a:solidFill>
                <a:latin typeface="Aptos"/>
              </a:defRPr>
            </a:pPr>
            <a:r>
              <a:t>WORKFLOW</a:t>
            </a:r>
          </a:p>
        </p:txBody>
      </p:sp>
      <p:sp>
        <p:nvSpPr>
          <p:cNvPr id="4" name="TextBox 3"/>
          <p:cNvSpPr txBox="1"/>
          <p:nvPr/>
        </p:nvSpPr>
        <p:spPr>
          <a:xfrm>
            <a:off x="594360" y="1024128"/>
            <a:ext cx="3657600" cy="365760"/>
          </a:xfrm>
          <a:prstGeom prst="rect">
            <a:avLst/>
          </a:prstGeom>
          <a:noFill/>
        </p:spPr>
        <p:txBody>
          <a:bodyPr wrap="square" lIns="45720" rIns="45720" anchor="t">
            <a:spAutoFit/>
          </a:bodyPr>
          <a:lstStyle/>
          <a:p>
            <a:pPr algn="l">
              <a:defRPr sz="1900" b="1">
                <a:solidFill>
                  <a:srgbClr val="2B7A43"/>
                </a:solidFill>
                <a:latin typeface="Aptos"/>
              </a:defRPr>
            </a:pPr>
            <a:r>
              <a:t>OFFLINE - model generation</a:t>
            </a:r>
          </a:p>
        </p:txBody>
      </p:sp>
      <p:sp>
        <p:nvSpPr>
          <p:cNvPr id="5" name="Rounded Rectangle 4"/>
          <p:cNvSpPr/>
          <p:nvPr/>
        </p:nvSpPr>
        <p:spPr>
          <a:xfrm>
            <a:off x="594360" y="1508760"/>
            <a:ext cx="1874519" cy="713232"/>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400" b="1">
                <a:solidFill>
                  <a:srgbClr val="191F1C"/>
                </a:solidFill>
                <a:latin typeface="Aptos"/>
              </a:defRPr>
            </a:pPr>
            <a:r>
              <a:t>Extract Ku/Kd(t)</a:t>
            </a:r>
          </a:p>
        </p:txBody>
      </p:sp>
      <p:cxnSp>
        <p:nvCxnSpPr>
          <p:cNvPr id="6" name="Connector 5"/>
          <p:cNvCxnSpPr/>
          <p:nvPr/>
        </p:nvCxnSpPr>
        <p:spPr>
          <a:xfrm>
            <a:off x="2468879" y="1865376"/>
            <a:ext cx="1158241" cy="0"/>
          </a:xfrm>
          <a:prstGeom prst="line">
            <a:avLst/>
          </a:prstGeom>
          <a:ln w="27940">
            <a:solidFill>
              <a:srgbClr val="2B7A43"/>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3627119" y="1508760"/>
            <a:ext cx="1874519" cy="713232"/>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400" b="1">
                <a:solidFill>
                  <a:srgbClr val="191F1C"/>
                </a:solidFill>
                <a:latin typeface="Aptos"/>
              </a:defRPr>
            </a:pPr>
            <a:r>
              <a:t>Fit delay + tau</a:t>
            </a:r>
          </a:p>
        </p:txBody>
      </p:sp>
      <p:cxnSp>
        <p:nvCxnSpPr>
          <p:cNvPr id="8" name="Connector 7"/>
          <p:cNvCxnSpPr/>
          <p:nvPr/>
        </p:nvCxnSpPr>
        <p:spPr>
          <a:xfrm>
            <a:off x="5501639" y="1865376"/>
            <a:ext cx="1158240" cy="0"/>
          </a:xfrm>
          <a:prstGeom prst="line">
            <a:avLst/>
          </a:prstGeom>
          <a:ln w="27940">
            <a:solidFill>
              <a:srgbClr val="2B7A43"/>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6659880" y="1508760"/>
            <a:ext cx="1874519" cy="713232"/>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400" b="1">
                <a:solidFill>
                  <a:srgbClr val="191F1C"/>
                </a:solidFill>
                <a:latin typeface="Aptos"/>
              </a:defRPr>
            </a:pPr>
            <a:r>
              <a:t>Build K=f(G)</a:t>
            </a:r>
          </a:p>
        </p:txBody>
      </p:sp>
      <p:cxnSp>
        <p:nvCxnSpPr>
          <p:cNvPr id="10" name="Connector 9"/>
          <p:cNvCxnSpPr/>
          <p:nvPr/>
        </p:nvCxnSpPr>
        <p:spPr>
          <a:xfrm>
            <a:off x="8534399" y="1865376"/>
            <a:ext cx="1158241" cy="0"/>
          </a:xfrm>
          <a:prstGeom prst="line">
            <a:avLst/>
          </a:prstGeom>
          <a:ln w="27940">
            <a:solidFill>
              <a:srgbClr val="2B7A43"/>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9692640" y="1508760"/>
            <a:ext cx="1874519" cy="713232"/>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400" b="1">
                <a:solidFill>
                  <a:srgbClr val="191F1C"/>
                </a:solidFill>
                <a:latin typeface="Aptos"/>
              </a:defRPr>
            </a:pPr>
            <a:r>
              <a:t>Write .sp</a:t>
            </a:r>
          </a:p>
        </p:txBody>
      </p:sp>
      <p:sp>
        <p:nvSpPr>
          <p:cNvPr id="12" name="TextBox 11"/>
          <p:cNvSpPr txBox="1"/>
          <p:nvPr/>
        </p:nvSpPr>
        <p:spPr>
          <a:xfrm>
            <a:off x="594360" y="2971800"/>
            <a:ext cx="3657600" cy="365760"/>
          </a:xfrm>
          <a:prstGeom prst="rect">
            <a:avLst/>
          </a:prstGeom>
          <a:noFill/>
        </p:spPr>
        <p:txBody>
          <a:bodyPr wrap="square" lIns="45720" rIns="45720" anchor="t">
            <a:spAutoFit/>
          </a:bodyPr>
          <a:lstStyle/>
          <a:p>
            <a:pPr algn="l">
              <a:defRPr sz="1900" b="1">
                <a:solidFill>
                  <a:srgbClr val="2467AD"/>
                </a:solidFill>
                <a:latin typeface="Aptos"/>
              </a:defRPr>
            </a:pPr>
            <a:r>
              <a:t>RUNTIME - ngspice</a:t>
            </a:r>
          </a:p>
        </p:txBody>
      </p:sp>
      <p:sp>
        <p:nvSpPr>
          <p:cNvPr id="13" name="Rounded Rectangle 12"/>
          <p:cNvSpPr/>
          <p:nvPr/>
        </p:nvSpPr>
        <p:spPr>
          <a:xfrm>
            <a:off x="594360" y="3474720"/>
            <a:ext cx="1874519" cy="713232"/>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400" b="1">
                <a:solidFill>
                  <a:srgbClr val="191F1C"/>
                </a:solidFill>
                <a:latin typeface="Aptos"/>
              </a:defRPr>
            </a:pPr>
            <a:r>
              <a:t>Detect edge</a:t>
            </a:r>
          </a:p>
        </p:txBody>
      </p:sp>
      <p:cxnSp>
        <p:nvCxnSpPr>
          <p:cNvPr id="14" name="Connector 13"/>
          <p:cNvCxnSpPr/>
          <p:nvPr/>
        </p:nvCxnSpPr>
        <p:spPr>
          <a:xfrm>
            <a:off x="2468879" y="3831335"/>
            <a:ext cx="1158241" cy="0"/>
          </a:xfrm>
          <a:prstGeom prst="line">
            <a:avLst/>
          </a:prstGeom>
          <a:ln w="27940">
            <a:solidFill>
              <a:srgbClr val="2B7A43"/>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627119" y="3474720"/>
            <a:ext cx="1874519" cy="713232"/>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400" b="1">
                <a:solidFill>
                  <a:srgbClr val="191F1C"/>
                </a:solidFill>
                <a:latin typeface="Aptos"/>
              </a:defRPr>
            </a:pPr>
            <a:r>
              <a:t>Change targets</a:t>
            </a:r>
          </a:p>
        </p:txBody>
      </p:sp>
      <p:cxnSp>
        <p:nvCxnSpPr>
          <p:cNvPr id="16" name="Connector 15"/>
          <p:cNvCxnSpPr/>
          <p:nvPr/>
        </p:nvCxnSpPr>
        <p:spPr>
          <a:xfrm>
            <a:off x="5501639" y="3831335"/>
            <a:ext cx="1158240" cy="0"/>
          </a:xfrm>
          <a:prstGeom prst="line">
            <a:avLst/>
          </a:prstGeom>
          <a:ln w="27940">
            <a:solidFill>
              <a:srgbClr val="2B7A43"/>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659880" y="3474720"/>
            <a:ext cx="1874519" cy="713232"/>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400" b="1">
                <a:solidFill>
                  <a:srgbClr val="191F1C"/>
                </a:solidFill>
                <a:latin typeface="Aptos"/>
              </a:defRPr>
            </a:pPr>
            <a:r>
              <a:t>Integrate GUP/GDN</a:t>
            </a:r>
          </a:p>
        </p:txBody>
      </p:sp>
      <p:cxnSp>
        <p:nvCxnSpPr>
          <p:cNvPr id="18" name="Connector 17"/>
          <p:cNvCxnSpPr/>
          <p:nvPr/>
        </p:nvCxnSpPr>
        <p:spPr>
          <a:xfrm>
            <a:off x="8534399" y="3831335"/>
            <a:ext cx="1158241" cy="0"/>
          </a:xfrm>
          <a:prstGeom prst="line">
            <a:avLst/>
          </a:prstGeom>
          <a:ln w="27940">
            <a:solidFill>
              <a:srgbClr val="2B7A43"/>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692640" y="3474720"/>
            <a:ext cx="1874519" cy="713232"/>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400" b="1">
                <a:solidFill>
                  <a:srgbClr val="191F1C"/>
                </a:solidFill>
                <a:latin typeface="Aptos"/>
              </a:defRPr>
            </a:pPr>
            <a:r>
              <a:t>Evaluate Ku/Kd</a:t>
            </a:r>
          </a:p>
        </p:txBody>
      </p:sp>
      <p:sp>
        <p:nvSpPr>
          <p:cNvPr id="20" name="Rounded Rectangle 19"/>
          <p:cNvSpPr/>
          <p:nvPr/>
        </p:nvSpPr>
        <p:spPr>
          <a:xfrm>
            <a:off x="2926080" y="4800600"/>
            <a:ext cx="6309360" cy="658368"/>
          </a:xfrm>
          <a:prstGeom prst="roundRect">
            <a:avLst/>
          </a:prstGeom>
          <a:solidFill>
            <a:srgbClr val="F1F8F2"/>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700" b="1">
                <a:solidFill>
                  <a:srgbClr val="191F1C"/>
                </a:solidFill>
                <a:latin typeface="Aptos"/>
              </a:defRPr>
            </a:pPr>
            <a:r>
              <a:t>Actual pulse width and interruption history exist only at runtime.</a:t>
            </a:r>
          </a:p>
        </p:txBody>
      </p:sp>
      <p:sp>
        <p:nvSpPr>
          <p:cNvPr id="21" name="Rectangle 20"/>
          <p:cNvSpPr/>
          <p:nvPr/>
        </p:nvSpPr>
        <p:spPr>
          <a:xfrm>
            <a:off x="384048" y="6062472"/>
            <a:ext cx="11109960" cy="393192"/>
          </a:xfrm>
          <a:prstGeom prst="rect">
            <a:avLst/>
          </a:prstGeom>
          <a:solidFill>
            <a:srgbClr val="F1F8F2"/>
          </a:solidFill>
          <a:ln>
            <a:solidFill>
              <a:srgbClr val="F1F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2B7A43"/>
                </a:solidFill>
                <a:latin typeface="Aptos"/>
              </a:defRPr>
            </a:pPr>
            <a:r>
              <a:t>Offline fitting supplies constants and maps; runtime integration supplies the actual state history.</a:t>
            </a:r>
          </a:p>
        </p:txBody>
      </p:sp>
      <p:sp>
        <p:nvSpPr>
          <p:cNvPr id="22" name="TextBox 21"/>
          <p:cNvSpPr txBox="1"/>
          <p:nvPr/>
        </p:nvSpPr>
        <p:spPr>
          <a:xfrm>
            <a:off x="475488" y="6547104"/>
            <a:ext cx="10789920" cy="164592"/>
          </a:xfrm>
          <a:prstGeom prst="rect">
            <a:avLst/>
          </a:prstGeom>
          <a:noFill/>
        </p:spPr>
        <p:txBody>
          <a:bodyPr wrap="square" lIns="45720" rIns="45720" anchor="t">
            <a:spAutoFit/>
          </a:bodyPr>
          <a:lstStyle/>
          <a:p>
            <a:pPr algn="l">
              <a:defRPr sz="750" b="0">
                <a:solidFill>
                  <a:srgbClr val="666C68"/>
                </a:solidFill>
                <a:latin typeface="Aptos"/>
              </a:defRPr>
            </a:pPr>
            <a:r>
              <a:t>Source: handwritten notes, IBIS kukd .pdf (2026-07-22)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700" b="0">
                <a:solidFill>
                  <a:srgbClr val="000000"/>
                </a:solidFill>
                <a:latin typeface="Times New Roman"/>
              </a:defRPr>
            </a:pPr>
            <a:r>
              <a:t>8. Runtime example: a normal rising input edge</a:t>
            </a:r>
          </a:p>
        </p:txBody>
      </p:sp>
      <p:sp>
        <p:nvSpPr>
          <p:cNvPr id="3" name="TextBox 2"/>
          <p:cNvSpPr txBox="1"/>
          <p:nvPr/>
        </p:nvSpPr>
        <p:spPr>
          <a:xfrm>
            <a:off x="9372600" y="109728"/>
            <a:ext cx="2148840" cy="228600"/>
          </a:xfrm>
          <a:prstGeom prst="rect">
            <a:avLst/>
          </a:prstGeom>
          <a:noFill/>
        </p:spPr>
        <p:txBody>
          <a:bodyPr wrap="square" lIns="45720" rIns="45720" anchor="t">
            <a:spAutoFit/>
          </a:bodyPr>
          <a:lstStyle/>
          <a:p>
            <a:pPr algn="r">
              <a:defRPr sz="950" b="1">
                <a:solidFill>
                  <a:srgbClr val="666C68"/>
                </a:solidFill>
                <a:latin typeface="Aptos"/>
              </a:defRPr>
            </a:pPr>
            <a:r>
              <a:t>RUNTIME</a:t>
            </a:r>
          </a:p>
        </p:txBody>
      </p:sp>
      <p:sp>
        <p:nvSpPr>
          <p:cNvPr id="4" name="Rounded Rectangle 3"/>
          <p:cNvSpPr/>
          <p:nvPr/>
        </p:nvSpPr>
        <p:spPr>
          <a:xfrm>
            <a:off x="640080" y="1234440"/>
            <a:ext cx="2240280" cy="777240"/>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600" b="1">
                <a:solidFill>
                  <a:srgbClr val="191F1C"/>
                </a:solidFill>
                <a:latin typeface="Aptos"/>
              </a:defRPr>
            </a:pPr>
            <a:r>
              <a:t>Before edge</a:t>
            </a:r>
            <a:br/>
            <a:r>
              <a:t>GUP=0, GDN=1</a:t>
            </a:r>
          </a:p>
        </p:txBody>
      </p:sp>
      <p:cxnSp>
        <p:nvCxnSpPr>
          <p:cNvPr id="5" name="Connector 4"/>
          <p:cNvCxnSpPr/>
          <p:nvPr/>
        </p:nvCxnSpPr>
        <p:spPr>
          <a:xfrm>
            <a:off x="2880360" y="1627632"/>
            <a:ext cx="777240" cy="0"/>
          </a:xfrm>
          <a:prstGeom prst="line">
            <a:avLst/>
          </a:prstGeom>
          <a:ln w="27940">
            <a:solidFill>
              <a:srgbClr val="2B7A43"/>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3657600" y="1234440"/>
            <a:ext cx="2880360" cy="777240"/>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600" b="1">
                <a:solidFill>
                  <a:srgbClr val="191F1C"/>
                </a:solidFill>
                <a:latin typeface="Aptos"/>
              </a:defRPr>
            </a:pPr>
            <a:r>
              <a:t>Delayed targets</a:t>
            </a:r>
            <a:br/>
            <a:r>
              <a:t>GUPtarget=1, GDNtarget=0</a:t>
            </a:r>
          </a:p>
        </p:txBody>
      </p:sp>
      <p:cxnSp>
        <p:nvCxnSpPr>
          <p:cNvPr id="7" name="Connector 6"/>
          <p:cNvCxnSpPr/>
          <p:nvPr/>
        </p:nvCxnSpPr>
        <p:spPr>
          <a:xfrm>
            <a:off x="6537960" y="1627632"/>
            <a:ext cx="777240" cy="0"/>
          </a:xfrm>
          <a:prstGeom prst="line">
            <a:avLst/>
          </a:prstGeom>
          <a:ln w="27940">
            <a:solidFill>
              <a:srgbClr val="2B7A43"/>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7315200" y="1234440"/>
            <a:ext cx="3063240" cy="777240"/>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600" b="1">
                <a:solidFill>
                  <a:srgbClr val="191F1C"/>
                </a:solidFill>
                <a:latin typeface="Aptos"/>
              </a:defRPr>
            </a:pPr>
            <a:r>
              <a:t>Continuous motion</a:t>
            </a:r>
            <a:br/>
            <a:r>
              <a:t>GUP rises, GDN falls</a:t>
            </a:r>
          </a:p>
        </p:txBody>
      </p:sp>
      <p:pic>
        <p:nvPicPr>
          <p:cNvPr id="9" name="Picture 8" descr="Equation: \frac{dGUP}{dt}=\frac{1-GUP}{\tau_{\mathrm{PU,on}}}"/>
          <p:cNvPicPr>
            <a:picLocks noChangeAspect="1"/>
          </p:cNvPicPr>
          <p:nvPr/>
        </p:nvPicPr>
        <p:blipFill>
          <a:blip r:embed="rId3"/>
          <a:stretch>
            <a:fillRect/>
          </a:stretch>
        </p:blipFill>
        <p:spPr>
          <a:xfrm>
            <a:off x="1752361" y="2743200"/>
            <a:ext cx="2987516" cy="777240"/>
          </a:xfrm>
          <a:prstGeom prst="rect">
            <a:avLst/>
          </a:prstGeom>
        </p:spPr>
      </p:pic>
      <p:pic>
        <p:nvPicPr>
          <p:cNvPr id="10" name="Picture 9" descr="Equation: \frac{dGDN}{dt}=\frac{0-GDN}{\tau_{\mathrm{PD,off}}}"/>
          <p:cNvPicPr>
            <a:picLocks noChangeAspect="1"/>
          </p:cNvPicPr>
          <p:nvPr/>
        </p:nvPicPr>
        <p:blipFill>
          <a:blip r:embed="rId4"/>
          <a:stretch>
            <a:fillRect/>
          </a:stretch>
        </p:blipFill>
        <p:spPr>
          <a:xfrm>
            <a:off x="6809851" y="2743200"/>
            <a:ext cx="3113817" cy="777240"/>
          </a:xfrm>
          <a:prstGeom prst="rect">
            <a:avLst/>
          </a:prstGeom>
        </p:spPr>
      </p:pic>
      <p:pic>
        <p:nvPicPr>
          <p:cNvPr id="11" name="Picture 10" descr="Equation: K_u=f_{\mathrm{PU,on}}(GUP),\qquad K_d=f_{\mathrm{PD,off}}(GDN)"/>
          <p:cNvPicPr>
            <a:picLocks noChangeAspect="1"/>
          </p:cNvPicPr>
          <p:nvPr/>
        </p:nvPicPr>
        <p:blipFill>
          <a:blip r:embed="rId5"/>
          <a:stretch>
            <a:fillRect/>
          </a:stretch>
        </p:blipFill>
        <p:spPr>
          <a:xfrm>
            <a:off x="1828800" y="4344100"/>
            <a:ext cx="8503920" cy="455799"/>
          </a:xfrm>
          <a:prstGeom prst="rect">
            <a:avLst/>
          </a:prstGeom>
        </p:spPr>
      </p:pic>
      <p:sp>
        <p:nvSpPr>
          <p:cNvPr id="12" name="Rectangle 11"/>
          <p:cNvSpPr/>
          <p:nvPr/>
        </p:nvSpPr>
        <p:spPr>
          <a:xfrm>
            <a:off x="384048" y="6062472"/>
            <a:ext cx="11109960" cy="393192"/>
          </a:xfrm>
          <a:prstGeom prst="rect">
            <a:avLst/>
          </a:prstGeom>
          <a:solidFill>
            <a:srgbClr val="F1F8F2"/>
          </a:solidFill>
          <a:ln>
            <a:solidFill>
              <a:srgbClr val="F1F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2B7A43"/>
                </a:solidFill>
                <a:latin typeface="Aptos"/>
              </a:defRPr>
            </a:pPr>
            <a:r>
              <a:t>For a complete transition, the new state model reconstructs the original Ku/Kd path.</a:t>
            </a:r>
          </a:p>
        </p:txBody>
      </p:sp>
      <p:sp>
        <p:nvSpPr>
          <p:cNvPr id="13" name="TextBox 12"/>
          <p:cNvSpPr txBox="1"/>
          <p:nvPr/>
        </p:nvSpPr>
        <p:spPr>
          <a:xfrm>
            <a:off x="475488" y="6547104"/>
            <a:ext cx="10789920" cy="164592"/>
          </a:xfrm>
          <a:prstGeom prst="rect">
            <a:avLst/>
          </a:prstGeom>
          <a:noFill/>
        </p:spPr>
        <p:txBody>
          <a:bodyPr wrap="square" lIns="45720" rIns="45720" anchor="t">
            <a:spAutoFit/>
          </a:bodyPr>
          <a:lstStyle/>
          <a:p>
            <a:pPr algn="l">
              <a:defRPr sz="750" b="0">
                <a:solidFill>
                  <a:srgbClr val="666C68"/>
                </a:solidFill>
                <a:latin typeface="Aptos"/>
              </a:defRPr>
            </a:pPr>
            <a:r>
              <a:t>Source: handwritten notes, IBIS kukd .pdf (2026-07-22)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700" b="0">
                <a:solidFill>
                  <a:srgbClr val="000000"/>
                </a:solidFill>
                <a:latin typeface="Times New Roman"/>
              </a:defRPr>
            </a:pPr>
            <a:r>
              <a:t>9. Runtime reversal: targets and rates switch, states do not</a:t>
            </a:r>
          </a:p>
        </p:txBody>
      </p:sp>
      <p:sp>
        <p:nvSpPr>
          <p:cNvPr id="3" name="TextBox 2"/>
          <p:cNvSpPr txBox="1"/>
          <p:nvPr/>
        </p:nvSpPr>
        <p:spPr>
          <a:xfrm>
            <a:off x="9372600" y="109728"/>
            <a:ext cx="2148840" cy="228600"/>
          </a:xfrm>
          <a:prstGeom prst="rect">
            <a:avLst/>
          </a:prstGeom>
          <a:noFill/>
        </p:spPr>
        <p:txBody>
          <a:bodyPr wrap="square" lIns="45720" rIns="45720" anchor="t">
            <a:spAutoFit/>
          </a:bodyPr>
          <a:lstStyle/>
          <a:p>
            <a:pPr algn="r">
              <a:defRPr sz="950" b="1">
                <a:solidFill>
                  <a:srgbClr val="666C68"/>
                </a:solidFill>
                <a:latin typeface="Aptos"/>
              </a:defRPr>
            </a:pPr>
            <a:r>
              <a:t>RUNTIME</a:t>
            </a:r>
          </a:p>
        </p:txBody>
      </p:sp>
      <p:pic>
        <p:nvPicPr>
          <p:cNvPr id="4" name="Picture 3" descr="Equation: GUP(t_{\mathrm{rev}}^+)=GUP(t_{\mathrm{rev}}^-)"/>
          <p:cNvPicPr>
            <a:picLocks noChangeAspect="1"/>
          </p:cNvPicPr>
          <p:nvPr/>
        </p:nvPicPr>
        <p:blipFill>
          <a:blip r:embed="rId3"/>
          <a:stretch>
            <a:fillRect/>
          </a:stretch>
        </p:blipFill>
        <p:spPr>
          <a:xfrm>
            <a:off x="777240" y="1200803"/>
            <a:ext cx="5029200" cy="524473"/>
          </a:xfrm>
          <a:prstGeom prst="rect">
            <a:avLst/>
          </a:prstGeom>
        </p:spPr>
      </p:pic>
      <p:pic>
        <p:nvPicPr>
          <p:cNvPr id="5" name="Picture 4" descr="Equation: GDN(t_{\mathrm{rev}}^+)=GDN(t_{\mathrm{rev}}^-)"/>
          <p:cNvPicPr>
            <a:picLocks noChangeAspect="1"/>
          </p:cNvPicPr>
          <p:nvPr/>
        </p:nvPicPr>
        <p:blipFill>
          <a:blip r:embed="rId4"/>
          <a:stretch>
            <a:fillRect/>
          </a:stretch>
        </p:blipFill>
        <p:spPr>
          <a:xfrm>
            <a:off x="6172200" y="1210194"/>
            <a:ext cx="5029200" cy="505690"/>
          </a:xfrm>
          <a:prstGeom prst="rect">
            <a:avLst/>
          </a:prstGeom>
        </p:spPr>
      </p:pic>
      <p:sp>
        <p:nvSpPr>
          <p:cNvPr id="6" name="Rounded Rectangle 5"/>
          <p:cNvSpPr/>
          <p:nvPr/>
        </p:nvSpPr>
        <p:spPr>
          <a:xfrm>
            <a:off x="685800" y="2423160"/>
            <a:ext cx="1508760" cy="594360"/>
          </a:xfrm>
          <a:prstGeom prst="roundRect">
            <a:avLst/>
          </a:prstGeom>
          <a:solidFill>
            <a:srgbClr val="FCEBEB"/>
          </a:solidFill>
          <a:ln w="15875">
            <a:solidFill>
              <a:srgbClr val="CA303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600" b="1">
                <a:solidFill>
                  <a:srgbClr val="191F1C"/>
                </a:solidFill>
                <a:latin typeface="Aptos"/>
              </a:defRPr>
            </a:pPr>
            <a:r>
              <a:t>falling edge</a:t>
            </a:r>
          </a:p>
        </p:txBody>
      </p:sp>
      <p:cxnSp>
        <p:nvCxnSpPr>
          <p:cNvPr id="7" name="Connector 6"/>
          <p:cNvCxnSpPr/>
          <p:nvPr/>
        </p:nvCxnSpPr>
        <p:spPr>
          <a:xfrm>
            <a:off x="2194560" y="2724912"/>
            <a:ext cx="868680" cy="0"/>
          </a:xfrm>
          <a:prstGeom prst="line">
            <a:avLst/>
          </a:prstGeom>
          <a:ln w="27940">
            <a:solidFill>
              <a:srgbClr val="CA3030"/>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3063240" y="2148840"/>
            <a:ext cx="2468880" cy="1143000"/>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600" b="1">
                <a:solidFill>
                  <a:srgbClr val="191F1C"/>
                </a:solidFill>
                <a:latin typeface="Aptos"/>
              </a:defRPr>
            </a:pPr>
            <a:r>
              <a:t>targets flip</a:t>
            </a:r>
            <a:br/>
            <a:r>
              <a:t>GUPtarget: 1 -&gt; 0</a:t>
            </a:r>
            <a:br/>
            <a:r>
              <a:t>GDNtarget: 0 -&gt; 1</a:t>
            </a:r>
          </a:p>
        </p:txBody>
      </p:sp>
      <p:cxnSp>
        <p:nvCxnSpPr>
          <p:cNvPr id="9" name="Connector 8"/>
          <p:cNvCxnSpPr/>
          <p:nvPr/>
        </p:nvCxnSpPr>
        <p:spPr>
          <a:xfrm>
            <a:off x="5532120" y="2724912"/>
            <a:ext cx="868680" cy="0"/>
          </a:xfrm>
          <a:prstGeom prst="line">
            <a:avLst/>
          </a:prstGeom>
          <a:ln w="27940">
            <a:solidFill>
              <a:srgbClr val="2B7A43"/>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6400800" y="2148840"/>
            <a:ext cx="2331720" cy="1143000"/>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600" b="1">
                <a:solidFill>
                  <a:srgbClr val="191F1C"/>
                </a:solidFill>
                <a:latin typeface="Aptos"/>
              </a:defRPr>
            </a:pPr>
            <a:r>
              <a:t>taus switch</a:t>
            </a:r>
            <a:br/>
            <a:r>
              <a:t>PU on -&gt; PU off</a:t>
            </a:r>
            <a:br/>
            <a:r>
              <a:t>PD off -&gt; PD on</a:t>
            </a:r>
          </a:p>
        </p:txBody>
      </p:sp>
      <p:cxnSp>
        <p:nvCxnSpPr>
          <p:cNvPr id="11" name="Connector 10"/>
          <p:cNvCxnSpPr/>
          <p:nvPr/>
        </p:nvCxnSpPr>
        <p:spPr>
          <a:xfrm>
            <a:off x="8732520" y="2724912"/>
            <a:ext cx="868680" cy="0"/>
          </a:xfrm>
          <a:prstGeom prst="line">
            <a:avLst/>
          </a:prstGeom>
          <a:ln w="27940">
            <a:solidFill>
              <a:srgbClr val="2B7A43"/>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9601200" y="2240280"/>
            <a:ext cx="1965960" cy="960120"/>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400" b="1">
                <a:solidFill>
                  <a:srgbClr val="191F1C"/>
                </a:solidFill>
                <a:latin typeface="Aptos"/>
              </a:defRPr>
            </a:pPr>
            <a:r>
              <a:t>integration continues</a:t>
            </a:r>
            <a:br/>
            <a:r>
              <a:t>from current GUP/GDN</a:t>
            </a:r>
          </a:p>
        </p:txBody>
      </p:sp>
      <p:pic>
        <p:nvPicPr>
          <p:cNvPr id="13" name="Picture 12" descr="Equation: \frac{dGUP}{dt}=\frac{0-GUP}{\tau_{\mathrm{PU,off}}},\qquad\frac{dGDN}{dt}=\frac{1-GDN}{\tau_{\mathrm{PD,on}}}"/>
          <p:cNvPicPr>
            <a:picLocks noChangeAspect="1"/>
          </p:cNvPicPr>
          <p:nvPr/>
        </p:nvPicPr>
        <p:blipFill>
          <a:blip r:embed="rId5"/>
          <a:stretch>
            <a:fillRect/>
          </a:stretch>
        </p:blipFill>
        <p:spPr>
          <a:xfrm>
            <a:off x="2266283" y="4069080"/>
            <a:ext cx="7720393" cy="868680"/>
          </a:xfrm>
          <a:prstGeom prst="rect">
            <a:avLst/>
          </a:prstGeom>
        </p:spPr>
      </p:pic>
      <p:sp>
        <p:nvSpPr>
          <p:cNvPr id="14" name="Rectangle 13"/>
          <p:cNvSpPr/>
          <p:nvPr/>
        </p:nvSpPr>
        <p:spPr>
          <a:xfrm>
            <a:off x="384048" y="6062472"/>
            <a:ext cx="11109960" cy="393192"/>
          </a:xfrm>
          <a:prstGeom prst="rect">
            <a:avLst/>
          </a:prstGeom>
          <a:solidFill>
            <a:srgbClr val="F1F8F2"/>
          </a:solidFill>
          <a:ln>
            <a:solidFill>
              <a:srgbClr val="F1F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2B7A43"/>
                </a:solidFill>
                <a:latin typeface="Aptos"/>
              </a:defRPr>
            </a:pPr>
            <a:r>
              <a:t>A reversal changes the future trajectory, not the state already accumulated.</a:t>
            </a:r>
          </a:p>
        </p:txBody>
      </p:sp>
      <p:sp>
        <p:nvSpPr>
          <p:cNvPr id="15" name="TextBox 14"/>
          <p:cNvSpPr txBox="1"/>
          <p:nvPr/>
        </p:nvSpPr>
        <p:spPr>
          <a:xfrm>
            <a:off x="475488" y="6547104"/>
            <a:ext cx="10789920" cy="164592"/>
          </a:xfrm>
          <a:prstGeom prst="rect">
            <a:avLst/>
          </a:prstGeom>
          <a:noFill/>
        </p:spPr>
        <p:txBody>
          <a:bodyPr wrap="square" lIns="45720" rIns="45720" anchor="t">
            <a:spAutoFit/>
          </a:bodyPr>
          <a:lstStyle/>
          <a:p>
            <a:pPr algn="l">
              <a:defRPr sz="750" b="0">
                <a:solidFill>
                  <a:srgbClr val="666C68"/>
                </a:solidFill>
                <a:latin typeface="Aptos"/>
              </a:defRPr>
            </a:pPr>
            <a:r>
              <a:t>Source: handwritten notes, IBIS kukd .pdf (2026-07-22)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700" b="0">
                <a:solidFill>
                  <a:srgbClr val="000000"/>
                </a:solidFill>
                <a:latin typeface="Times New Roman"/>
              </a:defRPr>
            </a:pPr>
            <a:r>
              <a:t>10. Ngspice stores GUP and GDN as capacitor voltages</a:t>
            </a:r>
          </a:p>
        </p:txBody>
      </p:sp>
      <p:sp>
        <p:nvSpPr>
          <p:cNvPr id="3" name="TextBox 2"/>
          <p:cNvSpPr txBox="1"/>
          <p:nvPr/>
        </p:nvSpPr>
        <p:spPr>
          <a:xfrm>
            <a:off x="9372600" y="109728"/>
            <a:ext cx="2148840" cy="228600"/>
          </a:xfrm>
          <a:prstGeom prst="rect">
            <a:avLst/>
          </a:prstGeom>
          <a:noFill/>
        </p:spPr>
        <p:txBody>
          <a:bodyPr wrap="square" lIns="45720" rIns="45720" anchor="t">
            <a:spAutoFit/>
          </a:bodyPr>
          <a:lstStyle/>
          <a:p>
            <a:pPr algn="r">
              <a:defRPr sz="950" b="1">
                <a:solidFill>
                  <a:srgbClr val="666C68"/>
                </a:solidFill>
                <a:latin typeface="Aptos"/>
              </a:defRPr>
            </a:pPr>
            <a:r>
              <a:t>IMPLEMENTATION</a:t>
            </a:r>
          </a:p>
        </p:txBody>
      </p:sp>
      <p:sp>
        <p:nvSpPr>
          <p:cNvPr id="4" name="Rounded Rectangle 3"/>
          <p:cNvSpPr/>
          <p:nvPr/>
        </p:nvSpPr>
        <p:spPr>
          <a:xfrm>
            <a:off x="594360" y="1143000"/>
            <a:ext cx="6629400" cy="3017520"/>
          </a:xfrm>
          <a:prstGeom prst="roundRect">
            <a:avLst/>
          </a:prstGeom>
          <a:solidFill>
            <a:srgbClr val="F6F8F7"/>
          </a:solidFill>
          <a:ln w="12700">
            <a:solidFill>
              <a:srgbClr val="A4AEA8"/>
            </a:solidFill>
          </a:ln>
        </p:spPr>
        <p:style>
          <a:lnRef idx="1">
            <a:schemeClr val="accent1"/>
          </a:lnRef>
          <a:fillRef idx="3">
            <a:schemeClr val="accent1"/>
          </a:fillRef>
          <a:effectRef idx="2">
            <a:schemeClr val="accent1"/>
          </a:effectRef>
          <a:fontRef idx="minor">
            <a:schemeClr val="lt1"/>
          </a:fontRef>
        </p:style>
        <p:txBody>
          <a:bodyPr rtlCol="0" anchor="ctr" wrap="none" lIns="118872" rIns="73152" tIns="91440" bIns="73152"/>
          <a:lstStyle/>
          <a:p>
            <a:pPr algn="ctr">
              <a:defRPr sz="1230">
                <a:solidFill>
                  <a:srgbClr val="1E3027"/>
                </a:solidFill>
                <a:latin typeface="Consolas"/>
              </a:defRPr>
            </a:pPr>
            <a:r>
              <a:t>* Continuous pullup gate state</a:t>
            </a:r>
            <a:br/>
            <a:r>
              <a:t>CGUP   GUP   0   1p   ic=0</a:t>
            </a:r>
            <a:br/>
            <a:r>
              <a:t>BGUP   GUP   0   I=-1p*(V(GUPTARGET)-V(GUP))/tau_selected</a:t>
            </a:r>
            <a:br/>
            <a:br/>
            <a:r>
              <a:t>* Continuous pulldown gate state</a:t>
            </a:r>
            <a:br/>
            <a:r>
              <a:t>CGDN   GDN   0   1p   ic=1</a:t>
            </a:r>
            <a:br/>
            <a:r>
              <a:t>BGDN   GDN   0   I=-1p*(V(GDNTARGET)-V(GDN))/tau_selected</a:t>
            </a:r>
          </a:p>
        </p:txBody>
      </p:sp>
      <p:pic>
        <p:nvPicPr>
          <p:cNvPr id="5" name="Picture 4" descr="Equation: C\frac{dG}{dt}=\frac{G_{\mathrm{target}}-G}{R_{\mathrm{eff}}}"/>
          <p:cNvPicPr>
            <a:picLocks noChangeAspect="1"/>
          </p:cNvPicPr>
          <p:nvPr/>
        </p:nvPicPr>
        <p:blipFill>
          <a:blip r:embed="rId3"/>
          <a:stretch>
            <a:fillRect/>
          </a:stretch>
        </p:blipFill>
        <p:spPr>
          <a:xfrm>
            <a:off x="8098155" y="1234440"/>
            <a:ext cx="2686050" cy="685800"/>
          </a:xfrm>
          <a:prstGeom prst="rect">
            <a:avLst/>
          </a:prstGeom>
        </p:spPr>
      </p:pic>
      <p:pic>
        <p:nvPicPr>
          <p:cNvPr id="6" name="Picture 5" descr="Equation: R_{\mathrm{eff}}=\frac{\tau}{C}"/>
          <p:cNvPicPr>
            <a:picLocks noChangeAspect="1"/>
          </p:cNvPicPr>
          <p:nvPr/>
        </p:nvPicPr>
        <p:blipFill>
          <a:blip r:embed="rId4"/>
          <a:stretch>
            <a:fillRect/>
          </a:stretch>
        </p:blipFill>
        <p:spPr>
          <a:xfrm>
            <a:off x="8632159" y="2331720"/>
            <a:ext cx="1572321" cy="685800"/>
          </a:xfrm>
          <a:prstGeom prst="rect">
            <a:avLst/>
          </a:prstGeom>
        </p:spPr>
      </p:pic>
      <p:sp>
        <p:nvSpPr>
          <p:cNvPr id="7" name="Rounded Rectangle 6"/>
          <p:cNvSpPr/>
          <p:nvPr/>
        </p:nvSpPr>
        <p:spPr>
          <a:xfrm>
            <a:off x="7360920" y="3429000"/>
            <a:ext cx="4069080" cy="777240"/>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500" b="1">
                <a:solidFill>
                  <a:srgbClr val="191F1C"/>
                </a:solidFill>
                <a:latin typeface="Aptos"/>
              </a:defRPr>
            </a:pPr>
            <a:r>
              <a:t>C = 1 pF is a numerical state capacitor; tau sets the dynamics.</a:t>
            </a:r>
          </a:p>
        </p:txBody>
      </p:sp>
      <p:sp>
        <p:nvSpPr>
          <p:cNvPr id="8" name="TextBox 7"/>
          <p:cNvSpPr txBox="1"/>
          <p:nvPr/>
        </p:nvSpPr>
        <p:spPr>
          <a:xfrm>
            <a:off x="1097280" y="4709160"/>
            <a:ext cx="9875520" cy="411480"/>
          </a:xfrm>
          <a:prstGeom prst="rect">
            <a:avLst/>
          </a:prstGeom>
          <a:noFill/>
        </p:spPr>
        <p:txBody>
          <a:bodyPr wrap="square" lIns="45720" rIns="45720" anchor="t">
            <a:spAutoFit/>
          </a:bodyPr>
          <a:lstStyle/>
          <a:p>
            <a:pPr algn="ctr">
              <a:defRPr sz="1900" b="1">
                <a:solidFill>
                  <a:srgbClr val="2B7A43"/>
                </a:solidFill>
                <a:latin typeface="Aptos"/>
              </a:defRPr>
            </a:pPr>
            <a:r>
              <a:t>At each solver step: Gnew = Gold + (dG/dt) Delta t</a:t>
            </a:r>
          </a:p>
        </p:txBody>
      </p:sp>
      <p:sp>
        <p:nvSpPr>
          <p:cNvPr id="9" name="Rectangle 8"/>
          <p:cNvSpPr/>
          <p:nvPr/>
        </p:nvSpPr>
        <p:spPr>
          <a:xfrm>
            <a:off x="384048" y="6062472"/>
            <a:ext cx="11109960" cy="393192"/>
          </a:xfrm>
          <a:prstGeom prst="rect">
            <a:avLst/>
          </a:prstGeom>
          <a:solidFill>
            <a:srgbClr val="F1F8F2"/>
          </a:solidFill>
          <a:ln>
            <a:solidFill>
              <a:srgbClr val="F1F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2B7A43"/>
                </a:solidFill>
                <a:latin typeface="Aptos"/>
              </a:defRPr>
            </a:pPr>
            <a:r>
              <a:t>The previous capacitor voltage is the initial condition for the next timestep and for any reversal.</a:t>
            </a:r>
          </a:p>
        </p:txBody>
      </p:sp>
      <p:sp>
        <p:nvSpPr>
          <p:cNvPr id="10" name="TextBox 9"/>
          <p:cNvSpPr txBox="1"/>
          <p:nvPr/>
        </p:nvSpPr>
        <p:spPr>
          <a:xfrm>
            <a:off x="475488" y="6547104"/>
            <a:ext cx="10789920" cy="164592"/>
          </a:xfrm>
          <a:prstGeom prst="rect">
            <a:avLst/>
          </a:prstGeom>
          <a:noFill/>
        </p:spPr>
        <p:txBody>
          <a:bodyPr wrap="square" lIns="45720" rIns="45720" anchor="t">
            <a:spAutoFit/>
          </a:bodyPr>
          <a:lstStyle/>
          <a:p>
            <a:pPr algn="l">
              <a:defRPr sz="750" b="0">
                <a:solidFill>
                  <a:srgbClr val="666C68"/>
                </a:solidFill>
                <a:latin typeface="Aptos"/>
              </a:defRPr>
            </a:pPr>
            <a:r>
              <a:t>Source: handwritten notes, IBIS kukd .pdf (2026-07-22)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700" b="0">
                <a:solidFill>
                  <a:srgbClr val="000000"/>
                </a:solidFill>
                <a:latin typeface="Times New Roman"/>
              </a:defRPr>
            </a:pPr>
            <a:r>
              <a:t>11. The stored state selects Ku/Kd, which scale IBIS currents</a:t>
            </a:r>
          </a:p>
        </p:txBody>
      </p:sp>
      <p:sp>
        <p:nvSpPr>
          <p:cNvPr id="3" name="TextBox 2"/>
          <p:cNvSpPr txBox="1"/>
          <p:nvPr/>
        </p:nvSpPr>
        <p:spPr>
          <a:xfrm>
            <a:off x="9372600" y="109728"/>
            <a:ext cx="2148840" cy="228600"/>
          </a:xfrm>
          <a:prstGeom prst="rect">
            <a:avLst/>
          </a:prstGeom>
          <a:noFill/>
        </p:spPr>
        <p:txBody>
          <a:bodyPr wrap="square" lIns="45720" rIns="45720" anchor="t">
            <a:spAutoFit/>
          </a:bodyPr>
          <a:lstStyle/>
          <a:p>
            <a:pPr algn="r">
              <a:defRPr sz="950" b="1">
                <a:solidFill>
                  <a:srgbClr val="666C68"/>
                </a:solidFill>
                <a:latin typeface="Aptos"/>
              </a:defRPr>
            </a:pPr>
            <a:r>
              <a:t>IMPLEMENTATION</a:t>
            </a:r>
          </a:p>
        </p:txBody>
      </p:sp>
      <p:sp>
        <p:nvSpPr>
          <p:cNvPr id="4" name="Rounded Rectangle 3"/>
          <p:cNvSpPr/>
          <p:nvPr/>
        </p:nvSpPr>
        <p:spPr>
          <a:xfrm>
            <a:off x="594360" y="1234440"/>
            <a:ext cx="1874519" cy="713232"/>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400" b="1">
                <a:solidFill>
                  <a:srgbClr val="191F1C"/>
                </a:solidFill>
                <a:latin typeface="Aptos"/>
              </a:defRPr>
            </a:pPr>
            <a:r>
              <a:t>Input history</a:t>
            </a:r>
          </a:p>
        </p:txBody>
      </p:sp>
      <p:cxnSp>
        <p:nvCxnSpPr>
          <p:cNvPr id="5" name="Connector 4"/>
          <p:cNvCxnSpPr/>
          <p:nvPr/>
        </p:nvCxnSpPr>
        <p:spPr>
          <a:xfrm>
            <a:off x="2468879" y="1591056"/>
            <a:ext cx="1158241" cy="0"/>
          </a:xfrm>
          <a:prstGeom prst="line">
            <a:avLst/>
          </a:prstGeom>
          <a:ln w="27940">
            <a:solidFill>
              <a:srgbClr val="2B7A43"/>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3627119" y="1234440"/>
            <a:ext cx="1874519" cy="713232"/>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400" b="1">
                <a:solidFill>
                  <a:srgbClr val="191F1C"/>
                </a:solidFill>
                <a:latin typeface="Aptos"/>
              </a:defRPr>
            </a:pPr>
            <a:r>
              <a:t>GUP / GDN</a:t>
            </a:r>
          </a:p>
        </p:txBody>
      </p:sp>
      <p:cxnSp>
        <p:nvCxnSpPr>
          <p:cNvPr id="7" name="Connector 6"/>
          <p:cNvCxnSpPr/>
          <p:nvPr/>
        </p:nvCxnSpPr>
        <p:spPr>
          <a:xfrm>
            <a:off x="5501639" y="1591056"/>
            <a:ext cx="1158240" cy="0"/>
          </a:xfrm>
          <a:prstGeom prst="line">
            <a:avLst/>
          </a:prstGeom>
          <a:ln w="27940">
            <a:solidFill>
              <a:srgbClr val="2B7A43"/>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659880" y="1234440"/>
            <a:ext cx="1874519" cy="713232"/>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400" b="1">
                <a:solidFill>
                  <a:srgbClr val="191F1C"/>
                </a:solidFill>
                <a:latin typeface="Aptos"/>
              </a:defRPr>
            </a:pPr>
            <a:r>
              <a:t>Ku / Kd maps</a:t>
            </a:r>
          </a:p>
        </p:txBody>
      </p:sp>
      <p:cxnSp>
        <p:nvCxnSpPr>
          <p:cNvPr id="9" name="Connector 8"/>
          <p:cNvCxnSpPr/>
          <p:nvPr/>
        </p:nvCxnSpPr>
        <p:spPr>
          <a:xfrm>
            <a:off x="8534399" y="1591056"/>
            <a:ext cx="1158241" cy="0"/>
          </a:xfrm>
          <a:prstGeom prst="line">
            <a:avLst/>
          </a:prstGeom>
          <a:ln w="27940">
            <a:solidFill>
              <a:srgbClr val="2B7A43"/>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9692640" y="1234440"/>
            <a:ext cx="1874519" cy="713232"/>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400" b="1">
                <a:solidFill>
                  <a:srgbClr val="191F1C"/>
                </a:solidFill>
                <a:latin typeface="Aptos"/>
              </a:defRPr>
            </a:pPr>
            <a:r>
              <a:t>IBIS V-I current</a:t>
            </a:r>
          </a:p>
        </p:txBody>
      </p:sp>
      <p:pic>
        <p:nvPicPr>
          <p:cNvPr id="11" name="Picture 10" descr="Equation: K_u=f_{\mathrm{PU,dir}}(GUP),\qquad K_d=f_{\mathrm{PD,dir}}(GDN)"/>
          <p:cNvPicPr>
            <a:picLocks noChangeAspect="1"/>
          </p:cNvPicPr>
          <p:nvPr/>
        </p:nvPicPr>
        <p:blipFill>
          <a:blip r:embed="rId3"/>
          <a:stretch>
            <a:fillRect/>
          </a:stretch>
        </p:blipFill>
        <p:spPr>
          <a:xfrm>
            <a:off x="1097280" y="2638342"/>
            <a:ext cx="9966960" cy="529754"/>
          </a:xfrm>
          <a:prstGeom prst="rect">
            <a:avLst/>
          </a:prstGeom>
        </p:spPr>
      </p:pic>
      <p:pic>
        <p:nvPicPr>
          <p:cNvPr id="12" name="Picture 11" descr="Equation: I_{\mathrm{PU}}(t)=K_u(t)\,I_{\mathrm{PU,full}}(V)"/>
          <p:cNvPicPr>
            <a:picLocks noChangeAspect="1"/>
          </p:cNvPicPr>
          <p:nvPr/>
        </p:nvPicPr>
        <p:blipFill>
          <a:blip r:embed="rId4"/>
          <a:stretch>
            <a:fillRect/>
          </a:stretch>
        </p:blipFill>
        <p:spPr>
          <a:xfrm>
            <a:off x="777240" y="3914667"/>
            <a:ext cx="5212080" cy="491705"/>
          </a:xfrm>
          <a:prstGeom prst="rect">
            <a:avLst/>
          </a:prstGeom>
        </p:spPr>
      </p:pic>
      <p:pic>
        <p:nvPicPr>
          <p:cNvPr id="13" name="Picture 12" descr="Equation: I_{\mathrm{PD}}(t)=K_d(t)\,I_{\mathrm{PD,full}}(V)"/>
          <p:cNvPicPr>
            <a:picLocks noChangeAspect="1"/>
          </p:cNvPicPr>
          <p:nvPr/>
        </p:nvPicPr>
        <p:blipFill>
          <a:blip r:embed="rId5"/>
          <a:stretch>
            <a:fillRect/>
          </a:stretch>
        </p:blipFill>
        <p:spPr>
          <a:xfrm>
            <a:off x="6172200" y="3914335"/>
            <a:ext cx="5212080" cy="492369"/>
          </a:xfrm>
          <a:prstGeom prst="rect">
            <a:avLst/>
          </a:prstGeom>
        </p:spPr>
      </p:pic>
      <p:sp>
        <p:nvSpPr>
          <p:cNvPr id="14" name="Rounded Rectangle 13"/>
          <p:cNvSpPr/>
          <p:nvPr/>
        </p:nvSpPr>
        <p:spPr>
          <a:xfrm>
            <a:off x="2971800" y="4800600"/>
            <a:ext cx="6172200" cy="713232"/>
          </a:xfrm>
          <a:prstGeom prst="roundRect">
            <a:avLst/>
          </a:prstGeom>
          <a:solidFill>
            <a:srgbClr val="F6F8F7"/>
          </a:solidFill>
          <a:ln w="12700">
            <a:solidFill>
              <a:srgbClr val="A4AEA8"/>
            </a:solidFill>
          </a:ln>
        </p:spPr>
        <p:style>
          <a:lnRef idx="1">
            <a:schemeClr val="accent1"/>
          </a:lnRef>
          <a:fillRef idx="3">
            <a:schemeClr val="accent1"/>
          </a:fillRef>
          <a:effectRef idx="2">
            <a:schemeClr val="accent1"/>
          </a:effectRef>
          <a:fontRef idx="minor">
            <a:schemeClr val="lt1"/>
          </a:fontRef>
        </p:style>
        <p:txBody>
          <a:bodyPr rtlCol="0" anchor="ctr" wrap="none" lIns="118872" rIns="73152" tIns="91440" bIns="73152"/>
          <a:lstStyle/>
          <a:p>
            <a:pPr algn="ctr">
              <a:defRPr sz="1200">
                <a:solidFill>
                  <a:srgbClr val="1E3027"/>
                </a:solidFill>
                <a:latin typeface="Consolas"/>
              </a:defRPr>
            </a:pPr>
            <a:r>
              <a:t>B3 DIE PULLUP_REF I={V(Ku)*pwl(...)}</a:t>
            </a:r>
            <a:br/>
            <a:r>
              <a:t>B4 DIE PULLDOWN_REF I={V(Kd)*pwl(...)}</a:t>
            </a:r>
          </a:p>
        </p:txBody>
      </p:sp>
      <p:sp>
        <p:nvSpPr>
          <p:cNvPr id="15" name="Rectangle 14"/>
          <p:cNvSpPr/>
          <p:nvPr/>
        </p:nvSpPr>
        <p:spPr>
          <a:xfrm>
            <a:off x="384048" y="6062472"/>
            <a:ext cx="11109960" cy="393192"/>
          </a:xfrm>
          <a:prstGeom prst="rect">
            <a:avLst/>
          </a:prstGeom>
          <a:solidFill>
            <a:srgbClr val="F1F8F2"/>
          </a:solidFill>
          <a:ln>
            <a:solidFill>
              <a:srgbClr val="F1F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2B7A43"/>
                </a:solidFill>
                <a:latin typeface="Aptos"/>
              </a:defRPr>
            </a:pPr>
            <a:r>
              <a:t>The innovation is state tracking; the established IBIS coefficient-scaled V-I structure remains intact.</a:t>
            </a:r>
          </a:p>
        </p:txBody>
      </p:sp>
      <p:sp>
        <p:nvSpPr>
          <p:cNvPr id="16" name="TextBox 15"/>
          <p:cNvSpPr txBox="1"/>
          <p:nvPr/>
        </p:nvSpPr>
        <p:spPr>
          <a:xfrm>
            <a:off x="475488" y="6547104"/>
            <a:ext cx="10789920" cy="164592"/>
          </a:xfrm>
          <a:prstGeom prst="rect">
            <a:avLst/>
          </a:prstGeom>
          <a:noFill/>
        </p:spPr>
        <p:txBody>
          <a:bodyPr wrap="square" lIns="45720" rIns="45720" anchor="t">
            <a:spAutoFit/>
          </a:bodyPr>
          <a:lstStyle/>
          <a:p>
            <a:pPr algn="l">
              <a:defRPr sz="750" b="0">
                <a:solidFill>
                  <a:srgbClr val="666C68"/>
                </a:solidFill>
                <a:latin typeface="Aptos"/>
              </a:defRPr>
            </a:pPr>
            <a:r>
              <a:t>Source: handwritten notes, IBIS kukd .pdf (2026-07-22)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700" b="0">
                <a:solidFill>
                  <a:srgbClr val="000000"/>
                </a:solidFill>
                <a:latin typeface="Times New Roman"/>
              </a:defRPr>
            </a:pPr>
            <a:r>
              <a:t>12. What the handwritten model establishes</a:t>
            </a:r>
          </a:p>
        </p:txBody>
      </p:sp>
      <p:sp>
        <p:nvSpPr>
          <p:cNvPr id="3" name="TextBox 2"/>
          <p:cNvSpPr txBox="1"/>
          <p:nvPr/>
        </p:nvSpPr>
        <p:spPr>
          <a:xfrm>
            <a:off x="9372600" y="109728"/>
            <a:ext cx="2148840" cy="228600"/>
          </a:xfrm>
          <a:prstGeom prst="rect">
            <a:avLst/>
          </a:prstGeom>
          <a:noFill/>
        </p:spPr>
        <p:txBody>
          <a:bodyPr wrap="square" lIns="45720" rIns="45720" anchor="t">
            <a:spAutoFit/>
          </a:bodyPr>
          <a:lstStyle/>
          <a:p>
            <a:pPr algn="r">
              <a:defRPr sz="950" b="1">
                <a:solidFill>
                  <a:srgbClr val="666C68"/>
                </a:solidFill>
                <a:latin typeface="Aptos"/>
              </a:defRPr>
            </a:pPr>
            <a:r>
              <a:t>SUMMARY</a:t>
            </a:r>
          </a:p>
        </p:txBody>
      </p:sp>
      <p:sp>
        <p:nvSpPr>
          <p:cNvPr id="4" name="Rounded Rectangle 3"/>
          <p:cNvSpPr/>
          <p:nvPr/>
        </p:nvSpPr>
        <p:spPr>
          <a:xfrm>
            <a:off x="594360" y="1234440"/>
            <a:ext cx="1965960" cy="914400"/>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800" b="1">
                <a:solidFill>
                  <a:srgbClr val="191F1C"/>
                </a:solidFill>
                <a:latin typeface="Aptos"/>
              </a:defRPr>
            </a:pPr>
            <a:r>
              <a:t>1</a:t>
            </a:r>
            <a:br/>
            <a:r>
              <a:t>Store progress</a:t>
            </a:r>
          </a:p>
        </p:txBody>
      </p:sp>
      <p:sp>
        <p:nvSpPr>
          <p:cNvPr id="5" name="Rounded Rectangle 4"/>
          <p:cNvSpPr/>
          <p:nvPr/>
        </p:nvSpPr>
        <p:spPr>
          <a:xfrm>
            <a:off x="2788920" y="1234440"/>
            <a:ext cx="1965960" cy="914400"/>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800" b="1">
                <a:solidFill>
                  <a:srgbClr val="191F1C"/>
                </a:solidFill>
                <a:latin typeface="Aptos"/>
              </a:defRPr>
            </a:pPr>
            <a:r>
              <a:t>2</a:t>
            </a:r>
            <a:br/>
            <a:r>
              <a:t>Fit four paths</a:t>
            </a:r>
          </a:p>
        </p:txBody>
      </p:sp>
      <p:sp>
        <p:nvSpPr>
          <p:cNvPr id="6" name="Rounded Rectangle 5"/>
          <p:cNvSpPr/>
          <p:nvPr/>
        </p:nvSpPr>
        <p:spPr>
          <a:xfrm>
            <a:off x="4983480" y="1234440"/>
            <a:ext cx="1965960" cy="914400"/>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800" b="1">
                <a:solidFill>
                  <a:srgbClr val="191F1C"/>
                </a:solidFill>
                <a:latin typeface="Aptos"/>
              </a:defRPr>
            </a:pPr>
            <a:r>
              <a:t>3</a:t>
            </a:r>
            <a:br/>
            <a:r>
              <a:t>Map K=f(G)</a:t>
            </a:r>
          </a:p>
        </p:txBody>
      </p:sp>
      <p:sp>
        <p:nvSpPr>
          <p:cNvPr id="7" name="Rounded Rectangle 6"/>
          <p:cNvSpPr/>
          <p:nvPr/>
        </p:nvSpPr>
        <p:spPr>
          <a:xfrm>
            <a:off x="7178040" y="1234440"/>
            <a:ext cx="1965960" cy="914400"/>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800" b="1">
                <a:solidFill>
                  <a:srgbClr val="191F1C"/>
                </a:solidFill>
                <a:latin typeface="Aptos"/>
              </a:defRPr>
            </a:pPr>
            <a:r>
              <a:t>4</a:t>
            </a:r>
            <a:br/>
            <a:r>
              <a:t>Integrate runtime</a:t>
            </a:r>
          </a:p>
        </p:txBody>
      </p:sp>
      <p:sp>
        <p:nvSpPr>
          <p:cNvPr id="8" name="Rounded Rectangle 7"/>
          <p:cNvSpPr/>
          <p:nvPr/>
        </p:nvSpPr>
        <p:spPr>
          <a:xfrm>
            <a:off x="9372600" y="1234440"/>
            <a:ext cx="1965960" cy="914400"/>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800" b="1">
                <a:solidFill>
                  <a:srgbClr val="191F1C"/>
                </a:solidFill>
                <a:latin typeface="Aptos"/>
              </a:defRPr>
            </a:pPr>
            <a:r>
              <a:t>5</a:t>
            </a:r>
            <a:br/>
            <a:r>
              <a:t>Scale IBIS V-I</a:t>
            </a:r>
          </a:p>
        </p:txBody>
      </p:sp>
      <p:sp>
        <p:nvSpPr>
          <p:cNvPr id="9" name="TextBox 8"/>
          <p:cNvSpPr txBox="1"/>
          <p:nvPr/>
        </p:nvSpPr>
        <p:spPr>
          <a:xfrm>
            <a:off x="777240" y="2788920"/>
            <a:ext cx="2011680" cy="365760"/>
          </a:xfrm>
          <a:prstGeom prst="rect">
            <a:avLst/>
          </a:prstGeom>
          <a:noFill/>
        </p:spPr>
        <p:txBody>
          <a:bodyPr wrap="square" lIns="45720" rIns="45720" anchor="t">
            <a:spAutoFit/>
          </a:bodyPr>
          <a:lstStyle/>
          <a:p>
            <a:pPr algn="l">
              <a:defRPr sz="2000" b="1">
                <a:solidFill>
                  <a:srgbClr val="2B7A43"/>
                </a:solidFill>
                <a:latin typeface="Aptos"/>
              </a:defRPr>
            </a:pPr>
            <a:r>
              <a:t>Strengths</a:t>
            </a:r>
          </a:p>
        </p:txBody>
      </p:sp>
      <p:sp>
        <p:nvSpPr>
          <p:cNvPr id="10" name="TextBox 9"/>
          <p:cNvSpPr txBox="1"/>
          <p:nvPr/>
        </p:nvSpPr>
        <p:spPr>
          <a:xfrm>
            <a:off x="777240" y="3246120"/>
            <a:ext cx="4846320" cy="1828800"/>
          </a:xfrm>
          <a:prstGeom prst="rect">
            <a:avLst/>
          </a:prstGeom>
          <a:noFill/>
        </p:spPr>
        <p:txBody>
          <a:bodyPr wrap="square" lIns="73152" rIns="36576" tIns="36576" bIns="36576">
            <a:spAutoFit/>
          </a:bodyPr>
          <a:lstStyle/>
          <a:p>
            <a:pPr>
              <a:spcAft>
                <a:spcPts val="700"/>
              </a:spcAft>
              <a:defRPr sz="1700">
                <a:solidFill>
                  <a:srgbClr val="191F1C"/>
                </a:solidFill>
                <a:latin typeface="Aptos"/>
              </a:defRPr>
            </a:pPr>
            <a:r>
              <a:t>- Continuous mid-transition state</a:t>
            </a:r>
          </a:p>
          <a:p>
            <a:pPr>
              <a:spcAft>
                <a:spcPts val="700"/>
              </a:spcAft>
              <a:defRPr sz="1700">
                <a:solidFill>
                  <a:srgbClr val="191F1C"/>
                </a:solidFill>
                <a:latin typeface="Aptos"/>
              </a:defRPr>
            </a:pPr>
            <a:r>
              <a:t>- No elapsed-time reset</a:t>
            </a:r>
          </a:p>
          <a:p>
            <a:pPr>
              <a:spcAft>
                <a:spcPts val="700"/>
              </a:spcAft>
              <a:defRPr sz="1700">
                <a:solidFill>
                  <a:srgbClr val="191F1C"/>
                </a:solidFill>
                <a:latin typeface="Aptos"/>
              </a:defRPr>
            </a:pPr>
            <a:r>
              <a:t>- Preserves original coefficient tables</a:t>
            </a:r>
          </a:p>
          <a:p>
            <a:pPr>
              <a:spcAft>
                <a:spcPts val="700"/>
              </a:spcAft>
              <a:defRPr sz="1700">
                <a:solidFill>
                  <a:srgbClr val="191F1C"/>
                </a:solidFill>
                <a:latin typeface="Aptos"/>
              </a:defRPr>
            </a:pPr>
            <a:r>
              <a:t>- Naturally handles arbitrary pulse width</a:t>
            </a:r>
          </a:p>
        </p:txBody>
      </p:sp>
      <p:sp>
        <p:nvSpPr>
          <p:cNvPr id="11" name="TextBox 10"/>
          <p:cNvSpPr txBox="1"/>
          <p:nvPr/>
        </p:nvSpPr>
        <p:spPr>
          <a:xfrm>
            <a:off x="6172200" y="2788920"/>
            <a:ext cx="2926080" cy="365760"/>
          </a:xfrm>
          <a:prstGeom prst="rect">
            <a:avLst/>
          </a:prstGeom>
          <a:noFill/>
        </p:spPr>
        <p:txBody>
          <a:bodyPr wrap="square" lIns="45720" rIns="45720" anchor="t">
            <a:spAutoFit/>
          </a:bodyPr>
          <a:lstStyle/>
          <a:p>
            <a:pPr algn="l">
              <a:defRPr sz="2000" b="1">
                <a:solidFill>
                  <a:srgbClr val="CA3030"/>
                </a:solidFill>
                <a:latin typeface="Aptos"/>
              </a:defRPr>
            </a:pPr>
            <a:r>
              <a:t>Validation still required</a:t>
            </a:r>
          </a:p>
        </p:txBody>
      </p:sp>
      <p:sp>
        <p:nvSpPr>
          <p:cNvPr id="12" name="TextBox 11"/>
          <p:cNvSpPr txBox="1"/>
          <p:nvPr/>
        </p:nvSpPr>
        <p:spPr>
          <a:xfrm>
            <a:off x="6172200" y="3246120"/>
            <a:ext cx="5029200" cy="1828800"/>
          </a:xfrm>
          <a:prstGeom prst="rect">
            <a:avLst/>
          </a:prstGeom>
          <a:noFill/>
        </p:spPr>
        <p:txBody>
          <a:bodyPr wrap="square" lIns="73152" rIns="36576" tIns="36576" bIns="36576">
            <a:spAutoFit/>
          </a:bodyPr>
          <a:lstStyle/>
          <a:p>
            <a:pPr>
              <a:spcAft>
                <a:spcPts val="700"/>
              </a:spcAft>
              <a:defRPr sz="1700">
                <a:solidFill>
                  <a:srgbClr val="191F1C"/>
                </a:solidFill>
                <a:latin typeface="Aptos"/>
              </a:defRPr>
            </a:pPr>
            <a:r>
              <a:t>- Normal Ku/Kd reconstruction</a:t>
            </a:r>
          </a:p>
          <a:p>
            <a:pPr>
              <a:spcAft>
                <a:spcPts val="700"/>
              </a:spcAft>
              <a:defRPr sz="1700">
                <a:solidFill>
                  <a:srgbClr val="191F1C"/>
                </a:solidFill>
                <a:latin typeface="Aptos"/>
              </a:defRPr>
            </a:pPr>
            <a:r>
              <a:t>- Directional-map continuity</a:t>
            </a:r>
          </a:p>
          <a:p>
            <a:pPr>
              <a:spcAft>
                <a:spcPts val="700"/>
              </a:spcAft>
              <a:defRPr sz="1700">
                <a:solidFill>
                  <a:srgbClr val="191F1C"/>
                </a:solidFill>
                <a:latin typeface="Aptos"/>
              </a:defRPr>
            </a:pPr>
            <a:r>
              <a:t>- Short-high and short-low coefficients</a:t>
            </a:r>
          </a:p>
          <a:p>
            <a:pPr>
              <a:spcAft>
                <a:spcPts val="700"/>
              </a:spcAft>
              <a:defRPr sz="1700">
                <a:solidFill>
                  <a:srgbClr val="191F1C"/>
                </a:solidFill>
                <a:latin typeface="Aptos"/>
              </a:defRPr>
            </a:pPr>
            <a:r>
              <a:t>- Pad comparison against native IBIS and transistor SPICE</a:t>
            </a:r>
          </a:p>
        </p:txBody>
      </p:sp>
      <p:sp>
        <p:nvSpPr>
          <p:cNvPr id="13" name="Rectangle 12"/>
          <p:cNvSpPr/>
          <p:nvPr/>
        </p:nvSpPr>
        <p:spPr>
          <a:xfrm>
            <a:off x="384048" y="6062472"/>
            <a:ext cx="11109960" cy="393192"/>
          </a:xfrm>
          <a:prstGeom prst="rect">
            <a:avLst/>
          </a:prstGeom>
          <a:solidFill>
            <a:srgbClr val="F1F8F2"/>
          </a:solidFill>
          <a:ln>
            <a:solidFill>
              <a:srgbClr val="F1F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2B7A43"/>
                </a:solidFill>
                <a:latin typeface="Aptos"/>
              </a:defRPr>
            </a:pPr>
            <a:r>
              <a:t>Continuous state solves the restart mechanism; evidence decides whether the chosen state model is sufficient.</a:t>
            </a:r>
          </a:p>
        </p:txBody>
      </p:sp>
      <p:sp>
        <p:nvSpPr>
          <p:cNvPr id="14" name="TextBox 13"/>
          <p:cNvSpPr txBox="1"/>
          <p:nvPr/>
        </p:nvSpPr>
        <p:spPr>
          <a:xfrm>
            <a:off x="475488" y="6547104"/>
            <a:ext cx="10789920" cy="164592"/>
          </a:xfrm>
          <a:prstGeom prst="rect">
            <a:avLst/>
          </a:prstGeom>
          <a:noFill/>
        </p:spPr>
        <p:txBody>
          <a:bodyPr wrap="square" lIns="45720" rIns="45720" anchor="t">
            <a:spAutoFit/>
          </a:bodyPr>
          <a:lstStyle/>
          <a:p>
            <a:pPr algn="l">
              <a:defRPr sz="750" b="0">
                <a:solidFill>
                  <a:srgbClr val="666C68"/>
                </a:solidFill>
                <a:latin typeface="Aptos"/>
              </a:defRPr>
            </a:pPr>
            <a:r>
              <a:t>Source: handwritten notes, IBIS kukd .pdf (2026-07-22)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700" b="0">
                <a:solidFill>
                  <a:srgbClr val="000000"/>
                </a:solidFill>
                <a:latin typeface="Times New Roman"/>
              </a:defRPr>
            </a:pPr>
            <a:r>
              <a:t>Appendix: original handwritten source</a:t>
            </a:r>
          </a:p>
        </p:txBody>
      </p:sp>
      <p:sp>
        <p:nvSpPr>
          <p:cNvPr id="3" name="TextBox 2"/>
          <p:cNvSpPr txBox="1"/>
          <p:nvPr/>
        </p:nvSpPr>
        <p:spPr>
          <a:xfrm>
            <a:off x="9372600" y="109728"/>
            <a:ext cx="2148840" cy="228600"/>
          </a:xfrm>
          <a:prstGeom prst="rect">
            <a:avLst/>
          </a:prstGeom>
          <a:noFill/>
        </p:spPr>
        <p:txBody>
          <a:bodyPr wrap="square" lIns="45720" rIns="45720" anchor="t">
            <a:spAutoFit/>
          </a:bodyPr>
          <a:lstStyle/>
          <a:p>
            <a:pPr algn="r">
              <a:defRPr sz="950" b="1">
                <a:solidFill>
                  <a:srgbClr val="666C68"/>
                </a:solidFill>
                <a:latin typeface="Aptos"/>
              </a:defRPr>
            </a:pPr>
            <a:r>
              <a:t>SOURCE</a:t>
            </a:r>
          </a:p>
        </p:txBody>
      </p:sp>
      <p:sp>
        <p:nvSpPr>
          <p:cNvPr id="4" name="Rectangle 3"/>
          <p:cNvSpPr/>
          <p:nvPr/>
        </p:nvSpPr>
        <p:spPr>
          <a:xfrm>
            <a:off x="475488" y="1040387"/>
            <a:ext cx="3483864" cy="4914385"/>
          </a:xfrm>
          <a:prstGeom prst="rect">
            <a:avLst/>
          </a:prstGeom>
          <a:solidFill>
            <a:srgbClr val="FFFFFF"/>
          </a:solidFill>
          <a:ln w="10160">
            <a:solidFill>
              <a:srgbClr val="CBD0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ource_page_01_deck.jpg"/>
          <p:cNvPicPr>
            <a:picLocks noChangeAspect="1"/>
          </p:cNvPicPr>
          <p:nvPr/>
        </p:nvPicPr>
        <p:blipFill>
          <a:blip r:embed="rId3"/>
          <a:stretch>
            <a:fillRect/>
          </a:stretch>
        </p:blipFill>
        <p:spPr>
          <a:xfrm>
            <a:off x="502920" y="1067819"/>
            <a:ext cx="3429000" cy="4859521"/>
          </a:xfrm>
          <a:prstGeom prst="rect">
            <a:avLst/>
          </a:prstGeom>
        </p:spPr>
      </p:pic>
      <p:sp>
        <p:nvSpPr>
          <p:cNvPr id="6" name="TextBox 5"/>
          <p:cNvSpPr txBox="1"/>
          <p:nvPr/>
        </p:nvSpPr>
        <p:spPr>
          <a:xfrm>
            <a:off x="1508760" y="5715000"/>
            <a:ext cx="1463040" cy="228600"/>
          </a:xfrm>
          <a:prstGeom prst="rect">
            <a:avLst/>
          </a:prstGeom>
          <a:noFill/>
        </p:spPr>
        <p:txBody>
          <a:bodyPr wrap="square" lIns="45720" rIns="45720" anchor="t">
            <a:spAutoFit/>
          </a:bodyPr>
          <a:lstStyle/>
          <a:p>
            <a:pPr algn="ctr">
              <a:defRPr sz="1100" b="1">
                <a:solidFill>
                  <a:srgbClr val="191F1C"/>
                </a:solidFill>
                <a:latin typeface="Aptos"/>
              </a:defRPr>
            </a:pPr>
            <a:r>
              <a:t>Page 1</a:t>
            </a:r>
          </a:p>
        </p:txBody>
      </p:sp>
      <p:sp>
        <p:nvSpPr>
          <p:cNvPr id="7" name="Rectangle 6"/>
          <p:cNvSpPr/>
          <p:nvPr/>
        </p:nvSpPr>
        <p:spPr>
          <a:xfrm>
            <a:off x="4270248" y="1198435"/>
            <a:ext cx="3483864" cy="4598289"/>
          </a:xfrm>
          <a:prstGeom prst="rect">
            <a:avLst/>
          </a:prstGeom>
          <a:solidFill>
            <a:srgbClr val="FFFFFF"/>
          </a:solidFill>
          <a:ln w="10160">
            <a:solidFill>
              <a:srgbClr val="CBD0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ource_page_02_deck.jpg"/>
          <p:cNvPicPr>
            <a:picLocks noChangeAspect="1"/>
          </p:cNvPicPr>
          <p:nvPr/>
        </p:nvPicPr>
        <p:blipFill>
          <a:blip r:embed="rId4"/>
          <a:stretch>
            <a:fillRect/>
          </a:stretch>
        </p:blipFill>
        <p:spPr>
          <a:xfrm>
            <a:off x="4297680" y="1225867"/>
            <a:ext cx="3429000" cy="4543425"/>
          </a:xfrm>
          <a:prstGeom prst="rect">
            <a:avLst/>
          </a:prstGeom>
        </p:spPr>
      </p:pic>
      <p:sp>
        <p:nvSpPr>
          <p:cNvPr id="9" name="TextBox 8"/>
          <p:cNvSpPr txBox="1"/>
          <p:nvPr/>
        </p:nvSpPr>
        <p:spPr>
          <a:xfrm>
            <a:off x="5303520" y="5715000"/>
            <a:ext cx="1463040" cy="228600"/>
          </a:xfrm>
          <a:prstGeom prst="rect">
            <a:avLst/>
          </a:prstGeom>
          <a:noFill/>
        </p:spPr>
        <p:txBody>
          <a:bodyPr wrap="square" lIns="45720" rIns="45720" anchor="t">
            <a:spAutoFit/>
          </a:bodyPr>
          <a:lstStyle/>
          <a:p>
            <a:pPr algn="ctr">
              <a:defRPr sz="1100" b="1">
                <a:solidFill>
                  <a:srgbClr val="191F1C"/>
                </a:solidFill>
                <a:latin typeface="Aptos"/>
              </a:defRPr>
            </a:pPr>
            <a:r>
              <a:t>Page 2</a:t>
            </a:r>
          </a:p>
        </p:txBody>
      </p:sp>
      <p:sp>
        <p:nvSpPr>
          <p:cNvPr id="10" name="Rectangle 9"/>
          <p:cNvSpPr/>
          <p:nvPr/>
        </p:nvSpPr>
        <p:spPr>
          <a:xfrm>
            <a:off x="8065008" y="1234154"/>
            <a:ext cx="3483864" cy="4526851"/>
          </a:xfrm>
          <a:prstGeom prst="rect">
            <a:avLst/>
          </a:prstGeom>
          <a:solidFill>
            <a:srgbClr val="FFFFFF"/>
          </a:solidFill>
          <a:ln w="10160">
            <a:solidFill>
              <a:srgbClr val="CBD0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source_page_03_deck.jpg"/>
          <p:cNvPicPr>
            <a:picLocks noChangeAspect="1"/>
          </p:cNvPicPr>
          <p:nvPr/>
        </p:nvPicPr>
        <p:blipFill>
          <a:blip r:embed="rId5"/>
          <a:stretch>
            <a:fillRect/>
          </a:stretch>
        </p:blipFill>
        <p:spPr>
          <a:xfrm>
            <a:off x="8092440" y="1261586"/>
            <a:ext cx="3429000" cy="4471987"/>
          </a:xfrm>
          <a:prstGeom prst="rect">
            <a:avLst/>
          </a:prstGeom>
        </p:spPr>
      </p:pic>
      <p:sp>
        <p:nvSpPr>
          <p:cNvPr id="12" name="TextBox 11"/>
          <p:cNvSpPr txBox="1"/>
          <p:nvPr/>
        </p:nvSpPr>
        <p:spPr>
          <a:xfrm>
            <a:off x="9098280" y="5715000"/>
            <a:ext cx="1463040" cy="228600"/>
          </a:xfrm>
          <a:prstGeom prst="rect">
            <a:avLst/>
          </a:prstGeom>
          <a:noFill/>
        </p:spPr>
        <p:txBody>
          <a:bodyPr wrap="square" lIns="45720" rIns="45720" anchor="t">
            <a:spAutoFit/>
          </a:bodyPr>
          <a:lstStyle/>
          <a:p>
            <a:pPr algn="ctr">
              <a:defRPr sz="1100" b="1">
                <a:solidFill>
                  <a:srgbClr val="191F1C"/>
                </a:solidFill>
                <a:latin typeface="Aptos"/>
              </a:defRPr>
            </a:pPr>
            <a:r>
              <a:t>Page 3</a:t>
            </a:r>
          </a:p>
        </p:txBody>
      </p:sp>
      <p:sp>
        <p:nvSpPr>
          <p:cNvPr id="13" name="TextBox 12"/>
          <p:cNvSpPr txBox="1"/>
          <p:nvPr/>
        </p:nvSpPr>
        <p:spPr>
          <a:xfrm>
            <a:off x="475488" y="6547104"/>
            <a:ext cx="10789920" cy="164592"/>
          </a:xfrm>
          <a:prstGeom prst="rect">
            <a:avLst/>
          </a:prstGeom>
          <a:noFill/>
        </p:spPr>
        <p:txBody>
          <a:bodyPr wrap="square" lIns="45720" rIns="45720" anchor="t">
            <a:spAutoFit/>
          </a:bodyPr>
          <a:lstStyle/>
          <a:p>
            <a:pPr algn="l">
              <a:defRPr sz="750" b="0">
                <a:solidFill>
                  <a:srgbClr val="666C68"/>
                </a:solidFill>
                <a:latin typeface="Aptos"/>
              </a:defRPr>
            </a:pPr>
            <a:r>
              <a:t>Original PDF: \\minerfiles.mst.edu\dfs\users\sh3qm\Downloads\IBIS kukd .pdf</a:t>
            </a:r>
          </a:p>
        </p:txBody>
      </p:sp>
    </p:spTree>
  </p:cSld>
  <p:clrMapOvr>
    <a:masterClrMapping/>
  </p:clrMapOvr>
</p:sld>
</file>

<file path=ppt/theme/theme1.xml><?xml version="1.0" encoding="utf-8"?>
<a:theme xmlns:a="http://schemas.openxmlformats.org/drawingml/2006/main" name="1_MST_EMC_lab_theme">
  <a:themeElements>
    <a:clrScheme name="Level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Level">
      <a:majorFont>
        <a:latin typeface="Times New Roman"/>
        <a:ea typeface=""/>
        <a:cs typeface="Arial"/>
      </a:majorFont>
      <a:minorFont>
        <a:latin typeface="Times New Roman"/>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w="12700">
          <a:solidFill>
            <a:schemeClr val="tx1"/>
          </a:solidFill>
        </a:ln>
      </a:spPr>
      <a:bodyPr rtlCol="0" anchor="ctr"/>
      <a:lstStyle>
        <a:defPPr algn="ctr">
          <a:defRPr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9050">
          <a:solidFill>
            <a:schemeClr val="tx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raClrScheme>
      <a:clrScheme name="Level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Level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Level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Level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Level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Level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Level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Level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MST_EMC_lab_theme" id="{F84A9E38-8E53-459B-962B-D11E178A4856}" vid="{AF41A44A-DCC1-4496-8938-47400BABA38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3</Slides>
  <Notes>1</Notes>
  <HiddenSlides>0</HiddenSlides>
  <ScaleCrop>false</ScaleCrop>
  <HeadingPairs>
    <vt:vector size="4" baseType="variant">
      <vt:variant>
        <vt:lpstr>Theme</vt:lpstr>
      </vt:variant>
      <vt:variant>
        <vt:i4>1</vt:i4>
      </vt:variant>
      <vt:variant>
        <vt:lpstr>Slide Titles</vt:lpstr>
      </vt:variant>
      <vt:variant>
        <vt:i4>3</vt:i4>
      </vt:variant>
    </vt:vector>
  </HeadingPairs>
  <TitlesOfParts>
    <vt:vector size="4" baseType="lpstr">
      <vt:lpstr>1_MST_EMC_lab_theme</vt:lpstr>
      <vt:lpstr>IBIS Simulation in Ngspice</vt:lpstr>
      <vt:lpstr>"Replay Problem" for Short Pulse</vt:lpstr>
      <vt:lpstr>Why "Value-matched" Method Fails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Lee, Seonghi</dc:creator>
  <cp:revision>53</cp:revision>
  <dcterms:created xsi:type="dcterms:W3CDTF">2025-07-07T19:11:35Z</dcterms:created>
  <dcterms:modified xsi:type="dcterms:W3CDTF">2026-07-14T07:11:59Z</dcterms:modified>
</cp:coreProperties>
</file>