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4"/>
    <p:sldId id="258" r:id="rId3"/>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This version follows the handwritten terminology and sequence. Vc_PU and Vc_PD are capacitor voltages that track pullup and pulldown transition progress. No additional timing concepts are introduced.</a:t>
            </a:r>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begin with the mid-transition problem. A rising edge starts Ku_rising and Kd_rising. If a falling edge arrives before they settle, restarting Ku_falling and Kd_falling at the beginning can force new coefficient values rather than continue from the values already reached.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handwritten solution is to use a capacitor voltage. Capacitor voltage cannot jump instantaneously. Its present value therefore records how far the transition has progressed.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starts from V0, the capacitor voltage already present when the target changes. The same equation therefore covers a full transition and a change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rising, the target is one and the initial value is zero. For falling, the target is zero and the initial value is one. These are the two normalized capacitor-voltage curves used throughout the rest of the notes.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one tau, a rising first-order response reaches 63.2 percent. The handwritten method therefore estimates each tau from the time at which the corresponding normalized Ku or Kd table reaches the equivalent 63-percent transition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name the four constants by pullup or pulldown and by input transition direction: PU-rising, PU-falling, PD-rising, and PD-falling.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pair each original coefficient sample with the Vc value at the same table time. The example shown is Ku_rising versus Vc_PU_rising. Repeat the same process for Ku_falling, Kd_rising, and Kd_falling.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makes explicit the result of the handwritten mapping step. There are four relationships: pullup rising and falling, plus pulldown rising and falling. These are prepared before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handwritten runtime example begins from stable low. Vc_PU is zero and Vc_PD is one. On a rising input edge, the pullup target becomes one and the pulldown target becomes zero. The two rising-direction tau values govern the capacitor voltages.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falling edge, the targets flip and the model changes from rising-direction tau values to falling-direction tau values. Vc_PU and Vc_PD do not jump; they continue from the values already reached. The falling Ku/Kd versus Vc relationships are then used.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uses cached ngspice data from the short_pulse_1ns_high case. The internal numerical capacitor voltages are relabeled in the handwritten notation as Vc_PU and Vc_PD. Both are continuous. Their measured turning points are shown without introducing another timing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coefficient result of using the capacitor voltages as lookup coordinates. The capacitor voltages are continuous, but changing between the rising and falling relationships still produces sharp coefficient changes in the present implementation. The measured adjacent-sample changes are annotated. This directly motivates the first next-step question in the handwritten notes.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handwritten statement is that Ku and Kd retain their normal role in the IBIS current calculation. The difference is only how their values are selected: from Vc_PU and Vc_PD rather than directly from elapsed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expresses the capacitor-voltage equations in SPICE syntax while retaining the handwritten Vc names. Each capacitor stores one voltage. Each behavioral current source makes that voltage approach its target according to the selected tau.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end with five next steps. First, test whether Vc should only locate the correct starting point for Ku/Kd when an edge arrives in the middle. Then investigate the unusual HSPICE result, check termination capacitance from about 1 fF to 10 pF with driver-strength dependence, create a SPICE buffer using ADS, and talk to Jianchuan about the inverter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handwritten pages used as the vocabulary and sequence for this strict version.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500" b="1">
                <a:solidFill>
                  <a:srgbClr val="000000"/>
                </a:solidFill>
                <a:latin typeface="Times New Roman"/>
              </a:defRPr>
            </a:pPr>
            <a:r>
              <a:t>Continuous Vc Model for IBIS Ku/Kd</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Strict transcription of the handwritten derivation</a:t>
            </a:r>
          </a:p>
          <a:p>
            <a:pPr algn="ctr">
              <a:defRPr sz="1600">
                <a:solidFill>
                  <a:srgbClr val="000000"/>
                </a:solidFill>
                <a:latin typeface="Times New Roman"/>
              </a:defRPr>
            </a:pPr>
            <a:r>
              <a:t>IBIS short-pulse study</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 Problem: changing tables in the middle is not continuous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PROBLEM</a:t>
            </a:r>
          </a:p>
        </p:txBody>
      </p:sp>
      <p:pic>
        <p:nvPicPr>
          <p:cNvPr id="4" name="Picture 3" descr="01_mid_transition_problem.png"/>
          <p:cNvPicPr>
            <a:picLocks noChangeAspect="1"/>
          </p:cNvPicPr>
          <p:nvPr/>
        </p:nvPicPr>
        <p:blipFill>
          <a:blip r:embed="rId3"/>
          <a:stretch>
            <a:fillRect/>
          </a:stretch>
        </p:blipFill>
        <p:spPr>
          <a:xfrm>
            <a:off x="594360" y="1998787"/>
            <a:ext cx="6629400" cy="2357504"/>
          </a:xfrm>
          <a:prstGeom prst="rect">
            <a:avLst/>
          </a:prstGeom>
        </p:spPr>
      </p:pic>
      <p:pic>
        <p:nvPicPr>
          <p:cNvPr id="5" name="Picture 4" descr="Equation: \left\{Ku_{\mathrm{rising}}(t),Kd_{\mathrm{rising}}(t)\right\}\;\longrightarrow\;\left\{Ku_{\mathrm{falling}}(0),Kd_{\mathrm{falling}}(0)\right\}"/>
          <p:cNvPicPr>
            <a:picLocks noChangeAspect="1"/>
          </p:cNvPicPr>
          <p:nvPr/>
        </p:nvPicPr>
        <p:blipFill>
          <a:blip r:embed="rId4"/>
          <a:stretch>
            <a:fillRect/>
          </a:stretch>
        </p:blipFill>
        <p:spPr>
          <a:xfrm>
            <a:off x="7178040" y="1643019"/>
            <a:ext cx="4251960" cy="188680"/>
          </a:xfrm>
          <a:prstGeom prst="rect">
            <a:avLst/>
          </a:prstGeom>
        </p:spPr>
      </p:pic>
      <p:sp>
        <p:nvSpPr>
          <p:cNvPr id="6" name="TextBox 5"/>
          <p:cNvSpPr txBox="1"/>
          <p:nvPr/>
        </p:nvSpPr>
        <p:spPr>
          <a:xfrm>
            <a:off x="7360920" y="2606040"/>
            <a:ext cx="3886200" cy="1920240"/>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The first transition has not reached its endpoint.</a:t>
            </a:r>
          </a:p>
          <a:p>
            <a:pPr>
              <a:spcAft>
                <a:spcPts val="700"/>
              </a:spcAft>
              <a:defRPr sz="1600">
                <a:solidFill>
                  <a:srgbClr val="191F1C"/>
                </a:solidFill>
                <a:latin typeface="Aptos"/>
              </a:defRPr>
            </a:pPr>
            <a:r>
              <a:t>- The falling tables assume their own starting condition.</a:t>
            </a:r>
          </a:p>
          <a:p>
            <a:pPr>
              <a:spcAft>
                <a:spcPts val="700"/>
              </a:spcAft>
              <a:defRPr sz="1600">
                <a:solidFill>
                  <a:srgbClr val="191F1C"/>
                </a:solidFill>
                <a:latin typeface="Aptos"/>
              </a:defRPr>
            </a:pPr>
            <a:r>
              <a:t>- A continuous quantity is needed to remember transition progress.</a:t>
            </a:r>
          </a:p>
        </p:txBody>
      </p:sp>
      <p:sp>
        <p:nvSpPr>
          <p:cNvPr id="7" name="Rectangle 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short-pulse problem is a mid-transition starting-point problem.</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2. Use capacitor voltage Vc to keep a continuous transition state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VC</a:t>
            </a:r>
          </a:p>
        </p:txBody>
      </p:sp>
      <p:sp>
        <p:nvSpPr>
          <p:cNvPr id="4" name="Rounded Rectangle 3"/>
          <p:cNvSpPr/>
          <p:nvPr/>
        </p:nvSpPr>
        <p:spPr>
          <a:xfrm>
            <a:off x="777240" y="1737360"/>
            <a:ext cx="123444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Vtarget</a:t>
            </a:r>
            <a:br/>
            <a:r>
              <a:t>0 or 1</a:t>
            </a:r>
          </a:p>
        </p:txBody>
      </p:sp>
      <p:cxnSp>
        <p:nvCxnSpPr>
          <p:cNvPr id="5" name="Connector 4"/>
          <p:cNvCxnSpPr/>
          <p:nvPr/>
        </p:nvCxnSpPr>
        <p:spPr>
          <a:xfrm>
            <a:off x="2011680" y="2103120"/>
            <a:ext cx="36576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377440" y="1901952"/>
            <a:ext cx="1005840" cy="402336"/>
          </a:xfrm>
          <a:prstGeom prst="rect">
            <a:avLst/>
          </a:prstGeom>
          <a:solidFill>
            <a:srgbClr val="FFFFFF"/>
          </a:solidFill>
          <a:ln w="22860">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latin typeface="Aptos"/>
              </a:defRPr>
            </a:pPr>
            <a:r>
              <a:t>R</a:t>
            </a:r>
          </a:p>
        </p:txBody>
      </p:sp>
      <p:cxnSp>
        <p:nvCxnSpPr>
          <p:cNvPr id="7" name="Connector 6"/>
          <p:cNvCxnSpPr/>
          <p:nvPr/>
        </p:nvCxnSpPr>
        <p:spPr>
          <a:xfrm>
            <a:off x="3383280" y="2103120"/>
            <a:ext cx="4572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776472" y="2039112"/>
            <a:ext cx="128016" cy="128016"/>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3840480" y="2103120"/>
            <a:ext cx="0" cy="566928"/>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2670048"/>
            <a:ext cx="64008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20440" y="2852928"/>
            <a:ext cx="64008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840480" y="2852928"/>
            <a:ext cx="0" cy="36576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566160" y="3218688"/>
            <a:ext cx="54864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657600" y="3328416"/>
            <a:ext cx="365759"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39896" y="3438144"/>
            <a:ext cx="201167"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77639" y="1874519"/>
            <a:ext cx="731520" cy="320040"/>
          </a:xfrm>
          <a:prstGeom prst="rect">
            <a:avLst/>
          </a:prstGeom>
          <a:noFill/>
        </p:spPr>
        <p:txBody>
          <a:bodyPr wrap="square" lIns="45720" rIns="45720" anchor="t">
            <a:spAutoFit/>
          </a:bodyPr>
          <a:lstStyle/>
          <a:p>
            <a:pPr algn="l">
              <a:defRPr sz="1800" b="1">
                <a:solidFill>
                  <a:srgbClr val="2B7A43"/>
                </a:solidFill>
                <a:latin typeface="Aptos"/>
              </a:defRPr>
            </a:pPr>
            <a:r>
              <a:t>Vc</a:t>
            </a:r>
          </a:p>
        </p:txBody>
      </p:sp>
      <p:sp>
        <p:nvSpPr>
          <p:cNvPr id="17" name="TextBox 16"/>
          <p:cNvSpPr txBox="1"/>
          <p:nvPr/>
        </p:nvSpPr>
        <p:spPr>
          <a:xfrm>
            <a:off x="4233672" y="2670048"/>
            <a:ext cx="1417320" cy="365760"/>
          </a:xfrm>
          <a:prstGeom prst="rect">
            <a:avLst/>
          </a:prstGeom>
          <a:noFill/>
        </p:spPr>
        <p:txBody>
          <a:bodyPr wrap="square" lIns="45720" rIns="45720" anchor="t">
            <a:spAutoFit/>
          </a:bodyPr>
          <a:lstStyle/>
          <a:p>
            <a:pPr algn="l">
              <a:defRPr sz="1400" b="0">
                <a:solidFill>
                  <a:srgbClr val="666C68"/>
                </a:solidFill>
                <a:latin typeface="Aptos"/>
              </a:defRPr>
            </a:pPr>
            <a:r>
              <a:t>C stores Vc</a:t>
            </a:r>
          </a:p>
        </p:txBody>
      </p:sp>
      <p:sp>
        <p:nvSpPr>
          <p:cNvPr id="18" name="TextBox 17"/>
          <p:cNvSpPr txBox="1"/>
          <p:nvPr/>
        </p:nvSpPr>
        <p:spPr>
          <a:xfrm>
            <a:off x="868680" y="4160520"/>
            <a:ext cx="4023360" cy="411480"/>
          </a:xfrm>
          <a:prstGeom prst="rect">
            <a:avLst/>
          </a:prstGeom>
          <a:noFill/>
        </p:spPr>
        <p:txBody>
          <a:bodyPr wrap="square" lIns="45720" rIns="45720" anchor="t">
            <a:spAutoFit/>
          </a:bodyPr>
          <a:lstStyle/>
          <a:p>
            <a:pPr algn="ctr">
              <a:defRPr sz="2000" b="1">
                <a:solidFill>
                  <a:srgbClr val="2B7A43"/>
                </a:solidFill>
                <a:latin typeface="Aptos"/>
              </a:defRPr>
            </a:pPr>
            <a:r>
              <a:t>Vtarget = 0 or 1</a:t>
            </a:r>
          </a:p>
        </p:txBody>
      </p:sp>
      <p:pic>
        <p:nvPicPr>
          <p:cNvPr id="19" name="Picture 18" descr="Equation: I_C=C\frac{dV_C}{dt}=\frac{V_{\mathrm{target}}-V_C}{R}"/>
          <p:cNvPicPr>
            <a:picLocks noChangeAspect="1"/>
          </p:cNvPicPr>
          <p:nvPr/>
        </p:nvPicPr>
        <p:blipFill>
          <a:blip r:embed="rId3"/>
          <a:stretch>
            <a:fillRect/>
          </a:stretch>
        </p:blipFill>
        <p:spPr>
          <a:xfrm>
            <a:off x="6064163" y="1234440"/>
            <a:ext cx="4605193" cy="822960"/>
          </a:xfrm>
          <a:prstGeom prst="rect">
            <a:avLst/>
          </a:prstGeom>
        </p:spPr>
      </p:pic>
      <p:pic>
        <p:nvPicPr>
          <p:cNvPr id="20" name="Picture 19" descr="Equation: \frac{dV_C}{dt}=\frac{V_{\mathrm{target}}-V_C}{RC}"/>
          <p:cNvPicPr>
            <a:picLocks noChangeAspect="1"/>
          </p:cNvPicPr>
          <p:nvPr/>
        </p:nvPicPr>
        <p:blipFill>
          <a:blip r:embed="rId4"/>
          <a:stretch>
            <a:fillRect/>
          </a:stretch>
        </p:blipFill>
        <p:spPr>
          <a:xfrm>
            <a:off x="6667291" y="2423160"/>
            <a:ext cx="3398937" cy="822960"/>
          </a:xfrm>
          <a:prstGeom prst="rect">
            <a:avLst/>
          </a:prstGeom>
        </p:spPr>
      </p:pic>
      <p:sp>
        <p:nvSpPr>
          <p:cNvPr id="21" name="Rounded Rectangle 20"/>
          <p:cNvSpPr/>
          <p:nvPr/>
        </p:nvSpPr>
        <p:spPr>
          <a:xfrm>
            <a:off x="6400800" y="3794760"/>
            <a:ext cx="393192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 keeps the present transition position.</a:t>
            </a:r>
          </a:p>
        </p:txBody>
      </p:sp>
      <p:sp>
        <p:nvSpPr>
          <p:cNvPr id="22" name="Rectangle 2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capacitor carries the previous value into the next solver timestep.</a:t>
            </a:r>
          </a:p>
        </p:txBody>
      </p:sp>
      <p:sp>
        <p:nvSpPr>
          <p:cNvPr id="23" name="TextBox 2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3. Solve the first-order Vc equation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EQUATION</a:t>
            </a:r>
          </a:p>
        </p:txBody>
      </p:sp>
      <p:pic>
        <p:nvPicPr>
          <p:cNvPr id="4" name="Picture 3" descr="Equation: \tau=RC"/>
          <p:cNvPicPr>
            <a:picLocks noChangeAspect="1"/>
          </p:cNvPicPr>
          <p:nvPr/>
        </p:nvPicPr>
        <p:blipFill>
          <a:blip r:embed="rId3"/>
          <a:stretch>
            <a:fillRect/>
          </a:stretch>
        </p:blipFill>
        <p:spPr>
          <a:xfrm>
            <a:off x="777240" y="1233637"/>
            <a:ext cx="2560320" cy="550244"/>
          </a:xfrm>
          <a:prstGeom prst="rect">
            <a:avLst/>
          </a:prstGeom>
        </p:spPr>
      </p:pic>
      <p:pic>
        <p:nvPicPr>
          <p:cNvPr id="5" name="Picture 4" descr="Equation: \frac{dV_C}{dt}=\frac{V_{\mathrm{target}}-V_C}{\tau}"/>
          <p:cNvPicPr>
            <a:picLocks noChangeAspect="1"/>
          </p:cNvPicPr>
          <p:nvPr/>
        </p:nvPicPr>
        <p:blipFill>
          <a:blip r:embed="rId4"/>
          <a:stretch>
            <a:fillRect/>
          </a:stretch>
        </p:blipFill>
        <p:spPr>
          <a:xfrm>
            <a:off x="3905118" y="1005840"/>
            <a:ext cx="3802642" cy="914400"/>
          </a:xfrm>
          <a:prstGeom prst="rect">
            <a:avLst/>
          </a:prstGeom>
        </p:spPr>
      </p:pic>
      <p:pic>
        <p:nvPicPr>
          <p:cNvPr id="6" name="Picture 5" descr="Equation: V_C(t)=V_{\mathrm{target}}+\left(V_0-V_{\mathrm{target}}\right)e^{-t/\tau}"/>
          <p:cNvPicPr>
            <a:picLocks noChangeAspect="1"/>
          </p:cNvPicPr>
          <p:nvPr/>
        </p:nvPicPr>
        <p:blipFill>
          <a:blip r:embed="rId5"/>
          <a:stretch>
            <a:fillRect/>
          </a:stretch>
        </p:blipFill>
        <p:spPr>
          <a:xfrm>
            <a:off x="1143000" y="2546639"/>
            <a:ext cx="9875520" cy="804601"/>
          </a:xfrm>
          <a:prstGeom prst="rect">
            <a:avLst/>
          </a:prstGeom>
        </p:spPr>
      </p:pic>
      <p:sp>
        <p:nvSpPr>
          <p:cNvPr id="7" name="Rounded Rectangle 6"/>
          <p:cNvSpPr/>
          <p:nvPr/>
        </p:nvSpPr>
        <p:spPr>
          <a:xfrm>
            <a:off x="2194560" y="4023360"/>
            <a:ext cx="7772400" cy="6583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V0 is the capacitor voltage already reached.</a:t>
            </a:r>
          </a:p>
        </p:txBody>
      </p:sp>
      <p:sp>
        <p:nvSpPr>
          <p:cNvPr id="8" name="TextBox 7"/>
          <p:cNvSpPr txBox="1"/>
          <p:nvPr/>
        </p:nvSpPr>
        <p:spPr>
          <a:xfrm>
            <a:off x="2331720" y="4800600"/>
            <a:ext cx="7498079" cy="9144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Vtarget selects the destination.</a:t>
            </a:r>
          </a:p>
          <a:p>
            <a:pPr>
              <a:spcAft>
                <a:spcPts val="300"/>
              </a:spcAft>
              <a:defRPr sz="1700">
                <a:solidFill>
                  <a:srgbClr val="191F1C"/>
                </a:solidFill>
                <a:latin typeface="Aptos"/>
              </a:defRPr>
            </a:pPr>
            <a:r>
              <a:t>- Tau selects how quickly Vc moves.</a:t>
            </a:r>
          </a:p>
          <a:p>
            <a:pPr>
              <a:spcAft>
                <a:spcPts val="300"/>
              </a:spcAft>
              <a:defRPr sz="1700">
                <a:solidFill>
                  <a:srgbClr val="191F1C"/>
                </a:solidFill>
                <a:latin typeface="Aptos"/>
              </a:defRPr>
            </a:pPr>
            <a:r>
              <a:t>- Vc itself is not restarted.</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 new input edge changes the equation parameters, not the stored Vc value.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4. Rising and falling are the two Vc solutions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EQUATION</a:t>
            </a:r>
          </a:p>
        </p:txBody>
      </p:sp>
      <p:sp>
        <p:nvSpPr>
          <p:cNvPr id="4" name="TextBox 3"/>
          <p:cNvSpPr txBox="1"/>
          <p:nvPr/>
        </p:nvSpPr>
        <p:spPr>
          <a:xfrm>
            <a:off x="914400" y="1097280"/>
            <a:ext cx="2011680" cy="411480"/>
          </a:xfrm>
          <a:prstGeom prst="rect">
            <a:avLst/>
          </a:prstGeom>
          <a:noFill/>
        </p:spPr>
        <p:txBody>
          <a:bodyPr wrap="square" lIns="45720" rIns="45720" anchor="t">
            <a:spAutoFit/>
          </a:bodyPr>
          <a:lstStyle/>
          <a:p>
            <a:pPr algn="ctr">
              <a:defRPr sz="2200" b="1">
                <a:solidFill>
                  <a:srgbClr val="2B7A43"/>
                </a:solidFill>
                <a:latin typeface="Aptos"/>
              </a:defRPr>
            </a:pPr>
            <a:r>
              <a:t>Rising</a:t>
            </a:r>
          </a:p>
        </p:txBody>
      </p:sp>
      <p:pic>
        <p:nvPicPr>
          <p:cNvPr id="5" name="Picture 4" descr="Equation: V_C(t)=1-e^{-t/\tau}"/>
          <p:cNvPicPr>
            <a:picLocks noChangeAspect="1"/>
          </p:cNvPicPr>
          <p:nvPr/>
        </p:nvPicPr>
        <p:blipFill>
          <a:blip r:embed="rId3"/>
          <a:stretch>
            <a:fillRect/>
          </a:stretch>
        </p:blipFill>
        <p:spPr>
          <a:xfrm>
            <a:off x="685800" y="1783621"/>
            <a:ext cx="4572000" cy="730437"/>
          </a:xfrm>
          <a:prstGeom prst="rect">
            <a:avLst/>
          </a:prstGeom>
        </p:spPr>
      </p:pic>
      <p:sp>
        <p:nvSpPr>
          <p:cNvPr id="6" name="TextBox 5"/>
          <p:cNvSpPr txBox="1"/>
          <p:nvPr/>
        </p:nvSpPr>
        <p:spPr>
          <a:xfrm>
            <a:off x="1005840" y="2743200"/>
            <a:ext cx="3931920" cy="411480"/>
          </a:xfrm>
          <a:prstGeom prst="rect">
            <a:avLst/>
          </a:prstGeom>
          <a:noFill/>
        </p:spPr>
        <p:txBody>
          <a:bodyPr wrap="square" lIns="45720" rIns="45720" anchor="t">
            <a:spAutoFit/>
          </a:bodyPr>
          <a:lstStyle/>
          <a:p>
            <a:pPr algn="ctr">
              <a:defRPr sz="1800" b="1">
                <a:solidFill>
                  <a:srgbClr val="191F1C"/>
                </a:solidFill>
                <a:latin typeface="Aptos"/>
              </a:defRPr>
            </a:pPr>
            <a:r>
              <a:t>Vtarget = 1, V0 = 0</a:t>
            </a:r>
          </a:p>
        </p:txBody>
      </p:sp>
      <p:sp>
        <p:nvSpPr>
          <p:cNvPr id="7" name="TextBox 6"/>
          <p:cNvSpPr txBox="1"/>
          <p:nvPr/>
        </p:nvSpPr>
        <p:spPr>
          <a:xfrm>
            <a:off x="6720840" y="1097280"/>
            <a:ext cx="2011680" cy="411480"/>
          </a:xfrm>
          <a:prstGeom prst="rect">
            <a:avLst/>
          </a:prstGeom>
          <a:noFill/>
        </p:spPr>
        <p:txBody>
          <a:bodyPr wrap="square" lIns="45720" rIns="45720" anchor="t">
            <a:spAutoFit/>
          </a:bodyPr>
          <a:lstStyle/>
          <a:p>
            <a:pPr algn="ctr">
              <a:defRPr sz="2200" b="1">
                <a:solidFill>
                  <a:srgbClr val="2467AD"/>
                </a:solidFill>
                <a:latin typeface="Aptos"/>
              </a:defRPr>
            </a:pPr>
            <a:r>
              <a:t>Falling</a:t>
            </a:r>
          </a:p>
        </p:txBody>
      </p:sp>
      <p:pic>
        <p:nvPicPr>
          <p:cNvPr id="8" name="Picture 7" descr="Equation: V_C(t)=e^{-t/\tau}"/>
          <p:cNvPicPr>
            <a:picLocks noChangeAspect="1"/>
          </p:cNvPicPr>
          <p:nvPr/>
        </p:nvPicPr>
        <p:blipFill>
          <a:blip r:embed="rId4"/>
          <a:stretch>
            <a:fillRect/>
          </a:stretch>
        </p:blipFill>
        <p:spPr>
          <a:xfrm>
            <a:off x="6294120" y="1737360"/>
            <a:ext cx="3962400" cy="822960"/>
          </a:xfrm>
          <a:prstGeom prst="rect">
            <a:avLst/>
          </a:prstGeom>
        </p:spPr>
      </p:pic>
      <p:sp>
        <p:nvSpPr>
          <p:cNvPr id="9" name="TextBox 8"/>
          <p:cNvSpPr txBox="1"/>
          <p:nvPr/>
        </p:nvSpPr>
        <p:spPr>
          <a:xfrm>
            <a:off x="6309360" y="2743200"/>
            <a:ext cx="3931920" cy="411480"/>
          </a:xfrm>
          <a:prstGeom prst="rect">
            <a:avLst/>
          </a:prstGeom>
          <a:noFill/>
        </p:spPr>
        <p:txBody>
          <a:bodyPr wrap="square" lIns="45720" rIns="45720" anchor="t">
            <a:spAutoFit/>
          </a:bodyPr>
          <a:lstStyle/>
          <a:p>
            <a:pPr algn="ctr">
              <a:defRPr sz="1800" b="1">
                <a:solidFill>
                  <a:srgbClr val="191F1C"/>
                </a:solidFill>
                <a:latin typeface="Aptos"/>
              </a:defRPr>
            </a:pPr>
            <a:r>
              <a:t>Vtarget = 0, V0 = 1</a:t>
            </a:r>
          </a:p>
        </p:txBody>
      </p:sp>
      <p:sp>
        <p:nvSpPr>
          <p:cNvPr id="10" name="Rounded Rectangle 9"/>
          <p:cNvSpPr/>
          <p:nvPr/>
        </p:nvSpPr>
        <p:spPr>
          <a:xfrm>
            <a:off x="2286000" y="4023360"/>
            <a:ext cx="75895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Both equations keep Vc continuous when the target changes.</a:t>
            </a:r>
          </a:p>
        </p:txBody>
      </p:sp>
      <p:sp>
        <p:nvSpPr>
          <p:cNvPr id="11" name="Rectangle 1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Rising moves Vc toward 1; falling moves Vc toward 0.</a:t>
            </a:r>
          </a:p>
        </p:txBody>
      </p:sp>
      <p:sp>
        <p:nvSpPr>
          <p:cNvPr id="12" name="TextBox 1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5. Obtain tau from the original Ku/Kd tables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TAU</a:t>
            </a:r>
          </a:p>
        </p:txBody>
      </p:sp>
      <p:pic>
        <p:nvPicPr>
          <p:cNvPr id="4" name="Picture 3" descr="02_tau_from_vc.png"/>
          <p:cNvPicPr>
            <a:picLocks noChangeAspect="1"/>
          </p:cNvPicPr>
          <p:nvPr/>
        </p:nvPicPr>
        <p:blipFill>
          <a:blip r:embed="rId3"/>
          <a:stretch>
            <a:fillRect/>
          </a:stretch>
        </p:blipFill>
        <p:spPr>
          <a:xfrm>
            <a:off x="594360" y="2087468"/>
            <a:ext cx="6492240" cy="2363022"/>
          </a:xfrm>
          <a:prstGeom prst="rect">
            <a:avLst/>
          </a:prstGeom>
        </p:spPr>
      </p:pic>
      <p:pic>
        <p:nvPicPr>
          <p:cNvPr id="5" name="Picture 4" descr="Equation: V_C(\tau)=1-e^{-1}\approx0.632"/>
          <p:cNvPicPr>
            <a:picLocks noChangeAspect="1"/>
          </p:cNvPicPr>
          <p:nvPr/>
        </p:nvPicPr>
        <p:blipFill>
          <a:blip r:embed="rId4"/>
          <a:stretch>
            <a:fillRect/>
          </a:stretch>
        </p:blipFill>
        <p:spPr>
          <a:xfrm>
            <a:off x="7040880" y="1479803"/>
            <a:ext cx="4389120" cy="469392"/>
          </a:xfrm>
          <a:prstGeom prst="rect">
            <a:avLst/>
          </a:prstGeom>
        </p:spPr>
      </p:pic>
      <p:sp>
        <p:nvSpPr>
          <p:cNvPr id="6" name="Rounded Rectangle 5"/>
          <p:cNvSpPr/>
          <p:nvPr/>
        </p:nvSpPr>
        <p:spPr>
          <a:xfrm>
            <a:off x="7178040" y="2514600"/>
            <a:ext cx="3931920" cy="10515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Example: use the time where Ku_rising reaches about 63% of its total change.</a:t>
            </a:r>
          </a:p>
        </p:txBody>
      </p:sp>
      <p:sp>
        <p:nvSpPr>
          <p:cNvPr id="7" name="Rounded Rectangle 6"/>
          <p:cNvSpPr/>
          <p:nvPr/>
        </p:nvSpPr>
        <p:spPr>
          <a:xfrm>
            <a:off x="7543800" y="4023360"/>
            <a:ext cx="3200400" cy="6583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Repeat for the other three tables.</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four tau values come directly from the original coefficient transitions.</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6. The result is four tau values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TAU</a:t>
            </a:r>
          </a:p>
        </p:txBody>
      </p:sp>
      <p:sp>
        <p:nvSpPr>
          <p:cNvPr id="4" name="TextBox 3"/>
          <p:cNvSpPr txBox="1"/>
          <p:nvPr/>
        </p:nvSpPr>
        <p:spPr>
          <a:xfrm>
            <a:off x="685800" y="1097280"/>
            <a:ext cx="2194560" cy="411480"/>
          </a:xfrm>
          <a:prstGeom prst="rect">
            <a:avLst/>
          </a:prstGeom>
          <a:noFill/>
        </p:spPr>
        <p:txBody>
          <a:bodyPr wrap="square" lIns="45720" rIns="45720" anchor="t">
            <a:spAutoFit/>
          </a:bodyPr>
          <a:lstStyle/>
          <a:p>
            <a:pPr algn="l">
              <a:defRPr sz="2100" b="1">
                <a:solidFill>
                  <a:srgbClr val="2B7A43"/>
                </a:solidFill>
                <a:latin typeface="Aptos"/>
              </a:defRPr>
            </a:pPr>
            <a:r>
              <a:t>Input rising</a:t>
            </a:r>
          </a:p>
        </p:txBody>
      </p:sp>
      <p:sp>
        <p:nvSpPr>
          <p:cNvPr id="5" name="Rounded Rectangle 4"/>
          <p:cNvSpPr/>
          <p:nvPr/>
        </p:nvSpPr>
        <p:spPr>
          <a:xfrm>
            <a:off x="68580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Vc_PU: 0 -&gt; 1</a:t>
            </a:r>
          </a:p>
        </p:txBody>
      </p:sp>
      <p:sp>
        <p:nvSpPr>
          <p:cNvPr id="6" name="Rounded Rectangle 5"/>
          <p:cNvSpPr/>
          <p:nvPr/>
        </p:nvSpPr>
        <p:spPr>
          <a:xfrm>
            <a:off x="333756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Vc_PD: 1 -&gt; 0</a:t>
            </a:r>
          </a:p>
        </p:txBody>
      </p:sp>
      <p:pic>
        <p:nvPicPr>
          <p:cNvPr id="7" name="Picture 6" descr="Equation: \tau_{\mathrm{PU,rising}}"/>
          <p:cNvPicPr>
            <a:picLocks noChangeAspect="1"/>
          </p:cNvPicPr>
          <p:nvPr/>
        </p:nvPicPr>
        <p:blipFill>
          <a:blip r:embed="rId3"/>
          <a:stretch>
            <a:fillRect/>
          </a:stretch>
        </p:blipFill>
        <p:spPr>
          <a:xfrm>
            <a:off x="685800" y="2862722"/>
            <a:ext cx="2331720" cy="492475"/>
          </a:xfrm>
          <a:prstGeom prst="rect">
            <a:avLst/>
          </a:prstGeom>
        </p:spPr>
      </p:pic>
      <p:pic>
        <p:nvPicPr>
          <p:cNvPr id="8" name="Picture 7" descr="Equation: \tau_{\mathrm{PD,rising}}"/>
          <p:cNvPicPr>
            <a:picLocks noChangeAspect="1"/>
          </p:cNvPicPr>
          <p:nvPr/>
        </p:nvPicPr>
        <p:blipFill>
          <a:blip r:embed="rId4"/>
          <a:stretch>
            <a:fillRect/>
          </a:stretch>
        </p:blipFill>
        <p:spPr>
          <a:xfrm>
            <a:off x="3337560" y="2863779"/>
            <a:ext cx="2331720" cy="490361"/>
          </a:xfrm>
          <a:prstGeom prst="rect">
            <a:avLst/>
          </a:prstGeom>
        </p:spPr>
      </p:pic>
      <p:sp>
        <p:nvSpPr>
          <p:cNvPr id="9" name="TextBox 8"/>
          <p:cNvSpPr txBox="1"/>
          <p:nvPr/>
        </p:nvSpPr>
        <p:spPr>
          <a:xfrm>
            <a:off x="6263640" y="1097280"/>
            <a:ext cx="2194560" cy="411480"/>
          </a:xfrm>
          <a:prstGeom prst="rect">
            <a:avLst/>
          </a:prstGeom>
          <a:noFill/>
        </p:spPr>
        <p:txBody>
          <a:bodyPr wrap="square" lIns="45720" rIns="45720" anchor="t">
            <a:spAutoFit/>
          </a:bodyPr>
          <a:lstStyle/>
          <a:p>
            <a:pPr algn="l">
              <a:defRPr sz="2100" b="1">
                <a:solidFill>
                  <a:srgbClr val="2B7A43"/>
                </a:solidFill>
                <a:latin typeface="Aptos"/>
              </a:defRPr>
            </a:pPr>
            <a:r>
              <a:t>Input falling</a:t>
            </a:r>
          </a:p>
        </p:txBody>
      </p:sp>
      <p:sp>
        <p:nvSpPr>
          <p:cNvPr id="10" name="Rounded Rectangle 9"/>
          <p:cNvSpPr/>
          <p:nvPr/>
        </p:nvSpPr>
        <p:spPr>
          <a:xfrm>
            <a:off x="626364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Vc_PU: 1 -&gt; 0</a:t>
            </a:r>
          </a:p>
        </p:txBody>
      </p:sp>
      <p:sp>
        <p:nvSpPr>
          <p:cNvPr id="11" name="Rounded Rectangle 10"/>
          <p:cNvSpPr/>
          <p:nvPr/>
        </p:nvSpPr>
        <p:spPr>
          <a:xfrm>
            <a:off x="891540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Vc_PD: 0 -&gt; 1</a:t>
            </a:r>
          </a:p>
        </p:txBody>
      </p:sp>
      <p:pic>
        <p:nvPicPr>
          <p:cNvPr id="12" name="Picture 11" descr="Equation: \tau_{\mathrm{PU,falling}}"/>
          <p:cNvPicPr>
            <a:picLocks noChangeAspect="1"/>
          </p:cNvPicPr>
          <p:nvPr/>
        </p:nvPicPr>
        <p:blipFill>
          <a:blip r:embed="rId5"/>
          <a:stretch>
            <a:fillRect/>
          </a:stretch>
        </p:blipFill>
        <p:spPr>
          <a:xfrm>
            <a:off x="6263640" y="2877676"/>
            <a:ext cx="2331720" cy="462567"/>
          </a:xfrm>
          <a:prstGeom prst="rect">
            <a:avLst/>
          </a:prstGeom>
        </p:spPr>
      </p:pic>
      <p:pic>
        <p:nvPicPr>
          <p:cNvPr id="13" name="Picture 12" descr="Equation: \tau_{\mathrm{PD,falling}}"/>
          <p:cNvPicPr>
            <a:picLocks noChangeAspect="1"/>
          </p:cNvPicPr>
          <p:nvPr/>
        </p:nvPicPr>
        <p:blipFill>
          <a:blip r:embed="rId6"/>
          <a:stretch>
            <a:fillRect/>
          </a:stretch>
        </p:blipFill>
        <p:spPr>
          <a:xfrm>
            <a:off x="8915400" y="2877676"/>
            <a:ext cx="2331720" cy="462567"/>
          </a:xfrm>
          <a:prstGeom prst="rect">
            <a:avLst/>
          </a:prstGeom>
        </p:spPr>
      </p:pic>
      <p:sp>
        <p:nvSpPr>
          <p:cNvPr id="14" name="Rounded Rectangle 13"/>
          <p:cNvSpPr/>
          <p:nvPr/>
        </p:nvSpPr>
        <p:spPr>
          <a:xfrm>
            <a:off x="2194560" y="4343400"/>
            <a:ext cx="7680960" cy="6858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No pullup/pulldown or rising/falling symmetry is assumed.</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Each original Ku/Kd table gets its corresponding Vc transition.</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7. Map Ku(t) and Kd(t) to Vc instead of time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MAPPING</a:t>
            </a:r>
          </a:p>
        </p:txBody>
      </p:sp>
      <p:pic>
        <p:nvPicPr>
          <p:cNvPr id="4" name="Picture 3" descr="03_ku_time_to_vc_mapping.png"/>
          <p:cNvPicPr>
            <a:picLocks noChangeAspect="1"/>
          </p:cNvPicPr>
          <p:nvPr/>
        </p:nvPicPr>
        <p:blipFill>
          <a:blip r:embed="rId3"/>
          <a:stretch>
            <a:fillRect/>
          </a:stretch>
        </p:blipFill>
        <p:spPr>
          <a:xfrm>
            <a:off x="411480" y="2081511"/>
            <a:ext cx="7406640" cy="2192056"/>
          </a:xfrm>
          <a:prstGeom prst="rect">
            <a:avLst/>
          </a:prstGeom>
        </p:spPr>
      </p:pic>
      <p:pic>
        <p:nvPicPr>
          <p:cNvPr id="5" name="Picture 4" descr="Equation: t_i\longrightarrow Vc_i=Vc(t_i)\longrightarrow(Vc_i,K_i)"/>
          <p:cNvPicPr>
            <a:picLocks noChangeAspect="1"/>
          </p:cNvPicPr>
          <p:nvPr/>
        </p:nvPicPr>
        <p:blipFill>
          <a:blip r:embed="rId4"/>
          <a:stretch>
            <a:fillRect/>
          </a:stretch>
        </p:blipFill>
        <p:spPr>
          <a:xfrm>
            <a:off x="7818120" y="1585363"/>
            <a:ext cx="3657600" cy="258272"/>
          </a:xfrm>
          <a:prstGeom prst="rect">
            <a:avLst/>
          </a:prstGeom>
        </p:spPr>
      </p:pic>
      <p:pic>
        <p:nvPicPr>
          <p:cNvPr id="6" name="Picture 5" descr="Equation: Ku_{\mathrm{rising}}=f_{\mathrm{PU,rising}}(Vc_{\mathrm{PU}})"/>
          <p:cNvPicPr>
            <a:picLocks noChangeAspect="1"/>
          </p:cNvPicPr>
          <p:nvPr/>
        </p:nvPicPr>
        <p:blipFill>
          <a:blip r:embed="rId5"/>
          <a:stretch>
            <a:fillRect/>
          </a:stretch>
        </p:blipFill>
        <p:spPr>
          <a:xfrm>
            <a:off x="7818120" y="2671804"/>
            <a:ext cx="3657600" cy="343959"/>
          </a:xfrm>
          <a:prstGeom prst="rect">
            <a:avLst/>
          </a:prstGeom>
        </p:spPr>
      </p:pic>
      <p:sp>
        <p:nvSpPr>
          <p:cNvPr id="7" name="Rounded Rectangle 6"/>
          <p:cNvSpPr/>
          <p:nvPr/>
        </p:nvSpPr>
        <p:spPr>
          <a:xfrm>
            <a:off x="7818120" y="3794760"/>
            <a:ext cx="365760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Create the same relationship for all four original tables.</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coefficient tables are retained; their lookup coordinate changes from t to Vc.</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8. Before simulation, prepare four Ku/Kd versus Vc relationships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PREPARATION</a:t>
            </a:r>
          </a:p>
        </p:txBody>
      </p:sp>
      <p:sp>
        <p:nvSpPr>
          <p:cNvPr id="4" name="Rounded Rectangle 3"/>
          <p:cNvSpPr/>
          <p:nvPr/>
        </p:nvSpPr>
        <p:spPr>
          <a:xfrm>
            <a:off x="68580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Ku_rising(Vc_PU)</a:t>
            </a:r>
          </a:p>
        </p:txBody>
      </p:sp>
      <p:sp>
        <p:nvSpPr>
          <p:cNvPr id="5" name="Rounded Rectangle 4"/>
          <p:cNvSpPr/>
          <p:nvPr/>
        </p:nvSpPr>
        <p:spPr>
          <a:xfrm>
            <a:off x="324612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Ku_falling(Vc_PU)</a:t>
            </a:r>
          </a:p>
        </p:txBody>
      </p:sp>
      <p:sp>
        <p:nvSpPr>
          <p:cNvPr id="6" name="Rounded Rectangle 5"/>
          <p:cNvSpPr/>
          <p:nvPr/>
        </p:nvSpPr>
        <p:spPr>
          <a:xfrm>
            <a:off x="580644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Kd_rising(Vc_PD)</a:t>
            </a:r>
          </a:p>
        </p:txBody>
      </p:sp>
      <p:sp>
        <p:nvSpPr>
          <p:cNvPr id="7" name="Rounded Rectangle 6"/>
          <p:cNvSpPr/>
          <p:nvPr/>
        </p:nvSpPr>
        <p:spPr>
          <a:xfrm>
            <a:off x="836676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Kd_falling(Vc_PD)</a:t>
            </a:r>
          </a:p>
        </p:txBody>
      </p:sp>
      <p:pic>
        <p:nvPicPr>
          <p:cNvPr id="8" name="Picture 7" descr="Equation: Ku(t)\;\longrightarrow\;Ku(Vc_{\mathrm{PU}})"/>
          <p:cNvPicPr>
            <a:picLocks noChangeAspect="1"/>
          </p:cNvPicPr>
          <p:nvPr/>
        </p:nvPicPr>
        <p:blipFill>
          <a:blip r:embed="rId3"/>
          <a:stretch>
            <a:fillRect/>
          </a:stretch>
        </p:blipFill>
        <p:spPr>
          <a:xfrm>
            <a:off x="1097280" y="2955808"/>
            <a:ext cx="4297680" cy="443463"/>
          </a:xfrm>
          <a:prstGeom prst="rect">
            <a:avLst/>
          </a:prstGeom>
        </p:spPr>
      </p:pic>
      <p:pic>
        <p:nvPicPr>
          <p:cNvPr id="9" name="Picture 8" descr="Equation: Kd(t)\;\longrightarrow\;Kd(Vc_{\mathrm{PD}})"/>
          <p:cNvPicPr>
            <a:picLocks noChangeAspect="1"/>
          </p:cNvPicPr>
          <p:nvPr/>
        </p:nvPicPr>
        <p:blipFill>
          <a:blip r:embed="rId4"/>
          <a:stretch>
            <a:fillRect/>
          </a:stretch>
        </p:blipFill>
        <p:spPr>
          <a:xfrm>
            <a:off x="5897880" y="2953771"/>
            <a:ext cx="4297680" cy="447537"/>
          </a:xfrm>
          <a:prstGeom prst="rect">
            <a:avLst/>
          </a:prstGeom>
        </p:spPr>
      </p:pic>
      <p:sp>
        <p:nvSpPr>
          <p:cNvPr id="10" name="Rounded Rectangle 9"/>
          <p:cNvSpPr/>
          <p:nvPr/>
        </p:nvSpPr>
        <p:spPr>
          <a:xfrm>
            <a:off x="2331720" y="4297680"/>
            <a:ext cx="749807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At runtime, the current Vc selects the coefficient value.</a:t>
            </a:r>
          </a:p>
        </p:txBody>
      </p:sp>
      <p:sp>
        <p:nvSpPr>
          <p:cNvPr id="11" name="Rectangle 1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Time is used during preparation; Vc is used during simulation.</a:t>
            </a:r>
          </a:p>
        </p:txBody>
      </p:sp>
      <p:sp>
        <p:nvSpPr>
          <p:cNvPr id="12" name="TextBox 1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9. Runtime example: stable low, then a rising edge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sp>
        <p:nvSpPr>
          <p:cNvPr id="4" name="Rounded Rectangle 3"/>
          <p:cNvSpPr/>
          <p:nvPr/>
        </p:nvSpPr>
        <p:spPr>
          <a:xfrm>
            <a:off x="640080" y="1143000"/>
            <a:ext cx="2057400" cy="10972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Stable low</a:t>
            </a:r>
            <a:br/>
            <a:r>
              <a:t>Vc_PU=0</a:t>
            </a:r>
            <a:br/>
            <a:r>
              <a:t>Vc_PD=1</a:t>
            </a:r>
          </a:p>
        </p:txBody>
      </p:sp>
      <p:cxnSp>
        <p:nvCxnSpPr>
          <p:cNvPr id="5" name="Connector 4"/>
          <p:cNvCxnSpPr/>
          <p:nvPr/>
        </p:nvCxnSpPr>
        <p:spPr>
          <a:xfrm>
            <a:off x="2697480" y="1691640"/>
            <a:ext cx="8229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520440" y="1143000"/>
            <a:ext cx="2514600" cy="10972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Rising edge</a:t>
            </a:r>
            <a:br/>
            <a:r>
              <a:t>Vtarget,PU=1</a:t>
            </a:r>
            <a:br/>
            <a:r>
              <a:t>Vtarget,PD=0</a:t>
            </a:r>
          </a:p>
        </p:txBody>
      </p:sp>
      <p:cxnSp>
        <p:nvCxnSpPr>
          <p:cNvPr id="7" name="Connector 6"/>
          <p:cNvCxnSpPr/>
          <p:nvPr/>
        </p:nvCxnSpPr>
        <p:spPr>
          <a:xfrm>
            <a:off x="6035040" y="1691640"/>
            <a:ext cx="8229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0" y="1143000"/>
            <a:ext cx="2514600" cy="10972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Use</a:t>
            </a:r>
            <a:br/>
            <a:r>
              <a:t>Tau_PU,rising</a:t>
            </a:r>
            <a:br/>
            <a:r>
              <a:t>Tau_PD,rising</a:t>
            </a:r>
          </a:p>
        </p:txBody>
      </p:sp>
      <p:pic>
        <p:nvPicPr>
          <p:cNvPr id="9" name="Picture 8" descr="Equation: Vc_{\mathrm{PU}}(t)=1-e^{-t/\tau_{\mathrm{PU,rising}}}"/>
          <p:cNvPicPr>
            <a:picLocks noChangeAspect="1"/>
          </p:cNvPicPr>
          <p:nvPr/>
        </p:nvPicPr>
        <p:blipFill>
          <a:blip r:embed="rId3"/>
          <a:stretch>
            <a:fillRect/>
          </a:stretch>
        </p:blipFill>
        <p:spPr>
          <a:xfrm>
            <a:off x="685800" y="3070215"/>
            <a:ext cx="5166360" cy="580409"/>
          </a:xfrm>
          <a:prstGeom prst="rect">
            <a:avLst/>
          </a:prstGeom>
        </p:spPr>
      </p:pic>
      <p:pic>
        <p:nvPicPr>
          <p:cNvPr id="10" name="Picture 9" descr="Equation: Vc_{\mathrm{PD}}(t)=e^{-t/\tau_{\mathrm{PD,rising}}}"/>
          <p:cNvPicPr>
            <a:picLocks noChangeAspect="1"/>
          </p:cNvPicPr>
          <p:nvPr/>
        </p:nvPicPr>
        <p:blipFill>
          <a:blip r:embed="rId4"/>
          <a:stretch>
            <a:fillRect/>
          </a:stretch>
        </p:blipFill>
        <p:spPr>
          <a:xfrm>
            <a:off x="6080760" y="3014572"/>
            <a:ext cx="5166360" cy="691694"/>
          </a:xfrm>
          <a:prstGeom prst="rect">
            <a:avLst/>
          </a:prstGeom>
        </p:spPr>
      </p:pic>
      <p:pic>
        <p:nvPicPr>
          <p:cNvPr id="11" name="Picture 10" descr="Equation: Ku=Ku_{\mathrm{rising}}(Vc_{\mathrm{PU}}),\quad Kd=Kd_{\mathrm{rising}}(Vc_{\mathrm{PD}})"/>
          <p:cNvPicPr>
            <a:picLocks noChangeAspect="1"/>
          </p:cNvPicPr>
          <p:nvPr/>
        </p:nvPicPr>
        <p:blipFill>
          <a:blip r:embed="rId5"/>
          <a:stretch>
            <a:fillRect/>
          </a:stretch>
        </p:blipFill>
        <p:spPr>
          <a:xfrm>
            <a:off x="1417320" y="4471422"/>
            <a:ext cx="9235440" cy="493762"/>
          </a:xfrm>
          <a:prstGeom prst="rect">
            <a:avLst/>
          </a:prstGeom>
        </p:spPr>
      </p:pic>
      <p:sp>
        <p:nvSpPr>
          <p:cNvPr id="12" name="Rectangle 1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rising edge moves both capacitor voltages using their rising-direction relationships.</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10. A falling edge arrives before the rising transition finishes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pic>
        <p:nvPicPr>
          <p:cNvPr id="4" name="Picture 3" descr="04_conceptual_vc_reversal.png"/>
          <p:cNvPicPr>
            <a:picLocks noChangeAspect="1"/>
          </p:cNvPicPr>
          <p:nvPr/>
        </p:nvPicPr>
        <p:blipFill>
          <a:blip r:embed="rId3"/>
          <a:stretch>
            <a:fillRect/>
          </a:stretch>
        </p:blipFill>
        <p:spPr>
          <a:xfrm>
            <a:off x="594360" y="1340409"/>
            <a:ext cx="6583680" cy="3765701"/>
          </a:xfrm>
          <a:prstGeom prst="rect">
            <a:avLst/>
          </a:prstGeom>
        </p:spPr>
      </p:pic>
      <p:sp>
        <p:nvSpPr>
          <p:cNvPr id="5" name="Rounded Rectangle 4"/>
          <p:cNvSpPr/>
          <p:nvPr/>
        </p:nvSpPr>
        <p:spPr>
          <a:xfrm>
            <a:off x="7498079" y="1234440"/>
            <a:ext cx="347472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Targets flip</a:t>
            </a:r>
            <a:br/>
            <a:r>
              <a:t>PU: 1 -&gt; 0</a:t>
            </a:r>
            <a:br/>
            <a:r>
              <a:t>PD: 0 -&gt; 1</a:t>
            </a:r>
          </a:p>
        </p:txBody>
      </p:sp>
      <p:sp>
        <p:nvSpPr>
          <p:cNvPr id="6" name="Rounded Rectangle 5"/>
          <p:cNvSpPr/>
          <p:nvPr/>
        </p:nvSpPr>
        <p:spPr>
          <a:xfrm>
            <a:off x="7498079" y="2560320"/>
            <a:ext cx="3474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Tau changes</a:t>
            </a:r>
            <a:br/>
            <a:r>
              <a:t>rising -&gt; falling</a:t>
            </a:r>
          </a:p>
        </p:txBody>
      </p:sp>
      <p:sp>
        <p:nvSpPr>
          <p:cNvPr id="7" name="Rounded Rectangle 6"/>
          <p:cNvSpPr/>
          <p:nvPr/>
        </p:nvSpPr>
        <p:spPr>
          <a:xfrm>
            <a:off x="7498079" y="3703320"/>
            <a:ext cx="3474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Vc_PU and Vc_PD</a:t>
            </a:r>
            <a:br/>
            <a:r>
              <a:t>do not jump</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falling relationship starts from the present capacitor voltage, not from a settled endpoint.</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11. Cached io_buf example: actual Vc_PU and Vc_PD</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WAVEFORMS</a:t>
            </a:r>
          </a:p>
        </p:txBody>
      </p:sp>
      <p:pic>
        <p:nvPicPr>
          <p:cNvPr id="4" name="Picture 3" descr="05_real_vc_pu_vc_pd.png"/>
          <p:cNvPicPr>
            <a:picLocks noChangeAspect="1"/>
          </p:cNvPicPr>
          <p:nvPr/>
        </p:nvPicPr>
        <p:blipFill>
          <a:blip r:embed="rId3"/>
          <a:stretch>
            <a:fillRect/>
          </a:stretch>
        </p:blipFill>
        <p:spPr>
          <a:xfrm>
            <a:off x="2112498" y="960120"/>
            <a:ext cx="8027962" cy="4709160"/>
          </a:xfrm>
          <a:prstGeom prst="rect">
            <a:avLst/>
          </a:prstGeom>
        </p:spPr>
      </p:pic>
      <p:sp>
        <p:nvSpPr>
          <p:cNvPr id="5" name="Rectangle 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measured capacitor voltages carry different transition histories, but neither is reset.</a:t>
            </a:r>
          </a:p>
        </p:txBody>
      </p:sp>
      <p:sp>
        <p:nvSpPr>
          <p:cNvPr id="6" name="TextBox 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data: io_buf short_pulse_1ns_high / two_state_directional_residual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12. Cached io_buf example: Ku(Vc_PU) and Kd(Vc_PD)</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WAVEFORMS</a:t>
            </a:r>
          </a:p>
        </p:txBody>
      </p:sp>
      <p:pic>
        <p:nvPicPr>
          <p:cNvPr id="4" name="Picture 3" descr="06_real_ku_vcpu_kd_vcpd.png"/>
          <p:cNvPicPr>
            <a:picLocks noChangeAspect="1"/>
          </p:cNvPicPr>
          <p:nvPr/>
        </p:nvPicPr>
        <p:blipFill>
          <a:blip r:embed="rId3"/>
          <a:stretch>
            <a:fillRect/>
          </a:stretch>
        </p:blipFill>
        <p:spPr>
          <a:xfrm>
            <a:off x="2176116" y="960120"/>
            <a:ext cx="7900726" cy="4709160"/>
          </a:xfrm>
          <a:prstGeom prst="rect">
            <a:avLst/>
          </a:prstGeom>
        </p:spPr>
      </p:pic>
      <p:sp>
        <p:nvSpPr>
          <p:cNvPr id="5" name="Rectangle 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Continuous Vc fixes the starting coordinate; the rising/falling Ku/Kd relationships still need compatible values.</a:t>
            </a:r>
          </a:p>
        </p:txBody>
      </p:sp>
      <p:sp>
        <p:nvSpPr>
          <p:cNvPr id="6" name="TextBox 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Underlying samples: results/ibis_kukd_handwritten_notes_deck/strict_vc_real_example_waveforms.csv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13. Ku(Vc_PU) and Kd(Vc_PD) still control the IBIS V-I tables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IBIS</a:t>
            </a:r>
          </a:p>
        </p:txBody>
      </p:sp>
      <p:sp>
        <p:nvSpPr>
          <p:cNvPr id="4" name="Rounded Rectangle 3"/>
          <p:cNvSpPr/>
          <p:nvPr/>
        </p:nvSpPr>
        <p:spPr>
          <a:xfrm>
            <a:off x="594360" y="1234440"/>
            <a:ext cx="182880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Input history</a:t>
            </a:r>
          </a:p>
        </p:txBody>
      </p:sp>
      <p:cxnSp>
        <p:nvCxnSpPr>
          <p:cNvPr id="5" name="Connector 4"/>
          <p:cNvCxnSpPr/>
          <p:nvPr/>
        </p:nvCxnSpPr>
        <p:spPr>
          <a:xfrm>
            <a:off x="2423160" y="1591056"/>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200400" y="1234440"/>
            <a:ext cx="205740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Vc_PU / Vc_PD</a:t>
            </a:r>
          </a:p>
        </p:txBody>
      </p:sp>
      <p:cxnSp>
        <p:nvCxnSpPr>
          <p:cNvPr id="7" name="Connector 6"/>
          <p:cNvCxnSpPr/>
          <p:nvPr/>
        </p:nvCxnSpPr>
        <p:spPr>
          <a:xfrm>
            <a:off x="5257800" y="1591056"/>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40" y="1234440"/>
            <a:ext cx="260604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Ku(Vc_PU) / Kd(Vc_PD)</a:t>
            </a:r>
          </a:p>
        </p:txBody>
      </p:sp>
      <p:cxnSp>
        <p:nvCxnSpPr>
          <p:cNvPr id="9" name="Connector 8"/>
          <p:cNvCxnSpPr/>
          <p:nvPr/>
        </p:nvCxnSpPr>
        <p:spPr>
          <a:xfrm>
            <a:off x="8641080" y="1591056"/>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418320" y="1234440"/>
            <a:ext cx="205740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IBIS V-I current</a:t>
            </a:r>
          </a:p>
        </p:txBody>
      </p:sp>
      <p:pic>
        <p:nvPicPr>
          <p:cNvPr id="11" name="Picture 10" descr="Equation: I_{\mathrm{PU}}(t)=Ku(Vc_{\mathrm{PU}})\,I_{\mathrm{PU,full}}(V)"/>
          <p:cNvPicPr>
            <a:picLocks noChangeAspect="1"/>
          </p:cNvPicPr>
          <p:nvPr/>
        </p:nvPicPr>
        <p:blipFill>
          <a:blip r:embed="rId3"/>
          <a:stretch>
            <a:fillRect/>
          </a:stretch>
        </p:blipFill>
        <p:spPr>
          <a:xfrm>
            <a:off x="685800" y="2967082"/>
            <a:ext cx="5303520" cy="420914"/>
          </a:xfrm>
          <a:prstGeom prst="rect">
            <a:avLst/>
          </a:prstGeom>
        </p:spPr>
      </p:pic>
      <p:pic>
        <p:nvPicPr>
          <p:cNvPr id="12" name="Picture 11" descr="Equation: I_{\mathrm{PD}}(t)=Kd(Vc_{\mathrm{PD}})\,I_{\mathrm{PD,full}}(V)"/>
          <p:cNvPicPr>
            <a:picLocks noChangeAspect="1"/>
          </p:cNvPicPr>
          <p:nvPr/>
        </p:nvPicPr>
        <p:blipFill>
          <a:blip r:embed="rId4"/>
          <a:stretch>
            <a:fillRect/>
          </a:stretch>
        </p:blipFill>
        <p:spPr>
          <a:xfrm>
            <a:off x="6126480" y="2966604"/>
            <a:ext cx="5303520" cy="421870"/>
          </a:xfrm>
          <a:prstGeom prst="rect">
            <a:avLst/>
          </a:prstGeom>
        </p:spPr>
      </p:pic>
      <p:sp>
        <p:nvSpPr>
          <p:cNvPr id="13" name="Rounded Rectangle 12"/>
          <p:cNvSpPr/>
          <p:nvPr/>
        </p:nvSpPr>
        <p:spPr>
          <a:xfrm>
            <a:off x="2011680" y="4297680"/>
            <a:ext cx="813816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The original pullup and pulldown V-I tables are unchanged.</a:t>
            </a:r>
          </a:p>
        </p:txBody>
      </p:sp>
      <p:sp>
        <p:nvSpPr>
          <p:cNvPr id="14" name="Rectangle 13"/>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Only the Ku/Kd lookup coordinate changes; the IBIS current structure remains the same.</a:t>
            </a:r>
          </a:p>
        </p:txBody>
      </p:sp>
      <p:sp>
        <p:nvSpPr>
          <p:cNvPr id="15" name="TextBox 14"/>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14. SPICE-equivalent realization using the handwritten Vc notation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IMPLEMENTATION</a:t>
            </a:r>
          </a:p>
        </p:txBody>
      </p:sp>
      <p:sp>
        <p:nvSpPr>
          <p:cNvPr id="4" name="Rounded Rectangle 3"/>
          <p:cNvSpPr/>
          <p:nvPr/>
        </p:nvSpPr>
        <p:spPr>
          <a:xfrm>
            <a:off x="594360" y="1143000"/>
            <a:ext cx="6629400" cy="301752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30">
                <a:solidFill>
                  <a:srgbClr val="1E3027"/>
                </a:solidFill>
                <a:latin typeface="Consolas"/>
              </a:defRPr>
            </a:pPr>
            <a:r>
              <a:t>* Pullup capacitor voltage</a:t>
            </a:r>
            <a:br/>
            <a:r>
              <a:t>CVCPU  VCPU  0  1p  ic=0</a:t>
            </a:r>
            <a:br/>
            <a:r>
              <a:t>BVCPU  VCPU  0  I=-1p*(V(VCPUTARGET)-V(VCPU))/tau_selected</a:t>
            </a:r>
            <a:br/>
            <a:br/>
            <a:r>
              <a:t>* Pulldown capacitor voltage</a:t>
            </a:r>
            <a:br/>
            <a:r>
              <a:t>CVCPD  VCPD  0  1p  ic=1</a:t>
            </a:r>
            <a:br/>
            <a:r>
              <a:t>BVCPD  VCPD  0  I=-1p*(V(VCPDTARGET)-V(VCPD))/tau_selected</a:t>
            </a:r>
          </a:p>
        </p:txBody>
      </p:sp>
      <p:pic>
        <p:nvPicPr>
          <p:cNvPr id="5" name="Picture 4" descr="Equation: \frac{dVc}{dt}=\frac{Vc_{\mathrm{target}}-Vc}{\tau}"/>
          <p:cNvPicPr>
            <a:picLocks noChangeAspect="1"/>
          </p:cNvPicPr>
          <p:nvPr/>
        </p:nvPicPr>
        <p:blipFill>
          <a:blip r:embed="rId3"/>
          <a:stretch>
            <a:fillRect/>
          </a:stretch>
        </p:blipFill>
        <p:spPr>
          <a:xfrm>
            <a:off x="7666771" y="1417320"/>
            <a:ext cx="3457377" cy="777240"/>
          </a:xfrm>
          <a:prstGeom prst="rect">
            <a:avLst/>
          </a:prstGeom>
        </p:spPr>
      </p:pic>
      <p:sp>
        <p:nvSpPr>
          <p:cNvPr id="6" name="Rounded Rectangle 5"/>
          <p:cNvSpPr/>
          <p:nvPr/>
        </p:nvSpPr>
        <p:spPr>
          <a:xfrm>
            <a:off x="7360920" y="2788920"/>
            <a:ext cx="406908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CVCPU and CVCPD store the two Vc values.</a:t>
            </a:r>
          </a:p>
        </p:txBody>
      </p:sp>
      <p:sp>
        <p:nvSpPr>
          <p:cNvPr id="7" name="Rounded Rectangle 6"/>
          <p:cNvSpPr/>
          <p:nvPr/>
        </p:nvSpPr>
        <p:spPr>
          <a:xfrm>
            <a:off x="7360920" y="3886200"/>
            <a:ext cx="406908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The ngspice solver integrates Vc at every timestep.</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Vc is stored as capacitor voltage and carried continuously through a change in direction.</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Notation-matched SPICE realization of the handwritten equations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15. Next steps recorded in the handwritten notes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NEXT STEPS</a:t>
            </a:r>
          </a:p>
        </p:txBody>
      </p:sp>
      <p:sp>
        <p:nvSpPr>
          <p:cNvPr id="4" name="Rounded Rectangle 3"/>
          <p:cNvSpPr/>
          <p:nvPr/>
        </p:nvSpPr>
        <p:spPr>
          <a:xfrm>
            <a:off x="685800" y="1097280"/>
            <a:ext cx="2743200" cy="5943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Main model question</a:t>
            </a:r>
          </a:p>
        </p:txBody>
      </p:sp>
      <p:sp>
        <p:nvSpPr>
          <p:cNvPr id="5" name="TextBox 4"/>
          <p:cNvSpPr txBox="1"/>
          <p:nvPr/>
        </p:nvSpPr>
        <p:spPr>
          <a:xfrm>
            <a:off x="822960" y="1828800"/>
            <a:ext cx="4663440" cy="1143000"/>
          </a:xfrm>
          <a:prstGeom prst="rect">
            <a:avLst/>
          </a:prstGeom>
          <a:noFill/>
        </p:spPr>
        <p:txBody>
          <a:bodyPr wrap="square" lIns="45720" rIns="45720" anchor="t">
            <a:spAutoFit/>
          </a:bodyPr>
          <a:lstStyle/>
          <a:p>
            <a:pPr algn="l">
              <a:defRPr sz="2100" b="1">
                <a:solidFill>
                  <a:srgbClr val="2B7A43"/>
                </a:solidFill>
                <a:latin typeface="Aptos"/>
              </a:defRPr>
            </a:pPr>
            <a:r>
              <a:t>Only use Vc to track the Ku/Kd starting point when an edge arrives mid-transition?</a:t>
            </a:r>
          </a:p>
        </p:txBody>
      </p:sp>
      <p:sp>
        <p:nvSpPr>
          <p:cNvPr id="6" name="Rounded Rectangle 5"/>
          <p:cNvSpPr/>
          <p:nvPr/>
        </p:nvSpPr>
        <p:spPr>
          <a:xfrm>
            <a:off x="6080760" y="1097280"/>
            <a:ext cx="3017520" cy="5943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Reference and circuit checks</a:t>
            </a:r>
          </a:p>
        </p:txBody>
      </p:sp>
      <p:sp>
        <p:nvSpPr>
          <p:cNvPr id="7" name="TextBox 6"/>
          <p:cNvSpPr txBox="1"/>
          <p:nvPr/>
        </p:nvSpPr>
        <p:spPr>
          <a:xfrm>
            <a:off x="6080760" y="1828800"/>
            <a:ext cx="5257800" cy="2743200"/>
          </a:xfrm>
          <a:prstGeom prst="rect">
            <a:avLst/>
          </a:prstGeom>
          <a:noFill/>
        </p:spPr>
        <p:txBody>
          <a:bodyPr wrap="square" lIns="73152" rIns="36576" tIns="36576" bIns="36576">
            <a:spAutoFit/>
          </a:bodyPr>
          <a:lstStyle/>
          <a:p>
            <a:pPr>
              <a:spcAft>
                <a:spcPts val="700"/>
              </a:spcAft>
              <a:defRPr sz="1700">
                <a:solidFill>
                  <a:srgbClr val="191F1C"/>
                </a:solidFill>
                <a:latin typeface="Aptos"/>
              </a:defRPr>
            </a:pPr>
            <a:r>
              <a:t>- Investigate why the HSPICE result looks unusual.</a:t>
            </a:r>
          </a:p>
          <a:p>
            <a:pPr>
              <a:spcAft>
                <a:spcPts val="700"/>
              </a:spcAft>
              <a:defRPr sz="1700">
                <a:solidFill>
                  <a:srgbClr val="191F1C"/>
                </a:solidFill>
                <a:latin typeface="Aptos"/>
              </a:defRPr>
            </a:pPr>
            <a:r>
              <a:t>- Check termination capacitance from about 1 fF to 10 pF; account for driver strength.</a:t>
            </a:r>
          </a:p>
          <a:p>
            <a:pPr>
              <a:spcAft>
                <a:spcPts val="700"/>
              </a:spcAft>
              <a:defRPr sz="1700">
                <a:solidFill>
                  <a:srgbClr val="191F1C"/>
                </a:solidFill>
                <a:latin typeface="Aptos"/>
              </a:defRPr>
            </a:pPr>
            <a:r>
              <a:t>- Use ADS to create a SPICE buffer.</a:t>
            </a:r>
          </a:p>
          <a:p>
            <a:pPr>
              <a:spcAft>
                <a:spcPts val="700"/>
              </a:spcAft>
              <a:defRPr sz="1700">
                <a:solidFill>
                  <a:srgbClr val="191F1C"/>
                </a:solidFill>
                <a:latin typeface="Aptos"/>
              </a:defRPr>
            </a:pPr>
            <a:r>
              <a:t>- Talk to Jianchuan about the inverter model.</a:t>
            </a:r>
          </a:p>
        </p:txBody>
      </p:sp>
      <p:sp>
        <p:nvSpPr>
          <p:cNvPr id="8" name="Rounded Rectangle 7"/>
          <p:cNvSpPr/>
          <p:nvPr/>
        </p:nvSpPr>
        <p:spPr>
          <a:xfrm>
            <a:off x="2468880" y="4846320"/>
            <a:ext cx="7223760" cy="65836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These are open questions from the notes.</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next experiment should test Vc as a starting-point coordinate before expanding its role.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Transcribed from handwritten source, page 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Appendix: original handwritten source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SOURCE</a:t>
            </a:r>
          </a:p>
        </p:txBody>
      </p:sp>
      <p:sp>
        <p:nvSpPr>
          <p:cNvPr id="4" name="Rectangle 3"/>
          <p:cNvSpPr/>
          <p:nvPr/>
        </p:nvSpPr>
        <p:spPr>
          <a:xfrm>
            <a:off x="475488" y="1040387"/>
            <a:ext cx="3483864" cy="4914385"/>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urce_page_01.jpg"/>
          <p:cNvPicPr>
            <a:picLocks noChangeAspect="1"/>
          </p:cNvPicPr>
          <p:nvPr/>
        </p:nvPicPr>
        <p:blipFill>
          <a:blip r:embed="rId3"/>
          <a:stretch>
            <a:fillRect/>
          </a:stretch>
        </p:blipFill>
        <p:spPr>
          <a:xfrm>
            <a:off x="502920" y="1067819"/>
            <a:ext cx="3429000" cy="4859521"/>
          </a:xfrm>
          <a:prstGeom prst="rect">
            <a:avLst/>
          </a:prstGeom>
        </p:spPr>
      </p:pic>
      <p:sp>
        <p:nvSpPr>
          <p:cNvPr id="6" name="TextBox 5"/>
          <p:cNvSpPr txBox="1"/>
          <p:nvPr/>
        </p:nvSpPr>
        <p:spPr>
          <a:xfrm>
            <a:off x="150876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1</a:t>
            </a:r>
          </a:p>
        </p:txBody>
      </p:sp>
      <p:sp>
        <p:nvSpPr>
          <p:cNvPr id="7" name="Rectangle 6"/>
          <p:cNvSpPr/>
          <p:nvPr/>
        </p:nvSpPr>
        <p:spPr>
          <a:xfrm>
            <a:off x="4270248" y="1198435"/>
            <a:ext cx="3483864" cy="4598289"/>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ource_page_02.jpg"/>
          <p:cNvPicPr>
            <a:picLocks noChangeAspect="1"/>
          </p:cNvPicPr>
          <p:nvPr/>
        </p:nvPicPr>
        <p:blipFill>
          <a:blip r:embed="rId4"/>
          <a:stretch>
            <a:fillRect/>
          </a:stretch>
        </p:blipFill>
        <p:spPr>
          <a:xfrm>
            <a:off x="4297680" y="1225867"/>
            <a:ext cx="3429000" cy="4543425"/>
          </a:xfrm>
          <a:prstGeom prst="rect">
            <a:avLst/>
          </a:prstGeom>
        </p:spPr>
      </p:pic>
      <p:sp>
        <p:nvSpPr>
          <p:cNvPr id="9" name="TextBox 8"/>
          <p:cNvSpPr txBox="1"/>
          <p:nvPr/>
        </p:nvSpPr>
        <p:spPr>
          <a:xfrm>
            <a:off x="530352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2</a:t>
            </a:r>
          </a:p>
        </p:txBody>
      </p:sp>
      <p:sp>
        <p:nvSpPr>
          <p:cNvPr id="10" name="Rectangle 9"/>
          <p:cNvSpPr/>
          <p:nvPr/>
        </p:nvSpPr>
        <p:spPr>
          <a:xfrm>
            <a:off x="8065008" y="1234154"/>
            <a:ext cx="3483864" cy="4526851"/>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urce_page_03.jpg"/>
          <p:cNvPicPr>
            <a:picLocks noChangeAspect="1"/>
          </p:cNvPicPr>
          <p:nvPr/>
        </p:nvPicPr>
        <p:blipFill>
          <a:blip r:embed="rId5"/>
          <a:stretch>
            <a:fillRect/>
          </a:stretch>
        </p:blipFill>
        <p:spPr>
          <a:xfrm>
            <a:off x="8092440" y="1261586"/>
            <a:ext cx="3429000" cy="4471987"/>
          </a:xfrm>
          <a:prstGeom prst="rect">
            <a:avLst/>
          </a:prstGeom>
        </p:spPr>
      </p:pic>
      <p:sp>
        <p:nvSpPr>
          <p:cNvPr id="12" name="TextBox 11"/>
          <p:cNvSpPr txBox="1"/>
          <p:nvPr/>
        </p:nvSpPr>
        <p:spPr>
          <a:xfrm>
            <a:off x="909828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3</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Original PDF: \\minerfiles.mst.edu\dfs\users\sh3qm\Downloads\IBIS kukd .pdf</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