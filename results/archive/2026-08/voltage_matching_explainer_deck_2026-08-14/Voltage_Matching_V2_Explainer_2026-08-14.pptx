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56" r:id="rId2"/>
    <p:sldId id="257" r:id="rId4"/>
    <p:sldId id="258" r:id="rId3"/>
    <p:sldId id="259" r:id="rId11"/>
    <p:sldId id="260" r:id="rId12"/>
    <p:sldId id="261" r:id="rId13"/>
    <p:sldId id="262" r:id="rId14"/>
    <p:sldId id="263" r:id="rId15"/>
    <p:sldId id="264" r:id="rId16"/>
    <p:sldId id="265" r:id="rId17"/>
    <p:sldId id="266" r:id="rId18"/>
    <p:sldId id="267" r:id="rId19"/>
    <p:sldId id="26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B8"/>
    <a:srgbClr val="FBFB00"/>
    <a:srgbClr val="FFFF29"/>
    <a:srgbClr val="C321CF"/>
    <a:srgbClr val="C52BA8"/>
    <a:srgbClr val="99CCFF"/>
    <a:srgbClr val="6699FF"/>
    <a:srgbClr val="FFCC99"/>
    <a:srgbClr val="33CCFF"/>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CE76EB-5733-E639-DFBE-C032C02CA049}" v="311" dt="2026-07-10T21:33:20.263"/>
    <p1510:client id="{4B2B0703-2C84-945A-F101-9A0363D83DEB}" v="2" dt="2026-07-10T16:42:58.3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2.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microsoft.com/office/2015/10/relationships/revisionInfo" Target="revisionInfo.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FF5152-AD57-4057-A738-BC536A645BFF}" type="datetimeFigureOut">
              <a:rPr lang="en-US" smtClean="0"/>
              <a:t>7/14/2026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FBD6F9-9B61-4F1F-A828-501CEB5BCFB1}" type="slidenum">
              <a:rPr lang="en-US" smtClean="0"/>
              <a:t>‹#›</a:t>
            </a:fld>
            <a:endParaRPr lang="en-US"/>
          </a:p>
        </p:txBody>
      </p:sp>
    </p:spTree>
    <p:extLst>
      <p:ext uri="{BB962C8B-B14F-4D97-AF65-F5344CB8AC3E}">
        <p14:creationId xmlns:p14="http://schemas.microsoft.com/office/powerpoint/2010/main" val="6509444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This deck explains the Voltage Matching V2 experiment using stored waveforms from io_buf, inv_chain, and ex2. It separates the algorithm into its offline calibration stage and runtime replay stage.</a:t>
            </a:r>
            <a:br/>
            <a:br/>
            <a:r>
              <a:t>The central idea is not to convert pad voltage directly into Ku and Kd. Pad voltage is first converted into a time coordinate on the opposite full-swing calibration trajectory. That one time coordinate is then used to evaluate the paired opposite Ku and Kd tables.</a:t>
            </a:r>
            <a:br/>
            <a:br/>
            <a:r>
              <a:t>The deck also shows the limitation exposed by inv_chain: a pad that is still near zero because of propagation delay is not equivalent to a truly settled-low internal state. The final slide discusses the delayed-sampling extension, whose code and unit tests exist but whose corrected cross-buffer run was not complete when this deck was generated.</a:t>
            </a:r>
            <a:endParaRPr lang="ko-KR" altLang="en-US"/>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12E5D0-9393-4591-81EA-D49C04BB4842}" type="slidenum">
              <a:rPr kumimoji="0" lang="ko-KR" altLang="en-US" sz="1200" b="0" i="0" u="none" strike="noStrike" kern="1200" cap="none" spc="0" normalizeH="0" baseline="0" noProof="0" smtClean="0">
                <a:ln>
                  <a:noFill/>
                </a:ln>
                <a:solidFill>
                  <a:prstClr val="black"/>
                </a:solidFill>
                <a:effectLst/>
                <a:uLnTx/>
                <a:uFillTx/>
                <a:latin typeface="맑은 고딕" panose="02110004020202020204"/>
                <a:ea typeface="맑은 고딕" panose="020B0503020000020004" pitchFamily="34" charset="-127"/>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ko-KR" altLang="en-US" sz="1200" b="0" i="0" u="none" strike="noStrike" kern="1200" cap="none" spc="0" normalizeH="0" baseline="0" noProof="0">
              <a:ln>
                <a:noFill/>
              </a:ln>
              <a:solidFill>
                <a:prstClr val="black"/>
              </a:solidFill>
              <a:effectLst/>
              <a:uLnTx/>
              <a:uFillTx/>
              <a:latin typeface="맑은 고딕" panose="02110004020202020204"/>
              <a:ea typeface="맑은 고딕" panose="020B0503020000020004" pitchFamily="34" charset="-127"/>
              <a:cs typeface="+mn-cs"/>
            </a:endParaRPr>
          </a:p>
        </p:txBody>
      </p:sp>
    </p:spTree>
    <p:extLst>
      <p:ext uri="{BB962C8B-B14F-4D97-AF65-F5344CB8AC3E}">
        <p14:creationId xmlns:p14="http://schemas.microsoft.com/office/powerpoint/2010/main" val="1119779915"/>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upper panel to identify the second input edge at time zero. The lower panel shows that the transistor and native-IBIS pad responses occur after this command edge. The output has propagation delay and memory; the instantaneous input command does not uniquely define the current output state.</a:t>
            </a:r>
            <a:br/>
            <a:br/>
            <a:r>
              <a:t>Legacy pybis chooses a complete rising or falling coefficient table from the newest edge and resets that table's elapsed-time coordinate. Voltage matching was introduced to avoid assuming that every reverse edge begins from a fully settled endpoint.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phases. The first two boxes happen offline. The remaining boxes happen during the interrupted transient simulation.</a:t>
            </a:r>
            <a:br/>
            <a:br/>
            <a:r>
              <a:t>The calibration simulation records the loaded pad voltage and the corresponding legacy Ku and Kd for complete rising and falling transitions. At runtime, V2 samples the pad once at a reverse event. It searches the opposite-direction pad calibration for the same voltage. The resulting time coordinate is then applied to both opposite coefficient tables.</a:t>
            </a:r>
            <a:br/>
            <a:br/>
            <a:r>
              <a:t>This is deliberately different from coefficient value matching, where Ku and Kd might each imply a different opposite-table time. Voltage matching chooses one coordinate from the loaded output and preserves pair alignment by construction.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the actual io_buf calibration run, not an analytical sketch. The left panel is the complete rising pad event and the right panel is the complete falling pad event.</a:t>
            </a:r>
            <a:br/>
            <a:br/>
            <a:r>
              <a:t>The calibration deck holds each logic state for about twenty nanoseconds, so these are settled full-swing transitions. The recorded waveform is cut into fourteen-nanosecond rising and falling sections and downsampled into pad_replay_reference.json for embedding in the generated model.</a:t>
            </a:r>
            <a:br/>
            <a:br/>
            <a:r>
              <a:t>The purpose of this extra calibration is to obtain Vpad versus time. It does not re-extract Ku and Kd; the original pybis/IBIS-derived coefficient tables already provide Ku(t) and Kd(t). Voltage matching connects the new Vpad(t) coordinate to those existing tables through matched time.</a:t>
            </a:r>
            <a:br/>
            <a:br/>
            <a:r>
              <a:t>Because Vpad(t) is affected by source strength, output package, 50-ohm resistance, and 2-pF capacitance, this map is valid only for the declared calibration setup. It is not a general internal-state observer for arbitrary loads.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horizontal red line is the pad voltage sampled during the interrupted event. The vertical purple line is the time on the stored falling calibration trajectory returned by the inverse lookup.</a:t>
            </a:r>
            <a:br/>
            <a:br/>
            <a:r>
              <a:t>For this io_buf example the sampled voltage is 0.357 V and the inverse falling lookup returns 0.484 ns. The earliest and latest crossing policies agree, so the mapping span is zero and the event is not labeled ambiguous.</a:t>
            </a:r>
            <a:br/>
            <a:br/>
            <a:r>
              <a:t>This lookup is generated offline as a PWL voltage-to-time source. At runtime, ngspice evaluates the PWL using PADSAMP. The resulting PADSTARTCMD is then latched so later changes in pad voltage cannot move the replay start.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panel shows the physical pad, the candidate pad, and PADSAMP. PADSAMP is a capacitor-backed sample-and-hold node. It changes only while PMSAMPLE is active.</a:t>
            </a:r>
            <a:br/>
            <a:br/>
            <a:r>
              <a:t>The second panel shows the control sequence: sample the voltage, latch the inverse-map result, and activate the replay. The third panel shows the stored start time and PADARG. PADARG begins at the matched start and then increases with runtime elapsed after activation.</a:t>
            </a:r>
            <a:br/>
            <a:br/>
            <a:r>
              <a:t>The model is not a continuously feedback-controlled pad model. Continuous feedback would create a nonlinear algebraic loop between output voltage, coefficient choice, current, and output voltage. V2 intentionally takes one snapshot, latches one coordinate, and returns to open-loop table playback.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PADARG is the independent variable used to evaluate the opposite Ku and Kd tables. It equals the latched matched start time plus elapsed time after replay activation.</a:t>
            </a:r>
            <a:br/>
            <a:br/>
            <a:r>
              <a:t>For a short-high event the new command is falling, so KURM and KDRM are ignored and KUFM and KDFM are selected. Both falling coefficients use the same PADARG. For a short-low event the rising pair is selected instead.</a:t>
            </a:r>
            <a:br/>
            <a:br/>
            <a:r>
              <a:t>The figure compares the final candidate coefficients against HSPICE native IBIS. The purple curves are the raw opposite-table replay targets. The red and orange curves are the final Ku and Kd after the brief hold/blend transaction. The bottom panel shows the output consequence.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four blocks in reading order. The inverse PWL tables are generated offline and embedded directly into the subcircuit. At runtime PADSTARTCMD chooses the rising or falling inverse map according to the new input direction.</a:t>
            </a:r>
            <a:br/>
            <a:br/>
            <a:r>
              <a:t>PMT0 stores the replay activation time. PMELAPSED is a fresh timer independent of the legacy HNX edge timer. PADARG is the only independent variable passed to both opposite coefficient tables.</a:t>
            </a:r>
            <a:br/>
            <a:br/>
            <a:r>
              <a:t>The final block blends the legacy coefficients and matched coefficients with HPMALPHA. During the sample and latch pulses, KUSAMP and KDSAMP temporarily hold the pre-handoff values to reduce coefficient jumps. Outside an active voltage-match transaction, V2 is exactly the legacy path.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 panel shows the key physical ambiguity. At the second input edge, the loaded pad is still essentially zero because the first edge has not propagated through the buffer. Internally, however, a rising response is pending.</a:t>
            </a:r>
            <a:br/>
            <a:br/>
            <a:r>
              <a:t>The right panel shows what the inverse falling map sees. A near-zero voltage also occurs near the settled end of the falling calibration. The implemented uniformly sampled inverse map returns 6.475 ns, while the nearest stored trajectory point with a similar voltage appears around 0.458 ns. The earliest-versus-latest start span is 7.222 ns, so the algorithm correctly flags this event as ambiguous.</a:t>
            </a:r>
            <a:br/>
            <a:br/>
            <a:r>
              <a:t>This is not merely an ngspice numerical issue. It is an observability limitation: Vpad without slope or command history cannot distinguish different hidden states that share the same instantaneous voltage.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chart shows the sampled voltage. Green labels indicate a unique inverse-map result and red labels indicate ambiguity. io_buf produces an unambiguous mapping, while inv_chain and ex2 are ambiguous near the low endpoint.</a:t>
            </a:r>
            <a:br/>
            <a:br/>
            <a:r>
              <a:t>The pad and coefficient error charts are all measured against HSPICE native IBIS over the study's active window. The important result is not that one model wins every bar. The important result is that a clean voltage match and a shared coefficient coordinate do not by themselves prove the hidden switching state is correct.</a:t>
            </a:r>
            <a:br/>
            <a:br/>
            <a:r>
              <a:t>This method remains useful because it gives us a clear baseline, produces diagnostics such as start-span and mapping ambiguity, and exposes exactly where voltage-only state observation breaks down.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delayed extension addresses the specific case where the second input edge occurs before any output response is visible. For a short-high reversal, the sample delay is the earlier of pullup-off and pulldown-on onset. For short-low it is the earlier of pullup-on and pulldown-off onset.</a:t>
            </a:r>
            <a:br/>
            <a:br/>
            <a:r>
              <a:t>These are not HSPICE-tuned values. They come from the same IBIS-derived coefficient-table onset extraction used by the directional gate-state model. The three buffers span nearly three orders of magnitude, which is why one fixed delay would not be appropriate.</a:t>
            </a:r>
            <a:br/>
            <a:br/>
            <a:r>
              <a:t>The extension still has a conceptual limitation. The voltage sampled after the second edge may contain responses from both the first and second commands. Delaying the sample can make the pad observable, but it does not guarantee that instantaneous pad voltage uniquely identifies the hidden coefficient history.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distinguishes numerical implementation problems from modeling results. The transport-line run was not stuck; it was advancing with an impractically small timestep imposed by the shortest transmission-line delay.</a:t>
            </a:r>
            <a:br/>
            <a:br/>
            <a:r>
              <a:t>The timestamp replacement completed quickly, but diagnostic nodes showed HREVERSE_SAMPLE firing at 1.65 ps after simulation start instead of at the real reverse edge around 6.53 ns. The capacitor initial condition was not a safe event sentinel during the operating-point solve.</a:t>
            </a:r>
            <a:br/>
            <a:br/>
            <a:r>
              <a:t>The current code adds a separate armed state. The sample timing expression is ignored until a real reverse-edge pulse sets this latch. Static compilation and all 46 pybis unit tests pass, with one unrelated test skipped. The cross-buffer transient campaign was interrupted before the corrected run completed, so the deck intentionally shows no delayed correlation waveform.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separating what is technically complete from what remains experimental. The calibration, inverse mapping, latching, and paired replay are all implemented and reproducible. Original V2 results are available for all three buffers and both reversal directions.</a:t>
            </a:r>
            <a:br/>
            <a:br/>
            <a:r>
              <a:t>The negative result is equally important: instantaneous loaded pad voltage does not uniquely reveal pending internal drive history. The delayed extension is a reasonable experiment for propagation-delay-dominated cases, but it must be judged by Ku, Kd, and pad together.</a:t>
            </a:r>
            <a:br/>
            <a:br/>
            <a:r>
              <a:t>The next action is narrow: complete the armed-timestamp delayed runs using existing HSPICE references, inspect the diagnostic sample times, and compare original versus delayed mapping. Do not promote the method based only on a smaller pad error.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4" name="Picture 18" descr="new_logo_final"/>
          <p:cNvPicPr>
            <a:picLocks noChangeAspect="1" noChangeArrowheads="1"/>
          </p:cNvPicPr>
          <p:nvPr/>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0" y="4572000"/>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7" descr="new_logo_final"/>
          <p:cNvPicPr>
            <a:picLocks noChangeAspect="1" noChangeArrowheads="1"/>
          </p:cNvPicPr>
          <p:nvPr/>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0" y="2286000"/>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6" descr="new_logo_final"/>
          <p:cNvPicPr>
            <a:picLocks noChangeAspect="1" noChangeArrowheads="1"/>
          </p:cNvPicPr>
          <p:nvPr/>
        </p:nvPicPr>
        <p:blipFill>
          <a:blip r:embed="rId3" cstate="print">
            <a:lum bright="70000" contrast="-70000"/>
            <a:extLst>
              <a:ext uri="{28A0092B-C50C-407E-A947-70E740481C1C}">
                <a14:useLocalDpi xmlns:a14="http://schemas.microsoft.com/office/drawing/2010/main" val="0"/>
              </a:ext>
            </a:extLst>
          </a:blip>
          <a:srcRect/>
          <a:stretch>
            <a:fillRect/>
          </a:stretch>
        </p:blipFill>
        <p:spPr bwMode="auto">
          <a:xfrm>
            <a:off x="0" y="0"/>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11"/>
          <p:cNvSpPr>
            <a:spLocks noChangeArrowheads="1"/>
          </p:cNvSpPr>
          <p:nvPr/>
        </p:nvSpPr>
        <p:spPr bwMode="auto">
          <a:xfrm>
            <a:off x="609600" y="2971800"/>
            <a:ext cx="10871200" cy="152400"/>
          </a:xfrm>
          <a:prstGeom prst="rect">
            <a:avLst/>
          </a:prstGeom>
          <a:gradFill rotWithShape="1">
            <a:gsLst>
              <a:gs pos="0">
                <a:srgbClr val="287F3D"/>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a:solidFill>
                <a:srgbClr val="000000"/>
              </a:solidFill>
            </a:endParaRPr>
          </a:p>
        </p:txBody>
      </p:sp>
      <p:sp>
        <p:nvSpPr>
          <p:cNvPr id="33794" name="Rectangle 2"/>
          <p:cNvSpPr>
            <a:spLocks noGrp="1" noChangeArrowheads="1"/>
          </p:cNvSpPr>
          <p:nvPr>
            <p:ph type="ctrTitle"/>
          </p:nvPr>
        </p:nvSpPr>
        <p:spPr>
          <a:xfrm>
            <a:off x="914400" y="1057275"/>
            <a:ext cx="10363200" cy="1828800"/>
          </a:xfrm>
        </p:spPr>
        <p:txBody>
          <a:bodyPr anchor="ctr"/>
          <a:lstStyle>
            <a:lvl1pPr algn="ctr">
              <a:defRPr sz="4400"/>
            </a:lvl1pPr>
          </a:lstStyle>
          <a:p>
            <a:r>
              <a:rPr lang="ko-KR" altLang="en-US"/>
              <a:t>마스터 제목 스타일 편집</a:t>
            </a:r>
            <a:endParaRPr lang="en-US" altLang="zh-CN"/>
          </a:p>
        </p:txBody>
      </p:sp>
      <p:sp>
        <p:nvSpPr>
          <p:cNvPr id="33795" name="Rectangle 3"/>
          <p:cNvSpPr>
            <a:spLocks noGrp="1" noChangeArrowheads="1"/>
          </p:cNvSpPr>
          <p:nvPr>
            <p:ph type="subTitle" idx="1"/>
          </p:nvPr>
        </p:nvSpPr>
        <p:spPr>
          <a:xfrm>
            <a:off x="1828800" y="3657600"/>
            <a:ext cx="8534400" cy="1981200"/>
          </a:xfrm>
        </p:spPr>
        <p:txBody>
          <a:bodyPr/>
          <a:lstStyle>
            <a:lvl1pPr marL="0" indent="0" algn="ctr">
              <a:buFont typeface="Times New Roman" pitchFamily="18" charset="0"/>
              <a:buNone/>
              <a:defRPr sz="2800"/>
            </a:lvl1pPr>
          </a:lstStyle>
          <a:p>
            <a:r>
              <a:rPr lang="ko-KR" altLang="en-US"/>
              <a:t>클릭하여 마스터 부제목 스타일 편집</a:t>
            </a:r>
            <a:endParaRPr lang="en-US" altLang="zh-CN"/>
          </a:p>
        </p:txBody>
      </p:sp>
      <p:sp>
        <p:nvSpPr>
          <p:cNvPr id="2" name="Oval 1">
            <a:extLst>
              <a:ext uri="{FF2B5EF4-FFF2-40B4-BE49-F238E27FC236}">
                <a16:creationId xmlns:a16="http://schemas.microsoft.com/office/drawing/2014/main" id="{1185D946-0A64-0C7F-AA63-488808319B35}"/>
              </a:ext>
            </a:extLst>
          </p:cNvPr>
          <p:cNvSpPr/>
          <p:nvPr/>
        </p:nvSpPr>
        <p:spPr>
          <a:xfrm>
            <a:off x="11381117" y="6288658"/>
            <a:ext cx="684363" cy="483079"/>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Tree>
    <p:extLst>
      <p:ext uri="{BB962C8B-B14F-4D97-AF65-F5344CB8AC3E}">
        <p14:creationId xmlns:p14="http://schemas.microsoft.com/office/powerpoint/2010/main" val="420371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_1">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11277600" cy="762000"/>
          </a:xfrm>
        </p:spPr>
        <p:txBody>
          <a:bodyPr anchor="ctr"/>
          <a:lstStyle>
            <a:lvl1pPr>
              <a:defRPr sz="3200"/>
            </a:lvl1pPr>
          </a:lstStyle>
          <a:p>
            <a:r>
              <a:rPr lang="ko-KR" altLang="en-US"/>
              <a:t>마스터 제목 스타일 편집</a:t>
            </a:r>
            <a:endParaRPr lang="en-US"/>
          </a:p>
        </p:txBody>
      </p:sp>
      <p:sp>
        <p:nvSpPr>
          <p:cNvPr id="4" name="Content Placeholder 2">
            <a:extLst>
              <a:ext uri="{FF2B5EF4-FFF2-40B4-BE49-F238E27FC236}">
                <a16:creationId xmlns:a16="http://schemas.microsoft.com/office/drawing/2014/main" id="{38C6936E-D099-1BE8-8BB3-AAFCF768FD35}"/>
              </a:ext>
            </a:extLst>
          </p:cNvPr>
          <p:cNvSpPr>
            <a:spLocks noGrp="1"/>
          </p:cNvSpPr>
          <p:nvPr>
            <p:ph idx="10"/>
          </p:nvPr>
        </p:nvSpPr>
        <p:spPr>
          <a:xfrm>
            <a:off x="304800" y="1038225"/>
            <a:ext cx="11277600" cy="5438775"/>
          </a:xfrm>
        </p:spPr>
        <p:txBody>
          <a:bodyPr/>
          <a:lstStyle>
            <a:lvl1pPr marL="432000" indent="-432000">
              <a:spcBef>
                <a:spcPts val="0"/>
              </a:spcBef>
              <a:spcAft>
                <a:spcPts val="600"/>
              </a:spcAft>
              <a:buClrTx/>
              <a:buSzPct val="100000"/>
              <a:buFont typeface="Wingdings" panose="05000000000000000000" pitchFamily="2" charset="2"/>
              <a:buChar char="v"/>
              <a:defRPr sz="2400"/>
            </a:lvl1pPr>
            <a:lvl2pPr marL="720000" indent="-252000">
              <a:spcBef>
                <a:spcPts val="0"/>
              </a:spcBef>
              <a:spcAft>
                <a:spcPts val="600"/>
              </a:spcAft>
              <a:buClrTx/>
              <a:buSzPct val="100000"/>
              <a:buFont typeface="Wingdings" panose="05000000000000000000" pitchFamily="2" charset="2"/>
              <a:buChar char="§"/>
              <a:defRPr lang="ko-KR" altLang="en-US" sz="20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마스터 텍스트 스타일을 편집하려면 클릭</a:t>
            </a:r>
          </a:p>
          <a:p>
            <a:pPr lvl="1"/>
            <a:r>
              <a:rPr lang="ko-KR" altLang="en-US"/>
              <a:t>두 번째 수준</a:t>
            </a:r>
            <a:endParaRPr lang="en-US" altLang="ko-KR"/>
          </a:p>
          <a:p>
            <a:pPr lvl="2"/>
            <a:r>
              <a:rPr lang="ko-KR" altLang="en-US"/>
              <a:t>세 번째 수준</a:t>
            </a:r>
          </a:p>
        </p:txBody>
      </p:sp>
    </p:spTree>
    <p:extLst>
      <p:ext uri="{BB962C8B-B14F-4D97-AF65-F5344CB8AC3E}">
        <p14:creationId xmlns:p14="http://schemas.microsoft.com/office/powerpoint/2010/main" val="11220102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2">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11277600" cy="762000"/>
          </a:xfrm>
        </p:spPr>
        <p:txBody>
          <a:bodyPr anchor="ctr"/>
          <a:lstStyle>
            <a:lvl1pPr>
              <a:defRPr sz="3200"/>
            </a:lvl1pPr>
          </a:lstStyle>
          <a:p>
            <a:r>
              <a:rPr lang="ko-KR" altLang="en-US"/>
              <a:t>마스터 제목 스타일 편집</a:t>
            </a:r>
            <a:endParaRPr lang="en-US"/>
          </a:p>
        </p:txBody>
      </p:sp>
      <p:sp>
        <p:nvSpPr>
          <p:cNvPr id="6" name="Content Placeholder 2">
            <a:extLst>
              <a:ext uri="{FF2B5EF4-FFF2-40B4-BE49-F238E27FC236}">
                <a16:creationId xmlns:a16="http://schemas.microsoft.com/office/drawing/2014/main" id="{AAA6B0B8-599D-92DF-18BE-0154789C5094}"/>
              </a:ext>
            </a:extLst>
          </p:cNvPr>
          <p:cNvSpPr>
            <a:spLocks noGrp="1"/>
          </p:cNvSpPr>
          <p:nvPr>
            <p:ph idx="1"/>
          </p:nvPr>
        </p:nvSpPr>
        <p:spPr>
          <a:xfrm>
            <a:off x="304800" y="5279366"/>
            <a:ext cx="11277600" cy="1197634"/>
          </a:xfrm>
        </p:spPr>
        <p:txBody>
          <a:bodyPr/>
          <a:lstStyle>
            <a:lvl1pPr marL="432000" indent="-432000">
              <a:spcBef>
                <a:spcPts val="0"/>
              </a:spcBef>
              <a:spcAft>
                <a:spcPts val="600"/>
              </a:spcAft>
              <a:buClrTx/>
              <a:buSzPct val="100000"/>
              <a:buFont typeface="Wingdings" panose="05000000000000000000" pitchFamily="2" charset="2"/>
              <a:buChar char="v"/>
              <a:defRPr sz="2400"/>
            </a:lvl1pPr>
            <a:lvl2pPr marL="720000" indent="-252000">
              <a:spcBef>
                <a:spcPts val="0"/>
              </a:spcBef>
              <a:spcAft>
                <a:spcPts val="600"/>
              </a:spcAft>
              <a:buClrTx/>
              <a:buSzPct val="100000"/>
              <a:buFont typeface="Wingdings" panose="05000000000000000000" pitchFamily="2" charset="2"/>
              <a:buChar char="§"/>
              <a:defRPr lang="ko-KR" altLang="en-US" sz="20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마스터 텍스트 스타일을 편집하려면 클릭</a:t>
            </a:r>
          </a:p>
          <a:p>
            <a:pPr lvl="1"/>
            <a:r>
              <a:rPr lang="ko-KR" altLang="en-US"/>
              <a:t>두 번째 수준</a:t>
            </a:r>
            <a:endParaRPr lang="en-US" altLang="ko-KR"/>
          </a:p>
          <a:p>
            <a:pPr lvl="2"/>
            <a:r>
              <a:rPr lang="ko-KR" altLang="en-US"/>
              <a:t>세 번째 수준</a:t>
            </a:r>
          </a:p>
        </p:txBody>
      </p:sp>
    </p:spTree>
    <p:extLst>
      <p:ext uri="{BB962C8B-B14F-4D97-AF65-F5344CB8AC3E}">
        <p14:creationId xmlns:p14="http://schemas.microsoft.com/office/powerpoint/2010/main" val="3049719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content_2">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11277600" cy="762000"/>
          </a:xfrm>
        </p:spPr>
        <p:txBody>
          <a:bodyPr anchor="ctr"/>
          <a:lstStyle>
            <a:lvl1pPr>
              <a:defRPr sz="3200"/>
            </a:lvl1pPr>
          </a:lstStyle>
          <a:p>
            <a:r>
              <a:rPr lang="ko-KR" altLang="en-US"/>
              <a:t>마스터 제목 스타일 편집</a:t>
            </a:r>
            <a:endParaRPr lang="en-US"/>
          </a:p>
        </p:txBody>
      </p:sp>
      <p:sp>
        <p:nvSpPr>
          <p:cNvPr id="6" name="Content Placeholder 2">
            <a:extLst>
              <a:ext uri="{FF2B5EF4-FFF2-40B4-BE49-F238E27FC236}">
                <a16:creationId xmlns:a16="http://schemas.microsoft.com/office/drawing/2014/main" id="{AAA6B0B8-599D-92DF-18BE-0154789C5094}"/>
              </a:ext>
            </a:extLst>
          </p:cNvPr>
          <p:cNvSpPr>
            <a:spLocks noGrp="1"/>
          </p:cNvSpPr>
          <p:nvPr>
            <p:ph idx="1" hasCustomPrompt="1"/>
          </p:nvPr>
        </p:nvSpPr>
        <p:spPr>
          <a:xfrm>
            <a:off x="304800" y="5279366"/>
            <a:ext cx="11277600" cy="1197634"/>
          </a:xfrm>
        </p:spPr>
        <p:txBody>
          <a:bodyPr/>
          <a:lstStyle>
            <a:lvl1pPr marL="432000" indent="-432000">
              <a:spcBef>
                <a:spcPts val="0"/>
              </a:spcBef>
              <a:spcAft>
                <a:spcPts val="600"/>
              </a:spcAft>
              <a:buClrTx/>
              <a:buSzPct val="100000"/>
              <a:buFont typeface="Wingdings" panose="05000000000000000000" pitchFamily="2" charset="2"/>
              <a:buChar char="§"/>
              <a:defRPr sz="2000"/>
            </a:lvl1pPr>
            <a:lvl2pPr marL="720000" indent="-252000">
              <a:spcBef>
                <a:spcPts val="0"/>
              </a:spcBef>
              <a:spcAft>
                <a:spcPts val="600"/>
              </a:spcAft>
              <a:buClrTx/>
              <a:buSzPct val="100000"/>
              <a:buFont typeface="Arial" panose="020B0604020202020204" pitchFamily="34" charset="0"/>
              <a:buChar char="•"/>
              <a:defRPr lang="ko-KR" altLang="en-US" sz="18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두 번째 수준</a:t>
            </a:r>
            <a:endParaRPr lang="en-US" altLang="ko-KR"/>
          </a:p>
          <a:p>
            <a:pPr lvl="1"/>
            <a:r>
              <a:rPr lang="ko-KR" altLang="en-US"/>
              <a:t>세 번째 수준</a:t>
            </a:r>
          </a:p>
        </p:txBody>
      </p:sp>
      <p:sp>
        <p:nvSpPr>
          <p:cNvPr id="3" name="Content Placeholder 2">
            <a:extLst>
              <a:ext uri="{FF2B5EF4-FFF2-40B4-BE49-F238E27FC236}">
                <a16:creationId xmlns:a16="http://schemas.microsoft.com/office/drawing/2014/main" id="{7287424F-3297-D95B-C851-77D5FA265A69}"/>
              </a:ext>
            </a:extLst>
          </p:cNvPr>
          <p:cNvSpPr>
            <a:spLocks noGrp="1"/>
          </p:cNvSpPr>
          <p:nvPr>
            <p:ph idx="10"/>
          </p:nvPr>
        </p:nvSpPr>
        <p:spPr>
          <a:xfrm>
            <a:off x="304800" y="964541"/>
            <a:ext cx="11277600" cy="445159"/>
          </a:xfrm>
        </p:spPr>
        <p:txBody>
          <a:bodyPr/>
          <a:lstStyle>
            <a:lvl1pPr marL="432000" indent="-432000">
              <a:spcBef>
                <a:spcPts val="0"/>
              </a:spcBef>
              <a:spcAft>
                <a:spcPts val="600"/>
              </a:spcAft>
              <a:buClrTx/>
              <a:buSzPct val="100000"/>
              <a:buFont typeface="Wingdings" panose="05000000000000000000" pitchFamily="2" charset="2"/>
              <a:buChar char="v"/>
              <a:defRPr sz="2400"/>
            </a:lvl1pPr>
            <a:lvl2pPr marL="720000" indent="-252000">
              <a:spcBef>
                <a:spcPts val="0"/>
              </a:spcBef>
              <a:spcAft>
                <a:spcPts val="600"/>
              </a:spcAft>
              <a:buClrTx/>
              <a:buSzPct val="100000"/>
              <a:buFont typeface="Wingdings" panose="05000000000000000000" pitchFamily="2" charset="2"/>
              <a:buChar char="§"/>
              <a:defRPr lang="ko-KR" altLang="en-US" sz="20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마스터 텍스트 스타일을 편집하려면 클릭</a:t>
            </a:r>
          </a:p>
        </p:txBody>
      </p:sp>
    </p:spTree>
    <p:extLst>
      <p:ext uri="{BB962C8B-B14F-4D97-AF65-F5344CB8AC3E}">
        <p14:creationId xmlns:p14="http://schemas.microsoft.com/office/powerpoint/2010/main" val="1270269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content_4">
    <p:spTree>
      <p:nvGrpSpPr>
        <p:cNvPr id="1" name=""/>
        <p:cNvGrpSpPr/>
        <p:nvPr/>
      </p:nvGrpSpPr>
      <p:grpSpPr>
        <a:xfrm>
          <a:off x="0" y="0"/>
          <a:ext cx="0" cy="0"/>
          <a:chOff x="0" y="0"/>
          <a:chExt cx="0" cy="0"/>
        </a:xfrm>
      </p:grpSpPr>
      <p:sp>
        <p:nvSpPr>
          <p:cNvPr id="2" name="Title 1"/>
          <p:cNvSpPr>
            <a:spLocks noGrp="1"/>
          </p:cNvSpPr>
          <p:nvPr>
            <p:ph type="title"/>
          </p:nvPr>
        </p:nvSpPr>
        <p:spPr>
          <a:xfrm>
            <a:off x="310551" y="0"/>
            <a:ext cx="11024559" cy="762000"/>
          </a:xfrm>
        </p:spPr>
        <p:txBody>
          <a:bodyPr/>
          <a:lstStyle>
            <a:lvl1pPr>
              <a:defRPr sz="3200"/>
            </a:lvl1pPr>
          </a:lstStyle>
          <a:p>
            <a:r>
              <a:rPr lang="ko-KR" altLang="en-US"/>
              <a:t>마스터 제목 스타일 편집</a:t>
            </a:r>
            <a:endParaRPr lang="en-US"/>
          </a:p>
        </p:txBody>
      </p:sp>
    </p:spTree>
    <p:extLst>
      <p:ext uri="{BB962C8B-B14F-4D97-AF65-F5344CB8AC3E}">
        <p14:creationId xmlns:p14="http://schemas.microsoft.com/office/powerpoint/2010/main" val="3227596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content_4">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A3150C2-20D0-A45F-5462-61690D256719}"/>
              </a:ext>
            </a:extLst>
          </p:cNvPr>
          <p:cNvSpPr>
            <a:spLocks noGrp="1"/>
          </p:cNvSpPr>
          <p:nvPr>
            <p:ph sz="quarter" idx="10"/>
          </p:nvPr>
        </p:nvSpPr>
        <p:spPr>
          <a:xfrm>
            <a:off x="3551239" y="4124506"/>
            <a:ext cx="5089525" cy="507881"/>
          </a:xfrm>
        </p:spPr>
        <p:txBody>
          <a:bodyPr/>
          <a:lstStyle>
            <a:lvl1pPr marL="0" indent="0" algn="ctr">
              <a:buNone/>
              <a:defRPr sz="2100"/>
            </a:lvl1pPr>
          </a:lstStyle>
          <a:p>
            <a:pPr lvl="0"/>
            <a:r>
              <a:rPr lang="ko-KR" altLang="en-US"/>
              <a:t>마스터 텍스트 스타일을 편집하려면 클릭</a:t>
            </a:r>
          </a:p>
        </p:txBody>
      </p:sp>
      <p:sp>
        <p:nvSpPr>
          <p:cNvPr id="6" name="TextBox 5">
            <a:extLst>
              <a:ext uri="{FF2B5EF4-FFF2-40B4-BE49-F238E27FC236}">
                <a16:creationId xmlns:a16="http://schemas.microsoft.com/office/drawing/2014/main" id="{D28ADDEF-87C0-B90A-6505-6A3A384B7EE8}"/>
              </a:ext>
            </a:extLst>
          </p:cNvPr>
          <p:cNvSpPr txBox="1"/>
          <p:nvPr/>
        </p:nvSpPr>
        <p:spPr>
          <a:xfrm>
            <a:off x="3623209" y="2313750"/>
            <a:ext cx="4945585" cy="1419619"/>
          </a:xfrm>
          <a:prstGeom prst="rect">
            <a:avLst/>
          </a:prstGeom>
          <a:noFill/>
        </p:spPr>
        <p:txBody>
          <a:bodyPr wrap="none" rtlCol="0" anchor="ctr">
            <a:spAutoFit/>
          </a:bodyPr>
          <a:lstStyle/>
          <a:p>
            <a:pPr algn="ctr"/>
            <a:r>
              <a:rPr lang="en-US" altLang="zh-CN" sz="8625"/>
              <a:t>Thank you</a:t>
            </a:r>
            <a:endParaRPr lang="ko-KR" altLang="en-US" sz="8625"/>
          </a:p>
        </p:txBody>
      </p:sp>
    </p:spTree>
    <p:extLst>
      <p:ext uri="{BB962C8B-B14F-4D97-AF65-F5344CB8AC3E}">
        <p14:creationId xmlns:p14="http://schemas.microsoft.com/office/powerpoint/2010/main" val="194193463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04800" y="0"/>
            <a:ext cx="1127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a:t>마스터 제목 스타일 편집</a:t>
            </a:r>
            <a:endParaRPr lang="en-US" altLang="zh-CN"/>
          </a:p>
        </p:txBody>
      </p:sp>
      <p:sp>
        <p:nvSpPr>
          <p:cNvPr id="1027" name="Rectangle 3"/>
          <p:cNvSpPr>
            <a:spLocks noGrp="1" noChangeArrowheads="1"/>
          </p:cNvSpPr>
          <p:nvPr>
            <p:ph type="body" idx="1"/>
          </p:nvPr>
        </p:nvSpPr>
        <p:spPr bwMode="auto">
          <a:xfrm>
            <a:off x="304800" y="914400"/>
            <a:ext cx="112776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p:txBody>
      </p:sp>
      <p:sp>
        <p:nvSpPr>
          <p:cNvPr id="32773"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750">
                <a:latin typeface="Verdana" pitchFamily="34" charset="0"/>
                <a:ea typeface="宋体" pitchFamily="2" charset="-122"/>
              </a:defRPr>
            </a:lvl1pPr>
          </a:lstStyle>
          <a:p>
            <a:endParaRPr lang="ko-KR" altLang="en-US"/>
          </a:p>
        </p:txBody>
      </p:sp>
      <p:sp>
        <p:nvSpPr>
          <p:cNvPr id="1030" name="Rectangle 12"/>
          <p:cNvSpPr>
            <a:spLocks noChangeArrowheads="1"/>
          </p:cNvSpPr>
          <p:nvPr/>
        </p:nvSpPr>
        <p:spPr bwMode="auto">
          <a:xfrm>
            <a:off x="304800" y="762000"/>
            <a:ext cx="10058400" cy="152400"/>
          </a:xfrm>
          <a:prstGeom prst="rect">
            <a:avLst/>
          </a:prstGeom>
          <a:gradFill rotWithShape="0">
            <a:gsLst>
              <a:gs pos="0">
                <a:srgbClr val="297F3D">
                  <a:alpha val="99001"/>
                </a:srgbClr>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a:solidFill>
                <a:srgbClr val="000000"/>
              </a:solidFill>
            </a:endParaRPr>
          </a:p>
        </p:txBody>
      </p:sp>
      <p:sp>
        <p:nvSpPr>
          <p:cNvPr id="3" name="TextBox 2">
            <a:extLst>
              <a:ext uri="{FF2B5EF4-FFF2-40B4-BE49-F238E27FC236}">
                <a16:creationId xmlns:a16="http://schemas.microsoft.com/office/drawing/2014/main" id="{047E8E0A-D232-4C57-7AD9-EBC41A1AA7E2}"/>
              </a:ext>
            </a:extLst>
          </p:cNvPr>
          <p:cNvSpPr txBox="1"/>
          <p:nvPr/>
        </p:nvSpPr>
        <p:spPr>
          <a:xfrm>
            <a:off x="11582400" y="6373649"/>
            <a:ext cx="386644" cy="300082"/>
          </a:xfrm>
          <a:prstGeom prst="rect">
            <a:avLst/>
          </a:prstGeom>
          <a:noFill/>
        </p:spPr>
        <p:txBody>
          <a:bodyPr wrap="none" rtlCol="0">
            <a:spAutoFit/>
          </a:bodyPr>
          <a:lstStyle/>
          <a:p>
            <a:fld id="{B6F15528-21DE-4FAA-801E-634DDDAF4B2B}" type="slidenum">
              <a:rPr lang="en-US" altLang="ko-KR" sz="1350" smtClean="0">
                <a:solidFill>
                  <a:srgbClr val="000000"/>
                </a:solidFill>
              </a:rPr>
              <a:pPr/>
              <a:t>‹#›</a:t>
            </a:fld>
            <a:endParaRPr lang="ko-KR" altLang="en-US" sz="1350"/>
          </a:p>
        </p:txBody>
      </p:sp>
    </p:spTree>
    <p:extLst>
      <p:ext uri="{BB962C8B-B14F-4D97-AF65-F5344CB8AC3E}">
        <p14:creationId xmlns:p14="http://schemas.microsoft.com/office/powerpoint/2010/main" val="6314961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lgn="l" rtl="0" eaLnBrk="1" fontAlgn="base" latinLnBrk="1" hangingPunct="1">
        <a:spcBef>
          <a:spcPct val="0"/>
        </a:spcBef>
        <a:spcAft>
          <a:spcPct val="0"/>
        </a:spcAft>
        <a:defRPr sz="2800">
          <a:solidFill>
            <a:schemeClr val="tx1"/>
          </a:solidFill>
          <a:latin typeface="+mj-lt"/>
          <a:ea typeface="+mj-ea"/>
          <a:cs typeface="+mj-cs"/>
        </a:defRPr>
      </a:lvl1pPr>
      <a:lvl2pPr algn="l" rtl="0" eaLnBrk="1" fontAlgn="base" latinLnBrk="1" hangingPunct="1">
        <a:spcBef>
          <a:spcPct val="0"/>
        </a:spcBef>
        <a:spcAft>
          <a:spcPct val="0"/>
        </a:spcAft>
        <a:defRPr sz="2400">
          <a:solidFill>
            <a:schemeClr val="tx1"/>
          </a:solidFill>
          <a:latin typeface="Times New Roman" pitchFamily="18" charset="0"/>
          <a:cs typeface="Arial" charset="0"/>
        </a:defRPr>
      </a:lvl2pPr>
      <a:lvl3pPr algn="l" rtl="0" eaLnBrk="1" fontAlgn="base" latinLnBrk="1" hangingPunct="1">
        <a:spcBef>
          <a:spcPct val="0"/>
        </a:spcBef>
        <a:spcAft>
          <a:spcPct val="0"/>
        </a:spcAft>
        <a:defRPr sz="2400">
          <a:solidFill>
            <a:schemeClr val="tx1"/>
          </a:solidFill>
          <a:latin typeface="Times New Roman" pitchFamily="18" charset="0"/>
          <a:cs typeface="Arial" charset="0"/>
        </a:defRPr>
      </a:lvl3pPr>
      <a:lvl4pPr algn="l" rtl="0" eaLnBrk="1" fontAlgn="base" latinLnBrk="1" hangingPunct="1">
        <a:spcBef>
          <a:spcPct val="0"/>
        </a:spcBef>
        <a:spcAft>
          <a:spcPct val="0"/>
        </a:spcAft>
        <a:defRPr sz="2400">
          <a:solidFill>
            <a:schemeClr val="tx1"/>
          </a:solidFill>
          <a:latin typeface="Times New Roman" pitchFamily="18" charset="0"/>
          <a:cs typeface="Arial" charset="0"/>
        </a:defRPr>
      </a:lvl4pPr>
      <a:lvl5pPr algn="l" rtl="0" eaLnBrk="1" fontAlgn="base" latinLnBrk="1" hangingPunct="1">
        <a:spcBef>
          <a:spcPct val="0"/>
        </a:spcBef>
        <a:spcAft>
          <a:spcPct val="0"/>
        </a:spcAft>
        <a:defRPr sz="2400">
          <a:solidFill>
            <a:schemeClr val="tx1"/>
          </a:solidFill>
          <a:latin typeface="Times New Roman" pitchFamily="18" charset="0"/>
          <a:cs typeface="Arial" charset="0"/>
        </a:defRPr>
      </a:lvl5pPr>
      <a:lvl6pPr marL="342900" algn="l" rtl="0" eaLnBrk="1" fontAlgn="base" latinLnBrk="1" hangingPunct="1">
        <a:spcBef>
          <a:spcPct val="0"/>
        </a:spcBef>
        <a:spcAft>
          <a:spcPct val="0"/>
        </a:spcAft>
        <a:defRPr sz="2400">
          <a:solidFill>
            <a:schemeClr val="tx1"/>
          </a:solidFill>
          <a:latin typeface="Times New Roman" pitchFamily="18" charset="0"/>
          <a:cs typeface="Arial" charset="0"/>
        </a:defRPr>
      </a:lvl6pPr>
      <a:lvl7pPr marL="685800" algn="l" rtl="0" eaLnBrk="1" fontAlgn="base" latinLnBrk="1" hangingPunct="1">
        <a:spcBef>
          <a:spcPct val="0"/>
        </a:spcBef>
        <a:spcAft>
          <a:spcPct val="0"/>
        </a:spcAft>
        <a:defRPr sz="2400">
          <a:solidFill>
            <a:schemeClr val="tx1"/>
          </a:solidFill>
          <a:latin typeface="Times New Roman" pitchFamily="18" charset="0"/>
          <a:cs typeface="Arial" charset="0"/>
        </a:defRPr>
      </a:lvl7pPr>
      <a:lvl8pPr marL="1028700" algn="l" rtl="0" eaLnBrk="1" fontAlgn="base" latinLnBrk="1" hangingPunct="1">
        <a:spcBef>
          <a:spcPct val="0"/>
        </a:spcBef>
        <a:spcAft>
          <a:spcPct val="0"/>
        </a:spcAft>
        <a:defRPr sz="2400">
          <a:solidFill>
            <a:schemeClr val="tx1"/>
          </a:solidFill>
          <a:latin typeface="Times New Roman" pitchFamily="18" charset="0"/>
          <a:cs typeface="Arial" charset="0"/>
        </a:defRPr>
      </a:lvl8pPr>
      <a:lvl9pPr marL="1371600" algn="l" rtl="0" eaLnBrk="1" fontAlgn="base" latinLnBrk="1" hangingPunct="1">
        <a:spcBef>
          <a:spcPct val="0"/>
        </a:spcBef>
        <a:spcAft>
          <a:spcPct val="0"/>
        </a:spcAft>
        <a:defRPr sz="2400">
          <a:solidFill>
            <a:schemeClr val="tx1"/>
          </a:solidFill>
          <a:latin typeface="Times New Roman" pitchFamily="18" charset="0"/>
          <a:cs typeface="Arial" charset="0"/>
        </a:defRPr>
      </a:lvl9pPr>
    </p:titleStyle>
    <p:bodyStyle>
      <a:lvl1pPr marL="257175" indent="-257175" algn="l" rtl="0" eaLnBrk="1" fontAlgn="base" latinLnBrk="1" hangingPunct="1">
        <a:spcBef>
          <a:spcPts val="0"/>
        </a:spcBef>
        <a:spcAft>
          <a:spcPts val="450"/>
        </a:spcAft>
        <a:buClr>
          <a:schemeClr val="tx1"/>
        </a:buClr>
        <a:buSzPct val="75000"/>
        <a:buFont typeface="Times New Roman" pitchFamily="18" charset="0"/>
        <a:buChar char="●"/>
        <a:defRPr sz="1800">
          <a:solidFill>
            <a:schemeClr val="tx1"/>
          </a:solidFill>
          <a:latin typeface="+mn-lt"/>
          <a:ea typeface="+mn-ea"/>
          <a:cs typeface="+mn-cs"/>
        </a:defRPr>
      </a:lvl1pPr>
      <a:lvl2pPr marL="480060" indent="-205740" algn="l" rtl="0" eaLnBrk="1" fontAlgn="base" latinLnBrk="1" hangingPunct="1">
        <a:spcBef>
          <a:spcPts val="0"/>
        </a:spcBef>
        <a:spcAft>
          <a:spcPts val="450"/>
        </a:spcAft>
        <a:buClrTx/>
        <a:buSzPct val="75000"/>
        <a:buFont typeface="Arial" charset="0"/>
        <a:buChar char="–"/>
        <a:defRPr lang="en-US" altLang="zh-CN" sz="1650" dirty="0" smtClean="0">
          <a:solidFill>
            <a:schemeClr val="tx1"/>
          </a:solidFill>
          <a:latin typeface="+mn-lt"/>
          <a:cs typeface="+mn-cs"/>
        </a:defRPr>
      </a:lvl2pPr>
      <a:lvl3pPr marL="754380" indent="-205740" algn="l" rtl="0" eaLnBrk="1" fontAlgn="base" latinLnBrk="1" hangingPunct="1">
        <a:spcBef>
          <a:spcPts val="0"/>
        </a:spcBef>
        <a:spcAft>
          <a:spcPts val="450"/>
        </a:spcAft>
        <a:buClrTx/>
        <a:buSzPct val="65000"/>
        <a:buFont typeface="Wingdings" pitchFamily="2" charset="2"/>
        <a:buChar char="§"/>
        <a:defRPr lang="en-US" altLang="zh-CN" sz="1500" dirty="0">
          <a:solidFill>
            <a:schemeClr val="tx1"/>
          </a:solidFill>
          <a:latin typeface="+mn-lt"/>
          <a:cs typeface="+mn-cs"/>
        </a:defRPr>
      </a:lvl3pPr>
      <a:lvl4pPr marL="1200150" indent="-171450" algn="l" rtl="0" eaLnBrk="1" fontAlgn="base" latinLnBrk="1" hangingPunct="1">
        <a:spcBef>
          <a:spcPct val="20000"/>
        </a:spcBef>
        <a:spcAft>
          <a:spcPct val="0"/>
        </a:spcAft>
        <a:buClr>
          <a:schemeClr val="bg2"/>
        </a:buClr>
        <a:buFont typeface="Arial" panose="020B0604020202020204" pitchFamily="34" charset="0"/>
        <a:buChar char="•"/>
        <a:defRPr sz="1200">
          <a:solidFill>
            <a:schemeClr val="tx1"/>
          </a:solidFill>
          <a:latin typeface="+mn-lt"/>
          <a:cs typeface="+mn-cs"/>
        </a:defRPr>
      </a:lvl4pPr>
      <a:lvl5pPr marL="1543050" indent="-171450" algn="l" rtl="0" eaLnBrk="1" fontAlgn="base" latinLnBrk="1" hangingPunct="1">
        <a:spcBef>
          <a:spcPct val="20000"/>
        </a:spcBef>
        <a:spcAft>
          <a:spcPct val="0"/>
        </a:spcAft>
        <a:buClr>
          <a:schemeClr val="tx2"/>
        </a:buClr>
        <a:buSzPct val="80000"/>
        <a:buFont typeface="Wingdings" pitchFamily="2" charset="2"/>
        <a:buChar char="§"/>
        <a:defRPr sz="1350">
          <a:solidFill>
            <a:schemeClr val="tx1"/>
          </a:solidFill>
          <a:latin typeface="+mn-lt"/>
          <a:cs typeface="+mn-cs"/>
        </a:defRPr>
      </a:lvl5pPr>
      <a:lvl6pPr marL="18859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2288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25717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29146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8.png"/><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161CA2A-44B7-9F04-6068-47D43FF3DC60}"/>
              </a:ext>
            </a:extLst>
          </p:cNvPr>
          <p:cNvSpPr>
            <a:spLocks noGrp="1"/>
          </p:cNvSpPr>
          <p:nvPr>
            <p:ph type="ctrTitle"/>
          </p:nvPr>
        </p:nvSpPr>
        <p:spPr>
          <a:xfrm>
            <a:off x="1118507" y="1016453"/>
            <a:ext cx="10882993" cy="1828800"/>
          </a:xfrm>
        </p:spPr>
        <p:txBody>
          <a:bodyPr/>
          <a:lstStyle/>
          <a:p>
            <a:pPr>
              <a:defRPr sz="3000" b="1">
                <a:solidFill>
                  <a:srgbClr val="000000"/>
                </a:solidFill>
                <a:latin typeface="Times New Roman"/>
              </a:defRPr>
            </a:pPr>
            <a:r>
              <a:t>Voltage-Matched Ku/Kd Replay</a:t>
            </a:r>
          </a:p>
          <a:p>
            <a:r>
              <a:t>for Interrupted IBIS Transitions</a:t>
            </a:r>
          </a:p>
        </p:txBody>
      </p:sp>
      <p:sp>
        <p:nvSpPr>
          <p:cNvPr id="3" name="부제목 2">
            <a:extLst>
              <a:ext uri="{FF2B5EF4-FFF2-40B4-BE49-F238E27FC236}">
                <a16:creationId xmlns:a16="http://schemas.microsoft.com/office/drawing/2014/main" id="{D62CACD7-6A52-C28F-D2D0-4E8721229DAB}"/>
              </a:ext>
            </a:extLst>
          </p:cNvPr>
          <p:cNvSpPr>
            <a:spLocks noGrp="1"/>
          </p:cNvSpPr>
          <p:nvPr>
            <p:ph type="subTitle" idx="1"/>
          </p:nvPr>
        </p:nvSpPr>
        <p:spPr>
          <a:xfrm>
            <a:off x="1828800" y="5294671"/>
            <a:ext cx="8534400" cy="1563329"/>
          </a:xfrm>
        </p:spPr>
        <p:txBody>
          <a:bodyPr/>
          <a:lstStyle/>
          <a:p>
            <a:pPr algn="ctr">
              <a:defRPr sz="1600">
                <a:solidFill>
                  <a:srgbClr val="000000"/>
                </a:solidFill>
                <a:latin typeface="Times New Roman"/>
              </a:defRPr>
            </a:pPr>
            <a:r>
              <a:t>Simon Hwang</a:t>
            </a:r>
          </a:p>
          <a:p>
            <a:pPr algn="ctr">
              <a:defRPr sz="1600">
                <a:solidFill>
                  <a:srgbClr val="000000"/>
                </a:solidFill>
                <a:latin typeface="Times New Roman"/>
              </a:defRPr>
            </a:pPr>
            <a:r>
              <a:t>8/14/2026</a:t>
            </a:r>
          </a:p>
        </p:txBody>
      </p:sp>
    </p:spTree>
    <p:extLst>
      <p:ext uri="{BB962C8B-B14F-4D97-AF65-F5344CB8AC3E}">
        <p14:creationId xmlns:p14="http://schemas.microsoft.com/office/powerpoint/2010/main" val="66142218"/>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1. Why interrupted transitions are different</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PROBLEM</a:t>
            </a:r>
          </a:p>
        </p:txBody>
      </p:sp>
      <p:sp>
        <p:nvSpPr>
          <p:cNvPr id="4" name="Rectangle 3"/>
          <p:cNvSpPr/>
          <p:nvPr/>
        </p:nvSpPr>
        <p:spPr>
          <a:xfrm>
            <a:off x="521207" y="1299405"/>
            <a:ext cx="6958583" cy="4122028"/>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1_short_pulse_problem_inv_chain.png"/>
          <p:cNvPicPr>
            <a:picLocks noChangeAspect="1"/>
          </p:cNvPicPr>
          <p:nvPr/>
        </p:nvPicPr>
        <p:blipFill>
          <a:blip r:embed="rId2"/>
          <a:stretch>
            <a:fillRect/>
          </a:stretch>
        </p:blipFill>
        <p:spPr>
          <a:xfrm>
            <a:off x="548640" y="1326837"/>
            <a:ext cx="6903720" cy="4067164"/>
          </a:xfrm>
          <a:prstGeom prst="rect">
            <a:avLst/>
          </a:prstGeom>
        </p:spPr>
      </p:pic>
      <p:sp>
        <p:nvSpPr>
          <p:cNvPr id="6" name="Rounded Rectangle 5"/>
          <p:cNvSpPr/>
          <p:nvPr/>
        </p:nvSpPr>
        <p:spPr>
          <a:xfrm>
            <a:off x="7818120" y="1143000"/>
            <a:ext cx="3291840" cy="566928"/>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Normal transition</a:t>
            </a:r>
          </a:p>
        </p:txBody>
      </p:sp>
      <p:sp>
        <p:nvSpPr>
          <p:cNvPr id="7" name="TextBox 6"/>
          <p:cNvSpPr txBox="1"/>
          <p:nvPr/>
        </p:nvSpPr>
        <p:spPr>
          <a:xfrm>
            <a:off x="7909560" y="1847088"/>
            <a:ext cx="3063240" cy="960120"/>
          </a:xfrm>
          <a:prstGeom prst="rect">
            <a:avLst/>
          </a:prstGeom>
          <a:noFill/>
        </p:spPr>
        <p:txBody>
          <a:bodyPr wrap="square" lIns="45720" rIns="45720" anchor="t">
            <a:spAutoFit/>
          </a:bodyPr>
          <a:lstStyle/>
          <a:p>
            <a:pPr algn="l">
              <a:defRPr sz="1600" b="0">
                <a:solidFill>
                  <a:srgbClr val="191F1C"/>
                </a:solidFill>
                <a:latin typeface="Aptos"/>
              </a:defRPr>
            </a:pPr>
            <a:r>
              <a:t>The first edge finishes. Starting the opposite full-swing table from its endpoint is reasonable.</a:t>
            </a:r>
          </a:p>
        </p:txBody>
      </p:sp>
      <p:sp>
        <p:nvSpPr>
          <p:cNvPr id="8" name="Rounded Rectangle 7"/>
          <p:cNvSpPr/>
          <p:nvPr/>
        </p:nvSpPr>
        <p:spPr>
          <a:xfrm>
            <a:off x="7818120" y="3063240"/>
            <a:ext cx="3291840" cy="566928"/>
          </a:xfrm>
          <a:prstGeom prst="roundRect">
            <a:avLst/>
          </a:prstGeom>
          <a:solidFill>
            <a:srgbClr val="FCEBEB"/>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Interrupted transition</a:t>
            </a:r>
          </a:p>
        </p:txBody>
      </p:sp>
      <p:sp>
        <p:nvSpPr>
          <p:cNvPr id="9" name="TextBox 8"/>
          <p:cNvSpPr txBox="1"/>
          <p:nvPr/>
        </p:nvSpPr>
        <p:spPr>
          <a:xfrm>
            <a:off x="7909560" y="3767328"/>
            <a:ext cx="3063240" cy="1097280"/>
          </a:xfrm>
          <a:prstGeom prst="rect">
            <a:avLst/>
          </a:prstGeom>
          <a:noFill/>
        </p:spPr>
        <p:txBody>
          <a:bodyPr wrap="square" lIns="45720" rIns="45720" anchor="t">
            <a:spAutoFit/>
          </a:bodyPr>
          <a:lstStyle/>
          <a:p>
            <a:pPr algn="l">
              <a:defRPr sz="1600" b="0">
                <a:solidFill>
                  <a:srgbClr val="191F1C"/>
                </a:solidFill>
                <a:latin typeface="Aptos"/>
              </a:defRPr>
            </a:pPr>
            <a:r>
              <a:t>The second edge arrives while internal drive and loaded pad response still contain history from the first edge.</a:t>
            </a:r>
          </a:p>
        </p:txBody>
      </p:sp>
      <p:sp>
        <p:nvSpPr>
          <p:cNvPr id="10" name="Rectangle 9"/>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At the second edge, restarting the opposite Ku/Kd tables from t = 0 discards unfinished switching history.</a:t>
            </a:r>
          </a:p>
        </p:txBody>
      </p:sp>
      <p:sp>
        <p:nvSpPr>
          <p:cNvPr id="11" name="TextBox 10"/>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Cached inv_chain short-high reference: three_buffer_single_true_output_reversal_2026-08-11/waveforms/inv_chain.csv</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2. The voltage-matching idea in one chain</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CONCEPT</a:t>
            </a:r>
          </a:p>
        </p:txBody>
      </p:sp>
      <p:sp>
        <p:nvSpPr>
          <p:cNvPr id="4" name="Rounded Rectangle 3"/>
          <p:cNvSpPr/>
          <p:nvPr/>
        </p:nvSpPr>
        <p:spPr>
          <a:xfrm>
            <a:off x="502920" y="1874519"/>
            <a:ext cx="1965960" cy="960120"/>
          </a:xfrm>
          <a:prstGeom prst="roundRect">
            <a:avLst/>
          </a:prstGeom>
          <a:solidFill>
            <a:srgbClr val="E8F2FC"/>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Full-swing</a:t>
            </a:r>
            <a:br/>
            <a:r>
              <a:t>calibration</a:t>
            </a:r>
          </a:p>
        </p:txBody>
      </p:sp>
      <p:sp>
        <p:nvSpPr>
          <p:cNvPr id="5" name="Rounded Rectangle 4"/>
          <p:cNvSpPr/>
          <p:nvPr/>
        </p:nvSpPr>
        <p:spPr>
          <a:xfrm>
            <a:off x="2743200" y="1874519"/>
            <a:ext cx="1965960" cy="96012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Store Vpad(t),</a:t>
            </a:r>
            <a:br/>
            <a:r>
              <a:t>Ku(t), Kd(t)</a:t>
            </a:r>
          </a:p>
        </p:txBody>
      </p:sp>
      <p:sp>
        <p:nvSpPr>
          <p:cNvPr id="6" name="Rounded Rectangle 5"/>
          <p:cNvSpPr/>
          <p:nvPr/>
        </p:nvSpPr>
        <p:spPr>
          <a:xfrm>
            <a:off x="4983480" y="1874519"/>
            <a:ext cx="1965960" cy="960120"/>
          </a:xfrm>
          <a:prstGeom prst="roundRect">
            <a:avLst/>
          </a:prstGeom>
          <a:solidFill>
            <a:srgbClr val="FFF2E4"/>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Sample Vpad at</a:t>
            </a:r>
            <a:br/>
            <a:r>
              <a:t>the reverse event</a:t>
            </a:r>
          </a:p>
        </p:txBody>
      </p:sp>
      <p:sp>
        <p:nvSpPr>
          <p:cNvPr id="7" name="Rounded Rectangle 6"/>
          <p:cNvSpPr/>
          <p:nvPr/>
        </p:nvSpPr>
        <p:spPr>
          <a:xfrm>
            <a:off x="7223760" y="1874519"/>
            <a:ext cx="1965960" cy="960120"/>
          </a:xfrm>
          <a:prstGeom prst="roundRect">
            <a:avLst/>
          </a:prstGeom>
          <a:solidFill>
            <a:srgbClr val="F3EDFA"/>
          </a:solidFill>
          <a:ln w="15875">
            <a:solidFill>
              <a:srgbClr val="7B2CB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Find time on the</a:t>
            </a:r>
            <a:br/>
            <a:r>
              <a:t>opposite Vpad(t)</a:t>
            </a:r>
          </a:p>
        </p:txBody>
      </p:sp>
      <p:sp>
        <p:nvSpPr>
          <p:cNvPr id="8" name="Rounded Rectangle 7"/>
          <p:cNvSpPr/>
          <p:nvPr/>
        </p:nvSpPr>
        <p:spPr>
          <a:xfrm>
            <a:off x="9464040" y="1874519"/>
            <a:ext cx="1965960" cy="960120"/>
          </a:xfrm>
          <a:prstGeom prst="roundRect">
            <a:avLst/>
          </a:prstGeom>
          <a:solidFill>
            <a:srgbClr val="FCEBEB"/>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Replay opposite</a:t>
            </a:r>
            <a:br/>
            <a:r>
              <a:t>Ku/Kd from that time</a:t>
            </a:r>
          </a:p>
        </p:txBody>
      </p:sp>
      <p:cxnSp>
        <p:nvCxnSpPr>
          <p:cNvPr id="9" name="Connector 8"/>
          <p:cNvCxnSpPr/>
          <p:nvPr/>
        </p:nvCxnSpPr>
        <p:spPr>
          <a:xfrm>
            <a:off x="2468880" y="2359152"/>
            <a:ext cx="27432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709160" y="2359152"/>
            <a:ext cx="27432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949440" y="2359152"/>
            <a:ext cx="27432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89720" y="2359152"/>
            <a:ext cx="27432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pic>
        <p:nvPicPr>
          <p:cNvPr id="13" name="Picture 12" descr="Equation: V_s \rightarrow T_{opp}(V_s) \rightarrow \{K_{u,opp}(T),K_{d,opp}(T)\}"/>
          <p:cNvPicPr>
            <a:picLocks noChangeAspect="1"/>
          </p:cNvPicPr>
          <p:nvPr/>
        </p:nvPicPr>
        <p:blipFill>
          <a:blip r:embed="rId2"/>
          <a:stretch>
            <a:fillRect/>
          </a:stretch>
        </p:blipFill>
        <p:spPr>
          <a:xfrm>
            <a:off x="2057400" y="3550055"/>
            <a:ext cx="8138160" cy="489408"/>
          </a:xfrm>
          <a:prstGeom prst="rect">
            <a:avLst/>
          </a:prstGeom>
        </p:spPr>
      </p:pic>
      <p:sp>
        <p:nvSpPr>
          <p:cNvPr id="14" name="TextBox 13"/>
          <p:cNvSpPr txBox="1"/>
          <p:nvPr/>
        </p:nvSpPr>
        <p:spPr>
          <a:xfrm>
            <a:off x="1463040" y="4572000"/>
            <a:ext cx="9326880" cy="777240"/>
          </a:xfrm>
          <a:prstGeom prst="rect">
            <a:avLst/>
          </a:prstGeom>
          <a:noFill/>
        </p:spPr>
        <p:txBody>
          <a:bodyPr wrap="square" lIns="45720" rIns="45720" anchor="t">
            <a:spAutoFit/>
          </a:bodyPr>
          <a:lstStyle/>
          <a:p>
            <a:pPr algn="ctr">
              <a:defRPr sz="2000" b="1">
                <a:solidFill>
                  <a:srgbClr val="191F1C"/>
                </a:solidFill>
                <a:latin typeface="Aptos"/>
              </a:defRPr>
            </a:pPr>
            <a:r>
              <a:t>Important: voltage is an index into an opposite pad trajectory. It is not directly converted into two independent coefficient values.</a:t>
            </a:r>
          </a:p>
        </p:txBody>
      </p:sp>
      <p:sp>
        <p:nvSpPr>
          <p:cNvPr id="15" name="Rectangle 14"/>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shared matched time keeps opposite Ku and Kd synchronized as one table pair.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3. Offline step: run one complete rise and fall</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CALIBRATION</a:t>
            </a:r>
          </a:p>
        </p:txBody>
      </p:sp>
      <p:sp>
        <p:nvSpPr>
          <p:cNvPr id="4" name="Rectangle 3"/>
          <p:cNvSpPr/>
          <p:nvPr/>
        </p:nvSpPr>
        <p:spPr>
          <a:xfrm>
            <a:off x="475488" y="1895279"/>
            <a:ext cx="7598664" cy="3113161"/>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2_full_swing_calibration_io_buf.png"/>
          <p:cNvPicPr>
            <a:picLocks noChangeAspect="1"/>
          </p:cNvPicPr>
          <p:nvPr/>
        </p:nvPicPr>
        <p:blipFill>
          <a:blip r:embed="rId2"/>
          <a:stretch>
            <a:fillRect/>
          </a:stretch>
        </p:blipFill>
        <p:spPr>
          <a:xfrm>
            <a:off x="502920" y="1922711"/>
            <a:ext cx="7543800" cy="3058297"/>
          </a:xfrm>
          <a:prstGeom prst="rect">
            <a:avLst/>
          </a:prstGeom>
        </p:spPr>
      </p:pic>
      <p:sp>
        <p:nvSpPr>
          <p:cNvPr id="6" name="Rounded Rectangle 5"/>
          <p:cNvSpPr/>
          <p:nvPr/>
        </p:nvSpPr>
        <p:spPr>
          <a:xfrm>
            <a:off x="8229600" y="1188720"/>
            <a:ext cx="3154680" cy="2331720"/>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100">
                <a:solidFill>
                  <a:srgbClr val="1E3027"/>
                </a:solidFill>
                <a:latin typeface="Consolas"/>
              </a:defRPr>
            </a:pPr>
            <a:r>
              <a:t>Vin ... 5.00n 0</a:t>
            </a:r>
            <a:br/>
            <a:r>
              <a:t>+ 5.05n VDD</a:t>
            </a:r>
            <a:br/>
            <a:r>
              <a:t>+ 25.00n VDD</a:t>
            </a:r>
            <a:br/>
            <a:r>
              <a:t>+ 25.05n 0</a:t>
            </a:r>
            <a:br/>
            <a:r>
              <a:t>Rload pad 0 50</a:t>
            </a:r>
            <a:br/>
            <a:r>
              <a:t>Cload pad 0 2p</a:t>
            </a:r>
            <a:br/>
            <a:r>
              <a:t>.save V(pad) V(xdrv.ku) V(xdrv.kd)</a:t>
            </a:r>
          </a:p>
        </p:txBody>
      </p:sp>
      <p:sp>
        <p:nvSpPr>
          <p:cNvPr id="7" name="TextBox 6"/>
          <p:cNvSpPr txBox="1"/>
          <p:nvPr/>
        </p:nvSpPr>
        <p:spPr>
          <a:xfrm>
            <a:off x="8275320" y="3822191"/>
            <a:ext cx="2926080" cy="1417320"/>
          </a:xfrm>
          <a:prstGeom prst="rect">
            <a:avLst/>
          </a:prstGeom>
          <a:noFill/>
        </p:spPr>
        <p:txBody>
          <a:bodyPr wrap="square" lIns="73152" rIns="36576" tIns="36576" bIns="36576">
            <a:spAutoFit/>
          </a:bodyPr>
          <a:lstStyle/>
          <a:p>
            <a:pPr>
              <a:spcAft>
                <a:spcPts val="700"/>
              </a:spcAft>
              <a:defRPr sz="1500">
                <a:solidFill>
                  <a:srgbClr val="191F1C"/>
                </a:solidFill>
                <a:latin typeface="Aptos"/>
              </a:defRPr>
            </a:pPr>
            <a:r>
              <a:t>- 50 ps command edges</a:t>
            </a:r>
          </a:p>
          <a:p>
            <a:pPr>
              <a:spcAft>
                <a:spcPts val="700"/>
              </a:spcAft>
              <a:defRPr sz="1500">
                <a:solidFill>
                  <a:srgbClr val="191F1C"/>
                </a:solidFill>
                <a:latin typeface="Aptos"/>
              </a:defRPr>
            </a:pPr>
            <a:r>
              <a:t>- 50 ohm || 2 pF calibration load</a:t>
            </a:r>
          </a:p>
          <a:p>
            <a:pPr>
              <a:spcAft>
                <a:spcPts val="700"/>
              </a:spcAft>
              <a:defRPr sz="1500">
                <a:solidFill>
                  <a:srgbClr val="191F1C"/>
                </a:solidFill>
                <a:latin typeface="Aptos"/>
              </a:defRPr>
            </a:pPr>
            <a:r>
              <a:t>- legacy pybis complete transitions</a:t>
            </a:r>
          </a:p>
          <a:p>
            <a:pPr>
              <a:spcAft>
                <a:spcPts val="700"/>
              </a:spcAft>
              <a:defRPr sz="1500">
                <a:solidFill>
                  <a:srgbClr val="191F1C"/>
                </a:solidFill>
                <a:latin typeface="Aptos"/>
              </a:defRPr>
            </a:pPr>
            <a:r>
              <a:t>- rising and falling sections stored separately</a:t>
            </a:r>
          </a:p>
        </p:txBody>
      </p:sp>
      <p:sp>
        <p:nvSpPr>
          <p:cNvPr id="8" name="Rectangle 7"/>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inverse voltage map is setup-specific because the calibration pad waveform depends on the load.</a:t>
            </a:r>
          </a:p>
        </p:txBody>
      </p:sp>
      <p:sp>
        <p:nvSpPr>
          <p:cNvPr id="9" name="TextBox 8"/>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Real io_buf calibration.raw and pad_replay_reference.json; source=legacy_pybis_ngspice.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4. Offline step: invert Vpad(t) into table time</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INVERSE MAP</a:t>
            </a:r>
          </a:p>
        </p:txBody>
      </p:sp>
      <p:sp>
        <p:nvSpPr>
          <p:cNvPr id="4" name="Rectangle 3"/>
          <p:cNvSpPr/>
          <p:nvPr/>
        </p:nvSpPr>
        <p:spPr>
          <a:xfrm>
            <a:off x="566928" y="1502395"/>
            <a:ext cx="7095744" cy="3807489"/>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3_voltage_to_time_inverse_mapping_io_buf.png"/>
          <p:cNvPicPr>
            <a:picLocks noChangeAspect="1"/>
          </p:cNvPicPr>
          <p:nvPr/>
        </p:nvPicPr>
        <p:blipFill>
          <a:blip r:embed="rId2"/>
          <a:stretch>
            <a:fillRect/>
          </a:stretch>
        </p:blipFill>
        <p:spPr>
          <a:xfrm>
            <a:off x="594360" y="1529827"/>
            <a:ext cx="7040880" cy="3752625"/>
          </a:xfrm>
          <a:prstGeom prst="rect">
            <a:avLst/>
          </a:prstGeom>
        </p:spPr>
      </p:pic>
      <p:pic>
        <p:nvPicPr>
          <p:cNvPr id="6" name="Picture 5" descr="Equation: T_F(V_s)=\operatorname*{arg\,match}_{t}\left[V_F(t),V_s\right]"/>
          <p:cNvPicPr>
            <a:picLocks noChangeAspect="1"/>
          </p:cNvPicPr>
          <p:nvPr/>
        </p:nvPicPr>
        <p:blipFill>
          <a:blip r:embed="rId3"/>
          <a:stretch>
            <a:fillRect/>
          </a:stretch>
        </p:blipFill>
        <p:spPr>
          <a:xfrm>
            <a:off x="7818120" y="1517255"/>
            <a:ext cx="3429000" cy="440209"/>
          </a:xfrm>
          <a:prstGeom prst="rect">
            <a:avLst/>
          </a:prstGeom>
        </p:spPr>
      </p:pic>
      <p:sp>
        <p:nvSpPr>
          <p:cNvPr id="7" name="TextBox 6"/>
          <p:cNvSpPr txBox="1"/>
          <p:nvPr/>
        </p:nvSpPr>
        <p:spPr>
          <a:xfrm>
            <a:off x="8001000" y="2514600"/>
            <a:ext cx="2971800" cy="320040"/>
          </a:xfrm>
          <a:prstGeom prst="rect">
            <a:avLst/>
          </a:prstGeom>
          <a:noFill/>
        </p:spPr>
        <p:txBody>
          <a:bodyPr wrap="square" lIns="45720" rIns="45720" anchor="t">
            <a:spAutoFit/>
          </a:bodyPr>
          <a:lstStyle/>
          <a:p>
            <a:pPr algn="l">
              <a:defRPr sz="1800" b="1">
                <a:solidFill>
                  <a:srgbClr val="2B7A43"/>
                </a:solidFill>
                <a:latin typeface="Aptos"/>
              </a:defRPr>
            </a:pPr>
            <a:r>
              <a:t>Real io_buf short-high event</a:t>
            </a:r>
          </a:p>
        </p:txBody>
      </p:sp>
      <p:sp>
        <p:nvSpPr>
          <p:cNvPr id="8" name="TextBox 7"/>
          <p:cNvSpPr txBox="1"/>
          <p:nvPr/>
        </p:nvSpPr>
        <p:spPr>
          <a:xfrm>
            <a:off x="7973568" y="2926080"/>
            <a:ext cx="3063240" cy="1600200"/>
          </a:xfrm>
          <a:prstGeom prst="rect">
            <a:avLst/>
          </a:prstGeom>
          <a:noFill/>
        </p:spPr>
        <p:txBody>
          <a:bodyPr wrap="square" lIns="73152" rIns="36576" tIns="36576" bIns="36576">
            <a:spAutoFit/>
          </a:bodyPr>
          <a:lstStyle/>
          <a:p>
            <a:pPr>
              <a:spcAft>
                <a:spcPts val="700"/>
              </a:spcAft>
              <a:defRPr sz="1600">
                <a:solidFill>
                  <a:srgbClr val="191F1C"/>
                </a:solidFill>
                <a:latin typeface="Aptos"/>
              </a:defRPr>
            </a:pPr>
            <a:r>
              <a:t>- sampled Vpad = 0.357 V</a:t>
            </a:r>
          </a:p>
          <a:p>
            <a:pPr>
              <a:spcAft>
                <a:spcPts val="700"/>
              </a:spcAft>
              <a:defRPr sz="1600">
                <a:solidFill>
                  <a:srgbClr val="191F1C"/>
                </a:solidFill>
                <a:latin typeface="Aptos"/>
              </a:defRPr>
            </a:pPr>
            <a:r>
              <a:t>- falling lookup time = 0.484 ns</a:t>
            </a:r>
          </a:p>
          <a:p>
            <a:pPr>
              <a:spcAft>
                <a:spcPts val="700"/>
              </a:spcAft>
              <a:defRPr sz="1600">
                <a:solidFill>
                  <a:srgbClr val="191F1C"/>
                </a:solidFill>
                <a:latin typeface="Aptos"/>
              </a:defRPr>
            </a:pPr>
            <a:r>
              <a:t>- start-span = 0 ns</a:t>
            </a:r>
          </a:p>
          <a:p>
            <a:pPr>
              <a:spcAft>
                <a:spcPts val="700"/>
              </a:spcAft>
              <a:defRPr sz="1600">
                <a:solidFill>
                  <a:srgbClr val="191F1C"/>
                </a:solidFill>
                <a:latin typeface="Aptos"/>
              </a:defRPr>
            </a:pPr>
            <a:r>
              <a:t>- mapping marked unambiguous</a:t>
            </a:r>
          </a:p>
        </p:txBody>
      </p:sp>
      <p:sp>
        <p:nvSpPr>
          <p:cNvPr id="9" name="Rectangle 8"/>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For a short-high pulse, the falling pad trajectory determines the starting time of falling Ku and Kd.</a:t>
            </a:r>
          </a:p>
        </p:txBody>
      </p:sp>
      <p:sp>
        <p:nvSpPr>
          <p:cNvPr id="10" name="TextBox 9"/>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Actual values: voltage_matching_mapping_events.csv, io_buf/short_high.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5. Runtime step: sample once, then latch</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RUNTIME</a:t>
            </a:r>
          </a:p>
        </p:txBody>
      </p:sp>
      <p:sp>
        <p:nvSpPr>
          <p:cNvPr id="4" name="Rectangle 3"/>
          <p:cNvSpPr/>
          <p:nvPr/>
        </p:nvSpPr>
        <p:spPr>
          <a:xfrm>
            <a:off x="600454" y="886968"/>
            <a:ext cx="7303011" cy="5084064"/>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4_runtime_sample_latch_replay_io_buf.png"/>
          <p:cNvPicPr>
            <a:picLocks noChangeAspect="1"/>
          </p:cNvPicPr>
          <p:nvPr/>
        </p:nvPicPr>
        <p:blipFill>
          <a:blip r:embed="rId2"/>
          <a:stretch>
            <a:fillRect/>
          </a:stretch>
        </p:blipFill>
        <p:spPr>
          <a:xfrm>
            <a:off x="627886" y="914400"/>
            <a:ext cx="7248147" cy="5029200"/>
          </a:xfrm>
          <a:prstGeom prst="rect">
            <a:avLst/>
          </a:prstGeom>
        </p:spPr>
      </p:pic>
      <p:sp>
        <p:nvSpPr>
          <p:cNvPr id="6" name="Rounded Rectangle 5"/>
          <p:cNvSpPr/>
          <p:nvPr/>
        </p:nvSpPr>
        <p:spPr>
          <a:xfrm>
            <a:off x="8229600" y="1143000"/>
            <a:ext cx="3154680" cy="2103120"/>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070">
                <a:solidFill>
                  <a:srgbClr val="1E3027"/>
                </a:solidFill>
                <a:latin typeface="Consolas"/>
              </a:defRPr>
            </a:pPr>
            <a:r>
              <a:t>BPADSAMPLE PADSAMP 0 I =</a:t>
            </a:r>
            <a:br/>
            <a:r>
              <a:t> -Csample*PMSAMPLE*</a:t>
            </a:r>
            <a:br/>
            <a:r>
              <a:t> (V(OUT)-V(PADSAMP))/tau_sample</a:t>
            </a:r>
            <a:br/>
            <a:br/>
            <a:r>
              <a:t>BPADSTART ...</a:t>
            </a:r>
            <a:br/>
            <a:r>
              <a:t> (PADSTARTCMD-PADSTART_LATCH)</a:t>
            </a:r>
          </a:p>
        </p:txBody>
      </p:sp>
      <p:sp>
        <p:nvSpPr>
          <p:cNvPr id="7" name="TextBox 6"/>
          <p:cNvSpPr txBox="1"/>
          <p:nvPr/>
        </p:nvSpPr>
        <p:spPr>
          <a:xfrm>
            <a:off x="8229600" y="3566160"/>
            <a:ext cx="3017520" cy="1691640"/>
          </a:xfrm>
          <a:prstGeom prst="rect">
            <a:avLst/>
          </a:prstGeom>
          <a:noFill/>
        </p:spPr>
        <p:txBody>
          <a:bodyPr wrap="square" lIns="73152" rIns="36576" tIns="36576" bIns="36576">
            <a:spAutoFit/>
          </a:bodyPr>
          <a:lstStyle/>
          <a:p>
            <a:pPr>
              <a:spcAft>
                <a:spcPts val="700"/>
              </a:spcAft>
              <a:defRPr sz="1450">
                <a:solidFill>
                  <a:srgbClr val="191F1C"/>
                </a:solidFill>
                <a:latin typeface="Aptos"/>
              </a:defRPr>
            </a:pPr>
            <a:r>
              <a:t>- PMSAMPLE opens a short sampling window</a:t>
            </a:r>
          </a:p>
          <a:p>
            <a:pPr>
              <a:spcAft>
                <a:spcPts val="700"/>
              </a:spcAft>
              <a:defRPr sz="1450">
                <a:solidFill>
                  <a:srgbClr val="191F1C"/>
                </a:solidFill>
                <a:latin typeface="Aptos"/>
              </a:defRPr>
            </a:pPr>
            <a:r>
              <a:t>- PADSAMP stores one voltage</a:t>
            </a:r>
          </a:p>
          <a:p>
            <a:pPr>
              <a:spcAft>
                <a:spcPts val="700"/>
              </a:spcAft>
              <a:defRPr sz="1450">
                <a:solidFill>
                  <a:srgbClr val="191F1C"/>
                </a:solidFill>
                <a:latin typeface="Aptos"/>
              </a:defRPr>
            </a:pPr>
            <a:r>
              <a:t>- PADSTART_LATCH stores one inverse-map time</a:t>
            </a:r>
          </a:p>
          <a:p>
            <a:pPr>
              <a:spcAft>
                <a:spcPts val="700"/>
              </a:spcAft>
              <a:defRPr sz="1450">
                <a:solidFill>
                  <a:srgbClr val="191F1C"/>
                </a:solidFill>
                <a:latin typeface="Aptos"/>
              </a:defRPr>
            </a:pPr>
            <a:r>
              <a:t>- No continuous pad feedback after the latch</a:t>
            </a:r>
          </a:p>
        </p:txBody>
      </p:sp>
      <p:sp>
        <p:nvSpPr>
          <p:cNvPr id="8" name="Rectangle 7"/>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After the short latch transaction, the replay is open-loop again; the pad does not continuously control Ku/Kd.</a:t>
            </a:r>
          </a:p>
        </p:txBody>
      </p:sp>
      <p:sp>
        <p:nvSpPr>
          <p:cNvPr id="9" name="TextBox 8"/>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Cached io_buf runtime diagnostics from waveforms/io_buf.csv.</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6. Runtime step: one time coordinate drives both coefficients</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RUNTIME</a:t>
            </a:r>
          </a:p>
        </p:txBody>
      </p:sp>
      <p:sp>
        <p:nvSpPr>
          <p:cNvPr id="4" name="Rectangle 3"/>
          <p:cNvSpPr/>
          <p:nvPr/>
        </p:nvSpPr>
        <p:spPr>
          <a:xfrm>
            <a:off x="709313" y="886968"/>
            <a:ext cx="6993852" cy="5129783"/>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5_runtime_kukd_replay_io_buf.png"/>
          <p:cNvPicPr>
            <a:picLocks noChangeAspect="1"/>
          </p:cNvPicPr>
          <p:nvPr/>
        </p:nvPicPr>
        <p:blipFill>
          <a:blip r:embed="rId2"/>
          <a:stretch>
            <a:fillRect/>
          </a:stretch>
        </p:blipFill>
        <p:spPr>
          <a:xfrm>
            <a:off x="736745" y="914400"/>
            <a:ext cx="6938988" cy="5074920"/>
          </a:xfrm>
          <a:prstGeom prst="rect">
            <a:avLst/>
          </a:prstGeom>
        </p:spPr>
      </p:pic>
      <p:pic>
        <p:nvPicPr>
          <p:cNvPr id="6" name="Picture 5" descr="Equation: A(t)=T_F(V_s)+(t-t_{activate})"/>
          <p:cNvPicPr>
            <a:picLocks noChangeAspect="1"/>
          </p:cNvPicPr>
          <p:nvPr/>
        </p:nvPicPr>
        <p:blipFill>
          <a:blip r:embed="rId3"/>
          <a:stretch>
            <a:fillRect/>
          </a:stretch>
        </p:blipFill>
        <p:spPr>
          <a:xfrm>
            <a:off x="8092440" y="1391542"/>
            <a:ext cx="2971800" cy="234434"/>
          </a:xfrm>
          <a:prstGeom prst="rect">
            <a:avLst/>
          </a:prstGeom>
        </p:spPr>
      </p:pic>
      <p:pic>
        <p:nvPicPr>
          <p:cNvPr id="7" name="Picture 6" descr="Equation: K_u(t)=K_{u,F}(A(t))"/>
          <p:cNvPicPr>
            <a:picLocks noChangeAspect="1"/>
          </p:cNvPicPr>
          <p:nvPr/>
        </p:nvPicPr>
        <p:blipFill>
          <a:blip r:embed="rId4"/>
          <a:stretch>
            <a:fillRect/>
          </a:stretch>
        </p:blipFill>
        <p:spPr>
          <a:xfrm>
            <a:off x="8092440" y="2266687"/>
            <a:ext cx="2971800" cy="358665"/>
          </a:xfrm>
          <a:prstGeom prst="rect">
            <a:avLst/>
          </a:prstGeom>
        </p:spPr>
      </p:pic>
      <p:pic>
        <p:nvPicPr>
          <p:cNvPr id="8" name="Picture 7" descr="Equation: K_d(t)=K_{d,F}(A(t))"/>
          <p:cNvPicPr>
            <a:picLocks noChangeAspect="1"/>
          </p:cNvPicPr>
          <p:nvPr/>
        </p:nvPicPr>
        <p:blipFill>
          <a:blip r:embed="rId5"/>
          <a:stretch>
            <a:fillRect/>
          </a:stretch>
        </p:blipFill>
        <p:spPr>
          <a:xfrm>
            <a:off x="8092440" y="3088087"/>
            <a:ext cx="2971800" cy="361784"/>
          </a:xfrm>
          <a:prstGeom prst="rect">
            <a:avLst/>
          </a:prstGeom>
        </p:spPr>
      </p:pic>
      <p:sp>
        <p:nvSpPr>
          <p:cNvPr id="9" name="TextBox 8"/>
          <p:cNvSpPr txBox="1"/>
          <p:nvPr/>
        </p:nvSpPr>
        <p:spPr>
          <a:xfrm>
            <a:off x="8092440" y="3977639"/>
            <a:ext cx="2926080" cy="960120"/>
          </a:xfrm>
          <a:prstGeom prst="rect">
            <a:avLst/>
          </a:prstGeom>
          <a:noFill/>
        </p:spPr>
        <p:txBody>
          <a:bodyPr wrap="square" lIns="45720" rIns="45720" anchor="t">
            <a:spAutoFit/>
          </a:bodyPr>
          <a:lstStyle/>
          <a:p>
            <a:pPr algn="l">
              <a:defRPr sz="1600" b="1">
                <a:solidFill>
                  <a:srgbClr val="191F1C"/>
                </a:solidFill>
                <a:latin typeface="Aptos"/>
              </a:defRPr>
            </a:pPr>
            <a:r>
              <a:t>Both tables receive exactly the same PADARG. This avoids Ku-derived and Kd-derived start-time disagreement.</a:t>
            </a:r>
          </a:p>
        </p:txBody>
      </p:sp>
      <p:sp>
        <p:nvSpPr>
          <p:cNvPr id="10" name="Rectangle 9"/>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Voltage matching preserves Ku/Kd table alignment, but alignment alone does not guarantee physical state correctness.</a:t>
            </a:r>
          </a:p>
        </p:txBody>
      </p:sp>
      <p:sp>
        <p:nvSpPr>
          <p:cNvPr id="11" name="TextBox 10"/>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Real io_buf HSPICE-native and Voltage Matching V2 coefficient waveforms.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7. The generated ngspice implementation</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IMPLEMENTATION</a:t>
            </a:r>
          </a:p>
        </p:txBody>
      </p:sp>
      <p:sp>
        <p:nvSpPr>
          <p:cNvPr id="4" name="TextBox 3"/>
          <p:cNvSpPr txBox="1"/>
          <p:nvPr/>
        </p:nvSpPr>
        <p:spPr>
          <a:xfrm>
            <a:off x="594360" y="914400"/>
            <a:ext cx="3383280" cy="274320"/>
          </a:xfrm>
          <a:prstGeom prst="rect">
            <a:avLst/>
          </a:prstGeom>
          <a:noFill/>
        </p:spPr>
        <p:txBody>
          <a:bodyPr wrap="square" lIns="45720" rIns="45720" anchor="t">
            <a:spAutoFit/>
          </a:bodyPr>
          <a:lstStyle/>
          <a:p>
            <a:pPr algn="l">
              <a:defRPr sz="1800" b="1">
                <a:solidFill>
                  <a:srgbClr val="2467AD"/>
                </a:solidFill>
                <a:latin typeface="Aptos"/>
              </a:defRPr>
            </a:pPr>
            <a:r>
              <a:t>Offline-generated inverse map</a:t>
            </a:r>
          </a:p>
        </p:txBody>
      </p:sp>
      <p:sp>
        <p:nvSpPr>
          <p:cNvPr id="5" name="Rounded Rectangle 4"/>
          <p:cNvSpPr/>
          <p:nvPr/>
        </p:nvSpPr>
        <p:spPr>
          <a:xfrm>
            <a:off x="594360" y="1298448"/>
            <a:ext cx="5257800" cy="1508760"/>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060">
                <a:solidFill>
                  <a:srgbClr val="1E3027"/>
                </a:solidFill>
                <a:latin typeface="Consolas"/>
              </a:defRPr>
            </a:pPr>
            <a:r>
              <a:t>B30 TR_PAD_EARLY 0 V=pwl(V(PADSAMP), ...)</a:t>
            </a:r>
            <a:br/>
            <a:r>
              <a:t>B31 TF_PAD_EARLY 0 V=pwl(V(PADSAMP), ...)</a:t>
            </a:r>
            <a:br/>
            <a:r>
              <a:t>B38 PADSTARTCMD 0 V=</a:t>
            </a:r>
            <a:br/>
            <a:r>
              <a:t> (NINX&gt;0.5) ? TR_PAD_EARLY : TF_PAD_EARLY</a:t>
            </a:r>
          </a:p>
        </p:txBody>
      </p:sp>
      <p:sp>
        <p:nvSpPr>
          <p:cNvPr id="6" name="TextBox 5"/>
          <p:cNvSpPr txBox="1"/>
          <p:nvPr/>
        </p:nvSpPr>
        <p:spPr>
          <a:xfrm>
            <a:off x="6217920" y="914400"/>
            <a:ext cx="3749039" cy="274320"/>
          </a:xfrm>
          <a:prstGeom prst="rect">
            <a:avLst/>
          </a:prstGeom>
          <a:noFill/>
        </p:spPr>
        <p:txBody>
          <a:bodyPr wrap="square" lIns="45720" rIns="45720" anchor="t">
            <a:spAutoFit/>
          </a:bodyPr>
          <a:lstStyle/>
          <a:p>
            <a:pPr algn="l">
              <a:defRPr sz="1800" b="1">
                <a:solidFill>
                  <a:srgbClr val="2B7A43"/>
                </a:solidFill>
                <a:latin typeface="Aptos"/>
              </a:defRPr>
            </a:pPr>
            <a:r>
              <a:t>Runtime timer and table argument</a:t>
            </a:r>
          </a:p>
        </p:txBody>
      </p:sp>
      <p:sp>
        <p:nvSpPr>
          <p:cNvPr id="7" name="Rounded Rectangle 6"/>
          <p:cNvSpPr/>
          <p:nvPr/>
        </p:nvSpPr>
        <p:spPr>
          <a:xfrm>
            <a:off x="6217920" y="1298448"/>
            <a:ext cx="5257800" cy="1508760"/>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060">
                <a:solidFill>
                  <a:srgbClr val="1E3027"/>
                </a:solidFill>
                <a:latin typeface="Consolas"/>
              </a:defRPr>
            </a:pPr>
            <a:r>
              <a:t>B41 PMELAPSED 0 V=</a:t>
            </a:r>
            <a:br/>
            <a:r>
              <a:t> max(0,time_ns-PMT0-edge_delay)</a:t>
            </a:r>
            <a:br/>
            <a:r>
              <a:t>B42 PADARG 0 V=</a:t>
            </a:r>
            <a:br/>
            <a:r>
              <a:t> PADSTART_LATCH+PMELAPSED</a:t>
            </a:r>
          </a:p>
        </p:txBody>
      </p:sp>
      <p:sp>
        <p:nvSpPr>
          <p:cNvPr id="8" name="TextBox 7"/>
          <p:cNvSpPr txBox="1"/>
          <p:nvPr/>
        </p:nvSpPr>
        <p:spPr>
          <a:xfrm>
            <a:off x="594360" y="3154680"/>
            <a:ext cx="3383280" cy="274320"/>
          </a:xfrm>
          <a:prstGeom prst="rect">
            <a:avLst/>
          </a:prstGeom>
          <a:noFill/>
        </p:spPr>
        <p:txBody>
          <a:bodyPr wrap="square" lIns="45720" rIns="45720" anchor="t">
            <a:spAutoFit/>
          </a:bodyPr>
          <a:lstStyle/>
          <a:p>
            <a:pPr algn="l">
              <a:defRPr sz="1800" b="1">
                <a:solidFill>
                  <a:srgbClr val="DA8426"/>
                </a:solidFill>
                <a:latin typeface="Aptos"/>
              </a:defRPr>
            </a:pPr>
            <a:r>
              <a:t>Opposite coefficient lookup</a:t>
            </a:r>
          </a:p>
        </p:txBody>
      </p:sp>
      <p:sp>
        <p:nvSpPr>
          <p:cNvPr id="9" name="Rounded Rectangle 8"/>
          <p:cNvSpPr/>
          <p:nvPr/>
        </p:nvSpPr>
        <p:spPr>
          <a:xfrm>
            <a:off x="594360" y="3538728"/>
            <a:ext cx="5257800" cy="1600200"/>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010">
                <a:solidFill>
                  <a:srgbClr val="1E3027"/>
                </a:solidFill>
                <a:latin typeface="Consolas"/>
              </a:defRPr>
            </a:pPr>
            <a:r>
              <a:t>B45 KUFM 0 V=pwl(PADARG, Ku_fall_table)</a:t>
            </a:r>
            <a:br/>
            <a:r>
              <a:t>B46 KDFM 0 V=pwl(PADARG, Kd_fall_table)</a:t>
            </a:r>
            <a:br/>
            <a:r>
              <a:t>B47 KUPADMATCH 0 V=(NINX&gt;0.5)?KURM:KUFM</a:t>
            </a:r>
            <a:br/>
            <a:r>
              <a:t>B48 KDPADMATCH 0 V=(NINX&gt;0.5)?KDRM:KDFM</a:t>
            </a:r>
          </a:p>
        </p:txBody>
      </p:sp>
      <p:sp>
        <p:nvSpPr>
          <p:cNvPr id="10" name="TextBox 9"/>
          <p:cNvSpPr txBox="1"/>
          <p:nvPr/>
        </p:nvSpPr>
        <p:spPr>
          <a:xfrm>
            <a:off x="6217920" y="3154680"/>
            <a:ext cx="3383280" cy="274320"/>
          </a:xfrm>
          <a:prstGeom prst="rect">
            <a:avLst/>
          </a:prstGeom>
          <a:noFill/>
        </p:spPr>
        <p:txBody>
          <a:bodyPr wrap="square" lIns="45720" rIns="45720" anchor="t">
            <a:spAutoFit/>
          </a:bodyPr>
          <a:lstStyle/>
          <a:p>
            <a:pPr algn="l">
              <a:defRPr sz="1800" b="1">
                <a:solidFill>
                  <a:srgbClr val="CA3030"/>
                </a:solidFill>
                <a:latin typeface="Aptos"/>
              </a:defRPr>
            </a:pPr>
            <a:r>
              <a:t>Continuous handoff</a:t>
            </a:r>
          </a:p>
        </p:txBody>
      </p:sp>
      <p:sp>
        <p:nvSpPr>
          <p:cNvPr id="11" name="Rounded Rectangle 10"/>
          <p:cNvSpPr/>
          <p:nvPr/>
        </p:nvSpPr>
        <p:spPr>
          <a:xfrm>
            <a:off x="6217920" y="3538728"/>
            <a:ext cx="5257800" cy="1600200"/>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030">
                <a:solidFill>
                  <a:srgbClr val="1E3027"/>
                </a:solidFill>
                <a:latin typeface="Consolas"/>
              </a:defRPr>
            </a:pPr>
            <a:r>
              <a:t>KUTARGET=(1-HPMALPHA)*KULEG</a:t>
            </a:r>
            <a:br/>
            <a:r>
              <a:t>        +HPMALPHA*KUPADMATCH</a:t>
            </a:r>
            <a:br/>
            <a:r>
              <a:t>KDTARGET=(1-HPMALPHA)*KDLEG</a:t>
            </a:r>
            <a:br/>
            <a:r>
              <a:t>        +HPMALPHA*KDPADMATCH</a:t>
            </a:r>
            <a:br/>
            <a:r>
              <a:t>Ku=KUTARGET; Kd=KDTARGET</a:t>
            </a:r>
          </a:p>
        </p:txBody>
      </p:sp>
      <p:sp>
        <p:nvSpPr>
          <p:cNvPr id="12" name="Rectangle 11"/>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generated .subckt contains the calibration map, sample/latch state, fresh replay timer, and final coefficient blend.</a:t>
            </a:r>
          </a:p>
        </p:txBody>
      </p:sp>
      <p:sp>
        <p:nvSpPr>
          <p:cNvPr id="13" name="TextBox 12"/>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Implementation: tools/pybis2spice/pybis2spice/subcircuit.py, create_ngspice_pad_matched_replay_input_control_netlist().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8. Real limitation: one voltage does not identify hidden history</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LIMITATION</a:t>
            </a:r>
          </a:p>
        </p:txBody>
      </p:sp>
      <p:sp>
        <p:nvSpPr>
          <p:cNvPr id="4" name="Rectangle 3"/>
          <p:cNvSpPr/>
          <p:nvPr/>
        </p:nvSpPr>
        <p:spPr>
          <a:xfrm>
            <a:off x="475488" y="1832760"/>
            <a:ext cx="7690104" cy="3192479"/>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6_inv_chain_propagation_delay_and_mapping_ambiguity.png"/>
          <p:cNvPicPr>
            <a:picLocks noChangeAspect="1"/>
          </p:cNvPicPr>
          <p:nvPr/>
        </p:nvPicPr>
        <p:blipFill>
          <a:blip r:embed="rId2"/>
          <a:stretch>
            <a:fillRect/>
          </a:stretch>
        </p:blipFill>
        <p:spPr>
          <a:xfrm>
            <a:off x="502920" y="1860192"/>
            <a:ext cx="7635240" cy="3137615"/>
          </a:xfrm>
          <a:prstGeom prst="rect">
            <a:avLst/>
          </a:prstGeom>
        </p:spPr>
      </p:pic>
      <p:sp>
        <p:nvSpPr>
          <p:cNvPr id="6" name="Rounded Rectangle 5"/>
          <p:cNvSpPr/>
          <p:nvPr/>
        </p:nvSpPr>
        <p:spPr>
          <a:xfrm>
            <a:off x="8412480" y="1097280"/>
            <a:ext cx="2743200" cy="530352"/>
          </a:xfrm>
          <a:prstGeom prst="roundRect">
            <a:avLst/>
          </a:prstGeom>
          <a:solidFill>
            <a:srgbClr val="FCEBEB"/>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inv_chain short-high</a:t>
            </a:r>
          </a:p>
        </p:txBody>
      </p:sp>
      <p:sp>
        <p:nvSpPr>
          <p:cNvPr id="7" name="TextBox 6"/>
          <p:cNvSpPr txBox="1"/>
          <p:nvPr/>
        </p:nvSpPr>
        <p:spPr>
          <a:xfrm>
            <a:off x="8366760" y="1874519"/>
            <a:ext cx="2834640" cy="2011680"/>
          </a:xfrm>
          <a:prstGeom prst="rect">
            <a:avLst/>
          </a:prstGeom>
          <a:noFill/>
        </p:spPr>
        <p:txBody>
          <a:bodyPr wrap="square" lIns="73152" rIns="36576" tIns="36576" bIns="36576">
            <a:spAutoFit/>
          </a:bodyPr>
          <a:lstStyle/>
          <a:p>
            <a:pPr>
              <a:spcAft>
                <a:spcPts val="700"/>
              </a:spcAft>
              <a:defRPr sz="1550">
                <a:solidFill>
                  <a:srgbClr val="191F1C"/>
                </a:solidFill>
                <a:latin typeface="Aptos"/>
              </a:defRPr>
            </a:pPr>
            <a:r>
              <a:t>- second edge: 5.129 ns</a:t>
            </a:r>
          </a:p>
          <a:p>
            <a:pPr>
              <a:spcAft>
                <a:spcPts val="700"/>
              </a:spcAft>
              <a:defRPr sz="1550">
                <a:solidFill>
                  <a:srgbClr val="191F1C"/>
                </a:solidFill>
                <a:latin typeface="Aptos"/>
              </a:defRPr>
            </a:pPr>
            <a:r>
              <a:t>- sampled pad: 0.000191 V</a:t>
            </a:r>
          </a:p>
          <a:p>
            <a:pPr>
              <a:spcAft>
                <a:spcPts val="700"/>
              </a:spcAft>
              <a:defRPr sz="1550">
                <a:solidFill>
                  <a:srgbClr val="191F1C"/>
                </a:solidFill>
                <a:latin typeface="Aptos"/>
              </a:defRPr>
            </a:pPr>
            <a:r>
              <a:t>- implemented falling start: 6.475 ns</a:t>
            </a:r>
          </a:p>
          <a:p>
            <a:pPr>
              <a:spcAft>
                <a:spcPts val="700"/>
              </a:spcAft>
              <a:defRPr sz="1550">
                <a:solidFill>
                  <a:srgbClr val="191F1C"/>
                </a:solidFill>
                <a:latin typeface="Aptos"/>
              </a:defRPr>
            </a:pPr>
            <a:r>
              <a:t>- start disagreement span: 7.222 ns</a:t>
            </a:r>
          </a:p>
          <a:p>
            <a:pPr>
              <a:spcAft>
                <a:spcPts val="700"/>
              </a:spcAft>
              <a:defRPr sz="1550">
                <a:solidFill>
                  <a:srgbClr val="191F1C"/>
                </a:solidFill>
                <a:latin typeface="Aptos"/>
              </a:defRPr>
            </a:pPr>
            <a:r>
              <a:t>- mapping class: ambiguous</a:t>
            </a:r>
          </a:p>
        </p:txBody>
      </p:sp>
      <p:sp>
        <p:nvSpPr>
          <p:cNvPr id="8" name="TextBox 7"/>
          <p:cNvSpPr txBox="1"/>
          <p:nvPr/>
        </p:nvSpPr>
        <p:spPr>
          <a:xfrm>
            <a:off x="8412480" y="4251960"/>
            <a:ext cx="2743200" cy="914400"/>
          </a:xfrm>
          <a:prstGeom prst="rect">
            <a:avLst/>
          </a:prstGeom>
          <a:noFill/>
        </p:spPr>
        <p:txBody>
          <a:bodyPr wrap="square" lIns="45720" rIns="45720" anchor="t">
            <a:spAutoFit/>
          </a:bodyPr>
          <a:lstStyle/>
          <a:p>
            <a:pPr algn="l">
              <a:defRPr sz="1600" b="1">
                <a:solidFill>
                  <a:srgbClr val="CA3030"/>
                </a:solidFill>
                <a:latin typeface="Aptos"/>
              </a:defRPr>
            </a:pPr>
            <a:r>
              <a:t>Near-zero pad can mean either settled low or a rising transition that has not propagated to the pad yet.</a:t>
            </a:r>
          </a:p>
        </p:txBody>
      </p:sp>
      <p:sp>
        <p:nvSpPr>
          <p:cNvPr id="9" name="Rectangle 8"/>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Pad voltage alone is not a unique state variable when propagation delay, slope, and ringing history matter.</a:t>
            </a:r>
          </a:p>
        </p:txBody>
      </p:sp>
      <p:sp>
        <p:nvSpPr>
          <p:cNvPr id="10" name="TextBox 9"/>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Real inv_chain event and calibration data; no new simulation used for this figure.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9. Real three-buffer result: useful mechanism, inconsistent trust</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EVIDENCE</a:t>
            </a:r>
          </a:p>
        </p:txBody>
      </p:sp>
      <p:sp>
        <p:nvSpPr>
          <p:cNvPr id="4" name="Rectangle 3"/>
          <p:cNvSpPr/>
          <p:nvPr/>
        </p:nvSpPr>
        <p:spPr>
          <a:xfrm>
            <a:off x="566928" y="2009729"/>
            <a:ext cx="7598664" cy="2792821"/>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7_three_buffer_voltage_matching_summary.png"/>
          <p:cNvPicPr>
            <a:picLocks noChangeAspect="1"/>
          </p:cNvPicPr>
          <p:nvPr/>
        </p:nvPicPr>
        <p:blipFill>
          <a:blip r:embed="rId2"/>
          <a:stretch>
            <a:fillRect/>
          </a:stretch>
        </p:blipFill>
        <p:spPr>
          <a:xfrm>
            <a:off x="594360" y="2037161"/>
            <a:ext cx="7543800" cy="2737957"/>
          </a:xfrm>
          <a:prstGeom prst="rect">
            <a:avLst/>
          </a:prstGeom>
        </p:spPr>
      </p:pic>
      <p:sp>
        <p:nvSpPr>
          <p:cNvPr id="6" name="TextBox 5"/>
          <p:cNvSpPr txBox="1"/>
          <p:nvPr/>
        </p:nvSpPr>
        <p:spPr>
          <a:xfrm>
            <a:off x="8412480" y="1143000"/>
            <a:ext cx="2560320" cy="274320"/>
          </a:xfrm>
          <a:prstGeom prst="rect">
            <a:avLst/>
          </a:prstGeom>
          <a:noFill/>
        </p:spPr>
        <p:txBody>
          <a:bodyPr wrap="square" lIns="45720" rIns="45720" anchor="t">
            <a:spAutoFit/>
          </a:bodyPr>
          <a:lstStyle/>
          <a:p>
            <a:pPr algn="l">
              <a:defRPr sz="1800" b="1">
                <a:solidFill>
                  <a:srgbClr val="2B7A43"/>
                </a:solidFill>
                <a:latin typeface="Aptos"/>
              </a:defRPr>
            </a:pPr>
            <a:r>
              <a:t>What improved</a:t>
            </a:r>
          </a:p>
        </p:txBody>
      </p:sp>
      <p:sp>
        <p:nvSpPr>
          <p:cNvPr id="7" name="TextBox 6"/>
          <p:cNvSpPr txBox="1"/>
          <p:nvPr/>
        </p:nvSpPr>
        <p:spPr>
          <a:xfrm>
            <a:off x="8366760" y="1508760"/>
            <a:ext cx="2788920" cy="1645920"/>
          </a:xfrm>
          <a:prstGeom prst="rect">
            <a:avLst/>
          </a:prstGeom>
          <a:noFill/>
        </p:spPr>
        <p:txBody>
          <a:bodyPr wrap="square" lIns="73152" rIns="36576" tIns="36576" bIns="36576">
            <a:spAutoFit/>
          </a:bodyPr>
          <a:lstStyle/>
          <a:p>
            <a:pPr>
              <a:spcAft>
                <a:spcPts val="700"/>
              </a:spcAft>
              <a:defRPr sz="1500">
                <a:solidFill>
                  <a:srgbClr val="191F1C"/>
                </a:solidFill>
                <a:latin typeface="Aptos"/>
              </a:defRPr>
            </a:pPr>
            <a:r>
              <a:t>- one shared Ku/Kd replay time</a:t>
            </a:r>
          </a:p>
          <a:p>
            <a:pPr>
              <a:spcAft>
                <a:spcPts val="700"/>
              </a:spcAft>
              <a:defRPr sz="1500">
                <a:solidFill>
                  <a:srgbClr val="191F1C"/>
                </a:solidFill>
                <a:latin typeface="Aptos"/>
              </a:defRPr>
            </a:pPr>
            <a:r>
              <a:t>- explicit ambiguity metric</a:t>
            </a:r>
          </a:p>
          <a:p>
            <a:pPr>
              <a:spcAft>
                <a:spcPts val="700"/>
              </a:spcAft>
              <a:defRPr sz="1500">
                <a:solidFill>
                  <a:srgbClr val="191F1C"/>
                </a:solidFill>
                <a:latin typeface="Aptos"/>
              </a:defRPr>
            </a:pPr>
            <a:r>
              <a:t>- no continuous output feedback</a:t>
            </a:r>
          </a:p>
          <a:p>
            <a:pPr>
              <a:spcAft>
                <a:spcPts val="700"/>
              </a:spcAft>
              <a:defRPr sz="1500">
                <a:solidFill>
                  <a:srgbClr val="191F1C"/>
                </a:solidFill>
                <a:latin typeface="Aptos"/>
              </a:defRPr>
            </a:pPr>
            <a:r>
              <a:t>- ordinary path stays legacy when inactive</a:t>
            </a:r>
          </a:p>
        </p:txBody>
      </p:sp>
      <p:sp>
        <p:nvSpPr>
          <p:cNvPr id="8" name="TextBox 7"/>
          <p:cNvSpPr txBox="1"/>
          <p:nvPr/>
        </p:nvSpPr>
        <p:spPr>
          <a:xfrm>
            <a:off x="8412480" y="3474720"/>
            <a:ext cx="2743200" cy="274320"/>
          </a:xfrm>
          <a:prstGeom prst="rect">
            <a:avLst/>
          </a:prstGeom>
          <a:noFill/>
        </p:spPr>
        <p:txBody>
          <a:bodyPr wrap="square" lIns="45720" rIns="45720" anchor="t">
            <a:spAutoFit/>
          </a:bodyPr>
          <a:lstStyle/>
          <a:p>
            <a:pPr algn="l">
              <a:defRPr sz="1800" b="1">
                <a:solidFill>
                  <a:srgbClr val="CA3030"/>
                </a:solidFill>
                <a:latin typeface="Aptos"/>
              </a:defRPr>
            </a:pPr>
            <a:r>
              <a:t>What did not generalize</a:t>
            </a:r>
          </a:p>
        </p:txBody>
      </p:sp>
      <p:sp>
        <p:nvSpPr>
          <p:cNvPr id="9" name="TextBox 8"/>
          <p:cNvSpPr txBox="1"/>
          <p:nvPr/>
        </p:nvSpPr>
        <p:spPr>
          <a:xfrm>
            <a:off x="8366760" y="3840480"/>
            <a:ext cx="2788920" cy="1188720"/>
          </a:xfrm>
          <a:prstGeom prst="rect">
            <a:avLst/>
          </a:prstGeom>
          <a:noFill/>
        </p:spPr>
        <p:txBody>
          <a:bodyPr wrap="square" lIns="73152" rIns="36576" tIns="36576" bIns="36576">
            <a:spAutoFit/>
          </a:bodyPr>
          <a:lstStyle/>
          <a:p>
            <a:pPr>
              <a:spcAft>
                <a:spcPts val="700"/>
              </a:spcAft>
              <a:defRPr sz="1500">
                <a:solidFill>
                  <a:srgbClr val="191F1C"/>
                </a:solidFill>
                <a:latin typeface="Aptos"/>
              </a:defRPr>
            </a:pPr>
            <a:r>
              <a:t>- inv_chain and ex2 sample near an endpoint</a:t>
            </a:r>
          </a:p>
          <a:p>
            <a:pPr>
              <a:spcAft>
                <a:spcPts val="700"/>
              </a:spcAft>
              <a:defRPr sz="1500">
                <a:solidFill>
                  <a:srgbClr val="191F1C"/>
                </a:solidFill>
                <a:latin typeface="Aptos"/>
              </a:defRPr>
            </a:pPr>
            <a:r>
              <a:t>- two of three short-high maps are ambiguous</a:t>
            </a:r>
          </a:p>
          <a:p>
            <a:pPr>
              <a:spcAft>
                <a:spcPts val="700"/>
              </a:spcAft>
              <a:defRPr sz="1500">
                <a:solidFill>
                  <a:srgbClr val="191F1C"/>
                </a:solidFill>
                <a:latin typeface="Aptos"/>
              </a:defRPr>
            </a:pPr>
            <a:r>
              <a:t>- pad and coefficient errors remain large</a:t>
            </a:r>
          </a:p>
        </p:txBody>
      </p:sp>
      <p:sp>
        <p:nvSpPr>
          <p:cNvPr id="10" name="Rectangle 9"/>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Voltage Matching V2 is a valuable baseline and diagnostic, but the current instantaneous-pad version is not a general replacement.</a:t>
            </a:r>
          </a:p>
        </p:txBody>
      </p:sp>
      <p:sp>
        <p:nvSpPr>
          <p:cNvPr id="11" name="TextBox 10"/>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Actual candidate_metrics.csv and voltage_matching_mapping_events.csv, short-high rows.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10. Delayed-sampling extension: wait for output-stage onset</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EXTENSION</a:t>
            </a:r>
          </a:p>
        </p:txBody>
      </p:sp>
      <p:sp>
        <p:nvSpPr>
          <p:cNvPr id="4" name="Rectangle 3"/>
          <p:cNvSpPr/>
          <p:nvPr/>
        </p:nvSpPr>
        <p:spPr>
          <a:xfrm>
            <a:off x="521207" y="2009599"/>
            <a:ext cx="6958583" cy="2701640"/>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8_delayed_voltage_sampling_design.png"/>
          <p:cNvPicPr>
            <a:picLocks noChangeAspect="1"/>
          </p:cNvPicPr>
          <p:nvPr/>
        </p:nvPicPr>
        <p:blipFill>
          <a:blip r:embed="rId2"/>
          <a:stretch>
            <a:fillRect/>
          </a:stretch>
        </p:blipFill>
        <p:spPr>
          <a:xfrm>
            <a:off x="548640" y="2037031"/>
            <a:ext cx="6903720" cy="2646776"/>
          </a:xfrm>
          <a:prstGeom prst="rect">
            <a:avLst/>
          </a:prstGeom>
        </p:spPr>
      </p:pic>
      <p:pic>
        <p:nvPicPr>
          <p:cNvPr id="6" name="Picture 5" descr="Equation: d_{high}=\min(d_{PU,off},d_{PD,on})"/>
          <p:cNvPicPr>
            <a:picLocks noChangeAspect="1"/>
          </p:cNvPicPr>
          <p:nvPr/>
        </p:nvPicPr>
        <p:blipFill>
          <a:blip r:embed="rId3"/>
          <a:stretch>
            <a:fillRect/>
          </a:stretch>
        </p:blipFill>
        <p:spPr>
          <a:xfrm>
            <a:off x="7726679" y="1293542"/>
            <a:ext cx="3337560" cy="293275"/>
          </a:xfrm>
          <a:prstGeom prst="rect">
            <a:avLst/>
          </a:prstGeom>
        </p:spPr>
      </p:pic>
      <p:pic>
        <p:nvPicPr>
          <p:cNvPr id="7" name="Picture 6" descr="Equation: d_{low}=\min(d_{PU,on},d_{PD,off})"/>
          <p:cNvPicPr>
            <a:picLocks noChangeAspect="1"/>
          </p:cNvPicPr>
          <p:nvPr/>
        </p:nvPicPr>
        <p:blipFill>
          <a:blip r:embed="rId4"/>
          <a:stretch>
            <a:fillRect/>
          </a:stretch>
        </p:blipFill>
        <p:spPr>
          <a:xfrm>
            <a:off x="7726679" y="2020765"/>
            <a:ext cx="3337560" cy="301868"/>
          </a:xfrm>
          <a:prstGeom prst="rect">
            <a:avLst/>
          </a:prstGeom>
        </p:spPr>
      </p:pic>
      <p:sp>
        <p:nvSpPr>
          <p:cNvPr id="8" name="TextBox 7"/>
          <p:cNvSpPr txBox="1"/>
          <p:nvPr/>
        </p:nvSpPr>
        <p:spPr>
          <a:xfrm>
            <a:off x="7818120" y="2788920"/>
            <a:ext cx="3108960" cy="1508760"/>
          </a:xfrm>
          <a:prstGeom prst="rect">
            <a:avLst/>
          </a:prstGeom>
          <a:noFill/>
        </p:spPr>
        <p:txBody>
          <a:bodyPr wrap="square" lIns="73152" rIns="36576" tIns="36576" bIns="36576">
            <a:spAutoFit/>
          </a:bodyPr>
          <a:lstStyle/>
          <a:p>
            <a:pPr>
              <a:spcAft>
                <a:spcPts val="700"/>
              </a:spcAft>
              <a:defRPr sz="1500">
                <a:solidFill>
                  <a:srgbClr val="191F1C"/>
                </a:solidFill>
                <a:latin typeface="Aptos"/>
              </a:defRPr>
            </a:pPr>
            <a:r>
              <a:t>- same directional delays as gate-state fitting</a:t>
            </a:r>
          </a:p>
          <a:p>
            <a:pPr>
              <a:spcAft>
                <a:spcPts val="700"/>
              </a:spcAft>
              <a:defRPr sz="1500">
                <a:solidFill>
                  <a:srgbClr val="191F1C"/>
                </a:solidFill>
                <a:latin typeface="Aptos"/>
              </a:defRPr>
            </a:pPr>
            <a:r>
              <a:t>- io_buf: 1.65 ps</a:t>
            </a:r>
          </a:p>
          <a:p>
            <a:pPr>
              <a:spcAft>
                <a:spcPts val="700"/>
              </a:spcAft>
              <a:defRPr sz="1500">
                <a:solidFill>
                  <a:srgbClr val="191F1C"/>
                </a:solidFill>
                <a:latin typeface="Aptos"/>
              </a:defRPr>
            </a:pPr>
            <a:r>
              <a:t>- inv_chain short-high: 242.3 ps</a:t>
            </a:r>
          </a:p>
          <a:p>
            <a:pPr>
              <a:spcAft>
                <a:spcPts val="700"/>
              </a:spcAft>
              <a:defRPr sz="1500">
                <a:solidFill>
                  <a:srgbClr val="191F1C"/>
                </a:solidFill>
                <a:latin typeface="Aptos"/>
              </a:defRPr>
            </a:pPr>
            <a:r>
              <a:t>- ex2 short-high: 668.3 ps</a:t>
            </a:r>
          </a:p>
        </p:txBody>
      </p:sp>
      <p:sp>
        <p:nvSpPr>
          <p:cNvPr id="9" name="Rectangle 8"/>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extension changes when Vpad is sampled; the voltage-to-time-to-Ku/Kd mapping is otherwise unchanged.</a:t>
            </a:r>
          </a:p>
        </p:txBody>
      </p:sp>
      <p:sp>
        <p:nvSpPr>
          <p:cNvPr id="10" name="TextBox 9"/>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Delay values from generated gate-state model fit comments; saved in data/delayed_sampling_parameters.csv.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11. Delayed implementation status: bugs found before acceptance</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STATUS</a:t>
            </a:r>
          </a:p>
        </p:txBody>
      </p:sp>
      <p:sp>
        <p:nvSpPr>
          <p:cNvPr id="4" name="Rounded Rectangle 3"/>
          <p:cNvSpPr/>
          <p:nvPr/>
        </p:nvSpPr>
        <p:spPr>
          <a:xfrm>
            <a:off x="685800" y="1143000"/>
            <a:ext cx="3200400" cy="658368"/>
          </a:xfrm>
          <a:prstGeom prst="roundRect">
            <a:avLst/>
          </a:prstGeom>
          <a:solidFill>
            <a:srgbClr val="FCEBEB"/>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Attempt 1: transport-line delay</a:t>
            </a:r>
          </a:p>
        </p:txBody>
      </p:sp>
      <p:sp>
        <p:nvSpPr>
          <p:cNvPr id="5" name="TextBox 4"/>
          <p:cNvSpPr txBox="1"/>
          <p:nvPr/>
        </p:nvSpPr>
        <p:spPr>
          <a:xfrm>
            <a:off x="777240" y="1965960"/>
            <a:ext cx="2971800" cy="1143000"/>
          </a:xfrm>
          <a:prstGeom prst="rect">
            <a:avLst/>
          </a:prstGeom>
          <a:noFill/>
        </p:spPr>
        <p:txBody>
          <a:bodyPr wrap="square" lIns="45720" rIns="45720" anchor="t">
            <a:spAutoFit/>
          </a:bodyPr>
          <a:lstStyle/>
          <a:p>
            <a:pPr algn="l">
              <a:defRPr sz="1600" b="0">
                <a:solidFill>
                  <a:srgbClr val="191F1C"/>
                </a:solidFill>
                <a:latin typeface="Aptos"/>
              </a:defRPr>
            </a:pPr>
            <a:r>
              <a:t>The 1.65 ps io_buf delay forced approximately 20 fs global timesteps and produced more than 500 MB for one partial run.</a:t>
            </a:r>
          </a:p>
        </p:txBody>
      </p:sp>
      <p:cxnSp>
        <p:nvCxnSpPr>
          <p:cNvPr id="6" name="Connector 5"/>
          <p:cNvCxnSpPr/>
          <p:nvPr/>
        </p:nvCxnSpPr>
        <p:spPr>
          <a:xfrm>
            <a:off x="3977639" y="2331720"/>
            <a:ext cx="548641"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526280" y="1143000"/>
            <a:ext cx="3200400" cy="658368"/>
          </a:xfrm>
          <a:prstGeom prst="roundRect">
            <a:avLst/>
          </a:prstGeom>
          <a:solidFill>
            <a:srgbClr val="FFF2E4"/>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Attempt 2: latched timestamp</a:t>
            </a:r>
          </a:p>
        </p:txBody>
      </p:sp>
      <p:sp>
        <p:nvSpPr>
          <p:cNvPr id="8" name="TextBox 7"/>
          <p:cNvSpPr txBox="1"/>
          <p:nvPr/>
        </p:nvSpPr>
        <p:spPr>
          <a:xfrm>
            <a:off x="4617720" y="1965960"/>
            <a:ext cx="2971800" cy="1143000"/>
          </a:xfrm>
          <a:prstGeom prst="rect">
            <a:avLst/>
          </a:prstGeom>
          <a:noFill/>
        </p:spPr>
        <p:txBody>
          <a:bodyPr wrap="square" lIns="45720" rIns="45720" anchor="t">
            <a:spAutoFit/>
          </a:bodyPr>
          <a:lstStyle/>
          <a:p>
            <a:pPr algn="l">
              <a:defRPr sz="1600" b="0">
                <a:solidFill>
                  <a:srgbClr val="191F1C"/>
                </a:solidFill>
                <a:latin typeface="Aptos"/>
              </a:defRPr>
            </a:pPr>
            <a:r>
              <a:t>The first timestamp node initialized at zero during operating-point solve, creating a false sample near simulation start.</a:t>
            </a:r>
          </a:p>
        </p:txBody>
      </p:sp>
      <p:cxnSp>
        <p:nvCxnSpPr>
          <p:cNvPr id="9" name="Connector 8"/>
          <p:cNvCxnSpPr/>
          <p:nvPr/>
        </p:nvCxnSpPr>
        <p:spPr>
          <a:xfrm>
            <a:off x="7818120" y="2331720"/>
            <a:ext cx="54864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366760" y="1143000"/>
            <a:ext cx="3063240" cy="658368"/>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Current fix: explicit event arm</a:t>
            </a:r>
          </a:p>
        </p:txBody>
      </p:sp>
      <p:sp>
        <p:nvSpPr>
          <p:cNvPr id="11" name="TextBox 10"/>
          <p:cNvSpPr txBox="1"/>
          <p:nvPr/>
        </p:nvSpPr>
        <p:spPr>
          <a:xfrm>
            <a:off x="8458200" y="1965960"/>
            <a:ext cx="2788920" cy="1143000"/>
          </a:xfrm>
          <a:prstGeom prst="rect">
            <a:avLst/>
          </a:prstGeom>
          <a:noFill/>
        </p:spPr>
        <p:txBody>
          <a:bodyPr wrap="square" lIns="45720" rIns="45720" anchor="t">
            <a:spAutoFit/>
          </a:bodyPr>
          <a:lstStyle/>
          <a:p>
            <a:pPr algn="l">
              <a:defRPr sz="1600" b="0">
                <a:solidFill>
                  <a:srgbClr val="191F1C"/>
                </a:solidFill>
                <a:latin typeface="Aptos"/>
              </a:defRPr>
            </a:pPr>
            <a:r>
              <a:t>A real reverse-edge pulse must arm the timer before a delayed sample can fire. Generation and 46 pybis tests pass.</a:t>
            </a:r>
          </a:p>
        </p:txBody>
      </p:sp>
      <p:sp>
        <p:nvSpPr>
          <p:cNvPr id="12" name="Rounded Rectangle 11"/>
          <p:cNvSpPr/>
          <p:nvPr/>
        </p:nvSpPr>
        <p:spPr>
          <a:xfrm>
            <a:off x="3337560" y="3703320"/>
            <a:ext cx="5486400" cy="1325880"/>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200">
                <a:solidFill>
                  <a:srgbClr val="1E3027"/>
                </a:solidFill>
                <a:latin typeface="Consolas"/>
              </a:defRPr>
            </a:pPr>
            <a:r>
              <a:t>on reverse edge:</a:t>
            </a:r>
            <a:br/>
            <a:r>
              <a:t>  arm = 1</a:t>
            </a:r>
            <a:br/>
            <a:r>
              <a:t>  t0 = simulation_time</a:t>
            </a:r>
            <a:br/>
            <a:br/>
            <a:r>
              <a:t>sample = arm &amp;&amp;</a:t>
            </a:r>
            <a:br/>
            <a:r>
              <a:t>  (time-t0 &gt;= d_sample) &amp;&amp;</a:t>
            </a:r>
            <a:br/>
            <a:r>
              <a:t>  (time-t0 &lt; d_sample + 20 ps)</a:t>
            </a:r>
          </a:p>
        </p:txBody>
      </p:sp>
      <p:sp>
        <p:nvSpPr>
          <p:cNvPr id="13" name="TextBox 12"/>
          <p:cNvSpPr txBox="1"/>
          <p:nvPr/>
        </p:nvSpPr>
        <p:spPr>
          <a:xfrm>
            <a:off x="3063240" y="5321808"/>
            <a:ext cx="6035040" cy="347472"/>
          </a:xfrm>
          <a:prstGeom prst="rect">
            <a:avLst/>
          </a:prstGeom>
          <a:noFill/>
        </p:spPr>
        <p:txBody>
          <a:bodyPr wrap="square" lIns="45720" rIns="45720" anchor="t">
            <a:spAutoFit/>
          </a:bodyPr>
          <a:lstStyle/>
          <a:p>
            <a:pPr algn="ctr">
              <a:defRPr sz="1800" b="1">
                <a:solidFill>
                  <a:srgbClr val="CA3030"/>
                </a:solidFill>
                <a:latin typeface="Aptos"/>
              </a:defRPr>
            </a:pPr>
            <a:r>
              <a:t>Corrected three-buffer correlation run: not completed yet</a:t>
            </a:r>
          </a:p>
        </p:txBody>
      </p:sp>
      <p:sp>
        <p:nvSpPr>
          <p:cNvPr id="14" name="Rectangle 13"/>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No delayed waveform is claimed as evidence until the armed-timer rerun completes and its diagnostic nodes confirm the intended sample time.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12. What we know and what must be tested next</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CONCLUSION</a:t>
            </a:r>
          </a:p>
        </p:txBody>
      </p:sp>
      <p:sp>
        <p:nvSpPr>
          <p:cNvPr id="4" name="Rounded Rectangle 3"/>
          <p:cNvSpPr/>
          <p:nvPr/>
        </p:nvSpPr>
        <p:spPr>
          <a:xfrm>
            <a:off x="685800" y="1051560"/>
            <a:ext cx="3246120" cy="59436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900" b="1">
                <a:solidFill>
                  <a:srgbClr val="191F1C"/>
                </a:solidFill>
                <a:latin typeface="Aptos"/>
              </a:defRPr>
            </a:pPr>
            <a:r>
              <a:t>Established</a:t>
            </a:r>
          </a:p>
        </p:txBody>
      </p:sp>
      <p:sp>
        <p:nvSpPr>
          <p:cNvPr id="5" name="TextBox 4"/>
          <p:cNvSpPr txBox="1"/>
          <p:nvPr/>
        </p:nvSpPr>
        <p:spPr>
          <a:xfrm>
            <a:off x="777240" y="1828800"/>
            <a:ext cx="3063240" cy="2194560"/>
          </a:xfrm>
          <a:prstGeom prst="rect">
            <a:avLst/>
          </a:prstGeom>
          <a:noFill/>
        </p:spPr>
        <p:txBody>
          <a:bodyPr wrap="square" lIns="73152" rIns="36576" tIns="36576" bIns="36576">
            <a:spAutoFit/>
          </a:bodyPr>
          <a:lstStyle/>
          <a:p>
            <a:pPr>
              <a:spcAft>
                <a:spcPts val="700"/>
              </a:spcAft>
              <a:defRPr sz="1550">
                <a:solidFill>
                  <a:srgbClr val="191F1C"/>
                </a:solidFill>
                <a:latin typeface="Aptos"/>
              </a:defRPr>
            </a:pPr>
            <a:r>
              <a:t>- full-swing calibration and inverse map are reproducible</a:t>
            </a:r>
          </a:p>
          <a:p>
            <a:pPr>
              <a:spcAft>
                <a:spcPts val="700"/>
              </a:spcAft>
              <a:defRPr sz="1550">
                <a:solidFill>
                  <a:srgbClr val="191F1C"/>
                </a:solidFill>
                <a:latin typeface="Aptos"/>
              </a:defRPr>
            </a:pPr>
            <a:r>
              <a:t>- one shared replay time keeps Ku/Kd paired</a:t>
            </a:r>
          </a:p>
          <a:p>
            <a:pPr>
              <a:spcAft>
                <a:spcPts val="700"/>
              </a:spcAft>
              <a:defRPr sz="1550">
                <a:solidFill>
                  <a:srgbClr val="191F1C"/>
                </a:solidFill>
                <a:latin typeface="Aptos"/>
              </a:defRPr>
            </a:pPr>
            <a:r>
              <a:t>- sample/latch implementation avoids continuous pad feedback</a:t>
            </a:r>
          </a:p>
          <a:p>
            <a:pPr>
              <a:spcAft>
                <a:spcPts val="700"/>
              </a:spcAft>
              <a:defRPr sz="1550">
                <a:solidFill>
                  <a:srgbClr val="191F1C"/>
                </a:solidFill>
                <a:latin typeface="Aptos"/>
              </a:defRPr>
            </a:pPr>
            <a:r>
              <a:t>- ambiguity is measurable rather than hidden</a:t>
            </a:r>
          </a:p>
        </p:txBody>
      </p:sp>
      <p:sp>
        <p:nvSpPr>
          <p:cNvPr id="6" name="Rounded Rectangle 5"/>
          <p:cNvSpPr/>
          <p:nvPr/>
        </p:nvSpPr>
        <p:spPr>
          <a:xfrm>
            <a:off x="4462272" y="1051560"/>
            <a:ext cx="3246120" cy="594360"/>
          </a:xfrm>
          <a:prstGeom prst="roundRect">
            <a:avLst/>
          </a:prstGeom>
          <a:solidFill>
            <a:srgbClr val="FCEBEB"/>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900" b="1">
                <a:solidFill>
                  <a:srgbClr val="191F1C"/>
                </a:solidFill>
                <a:latin typeface="Aptos"/>
              </a:defRPr>
            </a:pPr>
            <a:r>
              <a:t>Not established</a:t>
            </a:r>
          </a:p>
        </p:txBody>
      </p:sp>
      <p:sp>
        <p:nvSpPr>
          <p:cNvPr id="7" name="TextBox 6"/>
          <p:cNvSpPr txBox="1"/>
          <p:nvPr/>
        </p:nvSpPr>
        <p:spPr>
          <a:xfrm>
            <a:off x="4553712" y="1828800"/>
            <a:ext cx="3063240" cy="2194560"/>
          </a:xfrm>
          <a:prstGeom prst="rect">
            <a:avLst/>
          </a:prstGeom>
          <a:noFill/>
        </p:spPr>
        <p:txBody>
          <a:bodyPr wrap="square" lIns="73152" rIns="36576" tIns="36576" bIns="36576">
            <a:spAutoFit/>
          </a:bodyPr>
          <a:lstStyle/>
          <a:p>
            <a:pPr>
              <a:spcAft>
                <a:spcPts val="700"/>
              </a:spcAft>
              <a:defRPr sz="1550">
                <a:solidFill>
                  <a:srgbClr val="191F1C"/>
                </a:solidFill>
                <a:latin typeface="Aptos"/>
              </a:defRPr>
            </a:pPr>
            <a:r>
              <a:t>- instantaneous Vpad is not a unique hidden-state coordinate</a:t>
            </a:r>
          </a:p>
          <a:p>
            <a:pPr>
              <a:spcAft>
                <a:spcPts val="700"/>
              </a:spcAft>
              <a:defRPr sz="1550">
                <a:solidFill>
                  <a:srgbClr val="191F1C"/>
                </a:solidFill>
                <a:latin typeface="Aptos"/>
              </a:defRPr>
            </a:pPr>
            <a:r>
              <a:t>- delayed Vpad may mix first- and second-edge responses</a:t>
            </a:r>
          </a:p>
          <a:p>
            <a:pPr>
              <a:spcAft>
                <a:spcPts val="700"/>
              </a:spcAft>
              <a:defRPr sz="1550">
                <a:solidFill>
                  <a:srgbClr val="191F1C"/>
                </a:solidFill>
                <a:latin typeface="Aptos"/>
              </a:defRPr>
            </a:pPr>
            <a:r>
              <a:t>- current map is load-specific</a:t>
            </a:r>
          </a:p>
          <a:p>
            <a:pPr>
              <a:spcAft>
                <a:spcPts val="700"/>
              </a:spcAft>
              <a:defRPr sz="1550">
                <a:solidFill>
                  <a:srgbClr val="191F1C"/>
                </a:solidFill>
                <a:latin typeface="Aptos"/>
              </a:defRPr>
            </a:pPr>
            <a:r>
              <a:t>- delayed cross-buffer correlation is unfinished</a:t>
            </a:r>
          </a:p>
        </p:txBody>
      </p:sp>
      <p:sp>
        <p:nvSpPr>
          <p:cNvPr id="8" name="Rounded Rectangle 7"/>
          <p:cNvSpPr/>
          <p:nvPr/>
        </p:nvSpPr>
        <p:spPr>
          <a:xfrm>
            <a:off x="8229600" y="1051560"/>
            <a:ext cx="3246120" cy="594360"/>
          </a:xfrm>
          <a:prstGeom prst="roundRect">
            <a:avLst/>
          </a:prstGeom>
          <a:solidFill>
            <a:srgbClr val="E8F2FC"/>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900" b="1">
                <a:solidFill>
                  <a:srgbClr val="191F1C"/>
                </a:solidFill>
                <a:latin typeface="Aptos"/>
              </a:defRPr>
            </a:pPr>
            <a:r>
              <a:t>Next validation</a:t>
            </a:r>
          </a:p>
        </p:txBody>
      </p:sp>
      <p:sp>
        <p:nvSpPr>
          <p:cNvPr id="9" name="TextBox 8"/>
          <p:cNvSpPr txBox="1"/>
          <p:nvPr/>
        </p:nvSpPr>
        <p:spPr>
          <a:xfrm>
            <a:off x="8321040" y="1828800"/>
            <a:ext cx="2971800" cy="2194560"/>
          </a:xfrm>
          <a:prstGeom prst="rect">
            <a:avLst/>
          </a:prstGeom>
          <a:noFill/>
        </p:spPr>
        <p:txBody>
          <a:bodyPr wrap="square" lIns="73152" rIns="36576" tIns="36576" bIns="36576">
            <a:spAutoFit/>
          </a:bodyPr>
          <a:lstStyle/>
          <a:p>
            <a:pPr>
              <a:spcAft>
                <a:spcPts val="700"/>
              </a:spcAft>
              <a:defRPr sz="1550">
                <a:solidFill>
                  <a:srgbClr val="191F1C"/>
                </a:solidFill>
                <a:latin typeface="Aptos"/>
              </a:defRPr>
            </a:pPr>
            <a:r>
              <a:t>- complete armed-timer rerun from cached HSPICE references</a:t>
            </a:r>
          </a:p>
          <a:p>
            <a:pPr>
              <a:spcAft>
                <a:spcPts val="700"/>
              </a:spcAft>
              <a:defRPr sz="1550">
                <a:solidFill>
                  <a:srgbClr val="191F1C"/>
                </a:solidFill>
                <a:latin typeface="Aptos"/>
              </a:defRPr>
            </a:pPr>
            <a:r>
              <a:t>- verify actual sample time and sampled voltage</a:t>
            </a:r>
          </a:p>
          <a:p>
            <a:pPr>
              <a:spcAft>
                <a:spcPts val="700"/>
              </a:spcAft>
              <a:defRPr sz="1550">
                <a:solidFill>
                  <a:srgbClr val="191F1C"/>
                </a:solidFill>
                <a:latin typeface="Aptos"/>
              </a:defRPr>
            </a:pPr>
            <a:r>
              <a:t>- compare original versus delayed Ku/Kd and pad</a:t>
            </a:r>
          </a:p>
          <a:p>
            <a:pPr>
              <a:spcAft>
                <a:spcPts val="700"/>
              </a:spcAft>
              <a:defRPr sz="1550">
                <a:solidFill>
                  <a:srgbClr val="191F1C"/>
                </a:solidFill>
                <a:latin typeface="Aptos"/>
              </a:defRPr>
            </a:pPr>
            <a:r>
              <a:t>- reject endpoint/ambiguous mappings explicitly</a:t>
            </a:r>
          </a:p>
        </p:txBody>
      </p:sp>
      <p:pic>
        <p:nvPicPr>
          <p:cNvPr id="10" name="Picture 9" descr="Equation: \text{success}=\text{pad agreement}+\text{Ku agreement}+\text{Kd agreement}"/>
          <p:cNvPicPr>
            <a:picLocks noChangeAspect="1"/>
          </p:cNvPicPr>
          <p:nvPr/>
        </p:nvPicPr>
        <p:blipFill>
          <a:blip r:embed="rId2"/>
          <a:stretch>
            <a:fillRect/>
          </a:stretch>
        </p:blipFill>
        <p:spPr>
          <a:xfrm>
            <a:off x="2057400" y="4943015"/>
            <a:ext cx="8046720" cy="282097"/>
          </a:xfrm>
          <a:prstGeom prst="rect">
            <a:avLst/>
          </a:prstGeom>
        </p:spPr>
      </p:pic>
      <p:sp>
        <p:nvSpPr>
          <p:cNvPr id="11" name="Rectangle 10"/>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Voltage matching is a strong diagnostic baseline; production trust requires coefficient-correct results across buffers and directions.</a:t>
            </a:r>
          </a:p>
        </p:txBody>
      </p:sp>
    </p:spTree>
  </p:cSld>
  <p:clrMapOvr>
    <a:masterClrMapping/>
  </p:clrMapOvr>
</p:sld>
</file>

<file path=ppt/theme/theme1.xml><?xml version="1.0" encoding="utf-8"?>
<a:theme xmlns:a="http://schemas.openxmlformats.org/drawingml/2006/main" name="1_MST_EMC_lab_theme">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Times New Roman"/>
        <a:ea typeface=""/>
        <a:cs typeface="Arial"/>
      </a:majorFont>
      <a:minorFont>
        <a:latin typeface="Times New Roman"/>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chemeClr val="tx1"/>
          </a:solidFill>
        </a:ln>
      </a:spPr>
      <a:bodyPr rtlCol="0" anchor="ctr"/>
      <a:lstStyle>
        <a:defPPr algn="ctr">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MST_EMC_lab_theme" id="{F84A9E38-8E53-459B-962B-D11E178A4856}" vid="{AF41A44A-DCC1-4496-8938-47400BABA3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Slides>
  <Notes>1</Notes>
  <HiddenSlides>0</HiddenSlide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1_MST_EMC_lab_theme</vt:lpstr>
      <vt:lpstr>IBIS Simulation in Ngspice</vt:lpstr>
      <vt:lpstr>"Replay Problem" for Short Pulse</vt:lpstr>
      <vt:lpstr>Why "Value-matched" Method Fails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Lee, Seonghi</dc:creator>
  <cp:revision>53</cp:revision>
  <dcterms:created xsi:type="dcterms:W3CDTF">2025-07-07T19:11:35Z</dcterms:created>
  <dcterms:modified xsi:type="dcterms:W3CDTF">2026-07-14T07:11:59Z</dcterms:modified>
</cp:coreProperties>
</file>