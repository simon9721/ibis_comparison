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4"/>
    <p:sldId id="258" r:id="rId3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8"/>
    <a:srgbClr val="FBFB00"/>
    <a:srgbClr val="FFFF29"/>
    <a:srgbClr val="C321CF"/>
    <a:srgbClr val="C52BA8"/>
    <a:srgbClr val="99CCFF"/>
    <a:srgbClr val="6699FF"/>
    <a:srgbClr val="FFCC99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E76EB-5733-E639-DFBE-C032C02CA049}" v="311" dt="2026-07-10T21:33:20.263"/>
    <p1510:client id="{4B2B0703-2C84-945A-F101-9A0363D83DEB}" v="2" dt="2026-07-10T16:42:58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F5152-AD57-4057-A738-BC536A645BFF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BD6F9-9B61-4F1F-A828-501CEB5BC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is generated through the reusable presentation kit. The title slide and content layouts come from the checked-in green template.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E5D0-9393-4591-81EA-D49C04BB484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77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reusable package separates visual conventions from project content. Future deck scripts import GreenDeck instead of importing an IBIS-specific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active backend for this build is mathjax. Expressions are rendered to transparent high-resolution assets and cached by content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exercises the common primitives. More specialized scientific figures remain ordinary PNG assets produced by the project's analysis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609600" y="2971800"/>
            <a:ext cx="108712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057275"/>
            <a:ext cx="10363200" cy="1828800"/>
          </a:xfrm>
        </p:spPr>
        <p:txBody>
          <a:bodyPr anchor="ctr"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57600"/>
            <a:ext cx="8534400" cy="19812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2800"/>
            </a:lvl1pPr>
          </a:lstStyle>
          <a:p>
            <a:r>
              <a:rPr lang="ko-KR" altLang="en-US"/>
              <a:t>클릭하여 마스터 부제목 스타일 편집</a:t>
            </a:r>
            <a:endParaRPr lang="en-US" altLang="zh-C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85D946-0A64-0C7F-AA63-488808319B35}"/>
              </a:ext>
            </a:extLst>
          </p:cNvPr>
          <p:cNvSpPr/>
          <p:nvPr/>
        </p:nvSpPr>
        <p:spPr>
          <a:xfrm>
            <a:off x="11381117" y="6288658"/>
            <a:ext cx="684363" cy="48307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2037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C6936E-D099-1BE8-8BB3-AAFCF768FD3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1038225"/>
            <a:ext cx="11277600" cy="5438775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  <a:endParaRPr lang="en-US" altLang="ko-KR"/>
          </a:p>
          <a:p>
            <a:pPr lvl="2"/>
            <a:r>
              <a:rPr lang="ko-KR" altLang="en-US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12201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A6B0B8-599D-92DF-18BE-0154789C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279366"/>
            <a:ext cx="11277600" cy="1197634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  <a:endParaRPr lang="en-US" altLang="ko-KR"/>
          </a:p>
          <a:p>
            <a:pPr lvl="2"/>
            <a:r>
              <a:rPr lang="ko-KR" altLang="en-US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971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277600" cy="7620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A6B0B8-599D-92DF-18BE-0154789C5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4800" y="5279366"/>
            <a:ext cx="11277600" cy="1197634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sz="20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ko-KR" altLang="en-US" sz="18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두 번째 수준</a:t>
            </a:r>
            <a:endParaRPr lang="en-US" altLang="ko-KR"/>
          </a:p>
          <a:p>
            <a:pPr lvl="1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424F-3297-D95B-C851-77D5FA265A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964541"/>
            <a:ext cx="11277600" cy="445159"/>
          </a:xfrm>
        </p:spPr>
        <p:txBody>
          <a:bodyPr/>
          <a:lstStyle>
            <a:lvl1pPr marL="432000" indent="-43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v"/>
              <a:defRPr sz="2400"/>
            </a:lvl1pPr>
            <a:lvl2pPr marL="720000" indent="-25200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§"/>
              <a:defRPr lang="ko-KR" altLang="en-US" sz="200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 marL="1080000" indent="-324000"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ClrTx/>
              <a:buFont typeface="Arial" panose="020B0604020202020204" pitchFamily="34" charset="0"/>
              <a:buChar char="•"/>
              <a:defRPr sz="1200"/>
            </a:lvl4pPr>
            <a:lvl5pPr marL="1543050" indent="-171450">
              <a:buClrTx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7026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51" y="0"/>
            <a:ext cx="11024559" cy="762000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9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3150C2-20D0-A45F-5462-61690D2567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1239" y="4124506"/>
            <a:ext cx="5089525" cy="507881"/>
          </a:xfrm>
        </p:spPr>
        <p:txBody>
          <a:bodyPr/>
          <a:lstStyle>
            <a:lvl1pPr marL="0" indent="0" algn="ctr">
              <a:buNone/>
              <a:defRPr sz="21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ADDEF-87C0-B90A-6505-6A3A384B7EE8}"/>
              </a:ext>
            </a:extLst>
          </p:cNvPr>
          <p:cNvSpPr txBox="1"/>
          <p:nvPr/>
        </p:nvSpPr>
        <p:spPr>
          <a:xfrm>
            <a:off x="3623209" y="2313750"/>
            <a:ext cx="4945585" cy="141961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8625"/>
              <a:t>Thank you</a:t>
            </a:r>
            <a:endParaRPr lang="ko-KR" altLang="en-US" sz="8625"/>
          </a:p>
        </p:txBody>
      </p:sp>
    </p:spTree>
    <p:extLst>
      <p:ext uri="{BB962C8B-B14F-4D97-AF65-F5344CB8AC3E}">
        <p14:creationId xmlns:p14="http://schemas.microsoft.com/office/powerpoint/2010/main" val="19419346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27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14400"/>
            <a:ext cx="11277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750">
                <a:latin typeface="Verdana" pitchFamily="34" charset="0"/>
                <a:ea typeface="宋体" pitchFamily="2" charset="-122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304800" y="762000"/>
            <a:ext cx="100584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E8E0A-D232-4C57-7AD9-EBC41A1AA7E2}"/>
              </a:ext>
            </a:extLst>
          </p:cNvPr>
          <p:cNvSpPr txBox="1"/>
          <p:nvPr/>
        </p:nvSpPr>
        <p:spPr>
          <a:xfrm>
            <a:off x="11582400" y="6373649"/>
            <a:ext cx="3866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6F15528-21DE-4FAA-801E-634DDDAF4B2B}" type="slidenum">
              <a:rPr lang="en-US" altLang="ko-KR" sz="1350" smtClean="0">
                <a:solidFill>
                  <a:srgbClr val="000000"/>
                </a:solidFill>
              </a:rPr>
              <a:pPr/>
              <a:t>‹#›</a:t>
            </a:fld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63149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5pPr>
      <a:lvl6pPr marL="3429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6pPr>
      <a:lvl7pPr marL="685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7pPr>
      <a:lvl8pPr marL="10287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8pPr>
      <a:lvl9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257175" indent="-257175" algn="l" rtl="0" eaLnBrk="1" fontAlgn="base" latinLnBrk="1" hangingPunct="1">
        <a:spcBef>
          <a:spcPts val="0"/>
        </a:spcBef>
        <a:spcAft>
          <a:spcPts val="450"/>
        </a:spcAft>
        <a:buClr>
          <a:schemeClr val="tx1"/>
        </a:buClr>
        <a:buSzPct val="75000"/>
        <a:buFont typeface="Times New Roman" pitchFamily="18" charset="0"/>
        <a:buChar char="●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fontAlgn="base" latinLnBrk="1" hangingPunct="1">
        <a:spcBef>
          <a:spcPts val="0"/>
        </a:spcBef>
        <a:spcAft>
          <a:spcPts val="450"/>
        </a:spcAft>
        <a:buClrTx/>
        <a:buSzPct val="75000"/>
        <a:buFont typeface="Arial" charset="0"/>
        <a:buChar char="–"/>
        <a:defRPr lang="en-US" altLang="zh-CN" sz="1650" dirty="0" smtClean="0">
          <a:solidFill>
            <a:schemeClr val="tx1"/>
          </a:solidFill>
          <a:latin typeface="+mn-lt"/>
          <a:cs typeface="+mn-cs"/>
        </a:defRPr>
      </a:lvl2pPr>
      <a:lvl3pPr marL="754380" indent="-205740" algn="l" rtl="0" eaLnBrk="1" fontAlgn="base" latinLnBrk="1" hangingPunct="1">
        <a:spcBef>
          <a:spcPts val="0"/>
        </a:spcBef>
        <a:spcAft>
          <a:spcPts val="450"/>
        </a:spcAft>
        <a:buClrTx/>
        <a:buSzPct val="65000"/>
        <a:buFont typeface="Wingdings" pitchFamily="2" charset="2"/>
        <a:buChar char="§"/>
        <a:defRPr lang="en-US" altLang="zh-CN" sz="1500" dirty="0">
          <a:solidFill>
            <a:schemeClr val="tx1"/>
          </a:solidFill>
          <a:latin typeface="+mn-lt"/>
          <a:cs typeface="+mn-cs"/>
        </a:defRPr>
      </a:lvl3pPr>
      <a:lvl4pPr marL="12001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•"/>
        <a:defRPr sz="1200">
          <a:solidFill>
            <a:schemeClr val="tx1"/>
          </a:solidFill>
          <a:latin typeface="+mn-lt"/>
          <a:cs typeface="+mn-cs"/>
        </a:defRPr>
      </a:lvl4pPr>
      <a:lvl5pPr marL="15430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350">
          <a:solidFill>
            <a:schemeClr val="tx1"/>
          </a:solidFill>
          <a:latin typeface="+mn-lt"/>
          <a:cs typeface="+mn-cs"/>
        </a:defRPr>
      </a:lvl5pPr>
      <a:lvl6pPr marL="18859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1CA2A-44B7-9F04-6068-47D43FF3D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507" y="1016453"/>
            <a:ext cx="10882993" cy="1828800"/>
          </a:xfrm>
        </p:spPr>
        <p:txBody>
          <a:bodyPr/>
          <a:lstStyle/>
          <a:p>
            <a:pPr>
              <a:defRPr sz="3500" b="1">
                <a:solidFill>
                  <a:srgbClr val="000000"/>
                </a:solidFill>
                <a:latin typeface="Times New Roman"/>
              </a:defRPr>
            </a:pPr>
            <a:r>
              <a:t>Reusable Scripted Presentation Kit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CACD7-6A52-C28F-D2D0-4E8721229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5294671"/>
            <a:ext cx="8534400" cy="1563329"/>
          </a:xfrm>
        </p:spPr>
        <p:txBody>
          <a:bodyPr/>
          <a:lstStyle/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Green lab template + cached equations</a:t>
            </a:r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Demonstration deck</a:t>
            </a:r>
          </a:p>
        </p:txBody>
      </p:sp>
    </p:spTree>
    <p:extLst>
      <p:ext uri="{BB962C8B-B14F-4D97-AF65-F5344CB8AC3E}">
        <p14:creationId xmlns:p14="http://schemas.microsoft.com/office/powerpoint/2010/main" val="661422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700" b="0">
                <a:solidFill>
                  <a:srgbClr val="000000"/>
                </a:solidFill>
                <a:latin typeface="Times New Roman"/>
              </a:defRPr>
            </a:pPr>
            <a:r>
              <a:t>1. One template, many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109728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50" b="1">
                <a:solidFill>
                  <a:srgbClr val="666C68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920240" cy="731520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Project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874519"/>
            <a:ext cx="868680" cy="0"/>
          </a:xfrm>
          <a:prstGeom prst="line">
            <a:avLst/>
          </a:prstGeom>
          <a:ln w="27940">
            <a:solidFill>
              <a:srgbClr val="2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508760"/>
            <a:ext cx="2194560" cy="731520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Reusable slide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23560" y="1874519"/>
            <a:ext cx="868680" cy="0"/>
          </a:xfrm>
          <a:prstGeom prst="line">
            <a:avLst/>
          </a:prstGeom>
          <a:ln w="27940">
            <a:solidFill>
              <a:srgbClr val="2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92240" y="1508760"/>
            <a:ext cx="1920240" cy="731520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Green template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874519"/>
            <a:ext cx="868680" cy="0"/>
          </a:xfrm>
          <a:prstGeom prst="line">
            <a:avLst/>
          </a:prstGeom>
          <a:ln w="27940">
            <a:solidFill>
              <a:srgbClr val="2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281160" y="1508760"/>
            <a:ext cx="1920240" cy="731520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PPTX +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9875520" cy="210312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F1C"/>
                </a:solidFill>
                <a:latin typeface="Aptos"/>
              </a:defRPr>
            </a:pPr>
            <a:r>
              <a:t>- Template masters and layouts stay authoritative</a:t>
            </a:r>
          </a:p>
          <a:p>
            <a:pPr>
              <a:spcAft>
                <a:spcPts val="700"/>
              </a:spcAft>
              <a:defRPr sz="1800">
                <a:solidFill>
                  <a:srgbClr val="191F1C"/>
                </a:solidFill>
                <a:latin typeface="Aptos"/>
              </a:defRPr>
            </a:pPr>
            <a:r>
              <a:t>- Common slide components share spacing, fonts, and colors</a:t>
            </a:r>
          </a:p>
          <a:p>
            <a:pPr>
              <a:spcAft>
                <a:spcPts val="700"/>
              </a:spcAft>
              <a:defRPr sz="1800">
                <a:solidFill>
                  <a:srgbClr val="191F1C"/>
                </a:solidFill>
                <a:latin typeface="Aptos"/>
              </a:defRPr>
            </a:pPr>
            <a:r>
              <a:t>- Project scripts contain only the technical story and evidence</a:t>
            </a:r>
          </a:p>
          <a:p>
            <a:pPr>
              <a:spcAft>
                <a:spcPts val="700"/>
              </a:spcAft>
              <a:defRPr sz="1800">
                <a:solidFill>
                  <a:srgbClr val="191F1C"/>
                </a:solidFill>
                <a:latin typeface="Aptos"/>
              </a:defRPr>
            </a:pPr>
            <a:r>
              <a:t>- Speaker notes are generated together with the visible slide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062472"/>
            <a:ext cx="11109960" cy="393192"/>
          </a:xfrm>
          <a:prstGeom prst="rect">
            <a:avLst/>
          </a:prstGeom>
          <a:solidFill>
            <a:srgbClr val="F1F8F2"/>
          </a:solidFill>
          <a:ln>
            <a:solidFill>
              <a:srgbClr val="F1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7A43"/>
                </a:solidFill>
                <a:latin typeface="Aptos"/>
              </a:defRPr>
            </a:pPr>
            <a:r>
              <a:t>New projects reuse the visual system without copying an old project's implementation.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47104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50" b="0">
                <a:solidFill>
                  <a:srgbClr val="666C68"/>
                </a:solidFill>
                <a:latin typeface="Aptos"/>
              </a:defRPr>
            </a:pPr>
            <a:r>
              <a:t>Template: assets/presentation_templates/mst_green_16x9.pptx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700" b="0">
                <a:solidFill>
                  <a:srgbClr val="000000"/>
                </a:solidFill>
                <a:latin typeface="Times New Roman"/>
              </a:defRPr>
            </a:pPr>
            <a:r>
              <a:t>2. Equations are rendered once and reused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109728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50" b="1">
                <a:solidFill>
                  <a:srgbClr val="666C68"/>
                </a:solidFill>
                <a:latin typeface="Aptos"/>
              </a:defRPr>
            </a:pPr>
            <a:r>
              <a:t>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2B7A43"/>
                </a:solidFill>
                <a:latin typeface="Aptos"/>
              </a:defRPr>
            </a:pPr>
            <a:r>
              <a:t>First-order state equation</a:t>
            </a:r>
          </a:p>
        </p:txBody>
      </p:sp>
      <p:pic>
        <p:nvPicPr>
          <p:cNvPr id="5" name="Picture 4" descr="Equation: \frac{dG}{dt}=\frac{G_{\mathrm{target}}-G}{\ta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965" y="1508760"/>
            <a:ext cx="3483428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05156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2B7A43"/>
                </a:solidFill>
                <a:latin typeface="Aptos"/>
              </a:defRPr>
            </a:pPr>
            <a:r>
              <a:t>Closed-form response</a:t>
            </a:r>
          </a:p>
        </p:txBody>
      </p:sp>
      <p:pic>
        <p:nvPicPr>
          <p:cNvPr id="7" name="Picture 6" descr="Equation: G(t)=G_{\infty}+(G_0-G_{\infty})e^{-t/\ta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33710"/>
            <a:ext cx="5029200" cy="4644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2B7A43"/>
                </a:solidFill>
                <a:latin typeface="Aptos"/>
              </a:defRPr>
            </a:pPr>
            <a:r>
              <a:t>Current scaling</a:t>
            </a:r>
          </a:p>
        </p:txBody>
      </p:sp>
      <p:pic>
        <p:nvPicPr>
          <p:cNvPr id="9" name="Picture 8" descr="Equation: I_{\mathrm{PU}}=K_u\,I_{\mathrm{PU,full}}(V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29537"/>
            <a:ext cx="4754880" cy="5670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3063240"/>
            <a:ext cx="5074920" cy="1508760"/>
          </a:xfrm>
          <a:prstGeom prst="roundRect">
            <a:avLst/>
          </a:prstGeom>
          <a:solidFill>
            <a:srgbClr val="F6F8F7"/>
          </a:solidFill>
          <a:ln w="12700">
            <a:solidFill>
              <a:srgbClr val="A4A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73152" tIns="91440" bIns="73152"/>
          <a:lstStyle/>
          <a:p>
            <a:pPr algn="ctr">
              <a:defRPr sz="1150">
                <a:solidFill>
                  <a:srgbClr val="1E3027"/>
                </a:solidFill>
                <a:latin typeface="Consolas"/>
              </a:defRPr>
            </a:pPr>
            <a:r>
              <a:t>deck.add_equation(</a:t>
            </a:r>
            <a:br/>
            <a:r>
              <a:t>    slide,</a:t>
            </a:r>
            <a:br/>
            <a:r>
              <a:t>    r'\frac{dG}{dt}=\frac{G_{target}-G}{\tau}',</a:t>
            </a:r>
            <a:br/>
            <a:r>
              <a:t>    x=0.85, y=1.65, w=5.2, h=1.0,</a:t>
            </a:r>
            <a:br/>
            <a: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983480"/>
            <a:ext cx="5120640" cy="566928"/>
          </a:xfrm>
          <a:prstGeom prst="roundRect">
            <a:avLst/>
          </a:prstGeom>
          <a:solidFill>
            <a:srgbClr val="F1F8F2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Renderer used in this build: mathjax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062472"/>
            <a:ext cx="11109960" cy="393192"/>
          </a:xfrm>
          <a:prstGeom prst="rect">
            <a:avLst/>
          </a:prstGeom>
          <a:solidFill>
            <a:srgbClr val="F1F8F2"/>
          </a:solidFill>
          <a:ln>
            <a:solidFill>
              <a:srgbClr val="F1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7A43"/>
                </a:solidFill>
                <a:latin typeface="Aptos"/>
              </a:defRPr>
            </a:pPr>
            <a:r>
              <a:t>PowerPoint receives a finished equation image; it does no interactive equation typesetting.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47104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50" b="0">
                <a:solidFill>
                  <a:srgbClr val="666C68"/>
                </a:solidFill>
                <a:latin typeface="Aptos"/>
              </a:defRPr>
            </a:pPr>
            <a:r>
              <a:t>Equation cache: .codex_deps/presentation/equation_cache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700" b="0">
                <a:solidFill>
                  <a:srgbClr val="000000"/>
                </a:solidFill>
                <a:latin typeface="Times New Roman"/>
              </a:defRPr>
            </a:pPr>
            <a:r>
              <a:t>3. The API covers the recurring technical-slide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109728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50" b="1">
                <a:solidFill>
                  <a:srgbClr val="666C68"/>
                </a:solidFill>
                <a:latin typeface="Aptos"/>
              </a:defRPr>
            </a:pPr>
            <a:r>
              <a:t>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057400" cy="658368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Process box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7480" y="1563624"/>
            <a:ext cx="731520" cy="0"/>
          </a:xfrm>
          <a:prstGeom prst="line">
            <a:avLst/>
          </a:prstGeom>
          <a:ln w="27940">
            <a:solidFill>
              <a:srgbClr val="2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234440"/>
            <a:ext cx="2057400" cy="658368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91F1C"/>
                </a:solidFill>
                <a:latin typeface="Aptos"/>
              </a:defRPr>
            </a:pPr>
            <a:r>
              <a:t>Next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840480" cy="210312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1F1C"/>
                </a:solidFill>
                <a:latin typeface="Aptos"/>
              </a:defRPr>
            </a:pPr>
            <a:r>
              <a:t>- Bullets</a:t>
            </a:r>
          </a:p>
          <a:p>
            <a:pPr>
              <a:spcAft>
                <a:spcPts val="700"/>
              </a:spcAft>
              <a:defRPr sz="1700">
                <a:solidFill>
                  <a:srgbClr val="191F1C"/>
                </a:solidFill>
                <a:latin typeface="Aptos"/>
              </a:defRPr>
            </a:pPr>
            <a:r>
              <a:t>- Presenter notes</a:t>
            </a:r>
          </a:p>
          <a:p>
            <a:pPr>
              <a:spcAft>
                <a:spcPts val="700"/>
              </a:spcAft>
              <a:defRPr sz="1700">
                <a:solidFill>
                  <a:srgbClr val="191F1C"/>
                </a:solidFill>
                <a:latin typeface="Aptos"/>
              </a:defRPr>
            </a:pPr>
            <a:r>
              <a:t>- Source footers</a:t>
            </a:r>
          </a:p>
          <a:p>
            <a:pPr>
              <a:spcAft>
                <a:spcPts val="700"/>
              </a:spcAft>
              <a:defRPr sz="1700">
                <a:solidFill>
                  <a:srgbClr val="191F1C"/>
                </a:solidFill>
                <a:latin typeface="Aptos"/>
              </a:defRPr>
            </a:pPr>
            <a:r>
              <a:t>- Contained figures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423160"/>
            <a:ext cx="2926080" cy="1234440"/>
          </a:xfrm>
          <a:prstGeom prst="roundRect">
            <a:avLst/>
          </a:prstGeom>
          <a:solidFill>
            <a:srgbClr val="F6F8F7"/>
          </a:solidFill>
          <a:ln w="12700">
            <a:solidFill>
              <a:srgbClr val="A4A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73152" tIns="91440" bIns="73152"/>
          <a:lstStyle/>
          <a:p>
            <a:pPr algn="ctr">
              <a:defRPr sz="1300">
                <a:solidFill>
                  <a:srgbClr val="1E3027"/>
                </a:solidFill>
                <a:latin typeface="Consolas"/>
              </a:defRPr>
            </a:pPr>
            <a:r>
              <a:t>result = fit(data)</a:t>
            </a:r>
            <a:br/>
            <a:r>
              <a:t>assert result.pass_gate</a:t>
            </a:r>
            <a:br/>
            <a:r>
              <a:t>plot(result)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423160"/>
            <a:ext cx="1920240" cy="1234440"/>
          </a:xfrm>
          <a:prstGeom prst="roundRect">
            <a:avLst/>
          </a:prstGeom>
          <a:solidFill>
            <a:srgbClr val="E2F0E5"/>
          </a:solidFill>
          <a:ln w="15875">
            <a:solidFill>
              <a:srgbClr val="2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800" b="1">
                <a:solidFill>
                  <a:srgbClr val="191F1C"/>
                </a:solidFill>
                <a:latin typeface="Aptos"/>
              </a:defRPr>
            </a:pPr>
            <a:r>
              <a:t>Status</a:t>
            </a:r>
            <a:br/>
            <a: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251960"/>
            <a:ext cx="5669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191F1C"/>
                </a:solidFill>
                <a:latin typeface="Aptos"/>
              </a:defRPr>
            </a:pPr>
            <a:r>
              <a:t>The scientific plots remain generated by Matplotlib; the toolkit standardizes how they are framed and explained.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062472"/>
            <a:ext cx="11109960" cy="393192"/>
          </a:xfrm>
          <a:prstGeom prst="rect">
            <a:avLst/>
          </a:prstGeom>
          <a:solidFill>
            <a:srgbClr val="F1F8F2"/>
          </a:solidFill>
          <a:ln>
            <a:solidFill>
              <a:srgbClr val="F1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7A43"/>
                </a:solidFill>
                <a:latin typeface="Aptos"/>
              </a:defRPr>
            </a:pPr>
            <a:r>
              <a:t>Use the toolkit for narrative consistency and project scripts for domain-specific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547104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50" b="0">
                <a:solidFill>
                  <a:srgbClr val="666C68"/>
                </a:solidFill>
                <a:latin typeface="Aptos"/>
              </a:defRPr>
            </a:pPr>
            <a:r>
              <a:t>API: tools/presentation_kit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ST_EMC_lab_theme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ST_EMC_lab_theme" id="{F84A9E38-8E53-459B-962B-D11E178A4856}" vid="{AF41A44A-DCC1-4496-8938-47400BABA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1_MST_EMC_lab_theme</vt:lpstr>
      <vt:lpstr>IBIS Simulation in Ngspice</vt:lpstr>
      <vt:lpstr>"Replay Problem" for Short Pulse</vt:lpstr>
      <vt:lpstr>Why "Value-matched" Method Fails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Seonghi</dc:creator>
  <cp:revision>53</cp:revision>
  <dcterms:created xsi:type="dcterms:W3CDTF">2025-07-07T19:11:35Z</dcterms:created>
  <dcterms:modified xsi:type="dcterms:W3CDTF">2026-07-14T07:11:59Z</dcterms:modified>
</cp:coreProperties>
</file>