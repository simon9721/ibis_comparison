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56" r:id="rId2"/>
    <p:sldId id="257" r:id="rId4"/>
    <p:sldId id="258" r:id="rId3"/>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B8"/>
    <a:srgbClr val="FBFB00"/>
    <a:srgbClr val="FFFF29"/>
    <a:srgbClr val="C321CF"/>
    <a:srgbClr val="C52BA8"/>
    <a:srgbClr val="99CCFF"/>
    <a:srgbClr val="6699FF"/>
    <a:srgbClr val="FFCC99"/>
    <a:srgbClr val="33CCFF"/>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CE76EB-5733-E639-DFBE-C032C02CA049}" v="311" dt="2026-07-10T21:33:20.263"/>
    <p1510:client id="{4B2B0703-2C84-945A-F101-9A0363D83DEB}" v="2" dt="2026-07-10T16:42:58.3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2.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microsoft.com/office/2015/10/relationships/revisionInfo" Target="revisionInfo.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FF5152-AD57-4057-A738-BC536A645BFF}" type="datetimeFigureOut">
              <a:rPr lang="en-US" smtClean="0"/>
              <a:t>7/14/2026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FBD6F9-9B61-4F1F-A828-501CEB5BCFB1}" type="slidenum">
              <a:rPr lang="en-US" smtClean="0"/>
              <a:t>‹#›</a:t>
            </a:fld>
            <a:endParaRPr lang="en-US"/>
          </a:p>
        </p:txBody>
      </p:sp>
    </p:spTree>
    <p:extLst>
      <p:ext uri="{BB962C8B-B14F-4D97-AF65-F5344CB8AC3E}">
        <p14:creationId xmlns:p14="http://schemas.microsoft.com/office/powerpoint/2010/main" val="650944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This deck transcribes the handwritten IBIS Ku/Kd notes into a structured explanation. The central idea is to replace elapsed-time table position with two continuous stored states: GUP for pullup drive and GDN for pulldown drive.</a:t>
            </a:r>
            <a:endParaRPr lang="ko-KR" altLang="en-US"/>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12E5D0-9393-4591-81EA-D49C04BB4842}"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34" charset="-127"/>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ko-KR" altLang="en-US" sz="1200" b="0" i="0" u="none" strike="noStrike" kern="1200" cap="none" spc="0" normalizeH="0" baseline="0" noProof="0">
              <a:ln>
                <a:noFill/>
              </a:ln>
              <a:solidFill>
                <a:prstClr val="black"/>
              </a:solidFill>
              <a:effectLst/>
              <a:uLnTx/>
              <a:uFillTx/>
              <a:latin typeface="맑은 고딕" panose="02110004020202020204"/>
              <a:ea typeface="맑은 고딕" panose="020B0503020000020004" pitchFamily="34" charset="-127"/>
              <a:cs typeface="+mn-cs"/>
            </a:endParaRPr>
          </a:p>
        </p:txBody>
      </p:sp>
    </p:spTree>
    <p:extLst>
      <p:ext uri="{BB962C8B-B14F-4D97-AF65-F5344CB8AC3E}">
        <p14:creationId xmlns:p14="http://schemas.microsoft.com/office/powerpoint/2010/main" val="1119779915"/>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legacy model detects an edge and replays a complete Ku/Kd transition table from its beginning. If the input reverses before that table finishes, switching to the opposite table at t=0 can assign a different coefficient immediately. The red conceptual curve shows this reset. The green curve shows the behavior we want: preserve the current state and only reverse its direction of motion.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handwritten circuit uses an RC node as memory. The target is either zero or one. The capacitor voltage cannot jump, so it records how far the transition has progressed. In the generated model this stored voltage is called GUP or GDN rather than Vc.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Defining tau as RC gives the first-order state equation. The closed-form solution starts from the state value G0 present when the command changes. This initial value is why the model can reverse from the middle rather than restart at an endpoint.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normalized first-order rising response, one tau reaches 63.2 percent of the total change. For a falling response, one tau leaves 36.8 percent. The handwritten derivation uses the time where the normalized original Ku/Kd transition reaches this level.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Pullup and pulldown do not have to be symmetric. An input rise turns the pullup on and turns the pulldown off. An input fall turns the pullup off and the pulldown on. Each path therefore gets its own tau, extracted from the corresponding original coefficient table.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every sample in an original Ku or Kd table, reconstruct the gate-state value that would exist at the same time using the fitted tau. Pair that gate-state value with the original coefficient. The resulting point cloud becomes a PWL function K=f(G). The original coefficient information is preserved; only its independent variable changes from elapsed time to stored state.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the top row happens once while generating the pybis SPICE model: extract coefficient tables, fit four taus, build the PWL state maps, and write the netlist. During simulation, the actual pulse history drives the targets. Ngspice integrates GUP and GDN and evaluates the precomputed maps at each timestep.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Starting from stable low, GUP is zero and GDN is one. A rising command eventually changes the targets to one and zero. The states then move continuously with PU-on and PD-off time constants. Ku and Kd are read from the corresponding directional maps.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Suppose the input falls before the rising transition settles. At the reverse edge, the targets flip and the model selects PU-off and PD-on taus. GUP and GDN themselves remain exactly at the values accumulated up to that instant. Their derivatives reverse sign, which creates a corner in slope but no jump in state. The coefficients remain continuous if the directional maps agree at the switching state.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cached ngspice data from the real io_buf short_pulse_1ns_high case using the two_state_directional_residual model. The input rises near 5 ns and reverses near 6 ns. GUP and GDN are actual internal capacitor voltages. Each reaches its own turning point without a vertical jump. This slide focuses only on continuity and does not introduce additional timing mechanisms beyond the handwritten derivation.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upper mapped waveform compares GUP with the direct pullup map output Ku(GUP). The lower waveform compares GDN with Kd(GDN). These are actual runtime signals, not analytic sketches. GUP and GDN are continuous, but selecting between directional maps creates sharp changes in the direct mapped coefficients: about -0.063 in Ku(GUP) and +0.069 in Kd(GDN) at their largest adjacent-sample changes. The final Ku/Kd state nodes smooth these changes, but this figure shows that the directional maps themselves still need alignment.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capacitor is the memory element. The behavioral current source produces the first-order derivative. With a one-picofarad numerical capacitor, ngspice integrates the state at every timestep. The sign shown follows the current orientation of the generated behavioral source. R_eff is implicit because tau divided by C is the equivalent resistance.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GUP and GDN are hidden drive states, not replacements for Ku and Kd. The precomputed PWL maps convert gate state into the effective coefficients. Those coefficients retain their original IBIS role: scaling the full pullup and pulldown current-voltage tables.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complete conceptual chain in the notes. It explains how to eliminate elapsed-time restart while continuing to use the original Ku/Kd information. It does not by itself prove that one first-order state per network reproduces every interrupted transition. That must be checked against normal-table reconstruction, short pulses, and transistor-level pad behavior.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restores the explicit next-step list from page three of the handwritten notes. The first item asks whether the capacitor state should have a narrower role: track only the correct mid-transition starting point, then let the original coefficient tables handle the rest. The remaining items call for investigating the unusual HSPICE behavior, checking termination capacitance sensitivity over roughly 1 fF to 10 pF, creating a transistor buffer in ADS, and consulting Jianchuan about the inverter model.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three original handwritten pages used for this deck. They are included so the transcription and notation can be checked directly.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4" name="Picture 18" descr="new_logo_final"/>
          <p:cNvPicPr>
            <a:picLocks noChangeAspect="1" noChangeArrowheads="1"/>
          </p:cNvPicPr>
          <p:nvPr/>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0" y="457200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7" descr="new_logo_final"/>
          <p:cNvPicPr>
            <a:picLocks noChangeAspect="1" noChangeArrowheads="1"/>
          </p:cNvPicPr>
          <p:nvPr/>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0" y="228600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6" descr="new_logo_final"/>
          <p:cNvPicPr>
            <a:picLocks noChangeAspect="1" noChangeArrowheads="1"/>
          </p:cNvPicPr>
          <p:nvPr/>
        </p:nvPicPr>
        <p:blipFill>
          <a:blip r:embed="rId3" cstate="print">
            <a:lum bright="70000" contrast="-70000"/>
            <a:extLst>
              <a:ext uri="{28A0092B-C50C-407E-A947-70E740481C1C}">
                <a14:useLocalDpi xmlns:a14="http://schemas.microsoft.com/office/drawing/2010/main" val="0"/>
              </a:ext>
            </a:extLst>
          </a:blip>
          <a:srcRect/>
          <a:stretch>
            <a:fillRect/>
          </a:stretch>
        </p:blipFill>
        <p:spPr bwMode="auto">
          <a:xfrm>
            <a:off x="0" y="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11"/>
          <p:cNvSpPr>
            <a:spLocks noChangeArrowheads="1"/>
          </p:cNvSpPr>
          <p:nvPr/>
        </p:nvSpPr>
        <p:spPr bwMode="auto">
          <a:xfrm>
            <a:off x="609600" y="2971800"/>
            <a:ext cx="10871200" cy="152400"/>
          </a:xfrm>
          <a:prstGeom prst="rect">
            <a:avLst/>
          </a:prstGeom>
          <a:gradFill rotWithShape="1">
            <a:gsLst>
              <a:gs pos="0">
                <a:srgbClr val="287F3D"/>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a:solidFill>
                <a:srgbClr val="000000"/>
              </a:solidFill>
            </a:endParaRPr>
          </a:p>
        </p:txBody>
      </p:sp>
      <p:sp>
        <p:nvSpPr>
          <p:cNvPr id="33794" name="Rectangle 2"/>
          <p:cNvSpPr>
            <a:spLocks noGrp="1" noChangeArrowheads="1"/>
          </p:cNvSpPr>
          <p:nvPr>
            <p:ph type="ctrTitle"/>
          </p:nvPr>
        </p:nvSpPr>
        <p:spPr>
          <a:xfrm>
            <a:off x="914400" y="1057275"/>
            <a:ext cx="10363200" cy="1828800"/>
          </a:xfrm>
        </p:spPr>
        <p:txBody>
          <a:bodyPr anchor="ctr"/>
          <a:lstStyle>
            <a:lvl1pPr algn="ctr">
              <a:defRPr sz="4400"/>
            </a:lvl1pPr>
          </a:lstStyle>
          <a:p>
            <a:r>
              <a:rPr lang="ko-KR" altLang="en-US"/>
              <a:t>마스터 제목 스타일 편집</a:t>
            </a:r>
            <a:endParaRPr lang="en-US" altLang="zh-CN"/>
          </a:p>
        </p:txBody>
      </p:sp>
      <p:sp>
        <p:nvSpPr>
          <p:cNvPr id="33795" name="Rectangle 3"/>
          <p:cNvSpPr>
            <a:spLocks noGrp="1" noChangeArrowheads="1"/>
          </p:cNvSpPr>
          <p:nvPr>
            <p:ph type="subTitle" idx="1"/>
          </p:nvPr>
        </p:nvSpPr>
        <p:spPr>
          <a:xfrm>
            <a:off x="1828800" y="3657600"/>
            <a:ext cx="8534400" cy="1981200"/>
          </a:xfrm>
        </p:spPr>
        <p:txBody>
          <a:bodyPr/>
          <a:lstStyle>
            <a:lvl1pPr marL="0" indent="0" algn="ctr">
              <a:buFont typeface="Times New Roman" pitchFamily="18" charset="0"/>
              <a:buNone/>
              <a:defRPr sz="2800"/>
            </a:lvl1pPr>
          </a:lstStyle>
          <a:p>
            <a:r>
              <a:rPr lang="ko-KR" altLang="en-US"/>
              <a:t>클릭하여 마스터 부제목 스타일 편집</a:t>
            </a:r>
            <a:endParaRPr lang="en-US" altLang="zh-CN"/>
          </a:p>
        </p:txBody>
      </p:sp>
      <p:sp>
        <p:nvSpPr>
          <p:cNvPr id="2" name="Oval 1">
            <a:extLst>
              <a:ext uri="{FF2B5EF4-FFF2-40B4-BE49-F238E27FC236}">
                <a16:creationId xmlns:a16="http://schemas.microsoft.com/office/drawing/2014/main" id="{1185D946-0A64-0C7F-AA63-488808319B35}"/>
              </a:ext>
            </a:extLst>
          </p:cNvPr>
          <p:cNvSpPr/>
          <p:nvPr/>
        </p:nvSpPr>
        <p:spPr>
          <a:xfrm>
            <a:off x="11381117" y="6288658"/>
            <a:ext cx="684363" cy="483079"/>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Tree>
    <p:extLst>
      <p:ext uri="{BB962C8B-B14F-4D97-AF65-F5344CB8AC3E}">
        <p14:creationId xmlns:p14="http://schemas.microsoft.com/office/powerpoint/2010/main" val="420371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_1">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4" name="Content Placeholder 2">
            <a:extLst>
              <a:ext uri="{FF2B5EF4-FFF2-40B4-BE49-F238E27FC236}">
                <a16:creationId xmlns:a16="http://schemas.microsoft.com/office/drawing/2014/main" id="{38C6936E-D099-1BE8-8BB3-AAFCF768FD35}"/>
              </a:ext>
            </a:extLst>
          </p:cNvPr>
          <p:cNvSpPr>
            <a:spLocks noGrp="1"/>
          </p:cNvSpPr>
          <p:nvPr>
            <p:ph idx="10"/>
          </p:nvPr>
        </p:nvSpPr>
        <p:spPr>
          <a:xfrm>
            <a:off x="304800" y="1038225"/>
            <a:ext cx="11277600" cy="5438775"/>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a:p>
            <a:pPr lvl="1"/>
            <a:r>
              <a:rPr lang="ko-KR" altLang="en-US"/>
              <a:t>두 번째 수준</a:t>
            </a:r>
            <a:endParaRPr lang="en-US" altLang="ko-KR"/>
          </a:p>
          <a:p>
            <a:pPr lvl="2"/>
            <a:r>
              <a:rPr lang="ko-KR" altLang="en-US"/>
              <a:t>세 번째 수준</a:t>
            </a:r>
          </a:p>
        </p:txBody>
      </p:sp>
    </p:spTree>
    <p:extLst>
      <p:ext uri="{BB962C8B-B14F-4D97-AF65-F5344CB8AC3E}">
        <p14:creationId xmlns:p14="http://schemas.microsoft.com/office/powerpoint/2010/main" val="11220102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2">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6" name="Content Placeholder 2">
            <a:extLst>
              <a:ext uri="{FF2B5EF4-FFF2-40B4-BE49-F238E27FC236}">
                <a16:creationId xmlns:a16="http://schemas.microsoft.com/office/drawing/2014/main" id="{AAA6B0B8-599D-92DF-18BE-0154789C5094}"/>
              </a:ext>
            </a:extLst>
          </p:cNvPr>
          <p:cNvSpPr>
            <a:spLocks noGrp="1"/>
          </p:cNvSpPr>
          <p:nvPr>
            <p:ph idx="1"/>
          </p:nvPr>
        </p:nvSpPr>
        <p:spPr>
          <a:xfrm>
            <a:off x="304800" y="5279366"/>
            <a:ext cx="11277600" cy="1197634"/>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a:p>
            <a:pPr lvl="1"/>
            <a:r>
              <a:rPr lang="ko-KR" altLang="en-US"/>
              <a:t>두 번째 수준</a:t>
            </a:r>
            <a:endParaRPr lang="en-US" altLang="ko-KR"/>
          </a:p>
          <a:p>
            <a:pPr lvl="2"/>
            <a:r>
              <a:rPr lang="ko-KR" altLang="en-US"/>
              <a:t>세 번째 수준</a:t>
            </a:r>
          </a:p>
        </p:txBody>
      </p:sp>
    </p:spTree>
    <p:extLst>
      <p:ext uri="{BB962C8B-B14F-4D97-AF65-F5344CB8AC3E}">
        <p14:creationId xmlns:p14="http://schemas.microsoft.com/office/powerpoint/2010/main" val="3049719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content_2">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6" name="Content Placeholder 2">
            <a:extLst>
              <a:ext uri="{FF2B5EF4-FFF2-40B4-BE49-F238E27FC236}">
                <a16:creationId xmlns:a16="http://schemas.microsoft.com/office/drawing/2014/main" id="{AAA6B0B8-599D-92DF-18BE-0154789C5094}"/>
              </a:ext>
            </a:extLst>
          </p:cNvPr>
          <p:cNvSpPr>
            <a:spLocks noGrp="1"/>
          </p:cNvSpPr>
          <p:nvPr>
            <p:ph idx="1" hasCustomPrompt="1"/>
          </p:nvPr>
        </p:nvSpPr>
        <p:spPr>
          <a:xfrm>
            <a:off x="304800" y="5279366"/>
            <a:ext cx="11277600" cy="1197634"/>
          </a:xfrm>
        </p:spPr>
        <p:txBody>
          <a:bodyPr/>
          <a:lstStyle>
            <a:lvl1pPr marL="432000" indent="-432000">
              <a:spcBef>
                <a:spcPts val="0"/>
              </a:spcBef>
              <a:spcAft>
                <a:spcPts val="600"/>
              </a:spcAft>
              <a:buClrTx/>
              <a:buSzPct val="100000"/>
              <a:buFont typeface="Wingdings" panose="05000000000000000000" pitchFamily="2" charset="2"/>
              <a:buChar char="§"/>
              <a:defRPr sz="2000"/>
            </a:lvl1pPr>
            <a:lvl2pPr marL="720000" indent="-252000">
              <a:spcBef>
                <a:spcPts val="0"/>
              </a:spcBef>
              <a:spcAft>
                <a:spcPts val="600"/>
              </a:spcAft>
              <a:buClrTx/>
              <a:buSzPct val="100000"/>
              <a:buFont typeface="Arial" panose="020B0604020202020204" pitchFamily="34" charset="0"/>
              <a:buChar char="•"/>
              <a:defRPr lang="ko-KR" altLang="en-US" sz="18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두 번째 수준</a:t>
            </a:r>
            <a:endParaRPr lang="en-US" altLang="ko-KR"/>
          </a:p>
          <a:p>
            <a:pPr lvl="1"/>
            <a:r>
              <a:rPr lang="ko-KR" altLang="en-US"/>
              <a:t>세 번째 수준</a:t>
            </a:r>
          </a:p>
        </p:txBody>
      </p:sp>
      <p:sp>
        <p:nvSpPr>
          <p:cNvPr id="3" name="Content Placeholder 2">
            <a:extLst>
              <a:ext uri="{FF2B5EF4-FFF2-40B4-BE49-F238E27FC236}">
                <a16:creationId xmlns:a16="http://schemas.microsoft.com/office/drawing/2014/main" id="{7287424F-3297-D95B-C851-77D5FA265A69}"/>
              </a:ext>
            </a:extLst>
          </p:cNvPr>
          <p:cNvSpPr>
            <a:spLocks noGrp="1"/>
          </p:cNvSpPr>
          <p:nvPr>
            <p:ph idx="10"/>
          </p:nvPr>
        </p:nvSpPr>
        <p:spPr>
          <a:xfrm>
            <a:off x="304800" y="964541"/>
            <a:ext cx="11277600" cy="445159"/>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p:txBody>
      </p:sp>
    </p:spTree>
    <p:extLst>
      <p:ext uri="{BB962C8B-B14F-4D97-AF65-F5344CB8AC3E}">
        <p14:creationId xmlns:p14="http://schemas.microsoft.com/office/powerpoint/2010/main" val="1270269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content_4">
    <p:spTree>
      <p:nvGrpSpPr>
        <p:cNvPr id="1" name=""/>
        <p:cNvGrpSpPr/>
        <p:nvPr/>
      </p:nvGrpSpPr>
      <p:grpSpPr>
        <a:xfrm>
          <a:off x="0" y="0"/>
          <a:ext cx="0" cy="0"/>
          <a:chOff x="0" y="0"/>
          <a:chExt cx="0" cy="0"/>
        </a:xfrm>
      </p:grpSpPr>
      <p:sp>
        <p:nvSpPr>
          <p:cNvPr id="2" name="Title 1"/>
          <p:cNvSpPr>
            <a:spLocks noGrp="1"/>
          </p:cNvSpPr>
          <p:nvPr>
            <p:ph type="title"/>
          </p:nvPr>
        </p:nvSpPr>
        <p:spPr>
          <a:xfrm>
            <a:off x="310551" y="0"/>
            <a:ext cx="11024559" cy="762000"/>
          </a:xfrm>
        </p:spPr>
        <p:txBody>
          <a:bodyPr/>
          <a:lstStyle>
            <a:lvl1pPr>
              <a:defRPr sz="3200"/>
            </a:lvl1pPr>
          </a:lstStyle>
          <a:p>
            <a:r>
              <a:rPr lang="ko-KR" altLang="en-US"/>
              <a:t>마스터 제목 스타일 편집</a:t>
            </a:r>
            <a:endParaRPr lang="en-US"/>
          </a:p>
        </p:txBody>
      </p:sp>
    </p:spTree>
    <p:extLst>
      <p:ext uri="{BB962C8B-B14F-4D97-AF65-F5344CB8AC3E}">
        <p14:creationId xmlns:p14="http://schemas.microsoft.com/office/powerpoint/2010/main" val="3227596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t_4">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A3150C2-20D0-A45F-5462-61690D256719}"/>
              </a:ext>
            </a:extLst>
          </p:cNvPr>
          <p:cNvSpPr>
            <a:spLocks noGrp="1"/>
          </p:cNvSpPr>
          <p:nvPr>
            <p:ph sz="quarter" idx="10"/>
          </p:nvPr>
        </p:nvSpPr>
        <p:spPr>
          <a:xfrm>
            <a:off x="3551239" y="4124506"/>
            <a:ext cx="5089525" cy="507881"/>
          </a:xfrm>
        </p:spPr>
        <p:txBody>
          <a:bodyPr/>
          <a:lstStyle>
            <a:lvl1pPr marL="0" indent="0" algn="ctr">
              <a:buNone/>
              <a:defRPr sz="2100"/>
            </a:lvl1pPr>
          </a:lstStyle>
          <a:p>
            <a:pPr lvl="0"/>
            <a:r>
              <a:rPr lang="ko-KR" altLang="en-US"/>
              <a:t>마스터 텍스트 스타일을 편집하려면 클릭</a:t>
            </a:r>
          </a:p>
        </p:txBody>
      </p:sp>
      <p:sp>
        <p:nvSpPr>
          <p:cNvPr id="6" name="TextBox 5">
            <a:extLst>
              <a:ext uri="{FF2B5EF4-FFF2-40B4-BE49-F238E27FC236}">
                <a16:creationId xmlns:a16="http://schemas.microsoft.com/office/drawing/2014/main" id="{D28ADDEF-87C0-B90A-6505-6A3A384B7EE8}"/>
              </a:ext>
            </a:extLst>
          </p:cNvPr>
          <p:cNvSpPr txBox="1"/>
          <p:nvPr/>
        </p:nvSpPr>
        <p:spPr>
          <a:xfrm>
            <a:off x="3623209" y="2313750"/>
            <a:ext cx="4945585" cy="1419619"/>
          </a:xfrm>
          <a:prstGeom prst="rect">
            <a:avLst/>
          </a:prstGeom>
          <a:noFill/>
        </p:spPr>
        <p:txBody>
          <a:bodyPr wrap="none" rtlCol="0" anchor="ctr">
            <a:spAutoFit/>
          </a:bodyPr>
          <a:lstStyle/>
          <a:p>
            <a:pPr algn="ctr"/>
            <a:r>
              <a:rPr lang="en-US" altLang="zh-CN" sz="8625"/>
              <a:t>Thank you</a:t>
            </a:r>
            <a:endParaRPr lang="ko-KR" altLang="en-US" sz="8625"/>
          </a:p>
        </p:txBody>
      </p:sp>
    </p:spTree>
    <p:extLst>
      <p:ext uri="{BB962C8B-B14F-4D97-AF65-F5344CB8AC3E}">
        <p14:creationId xmlns:p14="http://schemas.microsoft.com/office/powerpoint/2010/main" val="194193463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4800" y="0"/>
            <a:ext cx="1127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endParaRPr lang="en-US" altLang="zh-CN"/>
          </a:p>
        </p:txBody>
      </p:sp>
      <p:sp>
        <p:nvSpPr>
          <p:cNvPr id="1027" name="Rectangle 3"/>
          <p:cNvSpPr>
            <a:spLocks noGrp="1" noChangeArrowheads="1"/>
          </p:cNvSpPr>
          <p:nvPr>
            <p:ph type="body" idx="1"/>
          </p:nvPr>
        </p:nvSpPr>
        <p:spPr bwMode="auto">
          <a:xfrm>
            <a:off x="304800" y="914400"/>
            <a:ext cx="112776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p:txBody>
      </p:sp>
      <p:sp>
        <p:nvSpPr>
          <p:cNvPr id="32773"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750">
                <a:latin typeface="Verdana" pitchFamily="34" charset="0"/>
                <a:ea typeface="宋体" pitchFamily="2" charset="-122"/>
              </a:defRPr>
            </a:lvl1pPr>
          </a:lstStyle>
          <a:p>
            <a:endParaRPr lang="ko-KR" altLang="en-US"/>
          </a:p>
        </p:txBody>
      </p:sp>
      <p:sp>
        <p:nvSpPr>
          <p:cNvPr id="1030" name="Rectangle 12"/>
          <p:cNvSpPr>
            <a:spLocks noChangeArrowheads="1"/>
          </p:cNvSpPr>
          <p:nvPr/>
        </p:nvSpPr>
        <p:spPr bwMode="auto">
          <a:xfrm>
            <a:off x="304800" y="762000"/>
            <a:ext cx="10058400" cy="152400"/>
          </a:xfrm>
          <a:prstGeom prst="rect">
            <a:avLst/>
          </a:prstGeom>
          <a:gradFill rotWithShape="0">
            <a:gsLst>
              <a:gs pos="0">
                <a:srgbClr val="297F3D">
                  <a:alpha val="99001"/>
                </a:srgbClr>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a:solidFill>
                <a:srgbClr val="000000"/>
              </a:solidFill>
            </a:endParaRPr>
          </a:p>
        </p:txBody>
      </p:sp>
      <p:sp>
        <p:nvSpPr>
          <p:cNvPr id="3" name="TextBox 2">
            <a:extLst>
              <a:ext uri="{FF2B5EF4-FFF2-40B4-BE49-F238E27FC236}">
                <a16:creationId xmlns:a16="http://schemas.microsoft.com/office/drawing/2014/main" id="{047E8E0A-D232-4C57-7AD9-EBC41A1AA7E2}"/>
              </a:ext>
            </a:extLst>
          </p:cNvPr>
          <p:cNvSpPr txBox="1"/>
          <p:nvPr/>
        </p:nvSpPr>
        <p:spPr>
          <a:xfrm>
            <a:off x="11582400" y="6373649"/>
            <a:ext cx="386644" cy="300082"/>
          </a:xfrm>
          <a:prstGeom prst="rect">
            <a:avLst/>
          </a:prstGeom>
          <a:noFill/>
        </p:spPr>
        <p:txBody>
          <a:bodyPr wrap="none" rtlCol="0">
            <a:spAutoFit/>
          </a:bodyPr>
          <a:lstStyle/>
          <a:p>
            <a:fld id="{B6F15528-21DE-4FAA-801E-634DDDAF4B2B}" type="slidenum">
              <a:rPr lang="en-US" altLang="ko-KR" sz="1350" smtClean="0">
                <a:solidFill>
                  <a:srgbClr val="000000"/>
                </a:solidFill>
              </a:rPr>
              <a:pPr/>
              <a:t>‹#›</a:t>
            </a:fld>
            <a:endParaRPr lang="ko-KR" altLang="en-US" sz="1350"/>
          </a:p>
        </p:txBody>
      </p:sp>
    </p:spTree>
    <p:extLst>
      <p:ext uri="{BB962C8B-B14F-4D97-AF65-F5344CB8AC3E}">
        <p14:creationId xmlns:p14="http://schemas.microsoft.com/office/powerpoint/2010/main" val="6314961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rtl="0" eaLnBrk="1" fontAlgn="base" latinLnBrk="1" hangingPunct="1">
        <a:spcBef>
          <a:spcPct val="0"/>
        </a:spcBef>
        <a:spcAft>
          <a:spcPct val="0"/>
        </a:spcAft>
        <a:defRPr sz="2800">
          <a:solidFill>
            <a:schemeClr val="tx1"/>
          </a:solidFill>
          <a:latin typeface="+mj-lt"/>
          <a:ea typeface="+mj-ea"/>
          <a:cs typeface="+mj-cs"/>
        </a:defRPr>
      </a:lvl1pPr>
      <a:lvl2pPr algn="l" rtl="0" eaLnBrk="1" fontAlgn="base" latinLnBrk="1" hangingPunct="1">
        <a:spcBef>
          <a:spcPct val="0"/>
        </a:spcBef>
        <a:spcAft>
          <a:spcPct val="0"/>
        </a:spcAft>
        <a:defRPr sz="2400">
          <a:solidFill>
            <a:schemeClr val="tx1"/>
          </a:solidFill>
          <a:latin typeface="Times New Roman" pitchFamily="18" charset="0"/>
          <a:cs typeface="Arial" charset="0"/>
        </a:defRPr>
      </a:lvl2pPr>
      <a:lvl3pPr algn="l" rtl="0" eaLnBrk="1" fontAlgn="base" latinLnBrk="1" hangingPunct="1">
        <a:spcBef>
          <a:spcPct val="0"/>
        </a:spcBef>
        <a:spcAft>
          <a:spcPct val="0"/>
        </a:spcAft>
        <a:defRPr sz="2400">
          <a:solidFill>
            <a:schemeClr val="tx1"/>
          </a:solidFill>
          <a:latin typeface="Times New Roman" pitchFamily="18" charset="0"/>
          <a:cs typeface="Arial" charset="0"/>
        </a:defRPr>
      </a:lvl3pPr>
      <a:lvl4pPr algn="l" rtl="0" eaLnBrk="1" fontAlgn="base" latinLnBrk="1" hangingPunct="1">
        <a:spcBef>
          <a:spcPct val="0"/>
        </a:spcBef>
        <a:spcAft>
          <a:spcPct val="0"/>
        </a:spcAft>
        <a:defRPr sz="2400">
          <a:solidFill>
            <a:schemeClr val="tx1"/>
          </a:solidFill>
          <a:latin typeface="Times New Roman" pitchFamily="18" charset="0"/>
          <a:cs typeface="Arial" charset="0"/>
        </a:defRPr>
      </a:lvl4pPr>
      <a:lvl5pPr algn="l" rtl="0" eaLnBrk="1" fontAlgn="base" latinLnBrk="1" hangingPunct="1">
        <a:spcBef>
          <a:spcPct val="0"/>
        </a:spcBef>
        <a:spcAft>
          <a:spcPct val="0"/>
        </a:spcAft>
        <a:defRPr sz="2400">
          <a:solidFill>
            <a:schemeClr val="tx1"/>
          </a:solidFill>
          <a:latin typeface="Times New Roman" pitchFamily="18" charset="0"/>
          <a:cs typeface="Arial" charset="0"/>
        </a:defRPr>
      </a:lvl5pPr>
      <a:lvl6pPr marL="342900" algn="l" rtl="0" eaLnBrk="1" fontAlgn="base" latinLnBrk="1" hangingPunct="1">
        <a:spcBef>
          <a:spcPct val="0"/>
        </a:spcBef>
        <a:spcAft>
          <a:spcPct val="0"/>
        </a:spcAft>
        <a:defRPr sz="2400">
          <a:solidFill>
            <a:schemeClr val="tx1"/>
          </a:solidFill>
          <a:latin typeface="Times New Roman" pitchFamily="18" charset="0"/>
          <a:cs typeface="Arial" charset="0"/>
        </a:defRPr>
      </a:lvl6pPr>
      <a:lvl7pPr marL="685800" algn="l" rtl="0" eaLnBrk="1" fontAlgn="base" latinLnBrk="1" hangingPunct="1">
        <a:spcBef>
          <a:spcPct val="0"/>
        </a:spcBef>
        <a:spcAft>
          <a:spcPct val="0"/>
        </a:spcAft>
        <a:defRPr sz="2400">
          <a:solidFill>
            <a:schemeClr val="tx1"/>
          </a:solidFill>
          <a:latin typeface="Times New Roman" pitchFamily="18" charset="0"/>
          <a:cs typeface="Arial" charset="0"/>
        </a:defRPr>
      </a:lvl7pPr>
      <a:lvl8pPr marL="1028700" algn="l" rtl="0" eaLnBrk="1" fontAlgn="base" latinLnBrk="1" hangingPunct="1">
        <a:spcBef>
          <a:spcPct val="0"/>
        </a:spcBef>
        <a:spcAft>
          <a:spcPct val="0"/>
        </a:spcAft>
        <a:defRPr sz="2400">
          <a:solidFill>
            <a:schemeClr val="tx1"/>
          </a:solidFill>
          <a:latin typeface="Times New Roman" pitchFamily="18" charset="0"/>
          <a:cs typeface="Arial" charset="0"/>
        </a:defRPr>
      </a:lvl8pPr>
      <a:lvl9pPr marL="1371600" algn="l" rtl="0" eaLnBrk="1" fontAlgn="base" latinLnBrk="1" hangingPunct="1">
        <a:spcBef>
          <a:spcPct val="0"/>
        </a:spcBef>
        <a:spcAft>
          <a:spcPct val="0"/>
        </a:spcAft>
        <a:defRPr sz="2400">
          <a:solidFill>
            <a:schemeClr val="tx1"/>
          </a:solidFill>
          <a:latin typeface="Times New Roman" pitchFamily="18" charset="0"/>
          <a:cs typeface="Arial" charset="0"/>
        </a:defRPr>
      </a:lvl9pPr>
    </p:titleStyle>
    <p:bodyStyle>
      <a:lvl1pPr marL="257175" indent="-257175" algn="l" rtl="0" eaLnBrk="1" fontAlgn="base" latinLnBrk="1" hangingPunct="1">
        <a:spcBef>
          <a:spcPts val="0"/>
        </a:spcBef>
        <a:spcAft>
          <a:spcPts val="450"/>
        </a:spcAft>
        <a:buClr>
          <a:schemeClr val="tx1"/>
        </a:buClr>
        <a:buSzPct val="75000"/>
        <a:buFont typeface="Times New Roman" pitchFamily="18" charset="0"/>
        <a:buChar char="●"/>
        <a:defRPr sz="1800">
          <a:solidFill>
            <a:schemeClr val="tx1"/>
          </a:solidFill>
          <a:latin typeface="+mn-lt"/>
          <a:ea typeface="+mn-ea"/>
          <a:cs typeface="+mn-cs"/>
        </a:defRPr>
      </a:lvl1pPr>
      <a:lvl2pPr marL="480060" indent="-205740" algn="l" rtl="0" eaLnBrk="1" fontAlgn="base" latinLnBrk="1" hangingPunct="1">
        <a:spcBef>
          <a:spcPts val="0"/>
        </a:spcBef>
        <a:spcAft>
          <a:spcPts val="450"/>
        </a:spcAft>
        <a:buClrTx/>
        <a:buSzPct val="75000"/>
        <a:buFont typeface="Arial" charset="0"/>
        <a:buChar char="–"/>
        <a:defRPr lang="en-US" altLang="zh-CN" sz="1650" dirty="0" smtClean="0">
          <a:solidFill>
            <a:schemeClr val="tx1"/>
          </a:solidFill>
          <a:latin typeface="+mn-lt"/>
          <a:cs typeface="+mn-cs"/>
        </a:defRPr>
      </a:lvl2pPr>
      <a:lvl3pPr marL="754380" indent="-205740" algn="l" rtl="0" eaLnBrk="1" fontAlgn="base" latinLnBrk="1" hangingPunct="1">
        <a:spcBef>
          <a:spcPts val="0"/>
        </a:spcBef>
        <a:spcAft>
          <a:spcPts val="450"/>
        </a:spcAft>
        <a:buClrTx/>
        <a:buSzPct val="65000"/>
        <a:buFont typeface="Wingdings" pitchFamily="2" charset="2"/>
        <a:buChar char="§"/>
        <a:defRPr lang="en-US" altLang="zh-CN" sz="1500" dirty="0">
          <a:solidFill>
            <a:schemeClr val="tx1"/>
          </a:solidFill>
          <a:latin typeface="+mn-lt"/>
          <a:cs typeface="+mn-cs"/>
        </a:defRPr>
      </a:lvl3pPr>
      <a:lvl4pPr marL="1200150" indent="-171450" algn="l" rtl="0" eaLnBrk="1" fontAlgn="base" latinLnBrk="1" hangingPunct="1">
        <a:spcBef>
          <a:spcPct val="20000"/>
        </a:spcBef>
        <a:spcAft>
          <a:spcPct val="0"/>
        </a:spcAft>
        <a:buClr>
          <a:schemeClr val="bg2"/>
        </a:buClr>
        <a:buFont typeface="Arial" panose="020B0604020202020204" pitchFamily="34" charset="0"/>
        <a:buChar char="•"/>
        <a:defRPr sz="1200">
          <a:solidFill>
            <a:schemeClr val="tx1"/>
          </a:solidFill>
          <a:latin typeface="+mn-lt"/>
          <a:cs typeface="+mn-cs"/>
        </a:defRPr>
      </a:lvl4pPr>
      <a:lvl5pPr marL="1543050" indent="-171450" algn="l" rtl="0" eaLnBrk="1" fontAlgn="base" latinLnBrk="1" hangingPunct="1">
        <a:spcBef>
          <a:spcPct val="20000"/>
        </a:spcBef>
        <a:spcAft>
          <a:spcPct val="0"/>
        </a:spcAft>
        <a:buClr>
          <a:schemeClr val="tx2"/>
        </a:buClr>
        <a:buSzPct val="80000"/>
        <a:buFont typeface="Wingdings" pitchFamily="2" charset="2"/>
        <a:buChar char="§"/>
        <a:defRPr sz="1350">
          <a:solidFill>
            <a:schemeClr val="tx1"/>
          </a:solidFill>
          <a:latin typeface="+mn-lt"/>
          <a:cs typeface="+mn-cs"/>
        </a:defRPr>
      </a:lvl5pPr>
      <a:lvl6pPr marL="18859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2288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25717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29146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30.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35.jpg"/><Relationship Id="rId4" Type="http://schemas.openxmlformats.org/officeDocument/2006/relationships/image" Target="../media/image36.jpg"/><Relationship Id="rId5" Type="http://schemas.openxmlformats.org/officeDocument/2006/relationships/image" Target="../media/image3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161CA2A-44B7-9F04-6068-47D43FF3DC60}"/>
              </a:ext>
            </a:extLst>
          </p:cNvPr>
          <p:cNvSpPr>
            <a:spLocks noGrp="1"/>
          </p:cNvSpPr>
          <p:nvPr>
            <p:ph type="ctrTitle"/>
          </p:nvPr>
        </p:nvSpPr>
        <p:spPr>
          <a:xfrm>
            <a:off x="1118507" y="1016453"/>
            <a:ext cx="10882993" cy="1828800"/>
          </a:xfrm>
        </p:spPr>
        <p:txBody>
          <a:bodyPr/>
          <a:lstStyle/>
          <a:p>
            <a:pPr>
              <a:defRPr sz="3500" b="1">
                <a:solidFill>
                  <a:srgbClr val="000000"/>
                </a:solidFill>
                <a:latin typeface="Times New Roman"/>
              </a:defRPr>
            </a:pPr>
            <a:r>
              <a:t>Continuous Gate-State Model for IBIS Ku/Kd</a:t>
            </a:r>
          </a:p>
        </p:txBody>
      </p:sp>
      <p:sp>
        <p:nvSpPr>
          <p:cNvPr id="3" name="부제목 2">
            <a:extLst>
              <a:ext uri="{FF2B5EF4-FFF2-40B4-BE49-F238E27FC236}">
                <a16:creationId xmlns:a16="http://schemas.microsoft.com/office/drawing/2014/main" id="{D62CACD7-6A52-C28F-D2D0-4E8721229DAB}"/>
              </a:ext>
            </a:extLst>
          </p:cNvPr>
          <p:cNvSpPr>
            <a:spLocks noGrp="1"/>
          </p:cNvSpPr>
          <p:nvPr>
            <p:ph type="subTitle" idx="1"/>
          </p:nvPr>
        </p:nvSpPr>
        <p:spPr>
          <a:xfrm>
            <a:off x="1828800" y="5294671"/>
            <a:ext cx="8534400" cy="1563329"/>
          </a:xfrm>
        </p:spPr>
        <p:txBody>
          <a:bodyPr/>
          <a:lstStyle/>
          <a:p>
            <a:pPr algn="ctr">
              <a:defRPr sz="1600">
                <a:solidFill>
                  <a:srgbClr val="000000"/>
                </a:solidFill>
                <a:latin typeface="Times New Roman"/>
              </a:defRPr>
            </a:pPr>
            <a:r>
              <a:t>From handwritten RC-state derivation to runtime ngspice behavior</a:t>
            </a:r>
          </a:p>
          <a:p>
            <a:pPr algn="ctr">
              <a:defRPr sz="1600">
                <a:solidFill>
                  <a:srgbClr val="000000"/>
                </a:solidFill>
                <a:latin typeface="Times New Roman"/>
              </a:defRPr>
            </a:pPr>
            <a:r>
              <a:t>IBIS short-pulse study</a:t>
            </a:r>
          </a:p>
        </p:txBody>
      </p:sp>
    </p:spTree>
    <p:extLst>
      <p:ext uri="{BB962C8B-B14F-4D97-AF65-F5344CB8AC3E}">
        <p14:creationId xmlns:p14="http://schemas.microsoft.com/office/powerpoint/2010/main" val="66142218"/>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 The original replay loses continuity at a reversal</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PROBLEM</a:t>
            </a:r>
          </a:p>
        </p:txBody>
      </p:sp>
      <p:pic>
        <p:nvPicPr>
          <p:cNvPr id="4" name="Picture 3" descr="01_replay_discontinuity.png"/>
          <p:cNvPicPr>
            <a:picLocks noChangeAspect="1"/>
          </p:cNvPicPr>
          <p:nvPr/>
        </p:nvPicPr>
        <p:blipFill>
          <a:blip r:embed="rId3"/>
          <a:stretch>
            <a:fillRect/>
          </a:stretch>
        </p:blipFill>
        <p:spPr>
          <a:xfrm>
            <a:off x="594360" y="1954426"/>
            <a:ext cx="6720840" cy="2446227"/>
          </a:xfrm>
          <a:prstGeom prst="rect">
            <a:avLst/>
          </a:prstGeom>
        </p:spPr>
      </p:pic>
      <p:pic>
        <p:nvPicPr>
          <p:cNvPr id="5" name="Picture 4" descr="Equation: K(t_{\mathrm{rev}}^- )\;\neq\;K_{\mathrm{opposite}}(0)"/>
          <p:cNvPicPr>
            <a:picLocks noChangeAspect="1"/>
          </p:cNvPicPr>
          <p:nvPr/>
        </p:nvPicPr>
        <p:blipFill>
          <a:blip r:embed="rId4"/>
          <a:stretch>
            <a:fillRect/>
          </a:stretch>
        </p:blipFill>
        <p:spPr>
          <a:xfrm>
            <a:off x="7452360" y="1511319"/>
            <a:ext cx="3931920" cy="452081"/>
          </a:xfrm>
          <a:prstGeom prst="rect">
            <a:avLst/>
          </a:prstGeom>
        </p:spPr>
      </p:pic>
      <p:sp>
        <p:nvSpPr>
          <p:cNvPr id="6" name="TextBox 5"/>
          <p:cNvSpPr txBox="1"/>
          <p:nvPr/>
        </p:nvSpPr>
        <p:spPr>
          <a:xfrm>
            <a:off x="7315200" y="2468880"/>
            <a:ext cx="4023360" cy="2103120"/>
          </a:xfrm>
          <a:prstGeom prst="rect">
            <a:avLst/>
          </a:prstGeom>
          <a:noFill/>
        </p:spPr>
        <p:txBody>
          <a:bodyPr wrap="square" lIns="73152" rIns="36576" tIns="36576" bIns="36576">
            <a:spAutoFit/>
          </a:bodyPr>
          <a:lstStyle/>
          <a:p>
            <a:pPr>
              <a:spcAft>
                <a:spcPts val="700"/>
              </a:spcAft>
              <a:defRPr sz="1600">
                <a:solidFill>
                  <a:srgbClr val="191F1C"/>
                </a:solidFill>
                <a:latin typeface="Aptos"/>
              </a:defRPr>
            </a:pPr>
            <a:r>
              <a:t>- A long pulse lets the first table finish, so restart looks acceptable.</a:t>
            </a:r>
          </a:p>
          <a:p>
            <a:pPr>
              <a:spcAft>
                <a:spcPts val="700"/>
              </a:spcAft>
              <a:defRPr sz="1600">
                <a:solidFill>
                  <a:srgbClr val="191F1C"/>
                </a:solidFill>
                <a:latin typeface="Aptos"/>
              </a:defRPr>
            </a:pPr>
            <a:r>
              <a:t>- A short pulse reverses while Ku and Kd are still between endpoints.</a:t>
            </a:r>
          </a:p>
          <a:p>
            <a:pPr>
              <a:spcAft>
                <a:spcPts val="700"/>
              </a:spcAft>
              <a:defRPr sz="1600">
                <a:solidFill>
                  <a:srgbClr val="191F1C"/>
                </a:solidFill>
                <a:latin typeface="Aptos"/>
              </a:defRPr>
            </a:pPr>
            <a:r>
              <a:t>- The missing quantity is a continuous memory of transition progress.</a:t>
            </a:r>
          </a:p>
        </p:txBody>
      </p:sp>
      <p:sp>
        <p:nvSpPr>
          <p:cNvPr id="7" name="Rectangle 6"/>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problem is not the table values themselves; it is how transition state is carried across a new edge.</a:t>
            </a:r>
          </a:p>
        </p:txBody>
      </p:sp>
      <p:sp>
        <p:nvSpPr>
          <p:cNvPr id="8" name="TextBox 7"/>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2. A capacitor voltage is a natural continuous memory</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STATE</a:t>
            </a:r>
          </a:p>
        </p:txBody>
      </p:sp>
      <p:sp>
        <p:nvSpPr>
          <p:cNvPr id="4" name="Rounded Rectangle 3"/>
          <p:cNvSpPr/>
          <p:nvPr/>
        </p:nvSpPr>
        <p:spPr>
          <a:xfrm>
            <a:off x="685800" y="1840230"/>
            <a:ext cx="1428750" cy="85725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Gtarget</a:t>
            </a:r>
            <a:br/>
            <a:r>
              <a:t>0 or 1</a:t>
            </a:r>
          </a:p>
        </p:txBody>
      </p:sp>
      <p:cxnSp>
        <p:nvCxnSpPr>
          <p:cNvPr id="5" name="Connector 4"/>
          <p:cNvCxnSpPr/>
          <p:nvPr/>
        </p:nvCxnSpPr>
        <p:spPr>
          <a:xfrm>
            <a:off x="2114550" y="2263139"/>
            <a:ext cx="457200" cy="0"/>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2571750" y="2011680"/>
            <a:ext cx="1200150" cy="502920"/>
          </a:xfrm>
          <a:prstGeom prst="rect">
            <a:avLst/>
          </a:prstGeom>
          <a:solidFill>
            <a:srgbClr val="FFFFFF"/>
          </a:solidFill>
          <a:ln w="22860">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latin typeface="Aptos"/>
              </a:defRPr>
            </a:pPr>
            <a:r>
              <a:t>R</a:t>
            </a:r>
          </a:p>
        </p:txBody>
      </p:sp>
      <p:cxnSp>
        <p:nvCxnSpPr>
          <p:cNvPr id="7" name="Connector 6"/>
          <p:cNvCxnSpPr/>
          <p:nvPr/>
        </p:nvCxnSpPr>
        <p:spPr>
          <a:xfrm>
            <a:off x="3771900" y="2263139"/>
            <a:ext cx="628650" cy="0"/>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4320540" y="2183130"/>
            <a:ext cx="160020" cy="160020"/>
          </a:xfrm>
          <a:prstGeom prst="ellipse">
            <a:avLst/>
          </a:prstGeom>
          <a:solidFill>
            <a:srgbClr val="2B7A43"/>
          </a:solidFill>
          <a:ln>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4400550" y="2263139"/>
            <a:ext cx="0" cy="685800"/>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000500" y="2948939"/>
            <a:ext cx="800100" cy="0"/>
          </a:xfrm>
          <a:prstGeom prst="line">
            <a:avLst/>
          </a:prstGeom>
          <a:ln w="30480">
            <a:solidFill>
              <a:srgbClr val="191F1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000500" y="3177540"/>
            <a:ext cx="800100" cy="0"/>
          </a:xfrm>
          <a:prstGeom prst="line">
            <a:avLst/>
          </a:prstGeom>
          <a:ln w="30480">
            <a:solidFill>
              <a:srgbClr val="191F1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400550" y="3177540"/>
            <a:ext cx="0" cy="434340"/>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057650" y="3611880"/>
            <a:ext cx="685800" cy="0"/>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171950" y="3749040"/>
            <a:ext cx="457200" cy="0"/>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274820" y="3886200"/>
            <a:ext cx="251460" cy="0"/>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572000" y="1965960"/>
            <a:ext cx="1771650" cy="400050"/>
          </a:xfrm>
          <a:prstGeom prst="rect">
            <a:avLst/>
          </a:prstGeom>
          <a:noFill/>
        </p:spPr>
        <p:txBody>
          <a:bodyPr wrap="square" lIns="45720" rIns="45720" anchor="t">
            <a:spAutoFit/>
          </a:bodyPr>
          <a:lstStyle/>
          <a:p>
            <a:pPr algn="l">
              <a:defRPr sz="1500" b="1">
                <a:solidFill>
                  <a:srgbClr val="2B7A43"/>
                </a:solidFill>
                <a:latin typeface="Aptos"/>
              </a:defRPr>
            </a:pPr>
            <a:r>
              <a:t>GUP or GDN</a:t>
            </a:r>
          </a:p>
        </p:txBody>
      </p:sp>
      <p:sp>
        <p:nvSpPr>
          <p:cNvPr id="17" name="TextBox 16"/>
          <p:cNvSpPr txBox="1"/>
          <p:nvPr/>
        </p:nvSpPr>
        <p:spPr>
          <a:xfrm>
            <a:off x="4857750" y="2948939"/>
            <a:ext cx="1943100" cy="514350"/>
          </a:xfrm>
          <a:prstGeom prst="rect">
            <a:avLst/>
          </a:prstGeom>
          <a:noFill/>
        </p:spPr>
        <p:txBody>
          <a:bodyPr wrap="square" lIns="45720" rIns="45720" anchor="t">
            <a:spAutoFit/>
          </a:bodyPr>
          <a:lstStyle/>
          <a:p>
            <a:pPr algn="l">
              <a:defRPr sz="1300" b="0">
                <a:solidFill>
                  <a:srgbClr val="666C68"/>
                </a:solidFill>
                <a:latin typeface="Aptos"/>
              </a:defRPr>
            </a:pPr>
            <a:r>
              <a:t>C stores the state</a:t>
            </a:r>
          </a:p>
        </p:txBody>
      </p:sp>
      <p:pic>
        <p:nvPicPr>
          <p:cNvPr id="18" name="Picture 17" descr="Equation: I_C=C\frac{dV_C}{dt}=\frac{V_{\mathrm{target}}-V_C}{R}"/>
          <p:cNvPicPr>
            <a:picLocks noChangeAspect="1"/>
          </p:cNvPicPr>
          <p:nvPr/>
        </p:nvPicPr>
        <p:blipFill>
          <a:blip r:embed="rId3"/>
          <a:stretch>
            <a:fillRect/>
          </a:stretch>
        </p:blipFill>
        <p:spPr>
          <a:xfrm>
            <a:off x="6374965" y="1234440"/>
            <a:ext cx="4349349" cy="777240"/>
          </a:xfrm>
          <a:prstGeom prst="rect">
            <a:avLst/>
          </a:prstGeom>
        </p:spPr>
      </p:pic>
      <p:pic>
        <p:nvPicPr>
          <p:cNvPr id="19" name="Picture 18" descr="Equation: \frac{dV_C}{dt}=\frac{V_{\mathrm{target}}-V_C}{RC}"/>
          <p:cNvPicPr>
            <a:picLocks noChangeAspect="1"/>
          </p:cNvPicPr>
          <p:nvPr/>
        </p:nvPicPr>
        <p:blipFill>
          <a:blip r:embed="rId4"/>
          <a:stretch>
            <a:fillRect/>
          </a:stretch>
        </p:blipFill>
        <p:spPr>
          <a:xfrm>
            <a:off x="6944586" y="2331720"/>
            <a:ext cx="3210107" cy="777240"/>
          </a:xfrm>
          <a:prstGeom prst="rect">
            <a:avLst/>
          </a:prstGeom>
        </p:spPr>
      </p:pic>
      <p:sp>
        <p:nvSpPr>
          <p:cNvPr id="20" name="Rounded Rectangle 19"/>
          <p:cNvSpPr/>
          <p:nvPr/>
        </p:nvSpPr>
        <p:spPr>
          <a:xfrm>
            <a:off x="6675120" y="3703320"/>
            <a:ext cx="3657600" cy="868680"/>
          </a:xfrm>
          <a:prstGeom prst="roundRect">
            <a:avLst/>
          </a:prstGeom>
          <a:solidFill>
            <a:srgbClr val="F1F8F2"/>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Vc,PU becomes GUP</a:t>
            </a:r>
            <a:br/>
            <a:r>
              <a:t>Vc,PD becomes GDN</a:t>
            </a:r>
          </a:p>
        </p:txBody>
      </p:sp>
      <p:sp>
        <p:nvSpPr>
          <p:cNvPr id="21" name="TextBox 20"/>
          <p:cNvSpPr txBox="1"/>
          <p:nvPr/>
        </p:nvSpPr>
        <p:spPr>
          <a:xfrm>
            <a:off x="914400" y="4251960"/>
            <a:ext cx="4389120" cy="502920"/>
          </a:xfrm>
          <a:prstGeom prst="rect">
            <a:avLst/>
          </a:prstGeom>
          <a:noFill/>
        </p:spPr>
        <p:txBody>
          <a:bodyPr wrap="square" lIns="45720" rIns="45720" anchor="t">
            <a:spAutoFit/>
          </a:bodyPr>
          <a:lstStyle/>
          <a:p>
            <a:pPr algn="ctr">
              <a:defRPr sz="1800" b="1">
                <a:solidFill>
                  <a:srgbClr val="2B7A43"/>
                </a:solidFill>
                <a:latin typeface="Aptos"/>
              </a:defRPr>
            </a:pPr>
            <a:r>
              <a:t>The solver stores capacitor charge between timesteps.</a:t>
            </a:r>
          </a:p>
        </p:txBody>
      </p:sp>
      <p:sp>
        <p:nvSpPr>
          <p:cNvPr id="22" name="Rectangle 21"/>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GUP and GDN are not recomputed from elapsed time; they persist as capacitor voltages.</a:t>
            </a:r>
          </a:p>
        </p:txBody>
      </p:sp>
      <p:sp>
        <p:nvSpPr>
          <p:cNvPr id="23" name="TextBox 22"/>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3. The state follows a first-order RC equation</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EQUATION</a:t>
            </a:r>
          </a:p>
        </p:txBody>
      </p:sp>
      <p:pic>
        <p:nvPicPr>
          <p:cNvPr id="4" name="Picture 3" descr="Equation: \tau=RC"/>
          <p:cNvPicPr>
            <a:picLocks noChangeAspect="1"/>
          </p:cNvPicPr>
          <p:nvPr/>
        </p:nvPicPr>
        <p:blipFill>
          <a:blip r:embed="rId3"/>
          <a:stretch>
            <a:fillRect/>
          </a:stretch>
        </p:blipFill>
        <p:spPr>
          <a:xfrm>
            <a:off x="777240" y="1289183"/>
            <a:ext cx="2468880" cy="530592"/>
          </a:xfrm>
          <a:prstGeom prst="rect">
            <a:avLst/>
          </a:prstGeom>
        </p:spPr>
      </p:pic>
      <p:pic>
        <p:nvPicPr>
          <p:cNvPr id="5" name="Picture 4" descr="Equation: \frac{dG}{dt}=\frac{G_{\mathrm{target}}-G}{\tau}"/>
          <p:cNvPicPr>
            <a:picLocks noChangeAspect="1"/>
          </p:cNvPicPr>
          <p:nvPr/>
        </p:nvPicPr>
        <p:blipFill>
          <a:blip r:embed="rId4"/>
          <a:stretch>
            <a:fillRect/>
          </a:stretch>
        </p:blipFill>
        <p:spPr>
          <a:xfrm>
            <a:off x="3886200" y="1051560"/>
            <a:ext cx="3657600" cy="960120"/>
          </a:xfrm>
          <a:prstGeom prst="rect">
            <a:avLst/>
          </a:prstGeom>
        </p:spPr>
      </p:pic>
      <p:pic>
        <p:nvPicPr>
          <p:cNvPr id="6" name="Picture 5" descr="Equation: G(t)=G_{\mathrm{target}}+\left(G_0-G_{\mathrm{target}}\right)e^{-(t-t_0)/\tau}"/>
          <p:cNvPicPr>
            <a:picLocks noChangeAspect="1"/>
          </p:cNvPicPr>
          <p:nvPr/>
        </p:nvPicPr>
        <p:blipFill>
          <a:blip r:embed="rId5"/>
          <a:stretch>
            <a:fillRect/>
          </a:stretch>
        </p:blipFill>
        <p:spPr>
          <a:xfrm>
            <a:off x="1143000" y="2684903"/>
            <a:ext cx="9784080" cy="710953"/>
          </a:xfrm>
          <a:prstGeom prst="rect">
            <a:avLst/>
          </a:prstGeom>
        </p:spPr>
      </p:pic>
      <p:sp>
        <p:nvSpPr>
          <p:cNvPr id="7" name="Rounded Rectangle 6"/>
          <p:cNvSpPr/>
          <p:nvPr/>
        </p:nvSpPr>
        <p:spPr>
          <a:xfrm>
            <a:off x="2011680" y="4069080"/>
            <a:ext cx="8138160" cy="658368"/>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G0 is the state already stored at the command edge</a:t>
            </a:r>
          </a:p>
        </p:txBody>
      </p:sp>
      <p:sp>
        <p:nvSpPr>
          <p:cNvPr id="8" name="TextBox 7"/>
          <p:cNvSpPr txBox="1"/>
          <p:nvPr/>
        </p:nvSpPr>
        <p:spPr>
          <a:xfrm>
            <a:off x="2148840" y="4892040"/>
            <a:ext cx="7772400" cy="868680"/>
          </a:xfrm>
          <a:prstGeom prst="rect">
            <a:avLst/>
          </a:prstGeom>
          <a:noFill/>
        </p:spPr>
        <p:txBody>
          <a:bodyPr wrap="square" lIns="73152" rIns="36576" tIns="36576" bIns="36576">
            <a:spAutoFit/>
          </a:bodyPr>
          <a:lstStyle/>
          <a:p>
            <a:pPr>
              <a:spcAft>
                <a:spcPts val="300"/>
              </a:spcAft>
              <a:defRPr sz="1600">
                <a:solidFill>
                  <a:srgbClr val="191F1C"/>
                </a:solidFill>
                <a:latin typeface="Aptos"/>
              </a:defRPr>
            </a:pPr>
            <a:r>
              <a:t>- Changing the target changes the derivative.</a:t>
            </a:r>
          </a:p>
          <a:p>
            <a:pPr>
              <a:spcAft>
                <a:spcPts val="300"/>
              </a:spcAft>
              <a:defRPr sz="1600">
                <a:solidFill>
                  <a:srgbClr val="191F1C"/>
                </a:solidFill>
                <a:latin typeface="Aptos"/>
              </a:defRPr>
            </a:pPr>
            <a:r>
              <a:t>- Changing direction selects a different tau.</a:t>
            </a:r>
          </a:p>
          <a:p>
            <a:pPr>
              <a:spcAft>
                <a:spcPts val="300"/>
              </a:spcAft>
              <a:defRPr sz="1600">
                <a:solidFill>
                  <a:srgbClr val="191F1C"/>
                </a:solidFill>
                <a:latin typeface="Aptos"/>
              </a:defRPr>
            </a:pPr>
            <a:r>
              <a:t>- Neither action resets G itself.</a:t>
            </a:r>
          </a:p>
        </p:txBody>
      </p:sp>
      <p:sp>
        <p:nvSpPr>
          <p:cNvPr id="9" name="Rectangle 8"/>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state value is continuous; only its destination and rate change at an edge.</a:t>
            </a:r>
          </a:p>
        </p:txBody>
      </p:sp>
      <p:sp>
        <p:nvSpPr>
          <p:cNvPr id="10" name="TextBox 9"/>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4. Tau is the characteristic transition time</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CALIBRATION</a:t>
            </a:r>
          </a:p>
        </p:txBody>
      </p:sp>
      <p:pic>
        <p:nvPicPr>
          <p:cNvPr id="4" name="Picture 3" descr="02_tau_63_percent.png"/>
          <p:cNvPicPr>
            <a:picLocks noChangeAspect="1"/>
          </p:cNvPicPr>
          <p:nvPr/>
        </p:nvPicPr>
        <p:blipFill>
          <a:blip r:embed="rId3"/>
          <a:stretch>
            <a:fillRect/>
          </a:stretch>
        </p:blipFill>
        <p:spPr>
          <a:xfrm>
            <a:off x="594360" y="2112034"/>
            <a:ext cx="6492240" cy="2313891"/>
          </a:xfrm>
          <a:prstGeom prst="rect">
            <a:avLst/>
          </a:prstGeom>
        </p:spPr>
      </p:pic>
      <p:pic>
        <p:nvPicPr>
          <p:cNvPr id="5" name="Picture 4" descr="Equation: G_{\mathrm{rise}}(t)=1-e^{-t/\tau}"/>
          <p:cNvPicPr>
            <a:picLocks noChangeAspect="1"/>
          </p:cNvPicPr>
          <p:nvPr/>
        </p:nvPicPr>
        <p:blipFill>
          <a:blip r:embed="rId4"/>
          <a:stretch>
            <a:fillRect/>
          </a:stretch>
        </p:blipFill>
        <p:spPr>
          <a:xfrm>
            <a:off x="7178040" y="1343404"/>
            <a:ext cx="4160520" cy="605030"/>
          </a:xfrm>
          <a:prstGeom prst="rect">
            <a:avLst/>
          </a:prstGeom>
        </p:spPr>
      </p:pic>
      <p:pic>
        <p:nvPicPr>
          <p:cNvPr id="6" name="Picture 5" descr="Equation: G_{\mathrm{fall}}(t)=e^{-t/\tau}"/>
          <p:cNvPicPr>
            <a:picLocks noChangeAspect="1"/>
          </p:cNvPicPr>
          <p:nvPr/>
        </p:nvPicPr>
        <p:blipFill>
          <a:blip r:embed="rId5"/>
          <a:stretch>
            <a:fillRect/>
          </a:stretch>
        </p:blipFill>
        <p:spPr>
          <a:xfrm>
            <a:off x="7547468" y="2240280"/>
            <a:ext cx="3421662" cy="640080"/>
          </a:xfrm>
          <a:prstGeom prst="rect">
            <a:avLst/>
          </a:prstGeom>
        </p:spPr>
      </p:pic>
      <p:pic>
        <p:nvPicPr>
          <p:cNvPr id="7" name="Picture 6" descr="Equation: G_{\mathrm{rise}}(\tau)=1-e^{-1}\approx0.632"/>
          <p:cNvPicPr>
            <a:picLocks noChangeAspect="1"/>
          </p:cNvPicPr>
          <p:nvPr/>
        </p:nvPicPr>
        <p:blipFill>
          <a:blip r:embed="rId6"/>
          <a:stretch>
            <a:fillRect/>
          </a:stretch>
        </p:blipFill>
        <p:spPr>
          <a:xfrm>
            <a:off x="6995160" y="3362706"/>
            <a:ext cx="4526280" cy="452628"/>
          </a:xfrm>
          <a:prstGeom prst="rect">
            <a:avLst/>
          </a:prstGeom>
        </p:spPr>
      </p:pic>
      <p:sp>
        <p:nvSpPr>
          <p:cNvPr id="8" name="Rounded Rectangle 7"/>
          <p:cNvSpPr/>
          <p:nvPr/>
        </p:nvSpPr>
        <p:spPr>
          <a:xfrm>
            <a:off x="7315200" y="4343400"/>
            <a:ext cx="3886200" cy="73152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Read tau from the 63.2% point of each normalized transition.</a:t>
            </a:r>
          </a:p>
        </p:txBody>
      </p:sp>
      <p:sp>
        <p:nvSpPr>
          <p:cNvPr id="9" name="Rectangle 8"/>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Tau is the rate parameter that reproduces each original coefficient transition.</a:t>
            </a:r>
          </a:p>
        </p:txBody>
      </p:sp>
      <p:sp>
        <p:nvSpPr>
          <p:cNvPr id="10" name="TextBox 9"/>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5. Four physical directions require four time constants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CALIBRATION</a:t>
            </a:r>
          </a:p>
        </p:txBody>
      </p:sp>
      <p:sp>
        <p:nvSpPr>
          <p:cNvPr id="4" name="TextBox 3"/>
          <p:cNvSpPr txBox="1"/>
          <p:nvPr/>
        </p:nvSpPr>
        <p:spPr>
          <a:xfrm>
            <a:off x="685800" y="1097280"/>
            <a:ext cx="2103120" cy="365760"/>
          </a:xfrm>
          <a:prstGeom prst="rect">
            <a:avLst/>
          </a:prstGeom>
          <a:noFill/>
        </p:spPr>
        <p:txBody>
          <a:bodyPr wrap="square" lIns="45720" rIns="45720" anchor="t">
            <a:spAutoFit/>
          </a:bodyPr>
          <a:lstStyle/>
          <a:p>
            <a:pPr algn="l">
              <a:defRPr sz="2000" b="1">
                <a:solidFill>
                  <a:srgbClr val="2B7A43"/>
                </a:solidFill>
                <a:latin typeface="Aptos"/>
              </a:defRPr>
            </a:pPr>
            <a:r>
              <a:t>Input rises</a:t>
            </a:r>
          </a:p>
        </p:txBody>
      </p:sp>
      <p:sp>
        <p:nvSpPr>
          <p:cNvPr id="5" name="Rounded Rectangle 4"/>
          <p:cNvSpPr/>
          <p:nvPr/>
        </p:nvSpPr>
        <p:spPr>
          <a:xfrm>
            <a:off x="685800" y="1600200"/>
            <a:ext cx="2331720" cy="86868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GUP: 0 -&gt; 1</a:t>
            </a:r>
            <a:br/>
            <a:r>
              <a:t>pullup ON</a:t>
            </a:r>
          </a:p>
        </p:txBody>
      </p:sp>
      <p:sp>
        <p:nvSpPr>
          <p:cNvPr id="6" name="Rounded Rectangle 5"/>
          <p:cNvSpPr/>
          <p:nvPr/>
        </p:nvSpPr>
        <p:spPr>
          <a:xfrm>
            <a:off x="3337560" y="1600200"/>
            <a:ext cx="2331720" cy="86868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GDN: 1 -&gt; 0</a:t>
            </a:r>
            <a:br/>
            <a:r>
              <a:t>pulldown OFF</a:t>
            </a:r>
          </a:p>
        </p:txBody>
      </p:sp>
      <p:pic>
        <p:nvPicPr>
          <p:cNvPr id="7" name="Picture 6" descr="Equation: \tau_{\mathrm{PU,on}}"/>
          <p:cNvPicPr>
            <a:picLocks noChangeAspect="1"/>
          </p:cNvPicPr>
          <p:nvPr/>
        </p:nvPicPr>
        <p:blipFill>
          <a:blip r:embed="rId3"/>
          <a:stretch>
            <a:fillRect/>
          </a:stretch>
        </p:blipFill>
        <p:spPr>
          <a:xfrm>
            <a:off x="800100" y="2743200"/>
            <a:ext cx="2194560" cy="640080"/>
          </a:xfrm>
          <a:prstGeom prst="rect">
            <a:avLst/>
          </a:prstGeom>
        </p:spPr>
      </p:pic>
      <p:pic>
        <p:nvPicPr>
          <p:cNvPr id="8" name="Picture 7" descr="Equation: \tau_{\mathrm{PD,off}}"/>
          <p:cNvPicPr>
            <a:picLocks noChangeAspect="1"/>
          </p:cNvPicPr>
          <p:nvPr/>
        </p:nvPicPr>
        <p:blipFill>
          <a:blip r:embed="rId4"/>
          <a:stretch>
            <a:fillRect/>
          </a:stretch>
        </p:blipFill>
        <p:spPr>
          <a:xfrm>
            <a:off x="3412671" y="2743200"/>
            <a:ext cx="2272937" cy="640080"/>
          </a:xfrm>
          <a:prstGeom prst="rect">
            <a:avLst/>
          </a:prstGeom>
        </p:spPr>
      </p:pic>
      <p:sp>
        <p:nvSpPr>
          <p:cNvPr id="9" name="TextBox 8"/>
          <p:cNvSpPr txBox="1"/>
          <p:nvPr/>
        </p:nvSpPr>
        <p:spPr>
          <a:xfrm>
            <a:off x="6263640" y="1097280"/>
            <a:ext cx="2103120" cy="365760"/>
          </a:xfrm>
          <a:prstGeom prst="rect">
            <a:avLst/>
          </a:prstGeom>
          <a:noFill/>
        </p:spPr>
        <p:txBody>
          <a:bodyPr wrap="square" lIns="45720" rIns="45720" anchor="t">
            <a:spAutoFit/>
          </a:bodyPr>
          <a:lstStyle/>
          <a:p>
            <a:pPr algn="l">
              <a:defRPr sz="2000" b="1">
                <a:solidFill>
                  <a:srgbClr val="2B7A43"/>
                </a:solidFill>
                <a:latin typeface="Aptos"/>
              </a:defRPr>
            </a:pPr>
            <a:r>
              <a:t>Input falls</a:t>
            </a:r>
          </a:p>
        </p:txBody>
      </p:sp>
      <p:sp>
        <p:nvSpPr>
          <p:cNvPr id="10" name="Rounded Rectangle 9"/>
          <p:cNvSpPr/>
          <p:nvPr/>
        </p:nvSpPr>
        <p:spPr>
          <a:xfrm>
            <a:off x="6263640" y="1600200"/>
            <a:ext cx="2331720" cy="86868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GUP: 1 -&gt; 0</a:t>
            </a:r>
            <a:br/>
            <a:r>
              <a:t>pullup OFF</a:t>
            </a:r>
          </a:p>
        </p:txBody>
      </p:sp>
      <p:sp>
        <p:nvSpPr>
          <p:cNvPr id="11" name="Rounded Rectangle 10"/>
          <p:cNvSpPr/>
          <p:nvPr/>
        </p:nvSpPr>
        <p:spPr>
          <a:xfrm>
            <a:off x="8915400" y="1600200"/>
            <a:ext cx="2331720" cy="86868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GDN: 0 -&gt; 1</a:t>
            </a:r>
            <a:br/>
            <a:r>
              <a:t>pulldown ON</a:t>
            </a:r>
          </a:p>
        </p:txBody>
      </p:sp>
      <p:pic>
        <p:nvPicPr>
          <p:cNvPr id="12" name="Picture 11" descr="Equation: \tau_{\mathrm{PU,off}}"/>
          <p:cNvPicPr>
            <a:picLocks noChangeAspect="1"/>
          </p:cNvPicPr>
          <p:nvPr/>
        </p:nvPicPr>
        <p:blipFill>
          <a:blip r:embed="rId5"/>
          <a:stretch>
            <a:fillRect/>
          </a:stretch>
        </p:blipFill>
        <p:spPr>
          <a:xfrm>
            <a:off x="6345282" y="2743200"/>
            <a:ext cx="2259874" cy="640080"/>
          </a:xfrm>
          <a:prstGeom prst="rect">
            <a:avLst/>
          </a:prstGeom>
        </p:spPr>
      </p:pic>
      <p:pic>
        <p:nvPicPr>
          <p:cNvPr id="13" name="Picture 12" descr="Equation: \tau_{\mathrm{PD,on}}"/>
          <p:cNvPicPr>
            <a:picLocks noChangeAspect="1"/>
          </p:cNvPicPr>
          <p:nvPr/>
        </p:nvPicPr>
        <p:blipFill>
          <a:blip r:embed="rId6"/>
          <a:stretch>
            <a:fillRect/>
          </a:stretch>
        </p:blipFill>
        <p:spPr>
          <a:xfrm>
            <a:off x="9023168" y="2743200"/>
            <a:ext cx="2207622" cy="640080"/>
          </a:xfrm>
          <a:prstGeom prst="rect">
            <a:avLst/>
          </a:prstGeom>
        </p:spPr>
      </p:pic>
      <p:sp>
        <p:nvSpPr>
          <p:cNvPr id="14" name="TextBox 13"/>
          <p:cNvSpPr txBox="1"/>
          <p:nvPr/>
        </p:nvSpPr>
        <p:spPr>
          <a:xfrm>
            <a:off x="1051560" y="4069080"/>
            <a:ext cx="10058400" cy="1234440"/>
          </a:xfrm>
          <a:prstGeom prst="rect">
            <a:avLst/>
          </a:prstGeom>
          <a:noFill/>
        </p:spPr>
        <p:txBody>
          <a:bodyPr wrap="square" lIns="73152" rIns="36576" tIns="36576" bIns="36576">
            <a:spAutoFit/>
          </a:bodyPr>
          <a:lstStyle/>
          <a:p>
            <a:pPr>
              <a:spcAft>
                <a:spcPts val="500"/>
              </a:spcAft>
              <a:defRPr sz="1700">
                <a:solidFill>
                  <a:srgbClr val="191F1C"/>
                </a:solidFill>
                <a:latin typeface="Aptos"/>
              </a:defRPr>
            </a:pPr>
            <a:r>
              <a:t>- Each tau comes from the corresponding original Ku/Kd transition.</a:t>
            </a:r>
          </a:p>
          <a:p>
            <a:pPr>
              <a:spcAft>
                <a:spcPts val="500"/>
              </a:spcAft>
              <a:defRPr sz="1700">
                <a:solidFill>
                  <a:srgbClr val="191F1C"/>
                </a:solidFill>
                <a:latin typeface="Aptos"/>
              </a:defRPr>
            </a:pPr>
            <a:r>
              <a:t>- No symmetry is assumed between pullup, pulldown, rising, and falling.</a:t>
            </a:r>
          </a:p>
          <a:p>
            <a:pPr>
              <a:spcAft>
                <a:spcPts val="500"/>
              </a:spcAft>
              <a:defRPr sz="1700">
                <a:solidFill>
                  <a:srgbClr val="191F1C"/>
                </a:solidFill>
                <a:latin typeface="Aptos"/>
              </a:defRPr>
            </a:pPr>
            <a:r>
              <a:t>- All values are derived offline from the original IBIS/pybis coefficient tables.</a:t>
            </a:r>
          </a:p>
        </p:txBody>
      </p:sp>
      <p:sp>
        <p:nvSpPr>
          <p:cNvPr id="15" name="Rectangle 14"/>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Direction-specific timing preserves real pullup/pulldown asymmetry.</a:t>
            </a:r>
          </a:p>
        </p:txBody>
      </p:sp>
      <p:sp>
        <p:nvSpPr>
          <p:cNvPr id="16" name="TextBox 15"/>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6. Offline: replace table time with gate state</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MAPPING</a:t>
            </a:r>
          </a:p>
        </p:txBody>
      </p:sp>
      <p:pic>
        <p:nvPicPr>
          <p:cNvPr id="4" name="Picture 3" descr="03_time_to_gate_mapping.png"/>
          <p:cNvPicPr>
            <a:picLocks noChangeAspect="1"/>
          </p:cNvPicPr>
          <p:nvPr/>
        </p:nvPicPr>
        <p:blipFill>
          <a:blip r:embed="rId3"/>
          <a:stretch>
            <a:fillRect/>
          </a:stretch>
        </p:blipFill>
        <p:spPr>
          <a:xfrm>
            <a:off x="411480" y="2064100"/>
            <a:ext cx="7452360" cy="2226878"/>
          </a:xfrm>
          <a:prstGeom prst="rect">
            <a:avLst/>
          </a:prstGeom>
        </p:spPr>
      </p:pic>
      <p:pic>
        <p:nvPicPr>
          <p:cNvPr id="5" name="Picture 4" descr="Equation: t_i\;\longrightarrow\;G_i=G(t_i)\;\longrightarrow\;(G_i,K_i)"/>
          <p:cNvPicPr>
            <a:picLocks noChangeAspect="1"/>
          </p:cNvPicPr>
          <p:nvPr/>
        </p:nvPicPr>
        <p:blipFill>
          <a:blip r:embed="rId4"/>
          <a:stretch>
            <a:fillRect/>
          </a:stretch>
        </p:blipFill>
        <p:spPr>
          <a:xfrm>
            <a:off x="7909560" y="1677079"/>
            <a:ext cx="3611880" cy="257720"/>
          </a:xfrm>
          <a:prstGeom prst="rect">
            <a:avLst/>
          </a:prstGeom>
        </p:spPr>
      </p:pic>
      <p:pic>
        <p:nvPicPr>
          <p:cNvPr id="6" name="Picture 5" descr="Equation: K_u=f_{\mathrm{PU,dir}}(GUP)"/>
          <p:cNvPicPr>
            <a:picLocks noChangeAspect="1"/>
          </p:cNvPicPr>
          <p:nvPr/>
        </p:nvPicPr>
        <p:blipFill>
          <a:blip r:embed="rId5"/>
          <a:stretch>
            <a:fillRect/>
          </a:stretch>
        </p:blipFill>
        <p:spPr>
          <a:xfrm>
            <a:off x="7909560" y="2589997"/>
            <a:ext cx="3611880" cy="443564"/>
          </a:xfrm>
          <a:prstGeom prst="rect">
            <a:avLst/>
          </a:prstGeom>
        </p:spPr>
      </p:pic>
      <p:pic>
        <p:nvPicPr>
          <p:cNvPr id="7" name="Picture 6" descr="Equation: K_d=f_{\mathrm{PD,dir}}(GDN)"/>
          <p:cNvPicPr>
            <a:picLocks noChangeAspect="1"/>
          </p:cNvPicPr>
          <p:nvPr/>
        </p:nvPicPr>
        <p:blipFill>
          <a:blip r:embed="rId6"/>
          <a:stretch>
            <a:fillRect/>
          </a:stretch>
        </p:blipFill>
        <p:spPr>
          <a:xfrm>
            <a:off x="7909560" y="3462876"/>
            <a:ext cx="3611880" cy="435166"/>
          </a:xfrm>
          <a:prstGeom prst="rect">
            <a:avLst/>
          </a:prstGeom>
        </p:spPr>
      </p:pic>
      <p:sp>
        <p:nvSpPr>
          <p:cNvPr id="8" name="Rounded Rectangle 7"/>
          <p:cNvSpPr/>
          <p:nvPr/>
        </p:nvSpPr>
        <p:spPr>
          <a:xfrm>
            <a:off x="7863840" y="4343400"/>
            <a:ext cx="3657600" cy="73152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Four original tables -&gt; four direction-aware state maps</a:t>
            </a:r>
          </a:p>
        </p:txBody>
      </p:sp>
      <p:sp>
        <p:nvSpPr>
          <p:cNvPr id="9" name="Rectangle 8"/>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Ku/Kd tables are still used; they become functions of continuous state rather than elapsed time.</a:t>
            </a:r>
          </a:p>
        </p:txBody>
      </p:sp>
      <p:sp>
        <p:nvSpPr>
          <p:cNvPr id="10" name="TextBox 9"/>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7. Offline preparation and runtime simulation are separate</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WORKFLOW</a:t>
            </a:r>
          </a:p>
        </p:txBody>
      </p:sp>
      <p:sp>
        <p:nvSpPr>
          <p:cNvPr id="4" name="TextBox 3"/>
          <p:cNvSpPr txBox="1"/>
          <p:nvPr/>
        </p:nvSpPr>
        <p:spPr>
          <a:xfrm>
            <a:off x="594360" y="1024128"/>
            <a:ext cx="3657600" cy="365760"/>
          </a:xfrm>
          <a:prstGeom prst="rect">
            <a:avLst/>
          </a:prstGeom>
          <a:noFill/>
        </p:spPr>
        <p:txBody>
          <a:bodyPr wrap="square" lIns="45720" rIns="45720" anchor="t">
            <a:spAutoFit/>
          </a:bodyPr>
          <a:lstStyle/>
          <a:p>
            <a:pPr algn="l">
              <a:defRPr sz="1900" b="1">
                <a:solidFill>
                  <a:srgbClr val="2B7A43"/>
                </a:solidFill>
                <a:latin typeface="Aptos"/>
              </a:defRPr>
            </a:pPr>
            <a:r>
              <a:t>OFFLINE - model generation</a:t>
            </a:r>
          </a:p>
        </p:txBody>
      </p:sp>
      <p:sp>
        <p:nvSpPr>
          <p:cNvPr id="5" name="Rounded Rectangle 4"/>
          <p:cNvSpPr/>
          <p:nvPr/>
        </p:nvSpPr>
        <p:spPr>
          <a:xfrm>
            <a:off x="594360" y="1508760"/>
            <a:ext cx="1874519"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Extract Ku/Kd(t)</a:t>
            </a:r>
          </a:p>
        </p:txBody>
      </p:sp>
      <p:cxnSp>
        <p:nvCxnSpPr>
          <p:cNvPr id="6" name="Connector 5"/>
          <p:cNvCxnSpPr/>
          <p:nvPr/>
        </p:nvCxnSpPr>
        <p:spPr>
          <a:xfrm>
            <a:off x="2468879" y="1865376"/>
            <a:ext cx="1158241"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627119" y="1508760"/>
            <a:ext cx="1874519"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Fit four taus</a:t>
            </a:r>
          </a:p>
        </p:txBody>
      </p:sp>
      <p:cxnSp>
        <p:nvCxnSpPr>
          <p:cNvPr id="8" name="Connector 7"/>
          <p:cNvCxnSpPr/>
          <p:nvPr/>
        </p:nvCxnSpPr>
        <p:spPr>
          <a:xfrm>
            <a:off x="5501639" y="1865376"/>
            <a:ext cx="115824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659880" y="1508760"/>
            <a:ext cx="1874519"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Build K=f(G)</a:t>
            </a:r>
          </a:p>
        </p:txBody>
      </p:sp>
      <p:cxnSp>
        <p:nvCxnSpPr>
          <p:cNvPr id="10" name="Connector 9"/>
          <p:cNvCxnSpPr/>
          <p:nvPr/>
        </p:nvCxnSpPr>
        <p:spPr>
          <a:xfrm>
            <a:off x="8534399" y="1865376"/>
            <a:ext cx="1158241"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692640" y="1508760"/>
            <a:ext cx="1874519"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Write .sp</a:t>
            </a:r>
          </a:p>
        </p:txBody>
      </p:sp>
      <p:sp>
        <p:nvSpPr>
          <p:cNvPr id="12" name="TextBox 11"/>
          <p:cNvSpPr txBox="1"/>
          <p:nvPr/>
        </p:nvSpPr>
        <p:spPr>
          <a:xfrm>
            <a:off x="594360" y="2971800"/>
            <a:ext cx="3657600" cy="365760"/>
          </a:xfrm>
          <a:prstGeom prst="rect">
            <a:avLst/>
          </a:prstGeom>
          <a:noFill/>
        </p:spPr>
        <p:txBody>
          <a:bodyPr wrap="square" lIns="45720" rIns="45720" anchor="t">
            <a:spAutoFit/>
          </a:bodyPr>
          <a:lstStyle/>
          <a:p>
            <a:pPr algn="l">
              <a:defRPr sz="1900" b="1">
                <a:solidFill>
                  <a:srgbClr val="2467AD"/>
                </a:solidFill>
                <a:latin typeface="Aptos"/>
              </a:defRPr>
            </a:pPr>
            <a:r>
              <a:t>RUNTIME - ngspice</a:t>
            </a:r>
          </a:p>
        </p:txBody>
      </p:sp>
      <p:sp>
        <p:nvSpPr>
          <p:cNvPr id="13" name="Rounded Rectangle 12"/>
          <p:cNvSpPr/>
          <p:nvPr/>
        </p:nvSpPr>
        <p:spPr>
          <a:xfrm>
            <a:off x="594360" y="3474720"/>
            <a:ext cx="1874519"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Detect edge</a:t>
            </a:r>
          </a:p>
        </p:txBody>
      </p:sp>
      <p:cxnSp>
        <p:nvCxnSpPr>
          <p:cNvPr id="14" name="Connector 13"/>
          <p:cNvCxnSpPr/>
          <p:nvPr/>
        </p:nvCxnSpPr>
        <p:spPr>
          <a:xfrm>
            <a:off x="2468879" y="3831335"/>
            <a:ext cx="1158241"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627119" y="3474720"/>
            <a:ext cx="1874519"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Change targets</a:t>
            </a:r>
          </a:p>
        </p:txBody>
      </p:sp>
      <p:cxnSp>
        <p:nvCxnSpPr>
          <p:cNvPr id="16" name="Connector 15"/>
          <p:cNvCxnSpPr/>
          <p:nvPr/>
        </p:nvCxnSpPr>
        <p:spPr>
          <a:xfrm>
            <a:off x="5501639" y="3831335"/>
            <a:ext cx="115824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659880" y="3474720"/>
            <a:ext cx="1874519"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Integrate GUP/GDN</a:t>
            </a:r>
          </a:p>
        </p:txBody>
      </p:sp>
      <p:cxnSp>
        <p:nvCxnSpPr>
          <p:cNvPr id="18" name="Connector 17"/>
          <p:cNvCxnSpPr/>
          <p:nvPr/>
        </p:nvCxnSpPr>
        <p:spPr>
          <a:xfrm>
            <a:off x="8534399" y="3831335"/>
            <a:ext cx="1158241"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692640" y="3474720"/>
            <a:ext cx="1874519"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Evaluate Ku/Kd</a:t>
            </a:r>
          </a:p>
        </p:txBody>
      </p:sp>
      <p:sp>
        <p:nvSpPr>
          <p:cNvPr id="20" name="Rounded Rectangle 19"/>
          <p:cNvSpPr/>
          <p:nvPr/>
        </p:nvSpPr>
        <p:spPr>
          <a:xfrm>
            <a:off x="2926080" y="4800600"/>
            <a:ext cx="6309360" cy="658368"/>
          </a:xfrm>
          <a:prstGeom prst="roundRect">
            <a:avLst/>
          </a:prstGeom>
          <a:solidFill>
            <a:srgbClr val="F1F8F2"/>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700" b="1">
                <a:solidFill>
                  <a:srgbClr val="191F1C"/>
                </a:solidFill>
                <a:latin typeface="Aptos"/>
              </a:defRPr>
            </a:pPr>
            <a:r>
              <a:t>Actual pulse width and interruption history exist only at runtime.</a:t>
            </a:r>
          </a:p>
        </p:txBody>
      </p:sp>
      <p:sp>
        <p:nvSpPr>
          <p:cNvPr id="21" name="Rectangle 20"/>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Offline fitting supplies constants and maps; runtime integration supplies the actual state history.</a:t>
            </a:r>
          </a:p>
        </p:txBody>
      </p:sp>
      <p:sp>
        <p:nvSpPr>
          <p:cNvPr id="22" name="TextBox 21"/>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8. Runtime example: a normal rising input edge</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RUNTIME</a:t>
            </a:r>
          </a:p>
        </p:txBody>
      </p:sp>
      <p:sp>
        <p:nvSpPr>
          <p:cNvPr id="4" name="Rounded Rectangle 3"/>
          <p:cNvSpPr/>
          <p:nvPr/>
        </p:nvSpPr>
        <p:spPr>
          <a:xfrm>
            <a:off x="640080" y="1234440"/>
            <a:ext cx="2240280" cy="77724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Before edge</a:t>
            </a:r>
            <a:br/>
            <a:r>
              <a:t>GUP=0, GDN=1</a:t>
            </a:r>
          </a:p>
        </p:txBody>
      </p:sp>
      <p:cxnSp>
        <p:nvCxnSpPr>
          <p:cNvPr id="5" name="Connector 4"/>
          <p:cNvCxnSpPr/>
          <p:nvPr/>
        </p:nvCxnSpPr>
        <p:spPr>
          <a:xfrm>
            <a:off x="2880360" y="1627632"/>
            <a:ext cx="77724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657600" y="1234440"/>
            <a:ext cx="2880360" cy="77724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Command targets</a:t>
            </a:r>
            <a:br/>
            <a:r>
              <a:t>GUPtarget=1, GDNtarget=0</a:t>
            </a:r>
          </a:p>
        </p:txBody>
      </p:sp>
      <p:cxnSp>
        <p:nvCxnSpPr>
          <p:cNvPr id="7" name="Connector 6"/>
          <p:cNvCxnSpPr/>
          <p:nvPr/>
        </p:nvCxnSpPr>
        <p:spPr>
          <a:xfrm>
            <a:off x="6537960" y="1627632"/>
            <a:ext cx="77724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7315200" y="1234440"/>
            <a:ext cx="3063240" cy="77724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Continuous motion</a:t>
            </a:r>
            <a:br/>
            <a:r>
              <a:t>GUP rises, GDN falls</a:t>
            </a:r>
          </a:p>
        </p:txBody>
      </p:sp>
      <p:pic>
        <p:nvPicPr>
          <p:cNvPr id="9" name="Picture 8" descr="Equation: \frac{dGUP}{dt}=\frac{1-GUP}{\tau_{\mathrm{PU,on}}}"/>
          <p:cNvPicPr>
            <a:picLocks noChangeAspect="1"/>
          </p:cNvPicPr>
          <p:nvPr/>
        </p:nvPicPr>
        <p:blipFill>
          <a:blip r:embed="rId3"/>
          <a:stretch>
            <a:fillRect/>
          </a:stretch>
        </p:blipFill>
        <p:spPr>
          <a:xfrm>
            <a:off x="1752361" y="2743200"/>
            <a:ext cx="2987516" cy="777240"/>
          </a:xfrm>
          <a:prstGeom prst="rect">
            <a:avLst/>
          </a:prstGeom>
        </p:spPr>
      </p:pic>
      <p:pic>
        <p:nvPicPr>
          <p:cNvPr id="10" name="Picture 9" descr="Equation: \frac{dGDN}{dt}=\frac{0-GDN}{\tau_{\mathrm{PD,off}}}"/>
          <p:cNvPicPr>
            <a:picLocks noChangeAspect="1"/>
          </p:cNvPicPr>
          <p:nvPr/>
        </p:nvPicPr>
        <p:blipFill>
          <a:blip r:embed="rId4"/>
          <a:stretch>
            <a:fillRect/>
          </a:stretch>
        </p:blipFill>
        <p:spPr>
          <a:xfrm>
            <a:off x="6809851" y="2743200"/>
            <a:ext cx="3113817" cy="777240"/>
          </a:xfrm>
          <a:prstGeom prst="rect">
            <a:avLst/>
          </a:prstGeom>
        </p:spPr>
      </p:pic>
      <p:pic>
        <p:nvPicPr>
          <p:cNvPr id="11" name="Picture 10" descr="Equation: K_u=f_{\mathrm{PU,on}}(GUP),\qquad K_d=f_{\mathrm{PD,off}}(GDN)"/>
          <p:cNvPicPr>
            <a:picLocks noChangeAspect="1"/>
          </p:cNvPicPr>
          <p:nvPr/>
        </p:nvPicPr>
        <p:blipFill>
          <a:blip r:embed="rId5"/>
          <a:stretch>
            <a:fillRect/>
          </a:stretch>
        </p:blipFill>
        <p:spPr>
          <a:xfrm>
            <a:off x="1828800" y="4344100"/>
            <a:ext cx="8503920" cy="455799"/>
          </a:xfrm>
          <a:prstGeom prst="rect">
            <a:avLst/>
          </a:prstGeom>
        </p:spPr>
      </p:pic>
      <p:sp>
        <p:nvSpPr>
          <p:cNvPr id="12" name="Rectangle 11"/>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For a complete transition, the new state model reconstructs the original Ku/Kd path.</a:t>
            </a:r>
          </a:p>
        </p:txBody>
      </p:sp>
      <p:sp>
        <p:nvSpPr>
          <p:cNvPr id="13" name="TextBox 12"/>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9. Runtime reversal: targets and rates switch, states do not</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RUNTIME</a:t>
            </a:r>
          </a:p>
        </p:txBody>
      </p:sp>
      <p:pic>
        <p:nvPicPr>
          <p:cNvPr id="4" name="Picture 3" descr="Equation: GUP(t_{\mathrm{rev}}^+)=GUP(t_{\mathrm{rev}}^-)"/>
          <p:cNvPicPr>
            <a:picLocks noChangeAspect="1"/>
          </p:cNvPicPr>
          <p:nvPr/>
        </p:nvPicPr>
        <p:blipFill>
          <a:blip r:embed="rId3"/>
          <a:stretch>
            <a:fillRect/>
          </a:stretch>
        </p:blipFill>
        <p:spPr>
          <a:xfrm>
            <a:off x="777240" y="1200803"/>
            <a:ext cx="5029200" cy="524473"/>
          </a:xfrm>
          <a:prstGeom prst="rect">
            <a:avLst/>
          </a:prstGeom>
        </p:spPr>
      </p:pic>
      <p:pic>
        <p:nvPicPr>
          <p:cNvPr id="5" name="Picture 4" descr="Equation: GDN(t_{\mathrm{rev}}^+)=GDN(t_{\mathrm{rev}}^-)"/>
          <p:cNvPicPr>
            <a:picLocks noChangeAspect="1"/>
          </p:cNvPicPr>
          <p:nvPr/>
        </p:nvPicPr>
        <p:blipFill>
          <a:blip r:embed="rId4"/>
          <a:stretch>
            <a:fillRect/>
          </a:stretch>
        </p:blipFill>
        <p:spPr>
          <a:xfrm>
            <a:off x="6172200" y="1210194"/>
            <a:ext cx="5029200" cy="505690"/>
          </a:xfrm>
          <a:prstGeom prst="rect">
            <a:avLst/>
          </a:prstGeom>
        </p:spPr>
      </p:pic>
      <p:sp>
        <p:nvSpPr>
          <p:cNvPr id="6" name="Rounded Rectangle 5"/>
          <p:cNvSpPr/>
          <p:nvPr/>
        </p:nvSpPr>
        <p:spPr>
          <a:xfrm>
            <a:off x="685800" y="2423160"/>
            <a:ext cx="1508760" cy="594360"/>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falling edge</a:t>
            </a:r>
          </a:p>
        </p:txBody>
      </p:sp>
      <p:cxnSp>
        <p:nvCxnSpPr>
          <p:cNvPr id="7" name="Connector 6"/>
          <p:cNvCxnSpPr/>
          <p:nvPr/>
        </p:nvCxnSpPr>
        <p:spPr>
          <a:xfrm>
            <a:off x="2194560" y="2724912"/>
            <a:ext cx="868680" cy="0"/>
          </a:xfrm>
          <a:prstGeom prst="line">
            <a:avLst/>
          </a:prstGeom>
          <a:ln w="27940">
            <a:solidFill>
              <a:srgbClr val="CA3030"/>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063240" y="2148840"/>
            <a:ext cx="2468880" cy="114300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targets flip</a:t>
            </a:r>
            <a:br/>
            <a:r>
              <a:t>GUPtarget: 1 -&gt; 0</a:t>
            </a:r>
            <a:br/>
            <a:r>
              <a:t>GDNtarget: 0 -&gt; 1</a:t>
            </a:r>
          </a:p>
        </p:txBody>
      </p:sp>
      <p:cxnSp>
        <p:nvCxnSpPr>
          <p:cNvPr id="9" name="Connector 8"/>
          <p:cNvCxnSpPr/>
          <p:nvPr/>
        </p:nvCxnSpPr>
        <p:spPr>
          <a:xfrm>
            <a:off x="5532120" y="2724912"/>
            <a:ext cx="86868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400800" y="2148840"/>
            <a:ext cx="2331720" cy="114300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taus switch</a:t>
            </a:r>
            <a:br/>
            <a:r>
              <a:t>PU on -&gt; PU off</a:t>
            </a:r>
            <a:br/>
            <a:r>
              <a:t>PD off -&gt; PD on</a:t>
            </a:r>
          </a:p>
        </p:txBody>
      </p:sp>
      <p:cxnSp>
        <p:nvCxnSpPr>
          <p:cNvPr id="11" name="Connector 10"/>
          <p:cNvCxnSpPr/>
          <p:nvPr/>
        </p:nvCxnSpPr>
        <p:spPr>
          <a:xfrm>
            <a:off x="8732520" y="2724912"/>
            <a:ext cx="86868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601200" y="2240280"/>
            <a:ext cx="1965960" cy="96012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integration continues</a:t>
            </a:r>
            <a:br/>
            <a:r>
              <a:t>from current GUP/GDN</a:t>
            </a:r>
          </a:p>
        </p:txBody>
      </p:sp>
      <p:pic>
        <p:nvPicPr>
          <p:cNvPr id="13" name="Picture 12" descr="Equation: \frac{dGUP}{dt}=\frac{0-GUP}{\tau_{\mathrm{PU,off}}},\qquad\frac{dGDN}{dt}=\frac{1-GDN}{\tau_{\mathrm{PD,on}}}"/>
          <p:cNvPicPr>
            <a:picLocks noChangeAspect="1"/>
          </p:cNvPicPr>
          <p:nvPr/>
        </p:nvPicPr>
        <p:blipFill>
          <a:blip r:embed="rId5"/>
          <a:stretch>
            <a:fillRect/>
          </a:stretch>
        </p:blipFill>
        <p:spPr>
          <a:xfrm>
            <a:off x="2266283" y="4069080"/>
            <a:ext cx="7720393" cy="868680"/>
          </a:xfrm>
          <a:prstGeom prst="rect">
            <a:avLst/>
          </a:prstGeom>
        </p:spPr>
      </p:pic>
      <p:sp>
        <p:nvSpPr>
          <p:cNvPr id="14" name="Rectangle 13"/>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A reversal changes the future trajectory, not the state already accumulated.</a:t>
            </a:r>
          </a:p>
        </p:txBody>
      </p:sp>
      <p:sp>
        <p:nvSpPr>
          <p:cNvPr id="15" name="TextBox 14"/>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10. Real example: GUP and GDN preserve state through reversal</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WAVEFORMS</a:t>
            </a:r>
          </a:p>
        </p:txBody>
      </p:sp>
      <p:pic>
        <p:nvPicPr>
          <p:cNvPr id="4" name="Picture 3" descr="04_real_gup_gdn_reversal.png"/>
          <p:cNvPicPr>
            <a:picLocks noChangeAspect="1"/>
          </p:cNvPicPr>
          <p:nvPr/>
        </p:nvPicPr>
        <p:blipFill>
          <a:blip r:embed="rId3"/>
          <a:stretch>
            <a:fillRect/>
          </a:stretch>
        </p:blipFill>
        <p:spPr>
          <a:xfrm>
            <a:off x="2112498" y="960120"/>
            <a:ext cx="8027962" cy="4709160"/>
          </a:xfrm>
          <a:prstGeom prst="rect">
            <a:avLst/>
          </a:prstGeom>
        </p:spPr>
      </p:pic>
      <p:sp>
        <p:nvSpPr>
          <p:cNvPr id="5" name="Rectangle 4"/>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two states carry different histories and reverse independently, but neither state is reset.</a:t>
            </a:r>
          </a:p>
        </p:txBody>
      </p:sp>
      <p:sp>
        <p:nvSpPr>
          <p:cNvPr id="6" name="TextBox 5"/>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Cached data: io_buf_two_state_gate_model_2026-06-30 / short_pulse_1ns_high / directional_residual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11. Real example: state continuity does not guarantee Ku/Kd continuity</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WAVEFORMS</a:t>
            </a:r>
          </a:p>
        </p:txBody>
      </p:sp>
      <p:pic>
        <p:nvPicPr>
          <p:cNvPr id="4" name="Picture 3" descr="05_real_state_to_coefficient_reversal.png"/>
          <p:cNvPicPr>
            <a:picLocks noChangeAspect="1"/>
          </p:cNvPicPr>
          <p:nvPr/>
        </p:nvPicPr>
        <p:blipFill>
          <a:blip r:embed="rId3"/>
          <a:stretch>
            <a:fillRect/>
          </a:stretch>
        </p:blipFill>
        <p:spPr>
          <a:xfrm>
            <a:off x="2176116" y="960120"/>
            <a:ext cx="7900726" cy="4709160"/>
          </a:xfrm>
          <a:prstGeom prst="rect">
            <a:avLst/>
          </a:prstGeom>
        </p:spPr>
      </p:pic>
      <p:sp>
        <p:nvSpPr>
          <p:cNvPr id="5" name="Rectangle 4"/>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Continuous GUP/GDN solve state reset; directional-map alignment remains necessary for continuous Ku/Kd.</a:t>
            </a:r>
          </a:p>
        </p:txBody>
      </p:sp>
      <p:sp>
        <p:nvSpPr>
          <p:cNvPr id="6" name="TextBox 5"/>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Underlying samples: results/ibis_kukd_handwritten_notes_deck/real_short_pulse_1ns_high_waveforms.csv</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12. Ngspice stores GUP and GDN as capacitor voltages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IMPLEMENTATION</a:t>
            </a:r>
          </a:p>
        </p:txBody>
      </p:sp>
      <p:sp>
        <p:nvSpPr>
          <p:cNvPr id="4" name="Rounded Rectangle 3"/>
          <p:cNvSpPr/>
          <p:nvPr/>
        </p:nvSpPr>
        <p:spPr>
          <a:xfrm>
            <a:off x="594360" y="1143000"/>
            <a:ext cx="6629400" cy="3017520"/>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230">
                <a:solidFill>
                  <a:srgbClr val="1E3027"/>
                </a:solidFill>
                <a:latin typeface="Consolas"/>
              </a:defRPr>
            </a:pPr>
            <a:r>
              <a:t>* Continuous pullup gate state</a:t>
            </a:r>
            <a:br/>
            <a:r>
              <a:t>CGUP   GUP   0   1p   ic=0</a:t>
            </a:r>
            <a:br/>
            <a:r>
              <a:t>BGUP   GUP   0   I=-1p*(V(GUPTARGET)-V(GUP))/tau_selected</a:t>
            </a:r>
            <a:br/>
            <a:br/>
            <a:r>
              <a:t>* Continuous pulldown gate state</a:t>
            </a:r>
            <a:br/>
            <a:r>
              <a:t>CGDN   GDN   0   1p   ic=1</a:t>
            </a:r>
            <a:br/>
            <a:r>
              <a:t>BGDN   GDN   0   I=-1p*(V(GDNTARGET)-V(GDN))/tau_selected</a:t>
            </a:r>
          </a:p>
        </p:txBody>
      </p:sp>
      <p:pic>
        <p:nvPicPr>
          <p:cNvPr id="5" name="Picture 4" descr="Equation: C\frac{dG}{dt}=\frac{G_{\mathrm{target}}-G}{R_{\mathrm{eff}}}"/>
          <p:cNvPicPr>
            <a:picLocks noChangeAspect="1"/>
          </p:cNvPicPr>
          <p:nvPr/>
        </p:nvPicPr>
        <p:blipFill>
          <a:blip r:embed="rId3"/>
          <a:stretch>
            <a:fillRect/>
          </a:stretch>
        </p:blipFill>
        <p:spPr>
          <a:xfrm>
            <a:off x="8098155" y="1234440"/>
            <a:ext cx="2686050" cy="685800"/>
          </a:xfrm>
          <a:prstGeom prst="rect">
            <a:avLst/>
          </a:prstGeom>
        </p:spPr>
      </p:pic>
      <p:pic>
        <p:nvPicPr>
          <p:cNvPr id="6" name="Picture 5" descr="Equation: R_{\mathrm{eff}}=\frac{\tau}{C}"/>
          <p:cNvPicPr>
            <a:picLocks noChangeAspect="1"/>
          </p:cNvPicPr>
          <p:nvPr/>
        </p:nvPicPr>
        <p:blipFill>
          <a:blip r:embed="rId4"/>
          <a:stretch>
            <a:fillRect/>
          </a:stretch>
        </p:blipFill>
        <p:spPr>
          <a:xfrm>
            <a:off x="8632159" y="2331720"/>
            <a:ext cx="1572321" cy="685800"/>
          </a:xfrm>
          <a:prstGeom prst="rect">
            <a:avLst/>
          </a:prstGeom>
        </p:spPr>
      </p:pic>
      <p:sp>
        <p:nvSpPr>
          <p:cNvPr id="7" name="Rounded Rectangle 6"/>
          <p:cNvSpPr/>
          <p:nvPr/>
        </p:nvSpPr>
        <p:spPr>
          <a:xfrm>
            <a:off x="7360920" y="3429000"/>
            <a:ext cx="4069080" cy="77724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C = 1 pF is a numerical state capacitor; tau sets the dynamics.</a:t>
            </a:r>
          </a:p>
        </p:txBody>
      </p:sp>
      <p:sp>
        <p:nvSpPr>
          <p:cNvPr id="8" name="TextBox 7"/>
          <p:cNvSpPr txBox="1"/>
          <p:nvPr/>
        </p:nvSpPr>
        <p:spPr>
          <a:xfrm>
            <a:off x="1097280" y="4709160"/>
            <a:ext cx="9875520" cy="411480"/>
          </a:xfrm>
          <a:prstGeom prst="rect">
            <a:avLst/>
          </a:prstGeom>
          <a:noFill/>
        </p:spPr>
        <p:txBody>
          <a:bodyPr wrap="square" lIns="45720" rIns="45720" anchor="t">
            <a:spAutoFit/>
          </a:bodyPr>
          <a:lstStyle/>
          <a:p>
            <a:pPr algn="ctr">
              <a:defRPr sz="1900" b="1">
                <a:solidFill>
                  <a:srgbClr val="2B7A43"/>
                </a:solidFill>
                <a:latin typeface="Aptos"/>
              </a:defRPr>
            </a:pPr>
            <a:r>
              <a:t>At each solver step: Gnew = Gold + (dG/dt) Delta t</a:t>
            </a:r>
          </a:p>
        </p:txBody>
      </p:sp>
      <p:sp>
        <p:nvSpPr>
          <p:cNvPr id="9" name="Rectangle 8"/>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previous capacitor voltage is the initial condition for the next timestep and for any reversal.</a:t>
            </a:r>
          </a:p>
        </p:txBody>
      </p:sp>
      <p:sp>
        <p:nvSpPr>
          <p:cNvPr id="10" name="TextBox 9"/>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13. The stored state selects Ku/Kd, which scale IBIS currents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IMPLEMENTATION</a:t>
            </a:r>
          </a:p>
        </p:txBody>
      </p:sp>
      <p:sp>
        <p:nvSpPr>
          <p:cNvPr id="4" name="Rounded Rectangle 3"/>
          <p:cNvSpPr/>
          <p:nvPr/>
        </p:nvSpPr>
        <p:spPr>
          <a:xfrm>
            <a:off x="594360" y="1234440"/>
            <a:ext cx="1874519"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Input history</a:t>
            </a:r>
          </a:p>
        </p:txBody>
      </p:sp>
      <p:cxnSp>
        <p:nvCxnSpPr>
          <p:cNvPr id="5" name="Connector 4"/>
          <p:cNvCxnSpPr/>
          <p:nvPr/>
        </p:nvCxnSpPr>
        <p:spPr>
          <a:xfrm>
            <a:off x="2468879" y="1591056"/>
            <a:ext cx="1158241"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627119" y="1234440"/>
            <a:ext cx="1874519"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GUP / GDN</a:t>
            </a:r>
          </a:p>
        </p:txBody>
      </p:sp>
      <p:cxnSp>
        <p:nvCxnSpPr>
          <p:cNvPr id="7" name="Connector 6"/>
          <p:cNvCxnSpPr/>
          <p:nvPr/>
        </p:nvCxnSpPr>
        <p:spPr>
          <a:xfrm>
            <a:off x="5501639" y="1591056"/>
            <a:ext cx="115824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659880" y="1234440"/>
            <a:ext cx="1874519"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Ku / Kd maps</a:t>
            </a:r>
          </a:p>
        </p:txBody>
      </p:sp>
      <p:cxnSp>
        <p:nvCxnSpPr>
          <p:cNvPr id="9" name="Connector 8"/>
          <p:cNvCxnSpPr/>
          <p:nvPr/>
        </p:nvCxnSpPr>
        <p:spPr>
          <a:xfrm>
            <a:off x="8534399" y="1591056"/>
            <a:ext cx="1158241"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692640" y="1234440"/>
            <a:ext cx="1874519"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IBIS V-I current</a:t>
            </a:r>
          </a:p>
        </p:txBody>
      </p:sp>
      <p:pic>
        <p:nvPicPr>
          <p:cNvPr id="11" name="Picture 10" descr="Equation: K_u=f_{\mathrm{PU,dir}}(GUP),\qquad K_d=f_{\mathrm{PD,dir}}(GDN)"/>
          <p:cNvPicPr>
            <a:picLocks noChangeAspect="1"/>
          </p:cNvPicPr>
          <p:nvPr/>
        </p:nvPicPr>
        <p:blipFill>
          <a:blip r:embed="rId3"/>
          <a:stretch>
            <a:fillRect/>
          </a:stretch>
        </p:blipFill>
        <p:spPr>
          <a:xfrm>
            <a:off x="1097280" y="2638342"/>
            <a:ext cx="9966960" cy="529754"/>
          </a:xfrm>
          <a:prstGeom prst="rect">
            <a:avLst/>
          </a:prstGeom>
        </p:spPr>
      </p:pic>
      <p:pic>
        <p:nvPicPr>
          <p:cNvPr id="12" name="Picture 11" descr="Equation: I_{\mathrm{PU}}(t)=K_u(t)\,I_{\mathrm{PU,full}}(V)"/>
          <p:cNvPicPr>
            <a:picLocks noChangeAspect="1"/>
          </p:cNvPicPr>
          <p:nvPr/>
        </p:nvPicPr>
        <p:blipFill>
          <a:blip r:embed="rId4"/>
          <a:stretch>
            <a:fillRect/>
          </a:stretch>
        </p:blipFill>
        <p:spPr>
          <a:xfrm>
            <a:off x="777240" y="3914667"/>
            <a:ext cx="5212080" cy="491705"/>
          </a:xfrm>
          <a:prstGeom prst="rect">
            <a:avLst/>
          </a:prstGeom>
        </p:spPr>
      </p:pic>
      <p:pic>
        <p:nvPicPr>
          <p:cNvPr id="13" name="Picture 12" descr="Equation: I_{\mathrm{PD}}(t)=K_d(t)\,I_{\mathrm{PD,full}}(V)"/>
          <p:cNvPicPr>
            <a:picLocks noChangeAspect="1"/>
          </p:cNvPicPr>
          <p:nvPr/>
        </p:nvPicPr>
        <p:blipFill>
          <a:blip r:embed="rId5"/>
          <a:stretch>
            <a:fillRect/>
          </a:stretch>
        </p:blipFill>
        <p:spPr>
          <a:xfrm>
            <a:off x="6172200" y="3914335"/>
            <a:ext cx="5212080" cy="492369"/>
          </a:xfrm>
          <a:prstGeom prst="rect">
            <a:avLst/>
          </a:prstGeom>
        </p:spPr>
      </p:pic>
      <p:sp>
        <p:nvSpPr>
          <p:cNvPr id="14" name="Rounded Rectangle 13"/>
          <p:cNvSpPr/>
          <p:nvPr/>
        </p:nvSpPr>
        <p:spPr>
          <a:xfrm>
            <a:off x="2971800" y="4800600"/>
            <a:ext cx="6172200" cy="713232"/>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200">
                <a:solidFill>
                  <a:srgbClr val="1E3027"/>
                </a:solidFill>
                <a:latin typeface="Consolas"/>
              </a:defRPr>
            </a:pPr>
            <a:r>
              <a:t>B3 DIE PULLUP_REF I={V(Ku)*pwl(...)}</a:t>
            </a:r>
            <a:br/>
            <a:r>
              <a:t>B4 DIE PULLDOWN_REF I={V(Kd)*pwl(...)}</a:t>
            </a:r>
          </a:p>
        </p:txBody>
      </p:sp>
      <p:sp>
        <p:nvSpPr>
          <p:cNvPr id="15" name="Rectangle 14"/>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innovation is state tracking; the established IBIS coefficient-scaled V-I structure remains intact.</a:t>
            </a:r>
          </a:p>
        </p:txBody>
      </p:sp>
      <p:sp>
        <p:nvSpPr>
          <p:cNvPr id="16" name="TextBox 15"/>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14. What the handwritten model establishes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SUMMARY</a:t>
            </a:r>
          </a:p>
        </p:txBody>
      </p:sp>
      <p:sp>
        <p:nvSpPr>
          <p:cNvPr id="4" name="Rounded Rectangle 3"/>
          <p:cNvSpPr/>
          <p:nvPr/>
        </p:nvSpPr>
        <p:spPr>
          <a:xfrm>
            <a:off x="594360" y="1234440"/>
            <a:ext cx="1965960" cy="91440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1</a:t>
            </a:r>
            <a:br/>
            <a:r>
              <a:t>Store progress</a:t>
            </a:r>
          </a:p>
        </p:txBody>
      </p:sp>
      <p:sp>
        <p:nvSpPr>
          <p:cNvPr id="5" name="Rounded Rectangle 4"/>
          <p:cNvSpPr/>
          <p:nvPr/>
        </p:nvSpPr>
        <p:spPr>
          <a:xfrm>
            <a:off x="2788920" y="1234440"/>
            <a:ext cx="1965960" cy="91440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2</a:t>
            </a:r>
            <a:br/>
            <a:r>
              <a:t>Fit four paths</a:t>
            </a:r>
          </a:p>
        </p:txBody>
      </p:sp>
      <p:sp>
        <p:nvSpPr>
          <p:cNvPr id="6" name="Rounded Rectangle 5"/>
          <p:cNvSpPr/>
          <p:nvPr/>
        </p:nvSpPr>
        <p:spPr>
          <a:xfrm>
            <a:off x="4983480" y="1234440"/>
            <a:ext cx="1965960" cy="91440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3</a:t>
            </a:r>
            <a:br/>
            <a:r>
              <a:t>Map K=f(G)</a:t>
            </a:r>
          </a:p>
        </p:txBody>
      </p:sp>
      <p:sp>
        <p:nvSpPr>
          <p:cNvPr id="7" name="Rounded Rectangle 6"/>
          <p:cNvSpPr/>
          <p:nvPr/>
        </p:nvSpPr>
        <p:spPr>
          <a:xfrm>
            <a:off x="7178040" y="1234440"/>
            <a:ext cx="1965960" cy="91440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4</a:t>
            </a:r>
            <a:br/>
            <a:r>
              <a:t>Integrate runtime</a:t>
            </a:r>
          </a:p>
        </p:txBody>
      </p:sp>
      <p:sp>
        <p:nvSpPr>
          <p:cNvPr id="8" name="Rounded Rectangle 7"/>
          <p:cNvSpPr/>
          <p:nvPr/>
        </p:nvSpPr>
        <p:spPr>
          <a:xfrm>
            <a:off x="9372600" y="1234440"/>
            <a:ext cx="1965960" cy="91440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5</a:t>
            </a:r>
            <a:br/>
            <a:r>
              <a:t>Scale IBIS V-I</a:t>
            </a:r>
          </a:p>
        </p:txBody>
      </p:sp>
      <p:sp>
        <p:nvSpPr>
          <p:cNvPr id="9" name="TextBox 8"/>
          <p:cNvSpPr txBox="1"/>
          <p:nvPr/>
        </p:nvSpPr>
        <p:spPr>
          <a:xfrm>
            <a:off x="777240" y="2788920"/>
            <a:ext cx="2011680" cy="365760"/>
          </a:xfrm>
          <a:prstGeom prst="rect">
            <a:avLst/>
          </a:prstGeom>
          <a:noFill/>
        </p:spPr>
        <p:txBody>
          <a:bodyPr wrap="square" lIns="45720" rIns="45720" anchor="t">
            <a:spAutoFit/>
          </a:bodyPr>
          <a:lstStyle/>
          <a:p>
            <a:pPr algn="l">
              <a:defRPr sz="2000" b="1">
                <a:solidFill>
                  <a:srgbClr val="2B7A43"/>
                </a:solidFill>
                <a:latin typeface="Aptos"/>
              </a:defRPr>
            </a:pPr>
            <a:r>
              <a:t>Strengths</a:t>
            </a:r>
          </a:p>
        </p:txBody>
      </p:sp>
      <p:sp>
        <p:nvSpPr>
          <p:cNvPr id="10" name="TextBox 9"/>
          <p:cNvSpPr txBox="1"/>
          <p:nvPr/>
        </p:nvSpPr>
        <p:spPr>
          <a:xfrm>
            <a:off x="777240" y="3246120"/>
            <a:ext cx="4846320" cy="1828800"/>
          </a:xfrm>
          <a:prstGeom prst="rect">
            <a:avLst/>
          </a:prstGeom>
          <a:noFill/>
        </p:spPr>
        <p:txBody>
          <a:bodyPr wrap="square" lIns="73152" rIns="36576" tIns="36576" bIns="36576">
            <a:spAutoFit/>
          </a:bodyPr>
          <a:lstStyle/>
          <a:p>
            <a:pPr>
              <a:spcAft>
                <a:spcPts val="700"/>
              </a:spcAft>
              <a:defRPr sz="1700">
                <a:solidFill>
                  <a:srgbClr val="191F1C"/>
                </a:solidFill>
                <a:latin typeface="Aptos"/>
              </a:defRPr>
            </a:pPr>
            <a:r>
              <a:t>- Continuous mid-transition state</a:t>
            </a:r>
          </a:p>
          <a:p>
            <a:pPr>
              <a:spcAft>
                <a:spcPts val="700"/>
              </a:spcAft>
              <a:defRPr sz="1700">
                <a:solidFill>
                  <a:srgbClr val="191F1C"/>
                </a:solidFill>
                <a:latin typeface="Aptos"/>
              </a:defRPr>
            </a:pPr>
            <a:r>
              <a:t>- No elapsed-time reset</a:t>
            </a:r>
          </a:p>
          <a:p>
            <a:pPr>
              <a:spcAft>
                <a:spcPts val="700"/>
              </a:spcAft>
              <a:defRPr sz="1700">
                <a:solidFill>
                  <a:srgbClr val="191F1C"/>
                </a:solidFill>
                <a:latin typeface="Aptos"/>
              </a:defRPr>
            </a:pPr>
            <a:r>
              <a:t>- Preserves original coefficient tables</a:t>
            </a:r>
          </a:p>
          <a:p>
            <a:pPr>
              <a:spcAft>
                <a:spcPts val="700"/>
              </a:spcAft>
              <a:defRPr sz="1700">
                <a:solidFill>
                  <a:srgbClr val="191F1C"/>
                </a:solidFill>
                <a:latin typeface="Aptos"/>
              </a:defRPr>
            </a:pPr>
            <a:r>
              <a:t>- Naturally handles arbitrary pulse width</a:t>
            </a:r>
          </a:p>
        </p:txBody>
      </p:sp>
      <p:sp>
        <p:nvSpPr>
          <p:cNvPr id="11" name="TextBox 10"/>
          <p:cNvSpPr txBox="1"/>
          <p:nvPr/>
        </p:nvSpPr>
        <p:spPr>
          <a:xfrm>
            <a:off x="6172200" y="2788920"/>
            <a:ext cx="2926080" cy="365760"/>
          </a:xfrm>
          <a:prstGeom prst="rect">
            <a:avLst/>
          </a:prstGeom>
          <a:noFill/>
        </p:spPr>
        <p:txBody>
          <a:bodyPr wrap="square" lIns="45720" rIns="45720" anchor="t">
            <a:spAutoFit/>
          </a:bodyPr>
          <a:lstStyle/>
          <a:p>
            <a:pPr algn="l">
              <a:defRPr sz="2000" b="1">
                <a:solidFill>
                  <a:srgbClr val="CA3030"/>
                </a:solidFill>
                <a:latin typeface="Aptos"/>
              </a:defRPr>
            </a:pPr>
            <a:r>
              <a:t>Validation still required</a:t>
            </a:r>
          </a:p>
        </p:txBody>
      </p:sp>
      <p:sp>
        <p:nvSpPr>
          <p:cNvPr id="12" name="TextBox 11"/>
          <p:cNvSpPr txBox="1"/>
          <p:nvPr/>
        </p:nvSpPr>
        <p:spPr>
          <a:xfrm>
            <a:off x="6172200" y="3246120"/>
            <a:ext cx="5029200" cy="1828800"/>
          </a:xfrm>
          <a:prstGeom prst="rect">
            <a:avLst/>
          </a:prstGeom>
          <a:noFill/>
        </p:spPr>
        <p:txBody>
          <a:bodyPr wrap="square" lIns="73152" rIns="36576" tIns="36576" bIns="36576">
            <a:spAutoFit/>
          </a:bodyPr>
          <a:lstStyle/>
          <a:p>
            <a:pPr>
              <a:spcAft>
                <a:spcPts val="700"/>
              </a:spcAft>
              <a:defRPr sz="1700">
                <a:solidFill>
                  <a:srgbClr val="191F1C"/>
                </a:solidFill>
                <a:latin typeface="Aptos"/>
              </a:defRPr>
            </a:pPr>
            <a:r>
              <a:t>- Normal Ku/Kd reconstruction</a:t>
            </a:r>
          </a:p>
          <a:p>
            <a:pPr>
              <a:spcAft>
                <a:spcPts val="700"/>
              </a:spcAft>
              <a:defRPr sz="1700">
                <a:solidFill>
                  <a:srgbClr val="191F1C"/>
                </a:solidFill>
                <a:latin typeface="Aptos"/>
              </a:defRPr>
            </a:pPr>
            <a:r>
              <a:t>- Directional-map continuity</a:t>
            </a:r>
          </a:p>
          <a:p>
            <a:pPr>
              <a:spcAft>
                <a:spcPts val="700"/>
              </a:spcAft>
              <a:defRPr sz="1700">
                <a:solidFill>
                  <a:srgbClr val="191F1C"/>
                </a:solidFill>
                <a:latin typeface="Aptos"/>
              </a:defRPr>
            </a:pPr>
            <a:r>
              <a:t>- Short-high and short-low coefficients</a:t>
            </a:r>
          </a:p>
          <a:p>
            <a:pPr>
              <a:spcAft>
                <a:spcPts val="700"/>
              </a:spcAft>
              <a:defRPr sz="1700">
                <a:solidFill>
                  <a:srgbClr val="191F1C"/>
                </a:solidFill>
                <a:latin typeface="Aptos"/>
              </a:defRPr>
            </a:pPr>
            <a:r>
              <a:t>- Pad comparison against native IBIS and transistor SPICE</a:t>
            </a:r>
          </a:p>
        </p:txBody>
      </p:sp>
      <p:sp>
        <p:nvSpPr>
          <p:cNvPr id="13" name="Rectangle 12"/>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Continuous state solves the restart mechanism; evidence decides whether the chosen state model is sufficient.</a:t>
            </a:r>
          </a:p>
        </p:txBody>
      </p:sp>
      <p:sp>
        <p:nvSpPr>
          <p:cNvPr id="14" name="TextBox 13"/>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15. Next steps recorded in the handwritten notes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NEXT STEPS</a:t>
            </a:r>
          </a:p>
        </p:txBody>
      </p:sp>
      <p:sp>
        <p:nvSpPr>
          <p:cNvPr id="4" name="Rounded Rectangle 3"/>
          <p:cNvSpPr/>
          <p:nvPr/>
        </p:nvSpPr>
        <p:spPr>
          <a:xfrm>
            <a:off x="640080" y="1143000"/>
            <a:ext cx="2331720" cy="566928"/>
          </a:xfrm>
          <a:prstGeom prst="roundRect">
            <a:avLst/>
          </a:prstGeom>
          <a:solidFill>
            <a:srgbClr val="F1F8F2"/>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700" b="1">
                <a:solidFill>
                  <a:srgbClr val="191F1C"/>
                </a:solidFill>
                <a:latin typeface="Aptos"/>
              </a:defRPr>
            </a:pPr>
            <a:r>
              <a:t>Model scope question</a:t>
            </a:r>
          </a:p>
        </p:txBody>
      </p:sp>
      <p:sp>
        <p:nvSpPr>
          <p:cNvPr id="5" name="TextBox 4"/>
          <p:cNvSpPr txBox="1"/>
          <p:nvPr/>
        </p:nvSpPr>
        <p:spPr>
          <a:xfrm>
            <a:off x="777240" y="1874519"/>
            <a:ext cx="4754880" cy="914400"/>
          </a:xfrm>
          <a:prstGeom prst="rect">
            <a:avLst/>
          </a:prstGeom>
          <a:noFill/>
        </p:spPr>
        <p:txBody>
          <a:bodyPr wrap="square" lIns="45720" rIns="45720" anchor="t">
            <a:spAutoFit/>
          </a:bodyPr>
          <a:lstStyle/>
          <a:p>
            <a:pPr algn="l">
              <a:defRPr sz="2000" b="1">
                <a:solidFill>
                  <a:srgbClr val="2B7A43"/>
                </a:solidFill>
                <a:latin typeface="Aptos"/>
              </a:defRPr>
            </a:pPr>
            <a:r>
              <a:t>Should GUP/GDN only track the correct Ku/Kd starting point at a mid-transition reversal?</a:t>
            </a:r>
          </a:p>
        </p:txBody>
      </p:sp>
      <p:sp>
        <p:nvSpPr>
          <p:cNvPr id="6" name="Rounded Rectangle 5"/>
          <p:cNvSpPr/>
          <p:nvPr/>
        </p:nvSpPr>
        <p:spPr>
          <a:xfrm>
            <a:off x="6080760" y="1143000"/>
            <a:ext cx="2880360" cy="566928"/>
          </a:xfrm>
          <a:prstGeom prst="roundRect">
            <a:avLst/>
          </a:prstGeom>
          <a:solidFill>
            <a:srgbClr val="F1F8F2"/>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700" b="1">
                <a:solidFill>
                  <a:srgbClr val="191F1C"/>
                </a:solidFill>
                <a:latin typeface="Aptos"/>
              </a:defRPr>
            </a:pPr>
            <a:r>
              <a:t>Reference and circuit checks</a:t>
            </a:r>
          </a:p>
        </p:txBody>
      </p:sp>
      <p:sp>
        <p:nvSpPr>
          <p:cNvPr id="7" name="TextBox 6"/>
          <p:cNvSpPr txBox="1"/>
          <p:nvPr/>
        </p:nvSpPr>
        <p:spPr>
          <a:xfrm>
            <a:off x="6080760" y="1874519"/>
            <a:ext cx="5257800" cy="2606040"/>
          </a:xfrm>
          <a:prstGeom prst="rect">
            <a:avLst/>
          </a:prstGeom>
          <a:noFill/>
        </p:spPr>
        <p:txBody>
          <a:bodyPr wrap="square" lIns="73152" rIns="36576" tIns="36576" bIns="36576">
            <a:spAutoFit/>
          </a:bodyPr>
          <a:lstStyle/>
          <a:p>
            <a:pPr>
              <a:spcAft>
                <a:spcPts val="700"/>
              </a:spcAft>
              <a:defRPr sz="1700">
                <a:solidFill>
                  <a:srgbClr val="191F1C"/>
                </a:solidFill>
                <a:latin typeface="Aptos"/>
              </a:defRPr>
            </a:pPr>
            <a:r>
              <a:t>- Investigate why the HSPICE result looks unusual.</a:t>
            </a:r>
          </a:p>
          <a:p>
            <a:pPr>
              <a:spcAft>
                <a:spcPts val="700"/>
              </a:spcAft>
              <a:defRPr sz="1700">
                <a:solidFill>
                  <a:srgbClr val="191F1C"/>
                </a:solidFill>
                <a:latin typeface="Aptos"/>
              </a:defRPr>
            </a:pPr>
            <a:r>
              <a:t>- Sweep termination capacitance from about 1 fF to 10 pF; account for driver strength.</a:t>
            </a:r>
          </a:p>
          <a:p>
            <a:pPr>
              <a:spcAft>
                <a:spcPts val="700"/>
              </a:spcAft>
              <a:defRPr sz="1700">
                <a:solidFill>
                  <a:srgbClr val="191F1C"/>
                </a:solidFill>
                <a:latin typeface="Aptos"/>
              </a:defRPr>
            </a:pPr>
            <a:r>
              <a:t>- Use ADS to create a transistor-level SPICE buffer.</a:t>
            </a:r>
          </a:p>
          <a:p>
            <a:pPr>
              <a:spcAft>
                <a:spcPts val="700"/>
              </a:spcAft>
              <a:defRPr sz="1700">
                <a:solidFill>
                  <a:srgbClr val="191F1C"/>
                </a:solidFill>
                <a:latin typeface="Aptos"/>
              </a:defRPr>
            </a:pPr>
            <a:r>
              <a:t>- Talk to Jianchuan about the inverter model.</a:t>
            </a:r>
          </a:p>
        </p:txBody>
      </p:sp>
      <p:sp>
        <p:nvSpPr>
          <p:cNvPr id="8" name="Rounded Rectangle 7"/>
          <p:cNvSpPr/>
          <p:nvPr/>
        </p:nvSpPr>
        <p:spPr>
          <a:xfrm>
            <a:off x="2194560" y="4800600"/>
            <a:ext cx="7680960" cy="658368"/>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700" b="1">
                <a:solidFill>
                  <a:srgbClr val="191F1C"/>
                </a:solidFill>
                <a:latin typeface="Aptos"/>
              </a:defRPr>
            </a:pPr>
            <a:r>
              <a:t>These are open questions and validation tasks, not conclusions.</a:t>
            </a:r>
          </a:p>
        </p:txBody>
      </p:sp>
      <p:sp>
        <p:nvSpPr>
          <p:cNvPr id="9" name="Rectangle 8"/>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next experiment should test whether continuous state is best used as the full dynamics or only as the restart coordinate.</a:t>
            </a:r>
          </a:p>
        </p:txBody>
      </p:sp>
      <p:sp>
        <p:nvSpPr>
          <p:cNvPr id="10" name="TextBox 9"/>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Transcribed from handwritten source, page 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Appendix: original handwritten source</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SOURCE</a:t>
            </a:r>
          </a:p>
        </p:txBody>
      </p:sp>
      <p:sp>
        <p:nvSpPr>
          <p:cNvPr id="4" name="Rectangle 3"/>
          <p:cNvSpPr/>
          <p:nvPr/>
        </p:nvSpPr>
        <p:spPr>
          <a:xfrm>
            <a:off x="475488" y="1040387"/>
            <a:ext cx="3483864" cy="4914385"/>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ource_page_01_deck.jpg"/>
          <p:cNvPicPr>
            <a:picLocks noChangeAspect="1"/>
          </p:cNvPicPr>
          <p:nvPr/>
        </p:nvPicPr>
        <p:blipFill>
          <a:blip r:embed="rId3"/>
          <a:stretch>
            <a:fillRect/>
          </a:stretch>
        </p:blipFill>
        <p:spPr>
          <a:xfrm>
            <a:off x="502920" y="1067819"/>
            <a:ext cx="3429000" cy="4859521"/>
          </a:xfrm>
          <a:prstGeom prst="rect">
            <a:avLst/>
          </a:prstGeom>
        </p:spPr>
      </p:pic>
      <p:sp>
        <p:nvSpPr>
          <p:cNvPr id="6" name="TextBox 5"/>
          <p:cNvSpPr txBox="1"/>
          <p:nvPr/>
        </p:nvSpPr>
        <p:spPr>
          <a:xfrm>
            <a:off x="1508760" y="5715000"/>
            <a:ext cx="1463040" cy="228600"/>
          </a:xfrm>
          <a:prstGeom prst="rect">
            <a:avLst/>
          </a:prstGeom>
          <a:noFill/>
        </p:spPr>
        <p:txBody>
          <a:bodyPr wrap="square" lIns="45720" rIns="45720" anchor="t">
            <a:spAutoFit/>
          </a:bodyPr>
          <a:lstStyle/>
          <a:p>
            <a:pPr algn="ctr">
              <a:defRPr sz="1100" b="1">
                <a:solidFill>
                  <a:srgbClr val="191F1C"/>
                </a:solidFill>
                <a:latin typeface="Aptos"/>
              </a:defRPr>
            </a:pPr>
            <a:r>
              <a:t>Page 1</a:t>
            </a:r>
          </a:p>
        </p:txBody>
      </p:sp>
      <p:sp>
        <p:nvSpPr>
          <p:cNvPr id="7" name="Rectangle 6"/>
          <p:cNvSpPr/>
          <p:nvPr/>
        </p:nvSpPr>
        <p:spPr>
          <a:xfrm>
            <a:off x="4270248" y="1198435"/>
            <a:ext cx="3483864" cy="4598289"/>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ource_page_02_deck.jpg"/>
          <p:cNvPicPr>
            <a:picLocks noChangeAspect="1"/>
          </p:cNvPicPr>
          <p:nvPr/>
        </p:nvPicPr>
        <p:blipFill>
          <a:blip r:embed="rId4"/>
          <a:stretch>
            <a:fillRect/>
          </a:stretch>
        </p:blipFill>
        <p:spPr>
          <a:xfrm>
            <a:off x="4297680" y="1225867"/>
            <a:ext cx="3429000" cy="4543425"/>
          </a:xfrm>
          <a:prstGeom prst="rect">
            <a:avLst/>
          </a:prstGeom>
        </p:spPr>
      </p:pic>
      <p:sp>
        <p:nvSpPr>
          <p:cNvPr id="9" name="TextBox 8"/>
          <p:cNvSpPr txBox="1"/>
          <p:nvPr/>
        </p:nvSpPr>
        <p:spPr>
          <a:xfrm>
            <a:off x="5303520" y="5715000"/>
            <a:ext cx="1463040" cy="228600"/>
          </a:xfrm>
          <a:prstGeom prst="rect">
            <a:avLst/>
          </a:prstGeom>
          <a:noFill/>
        </p:spPr>
        <p:txBody>
          <a:bodyPr wrap="square" lIns="45720" rIns="45720" anchor="t">
            <a:spAutoFit/>
          </a:bodyPr>
          <a:lstStyle/>
          <a:p>
            <a:pPr algn="ctr">
              <a:defRPr sz="1100" b="1">
                <a:solidFill>
                  <a:srgbClr val="191F1C"/>
                </a:solidFill>
                <a:latin typeface="Aptos"/>
              </a:defRPr>
            </a:pPr>
            <a:r>
              <a:t>Page 2</a:t>
            </a:r>
          </a:p>
        </p:txBody>
      </p:sp>
      <p:sp>
        <p:nvSpPr>
          <p:cNvPr id="10" name="Rectangle 9"/>
          <p:cNvSpPr/>
          <p:nvPr/>
        </p:nvSpPr>
        <p:spPr>
          <a:xfrm>
            <a:off x="8065008" y="1234154"/>
            <a:ext cx="3483864" cy="4526851"/>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ource_page_03_deck.jpg"/>
          <p:cNvPicPr>
            <a:picLocks noChangeAspect="1"/>
          </p:cNvPicPr>
          <p:nvPr/>
        </p:nvPicPr>
        <p:blipFill>
          <a:blip r:embed="rId5"/>
          <a:stretch>
            <a:fillRect/>
          </a:stretch>
        </p:blipFill>
        <p:spPr>
          <a:xfrm>
            <a:off x="8092440" y="1261586"/>
            <a:ext cx="3429000" cy="4471987"/>
          </a:xfrm>
          <a:prstGeom prst="rect">
            <a:avLst/>
          </a:prstGeom>
        </p:spPr>
      </p:pic>
      <p:sp>
        <p:nvSpPr>
          <p:cNvPr id="12" name="TextBox 11"/>
          <p:cNvSpPr txBox="1"/>
          <p:nvPr/>
        </p:nvSpPr>
        <p:spPr>
          <a:xfrm>
            <a:off x="9098280" y="5715000"/>
            <a:ext cx="1463040" cy="228600"/>
          </a:xfrm>
          <a:prstGeom prst="rect">
            <a:avLst/>
          </a:prstGeom>
          <a:noFill/>
        </p:spPr>
        <p:txBody>
          <a:bodyPr wrap="square" lIns="45720" rIns="45720" anchor="t">
            <a:spAutoFit/>
          </a:bodyPr>
          <a:lstStyle/>
          <a:p>
            <a:pPr algn="ctr">
              <a:defRPr sz="1100" b="1">
                <a:solidFill>
                  <a:srgbClr val="191F1C"/>
                </a:solidFill>
                <a:latin typeface="Aptos"/>
              </a:defRPr>
            </a:pPr>
            <a:r>
              <a:t>Page 3</a:t>
            </a:r>
          </a:p>
        </p:txBody>
      </p:sp>
      <p:sp>
        <p:nvSpPr>
          <p:cNvPr id="13" name="TextBox 12"/>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Original PDF: \\minerfiles.mst.edu\dfs\users\sh3qm\Downloads\IBIS kukd .pdf</a:t>
            </a:r>
          </a:p>
        </p:txBody>
      </p:sp>
    </p:spTree>
  </p:cSld>
  <p:clrMapOvr>
    <a:masterClrMapping/>
  </p:clrMapOvr>
</p:sld>
</file>

<file path=ppt/theme/theme1.xml><?xml version="1.0" encoding="utf-8"?>
<a:theme xmlns:a="http://schemas.openxmlformats.org/drawingml/2006/main" name="1_MST_EMC_lab_theme">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Times New Roman"/>
        <a:ea typeface=""/>
        <a:cs typeface="Arial"/>
      </a:majorFont>
      <a:minorFont>
        <a:latin typeface="Times New Roman"/>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chemeClr val="tx1"/>
          </a:solidFill>
        </a:ln>
      </a:spPr>
      <a:bodyPr rtlCol="0" anchor="ctr"/>
      <a:lstStyle>
        <a:defPPr algn="ctr">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MST_EMC_lab_theme" id="{F84A9E38-8E53-459B-962B-D11E178A4856}" vid="{AF41A44A-DCC1-4496-8938-47400BABA3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Slides>
  <Notes>1</Notes>
  <HiddenSlides>0</HiddenSlide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1_MST_EMC_lab_theme</vt:lpstr>
      <vt:lpstr>IBIS Simulation in Ngspice</vt:lpstr>
      <vt:lpstr>"Replay Problem" for Short Pulse</vt:lpstr>
      <vt:lpstr>Why "Value-matched" Method Fails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Lee, Seonghi</dc:creator>
  <cp:revision>53</cp:revision>
  <dcterms:created xsi:type="dcterms:W3CDTF">2025-07-07T19:11:35Z</dcterms:created>
  <dcterms:modified xsi:type="dcterms:W3CDTF">2026-07-14T07:11:59Z</dcterms:modified>
</cp:coreProperties>
</file>