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410" r:id="rId11"/>
    <p:sldId id="394" r:id="rId3"/>
    <p:sldId id="409" r:id="rId4"/>
    <p:sldId id="411" r:id="rId12"/>
    <p:sldId id="412" r:id="rId13"/>
    <p:sldId id="413" r:id="rId14"/>
    <p:sldId id="414" r:id="rId15"/>
    <p:sldId id="415" r:id="rId16"/>
    <p:sldId id="416" r:id="rId17"/>
    <p:sldId id="417" r:id="rId18"/>
    <p:sldId id="418" r:id="rId19"/>
    <p:sldId id="419" r:id="rId20"/>
    <p:sldId id="420" r:id="rId21"/>
    <p:sldId id="421" r:id="rId22"/>
    <p:sldId id="422" r:id="rId23"/>
    <p:sldId id="423" r:id="rId24"/>
    <p:sldId id="424" r:id="rId25"/>
    <p:sldId id="425" r:id="rId26"/>
    <p:sldId id="426" r:id="rId27"/>
    <p:sldId id="427" r:id="rId28"/>
    <p:sldId id="428" r:id="rId29"/>
    <p:sldId id="429" r:id="rId30"/>
    <p:sldId id="430" r:id="rId31"/>
    <p:sldId id="431" r:id="rId32"/>
    <p:sldId id="432" r:id="rId33"/>
    <p:sldId id="433" r:id="rId34"/>
    <p:sldId id="434" r:id="rId35"/>
    <p:sldId id="435" r:id="rId36"/>
    <p:sldId id="436" r:id="rId37"/>
    <p:sldId id="43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Open by stating the practical goal: reproduce IBIS buffer behavior in ngspice when the input reverses before the previous output transition has settled. The project is not trying to replace the IBIS standard or claim transistor-level accuracy from Ku and Kd. It is testing whether a compact, continuous-state implementation can avoid the obvious restart error of legacy table replay.</a:t>
            </a:r>
            <a:br/>
            <a:br/>
            <a:r>
              <a:t>The talk proceeds in three layers. First, introduce Ku and Kd and show why a short pulse is different from a normal edge. Second, derive the two hidden-state model from the original complete-edge coefficient tables. Third, show the generated SPICE syntax and the cached validation evidence. Emphasize that HSPICE is an audit reference only; it does not provide fitting data.</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output buffer as two controlled networks connected to one pad. Ku scales the pullup I-V table and Kd scales the pulldown I-V table. A coefficient near one means that network contributes close to its fully enabled table; a coefficient near zero means it is mostly disabled. Small overshoot or undershoot outside zero to one can occur in the extracted tables, so these are effective coefficients rather than literal transistor gate voltages.</a:t>
            </a:r>
            <a:br/>
            <a:br/>
            <a:r>
              <a:t>For a rising output, Ku normally increases while Kd decreases. For a falling output, Ku decreases while Kd increases. In a long pulse both processes eventually settle. In a short pulse the reverse edge arrives while one or both coefficients are still moving. The central modeling problem is therefore history: the second edge must continue from an unfinished internal condition.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define the legacy failure. The normal pybis InputDriven path detects an edge and indexes a complete rising or falling Ku/Kd table by elapsed time since that edge. That works when every edge begins from the settled endpoint assumed by the table. It does not work when a reverse edge arrives early.</a:t>
            </a:r>
            <a:br/>
            <a:br/>
            <a:r>
              <a:t>At the reverse edge, the old elapsed timer is restarted and the opposite complete-edge table begins from its own t=0 endpoint. That endpoint represents a settled logic state, not the partial state actually reached. The figure illustrates the resulting coefficient jump or full-strength replay. The error is structural: improving the timestep or output load cannot repair the wrong initial condition.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value-matched baseline. At the reverse edge, that method samples the current Ku and Kd and searches the opposite tables for times that produce similar values. It then tries to restart the opposite replay from that inferred table time.</a:t>
            </a:r>
            <a:br/>
            <a:br/>
            <a:r>
              <a:t>The key issue is that Ku and Kd usually imply different start times. Their rising and falling trajectories are asymmetric, so one shared replay time cannot simultaneously match both sampled values. Separate starts improve one coefficient but break their coordinated timing, while a balanced start is a compromise that is not a physical state. The earlier v1 implementation also had a timer bug, but the corrected v2 experiment still showed table-start ambiguity. This motivates a model with independent continuous internal state rather than a single retimed table cursor.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testbench from left to right. The command is a 3.3 V digital pulse with 1 ps edges. The output drives a direct 50 ohm parallel 2 pF load. The same stimulus and load are used for each flow.</a:t>
            </a:r>
            <a:br/>
            <a:br/>
            <a:r>
              <a:t>HSPICE native IBIS exposes pad voltage plus internal Ku and Kd and is the coefficient-playback reference. The HSPICE transistor io_buf.sp run exposes pad voltage only and is a separate circuit-level reference. The ngspice candidate exposes pad, Ku, Kd, and hidden state diagnostics. The long pulse is a regression guard. Short-high and short-low pulses test interrupted transitions. Cached HSPICE results are reused whenever the deck and model hashes match, and no HSPICE data is used to derive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architecture at a high level before discussing equations. Input edges first pass through four direction-specific delays. The delayed commands drive two continuous states: GUP for pullup progress and GDN for pulldown progress. Direction-specific PWL maps convert those states into Ku and Kd. A small Kd residual restores dynamic detail that the static state map misses.</a:t>
            </a:r>
            <a:br/>
            <a:br/>
            <a:r>
              <a:t>At a reverse edge, only the targets change. GUP and GDN retain their present values and reverse continuously. This is the central difference from table replay. The method name two_state_directional_residual describes the three structural pieces: two stored states, different on/off mappings, and a Kd residual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capacitor is a numerical state-storage device in the generated SPICE, not a claim that it equals a particular transistor capacitance. A behavioral current source applies C times (target minus state) divided by tau. Because I = C dV/dt, the capacitor voltage obeys dG/dt = (target - G)/tau.</a:t>
            </a:r>
            <a:br/>
            <a:br/>
            <a:r>
              <a:t>If a reverse edge occurs when GUP is 0.31 and GDN is 0.42, the targets change but the capacitor voltages cannot jump. The next trajectory begins at exactly 0.31 and 0.42. Separate charging and discharging taus are selected according to whether the target is above or below the current state. Large leak resistors provide a DC path without materially changing the transient.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independently fitted processes. On a rising input, the pullup turns on with 1.302 ns delay and 1.284 ns tau, while the pulldown turns off with 1.443 ns delay and 0.237 ns tau. On a falling input, the pullup turns off with 0.440 ns delay and 0.363 ns tau, while the pulldown turns on with 2.480 ns delay and 0.275 ns tau.</a:t>
            </a:r>
            <a:br/>
            <a:br/>
            <a:r>
              <a:t>These labels and numbers match gate_fit_summary.csv and the generated subcircuit. The runtime map choice is also directional: target above state selects the on map, and target below state selects the off map. A single shared map failed because the same normalized state can correspond to different coefficient values on the on and off trajectories.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kr as the rising-input coefficient table and kf as the falling-input coefficient table. Each row contains time, Ku, and Kd. Therefore the available training traces are Ku-on and Kd-off from kr, plus Ku-off and Kd-on from kf.</a:t>
            </a:r>
            <a:br/>
            <a:br/>
            <a:r>
              <a:t>The endpoint estimator averages redundant settled values from both tables. Ku_off averages the beginning of the rising table and the end of the falling table. Ku_on averages the end of rising and beginning of falling. Kd uses the analogous pairings. The io_buf values shown on the slide are the exact values recorded in gate_fit_summary.csv. This is the full fitting input. HSPICE waveforms are deliberately absent.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Normalization removes the coefficient's endpoint scale. Progress is (K - K_start) divided by (K_end - K_start). If K decreases, the denominator is negative, so progress still increases from zero to one. This allows one timing extractor to work for all four processes.</a:t>
            </a:r>
            <a:br/>
            <a:br/>
            <a:r>
              <a:t>The implementation clips progress to -0.5 through 1.5, not zero through one. That wider diagnostic range preserves real table overshoot and undershoot for crossing detection and later residual analysis. crossing_time_ns sorts the samples and linearly interpolates the first crossing of each requested level. It does not assume uniformly spaced samples.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first-order template. Before the delay, the hidden state is stationary. After the delay it follows 1 - exp(-(t-delay)/tau) for an increasing transition. A first-order response reaches 63.2 percent after one tau and 90 percent after ln(10), or 2.3026, taus.</a:t>
            </a:r>
            <a:br/>
            <a:br/>
            <a:r>
              <a:t>The code sets delay to t05. It obtains one tau estimate from t63 minus delay and another from (t90 minus delay) divided by ln(10). It chooses the largest of those and a 20 ps floor. Choosing the larger estimate protects against a fast initial segment followed by a slower tail. This is a deterministic crossing-based estimate, not a nonlinear least-squares optimization of the whole trace.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original table time, gate_response computes x = max(0, t-delay), progress = 1-exp(-x/tau), and G = G_start + (G_end-G_start) times progress. Increasing and decreasing states use the same equation through their endpoints.</a:t>
            </a:r>
            <a:br/>
            <a:br/>
            <a:r>
              <a:t>GUP starts at zero for a settled low output and rises toward one when the pullup is commanded on. GDN starts at one and falls toward zero when the pulldown is commanded off. The falling input uses the opposite endpoints. GUP and GDN are latent normalized progress variables. They are not assumed equal to Ku and Kd; the next stage learns the nonlinear mapping from each G state to the measured coefficient.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each table sample time, the code now has both the fitted hidden state G(t) and the original coefficient K(t). It pairs them, sorts the pairs by G, averages duplicate G locations, and interpolates onto 81 evenly spaced state points from zero to one. Endpoints are set to the inferred settled coefficients.</a:t>
            </a:r>
            <a:br/>
            <a:br/>
            <a:r>
              <a:t>The operation is repeated independently for Ku-on, Ku-off, Kd-off, and Kd-on. Unlike the original single-map helper, the directional helper does not force the coefficient values to be monotonic. This is intentional because forcing monotonicity erased the negative Kd excursion. At runtime, the sign of target minus state selects the correct on or off map.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reconstruct Kd using only the direction-specific state map. Subtract that reconstruction from the original Kd table to obtain the residual. Separately compute dGDN/dt from the fitted first-order state. Offline this is the analytic exponential derivative; in SPICE it is evaluated causally as (target-GDN)/tau.</a:t>
            </a:r>
            <a:br/>
            <a:br/>
            <a:r>
              <a:t>The scalar rate gain is the least-squares projection of residual onto rate: dot(rate,residual) divided by dot(rate,rate). Its unit is ns because rate is state per ns. For io_buf the gain is 0.0002386915 ns. Runtime Kd adds three pieces: directional base map, an elapsed-edge-time residual table, and gain times dGDN/dt. Be explicit that the main state path is continuous, while the small residual-table term still retains edge-time indexing. That is a known architectural nuance, not hidden from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axes before interpreting the curves. The horizontal axis is normalized hidden state, not time. The vertical axis is Ku or Kd. Blue and orange are the two directions for the same network.</a:t>
            </a:r>
            <a:br/>
            <a:br/>
            <a:r>
              <a:t>The separation between the curves demonstrates directional hysteresis in the extracted representation: the same GUP or GDN value maps to different effective coefficients depending on whether the network is turning on or off. A single map would average across those branches and create reconstruction error. The plotted curves are the actual 81-point PWL data generated from the complete-edge tables.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plot shows dGDN/dt versus original table time. It is negative when the pulldown state is turning off and positive when it turns on. The right plot shows the residual after subtracting the direction-specific PWL reconstruction from the original Kd table.</a:t>
            </a:r>
            <a:br/>
            <a:br/>
            <a:r>
              <a:t>The strong negative region is the important feature. The earlier identity and static PWL models could not reproduce it and therefore failed the normal reconstruction gate. The residual table plus the small fitted rate term restores that feature well enough for the directional-residual variant to pass the offline gate. Passing this gate is necessary, but it does not by itself prove interrupted-pulse behavior.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artifacts from left to right. pybis extracts complete-edge Ku/Kd coefficient tables from io_buf.ibs. The directional fit converts those tables into endpoints, four delays, four taus, four PWL maps, two Kd residual traces, and one rate gain. The SPICE generator emits behavioral sources, transport delays, state capacitors, map lookup sources, and final coefficient nodes.</a:t>
            </a:r>
            <a:br/>
            <a:br/>
            <a:r>
              <a:t>The resulting subcircuit is inserted into an ngspice transient deck. Independent cached HSPICE native-IBIS and transistor-pad runs are loaded only during reporting. The normal generation path therefore requires the IBIS file and ngspice, not HSPICE.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close to the actual Python. The endpoint expressions show exactly which samples are averaged. coefficient_progress performs the normalization described earlier. crossing_time_ns finds the first interpolated crossing after sorting valid samples.</a:t>
            </a:r>
            <a:br/>
            <a:br/>
            <a:r>
              <a:t>The timing function applies the 5, 63.2, and 90 percent recipe. The 20 ps minimum prevents an unrealistically zero time constant from producing a numerically stiff or singular state equation. Four calls produce PU-on, PU-off, PD-on, and PD-off timing. The code uses nan-aware operations and finite fallbacks so a malformed endpoint does not silently propagate NaN into the netlist.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lines reconstruct GDN during the rising and falling complete-edge tables using their respective delays, taus, and endpoints. directional_gate_transfer_curve creates the two Kd maps by pairing each GDN sample with the original Kd sample.</a:t>
            </a:r>
            <a:br/>
            <a:br/>
            <a:r>
              <a:t>np.interp evaluates the map back at the reconstructed state to create Kd_base. Subtracting from the original table produces the residual. The dot-product expression is a one-parameter least-squares fit of residual against dGDN/dt. Ku follows the same map-construction process but does not receive this rate-residual term in the current best structural variant.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RISEEDGE and FALLEDGE are short event pulses generated by the input detector. Each event is copied through a transport delay implemented by a lossless 50 ohm T-line with a matched resistor. The four delayed nodes are PUONP, PUOFFP, PDOFFP, and PDONP.</a:t>
            </a:r>
            <a:br/>
            <a:br/>
            <a:r>
              <a:t>Those pulses add or remove charge from GUPCMD and GDNCMD command capacitors. Clamped behavioral sources convert the command levels into GUPTARGET and GDNTARGET in the zero-to-one range. Importantly, these are target states. The actual GUP and GDN capacitors are separate and evolve continuously. Pending delayed commands are not represented by simply restarting a Ku/Kd table.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GUP branch first. BGUP supplies current proportional to target minus state, divided by the on or off tau. CGUP stores the state voltage and starts at zero. The large resistor gives the node a DC reference. Combining I=C dV/dt with the source equation gives dGUP/dt=(target-GUP)/tau.</a:t>
            </a:r>
            <a:br/>
            <a:br/>
            <a:r>
              <a:t>GDN uses the same structure but starts at one. When GDNTARGET is above GDN, the pulldown-on tau is selected; when it is below, the pulldown-off tau is selected. A reverse command changes only the target and selected tau. The capacitor state itself cannot jump. gate_c cancels algebraically from the intended differential equation; its 1 pF value is a convenient numerical scaling.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behavioral sources choose an on or off PWL value by comparing target with current state. BGDNRATE computes dGDN/dt in per-ns units; multiplying the SI per-second expression by 1e-9 performs that unit conversion. BKDRES adds the residual table and the fitted rate contribution to Kd_base.</a:t>
            </a:r>
            <a:br/>
            <a:br/>
            <a:r>
              <a:t>KUGATE and KDGATE are target coefficients. Final Ku and Kd each have another small 5 ps capacitor-backed smoothing stage. This prevents ideal algebraic jumps when a map branch changes. These final nodes scale the IBIS pullup and pulldown I-V sources. The long PWL point lists are omitted on the slide, but the syntax and numerical constants match the generated subcircuit.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legitimacy gate applied before interpreting short pulses. The single-map model has worst max error about 0.205 and fails. Direction-specific maps reduce that to about 0.074 but still miss the required threshold. Adding the Kd residual reduces worst RMSE to 0.01994 and worst max error to 0.04869, which passes the predefined offline gate.</a:t>
            </a:r>
            <a:br/>
            <a:br/>
            <a:r>
              <a:t>The black curves are the original extracted tables and red curves are model reconstructions. This is not transient simulation output. It asks whether the compact representation can reproduce the normal complete-edge coefficient data from which it was derived.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long-pulse case protects behavior that legacy pybis already handles well. The directional-residual Ku and Kd shapes are close to native IBIS, but its pad RMSE is 18.739 mV versus 5.289 mV for legacy. Therefore this case is a warning, not a win.</a:t>
            </a:r>
            <a:br/>
            <a:br/>
            <a:r>
              <a:t>Point out that passing the offline reconstruction gate did not guarantee identical closed-loop transient behavior. Small coefficient timing differences interact with the nonlinear IBIS I-V tables and load. Any future promotion must preserve or explicitly hybridize the normal path rather than accepting this regression.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success case in the study. For the 2 ns short-low pulse, pad voltage, Ku, and Kd improve together relative to the coefficient reference. The directional-residual result has pad RMSE 23.271 mV, Ku RMSE 0.02141, and Kd RMSE 0.01319.</a:t>
            </a:r>
            <a:br/>
            <a:br/>
            <a:r>
              <a:t>Stress the interpretation rule: a pad waveform alone is not enough. This case is useful because the internal coefficients and output consequence agree at the same time. It demonstrates that the two-state directional structure can solve at least one interrupted-transition quadrant without a table restart.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1 ns short-high pulse, Ku remains partial and is close to native IBIS. The pad signal is also small, so its absolute RMSE of 21.914 mV looks attractive. However, Kd recovery is dramatically different and Kd RMSE is 0.48754.</a:t>
            </a:r>
            <a:br/>
            <a:br/>
            <a:r>
              <a:t>This is the clearest example of the coefficient-first rule. The load and pullup behavior make the small pad excursion relatively insensitive to the wrong pulldown coefficient, so pad agreement can hide a real model error. The current architecture still lacks the correct short-high Kd recovery staging or history variable.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transistor-level io_buf.sp run is a pad-only reference. It does not expose Ku or Kd because those are IBIS playback coefficients, not physical transistor observables. The plots therefore compare only pad voltage against the directional-residual model.</a:t>
            </a:r>
            <a:br/>
            <a:br/>
            <a:r>
              <a:t>The native IBIS and transistor references can differ substantially, including about 525 mV on the long-pulse pad in this study. That changes how claims must be phrased. Ku/Kd agreement measures consistency with native-IBIS playback. Transistor-pad agreement is a separate check of circuit-level output behavior. Neither should be silently substituted for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four gates. Offline complete-edge reconstruction passes. Normal long-pulse transient remains a warning because legacy is better. The 2 ns short-low case is good in pad and coefficients. The 1 ns short-high case remains open because Kd recovery is wrong.</a:t>
            </a:r>
            <a:br/>
            <a:br/>
            <a:r>
              <a:t>The proper conclusion is therefore structural progress, not production readiness. The method has demonstrated that continuous GUP/GDN states, direction-specific maps, and a rate residual are useful. It has not demonstrated a general replacement for legacy InputDriven across all pulse directions and widths.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static map shape is mostly solved, but recovery onset and hold behavior vary with interruption depth. A fixed recovery delay improves some widths and hurts others. The main-slope tau changes only about 1.086 times, so merely changing tau does not explain the missing early trajectory.</a:t>
            </a:r>
            <a:br/>
            <a:br/>
            <a:r>
              <a:t>The current GDN value at the reverse edge is also insufficient: it collapses the 500 ps and 1 ns cases to nearly the same state. A pulse-width hold law fit the training points but failed the held-out 1.5 ns case by 49.4 ps against a 30 ps gate. The evidence points to a missing causal recovery-phase or pending-command state, not a need for per-case tuning.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candidate should retain the current architecture and add only the missing recovery memory. Outside a proven interrupted window, preserve legacy-equivalent normal behavior. During interruption, track a causal state representing pending pulldown-off or recovery phase in addition to GDN amplitude.</a:t>
            </a:r>
            <a:br/>
            <a:br/>
            <a:r>
              <a:t>Validation must cover short-high, short-low, repeated toggles, multiple widths, and load changes. Ku and Kd remain primary gates, with pad as the physical consequence. Finally, repeat the method on additional IBIS buffers before changing the pybis default; a solution tuned only to io_buf is not a general algorithm.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three-part message. The problem is a restart assumption: legacy elapsed-time replay treats a reverse edge as if the previous transition had fully settled. The proposed solution stores two continuous gate-progress states, uses separate on/off maps, and adds a small Kd dynamic correction.</a:t>
            </a:r>
            <a:br/>
            <a:br/>
            <a:r>
              <a:t>The method is the best structural result so far because it passes complete-edge reconstruction and gives a coefficient-correct short-low result. It is not the default because normal-edge pad behavior regresses and short-high Kd recovery remains wrong. The next work is targeted: add a causal recovery-memory state while preserving the validated pieces and the long-pulse guard.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700" b="1">
                <a:latin typeface="Times New Roman"/>
              </a:defRPr>
            </a:pPr>
            <a:r>
              <a:t>Short-Pulse IBIS Simulation in Ngspice</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Simon Hwang</a:t>
            </a:r>
          </a:p>
          <a:p>
            <a:pPr algn="ctr">
              <a:defRPr sz="1600">
                <a:solidFill>
                  <a:srgbClr val="000000"/>
                </a:solidFill>
                <a:latin typeface="Times New Roman"/>
              </a:defRPr>
            </a:pPr>
            <a:r>
              <a:t>Advisor: Dr. Chulsoon Hwang</a:t>
            </a:r>
          </a:p>
          <a:p>
            <a:pPr algn="ctr">
              <a:defRPr sz="1600">
                <a:solidFill>
                  <a:srgbClr val="000000"/>
                </a:solidFill>
                <a:latin typeface="Times New Roman"/>
              </a:defRPr>
            </a:pPr>
            <a:r>
              <a:t>Dr. Zhiping Yang</a:t>
            </a:r>
          </a:p>
          <a:p>
            <a:pPr algn="ctr">
              <a:defRPr sz="1600">
                <a:solidFill>
                  <a:srgbClr val="000000"/>
                </a:solidFill>
                <a:latin typeface="Times New Roman"/>
              </a:defRPr>
            </a:pPr>
            <a:r>
              <a:t>7/14/2026</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BBA7EC2-F186-F9CE-2A2D-88170AB1F5AA}"/>
              </a:ext>
            </a:extLst>
          </p:cNvPr>
          <p:cNvSpPr>
            <a:spLocks noGrp="1"/>
          </p:cNvSpPr>
          <p:nvPr>
            <p:ph type="title"/>
          </p:nvPr>
        </p:nvSpPr>
        <p:spPr>
          <a:xfrm>
            <a:off x="304800" y="0"/>
            <a:ext cx="11277600" cy="762000"/>
          </a:xfrm>
        </p:spPr>
        <p:txBody>
          <a:bodyPr/>
          <a:lstStyle/>
          <a:p>
            <a:r>
              <a:rPr lang="en-US"/>
              <a:t>"Replay Problem" for Short Pulse</a:t>
            </a:r>
          </a:p>
        </p:txBody>
      </p:sp>
      <p:pic>
        <p:nvPicPr>
          <p:cNvPr id="4" name="Content Placeholder 3">
            <a:extLst>
              <a:ext uri="{FF2B5EF4-FFF2-40B4-BE49-F238E27FC236}">
                <a16:creationId xmlns:a16="http://schemas.microsoft.com/office/drawing/2014/main" id="{2A990DF7-389C-927C-B987-E1444E7BFB7B}"/>
              </a:ext>
            </a:extLst>
          </p:cNvPr>
          <p:cNvPicPr>
            <a:picLocks noGrp="1" noChangeAspect="1"/>
          </p:cNvPicPr>
          <p:nvPr>
            <p:ph idx="10"/>
          </p:nvPr>
        </p:nvPicPr>
        <p:blipFill>
          <a:blip r:embed="rId2"/>
          <a:stretch>
            <a:fillRect/>
          </a:stretch>
        </p:blipFill>
        <p:spPr bwMode="auto">
          <a:xfrm>
            <a:off x="1334469" y="1038225"/>
            <a:ext cx="9218261" cy="54387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Oval 1">
            <a:extLst>
              <a:ext uri="{FF2B5EF4-FFF2-40B4-BE49-F238E27FC236}">
                <a16:creationId xmlns:a16="http://schemas.microsoft.com/office/drawing/2014/main" id="{B0EC066C-F5AE-72AC-930B-4A0D4D22F94A}"/>
              </a:ext>
            </a:extLst>
          </p:cNvPr>
          <p:cNvSpPr/>
          <p:nvPr/>
        </p:nvSpPr>
        <p:spPr>
          <a:xfrm>
            <a:off x="7771062" y="4068010"/>
            <a:ext cx="352928" cy="339558"/>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 name="Straight Arrow Connector 2">
            <a:extLst>
              <a:ext uri="{FF2B5EF4-FFF2-40B4-BE49-F238E27FC236}">
                <a16:creationId xmlns:a16="http://schemas.microsoft.com/office/drawing/2014/main" id="{7C0A1381-A65E-8817-2AD5-70DEEC617C54}"/>
              </a:ext>
            </a:extLst>
          </p:cNvPr>
          <p:cNvCxnSpPr/>
          <p:nvPr/>
        </p:nvCxnSpPr>
        <p:spPr>
          <a:xfrm flipH="1">
            <a:off x="8200024" y="4017043"/>
            <a:ext cx="2929021" cy="18582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5401AE8-8FC8-6D37-ADC3-D9D4284AA120}"/>
              </a:ext>
            </a:extLst>
          </p:cNvPr>
          <p:cNvSpPr txBox="1"/>
          <p:nvPr/>
        </p:nvSpPr>
        <p:spPr>
          <a:xfrm>
            <a:off x="11112208" y="3659564"/>
            <a:ext cx="94018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0000"/>
                </a:solidFill>
              </a:rPr>
              <a:t>Ku replay from fully on state</a:t>
            </a:r>
          </a:p>
        </p:txBody>
      </p:sp>
    </p:spTree>
    <p:extLst>
      <p:ext uri="{BB962C8B-B14F-4D97-AF65-F5344CB8AC3E}">
        <p14:creationId xmlns:p14="http://schemas.microsoft.com/office/powerpoint/2010/main" val="203888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4EB13-B9C3-F7F9-94B8-D23417E911BD}"/>
              </a:ext>
            </a:extLst>
          </p:cNvPr>
          <p:cNvSpPr>
            <a:spLocks noGrp="1"/>
          </p:cNvSpPr>
          <p:nvPr>
            <p:ph type="title"/>
          </p:nvPr>
        </p:nvSpPr>
        <p:spPr/>
        <p:txBody>
          <a:bodyPr/>
          <a:lstStyle/>
          <a:p>
            <a:r>
              <a:rPr lang="en-US"/>
              <a:t>Why "Value-matched" Method Fails</a:t>
            </a:r>
          </a:p>
        </p:txBody>
      </p:sp>
      <p:pic>
        <p:nvPicPr>
          <p:cNvPr id="5" name="Content Placeholder 3" descr="A graph of a graph with blue and orange lines&#10;&#10;AI-generated content may be incorrect.">
            <a:extLst>
              <a:ext uri="{FF2B5EF4-FFF2-40B4-BE49-F238E27FC236}">
                <a16:creationId xmlns:a16="http://schemas.microsoft.com/office/drawing/2014/main" id="{BE900FA0-72C6-E45F-72CD-03A4927F132E}"/>
              </a:ext>
            </a:extLst>
          </p:cNvPr>
          <p:cNvPicPr>
            <a:picLocks noChangeAspect="1"/>
          </p:cNvPicPr>
          <p:nvPr/>
        </p:nvPicPr>
        <p:blipFill>
          <a:blip r:embed="rId2"/>
          <a:stretch>
            <a:fillRect/>
          </a:stretch>
        </p:blipFill>
        <p:spPr bwMode="auto">
          <a:xfrm>
            <a:off x="305531" y="1107741"/>
            <a:ext cx="4879351" cy="2658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9" name="Content Placeholder 3">
            <a:extLst>
              <a:ext uri="{FF2B5EF4-FFF2-40B4-BE49-F238E27FC236}">
                <a16:creationId xmlns:a16="http://schemas.microsoft.com/office/drawing/2014/main" id="{138B33D2-BC35-CFDB-4478-51CA14479C63}"/>
              </a:ext>
            </a:extLst>
          </p:cNvPr>
          <p:cNvPicPr>
            <a:picLocks noChangeAspect="1"/>
          </p:cNvPicPr>
          <p:nvPr/>
        </p:nvPicPr>
        <p:blipFill>
          <a:blip r:embed="rId3"/>
          <a:stretch>
            <a:fillRect/>
          </a:stretch>
        </p:blipFill>
        <p:spPr bwMode="auto">
          <a:xfrm>
            <a:off x="302476" y="3920838"/>
            <a:ext cx="4877820" cy="27116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1" name="Content Placeholder 3" descr="A diagram of a graph&#10;&#10;AI-generated content may be incorrect.">
            <a:extLst>
              <a:ext uri="{FF2B5EF4-FFF2-40B4-BE49-F238E27FC236}">
                <a16:creationId xmlns:a16="http://schemas.microsoft.com/office/drawing/2014/main" id="{00F14236-26FB-2194-DE62-9B9BEB7D9DAF}"/>
              </a:ext>
            </a:extLst>
          </p:cNvPr>
          <p:cNvPicPr>
            <a:picLocks noChangeAspect="1"/>
          </p:cNvPicPr>
          <p:nvPr/>
        </p:nvPicPr>
        <p:blipFill>
          <a:blip r:embed="rId4"/>
          <a:srcRect l="770" t="48198" r="-122" b="-134"/>
          <a:stretch>
            <a:fillRect/>
          </a:stretch>
        </p:blipFill>
        <p:spPr bwMode="auto">
          <a:xfrm>
            <a:off x="5674605" y="2406579"/>
            <a:ext cx="5694413" cy="27217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31B5595B-1AE1-EF89-2A23-60D46DC1BDC6}"/>
              </a:ext>
            </a:extLst>
          </p:cNvPr>
          <p:cNvSpPr/>
          <p:nvPr/>
        </p:nvSpPr>
        <p:spPr>
          <a:xfrm>
            <a:off x="1530517" y="1029201"/>
            <a:ext cx="2525294" cy="245978"/>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extBox 2">
            <a:extLst>
              <a:ext uri="{FF2B5EF4-FFF2-40B4-BE49-F238E27FC236}">
                <a16:creationId xmlns:a16="http://schemas.microsoft.com/office/drawing/2014/main" id="{128158EA-64A5-8FA7-BB3E-BB7038C7B721}"/>
              </a:ext>
            </a:extLst>
          </p:cNvPr>
          <p:cNvSpPr txBox="1"/>
          <p:nvPr/>
        </p:nvSpPr>
        <p:spPr>
          <a:xfrm>
            <a:off x="870287" y="938871"/>
            <a:ext cx="385200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Mid-transition </a:t>
            </a:r>
            <a:r>
              <a:rPr lang="en-US" sz="1600" dirty="0" err="1"/>
              <a:t>Ku_rising</a:t>
            </a:r>
            <a:r>
              <a:rPr lang="en-US" sz="1600" dirty="0"/>
              <a:t>/</a:t>
            </a:r>
            <a:r>
              <a:rPr lang="en-US" sz="1600" dirty="0" err="1"/>
              <a:t>Kd_rising</a:t>
            </a:r>
            <a:r>
              <a:rPr lang="en-US" sz="1600" dirty="0"/>
              <a:t>:</a:t>
            </a:r>
          </a:p>
        </p:txBody>
      </p:sp>
      <p:sp>
        <p:nvSpPr>
          <p:cNvPr id="6" name="Rectangle 5">
            <a:extLst>
              <a:ext uri="{FF2B5EF4-FFF2-40B4-BE49-F238E27FC236}">
                <a16:creationId xmlns:a16="http://schemas.microsoft.com/office/drawing/2014/main" id="{6E852EF4-8601-2FAA-1C83-6F6FE631F185}"/>
              </a:ext>
            </a:extLst>
          </p:cNvPr>
          <p:cNvSpPr/>
          <p:nvPr/>
        </p:nvSpPr>
        <p:spPr>
          <a:xfrm>
            <a:off x="1252287" y="3832392"/>
            <a:ext cx="2939715" cy="1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extBox 6">
            <a:extLst>
              <a:ext uri="{FF2B5EF4-FFF2-40B4-BE49-F238E27FC236}">
                <a16:creationId xmlns:a16="http://schemas.microsoft.com/office/drawing/2014/main" id="{93F4E16B-14D1-9031-0182-C52568003CDA}"/>
              </a:ext>
            </a:extLst>
          </p:cNvPr>
          <p:cNvSpPr txBox="1"/>
          <p:nvPr/>
        </p:nvSpPr>
        <p:spPr>
          <a:xfrm>
            <a:off x="596234" y="3739554"/>
            <a:ext cx="439342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Mapping to </a:t>
            </a:r>
            <a:r>
              <a:rPr lang="en-US" sz="1600" dirty="0" err="1"/>
              <a:t>Ku_falling</a:t>
            </a:r>
            <a:r>
              <a:rPr lang="en-US" sz="1600" dirty="0"/>
              <a:t>/</a:t>
            </a:r>
            <a:r>
              <a:rPr lang="en-US" sz="1600" dirty="0" err="1"/>
              <a:t>Kd_falling</a:t>
            </a:r>
            <a:r>
              <a:rPr lang="en-US" sz="1600" dirty="0"/>
              <a:t> tables:</a:t>
            </a:r>
            <a:endParaRPr lang="en-US" dirty="0"/>
          </a:p>
        </p:txBody>
      </p:sp>
      <p:sp>
        <p:nvSpPr>
          <p:cNvPr id="8" name="TextBox 7">
            <a:extLst>
              <a:ext uri="{FF2B5EF4-FFF2-40B4-BE49-F238E27FC236}">
                <a16:creationId xmlns:a16="http://schemas.microsoft.com/office/drawing/2014/main" id="{3A1A31A9-689D-B05E-AC87-D334C700DC3F}"/>
              </a:ext>
            </a:extLst>
          </p:cNvPr>
          <p:cNvSpPr txBox="1"/>
          <p:nvPr/>
        </p:nvSpPr>
        <p:spPr>
          <a:xfrm>
            <a:off x="5255128" y="1974923"/>
            <a:ext cx="653905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t>Resulting Ku_ falling/</a:t>
            </a:r>
            <a:r>
              <a:rPr lang="en-US" sz="1600" dirty="0" err="1"/>
              <a:t>Kd_falling</a:t>
            </a:r>
            <a:r>
              <a:rPr lang="en-US" sz="1600" dirty="0"/>
              <a:t> during simulation vs. HSPICE Ku/</a:t>
            </a:r>
            <a:r>
              <a:rPr lang="en-US" sz="1600" dirty="0" err="1"/>
              <a:t>Kd</a:t>
            </a:r>
            <a:r>
              <a:rPr lang="en-US" sz="1600" dirty="0"/>
              <a:t>:</a:t>
            </a:r>
            <a:endParaRPr lang="en-US" dirty="0" err="1"/>
          </a:p>
        </p:txBody>
      </p:sp>
    </p:spTree>
    <p:extLst>
      <p:ext uri="{BB962C8B-B14F-4D97-AF65-F5344CB8AC3E}">
        <p14:creationId xmlns:p14="http://schemas.microsoft.com/office/powerpoint/2010/main" val="2287467823"/>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What are Ku and Kd?</a:t>
            </a:r>
          </a:p>
        </p:txBody>
      </p:sp>
      <p:sp>
        <p:nvSpPr>
          <p:cNvPr id="3" name="TextBox 2"/>
          <p:cNvSpPr txBox="1"/>
          <p:nvPr/>
        </p:nvSpPr>
        <p:spPr>
          <a:xfrm>
            <a:off x="502920" y="850392"/>
            <a:ext cx="10972800" cy="384048"/>
          </a:xfrm>
          <a:prstGeom prst="rect">
            <a:avLst/>
          </a:prstGeom>
          <a:noFill/>
        </p:spPr>
        <p:txBody>
          <a:bodyPr wrap="square" lIns="45720" rIns="45720" anchor="t">
            <a:spAutoFit/>
          </a:bodyPr>
          <a:lstStyle/>
          <a:p>
            <a:pPr algn="ctr">
              <a:defRPr sz="1900" b="1">
                <a:solidFill>
                  <a:srgbClr val="191F1C"/>
                </a:solidFill>
                <a:latin typeface="Aptos"/>
              </a:defRPr>
            </a:pPr>
            <a:r>
              <a:t>An output buffer is two controlled current networks sharing one pad.</a:t>
            </a:r>
          </a:p>
        </p:txBody>
      </p:sp>
      <p:sp>
        <p:nvSpPr>
          <p:cNvPr id="4" name="Rounded Rectangle 3"/>
          <p:cNvSpPr/>
          <p:nvPr/>
        </p:nvSpPr>
        <p:spPr>
          <a:xfrm>
            <a:off x="594360" y="2148840"/>
            <a:ext cx="1234440" cy="77724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Input</a:t>
            </a:r>
            <a:br/>
            <a:r>
              <a:t>command</a:t>
            </a:r>
          </a:p>
        </p:txBody>
      </p:sp>
      <p:cxnSp>
        <p:nvCxnSpPr>
          <p:cNvPr id="5" name="Connector 4"/>
          <p:cNvCxnSpPr/>
          <p:nvPr/>
        </p:nvCxnSpPr>
        <p:spPr>
          <a:xfrm>
            <a:off x="1828800" y="2542032"/>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514600" y="1508760"/>
            <a:ext cx="3886200" cy="219456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Output buffer</a:t>
            </a:r>
          </a:p>
        </p:txBody>
      </p:sp>
      <p:sp>
        <p:nvSpPr>
          <p:cNvPr id="7" name="Rounded Rectangle 6"/>
          <p:cNvSpPr/>
          <p:nvPr/>
        </p:nvSpPr>
        <p:spPr>
          <a:xfrm>
            <a:off x="2852928" y="1965960"/>
            <a:ext cx="3200400" cy="585216"/>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0">
                <a:solidFill>
                  <a:srgbClr val="191F1C"/>
                </a:solidFill>
                <a:latin typeface="Aptos"/>
              </a:defRPr>
            </a:pPr>
            <a:r>
              <a:t>Pullup network</a:t>
            </a:r>
            <a:br/>
            <a:r>
              <a:t>connects toward 3.3 V</a:t>
            </a:r>
          </a:p>
        </p:txBody>
      </p:sp>
      <p:sp>
        <p:nvSpPr>
          <p:cNvPr id="8" name="Rounded Rectangle 7"/>
          <p:cNvSpPr/>
          <p:nvPr/>
        </p:nvSpPr>
        <p:spPr>
          <a:xfrm>
            <a:off x="2852928" y="2788920"/>
            <a:ext cx="3200400" cy="585216"/>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0">
                <a:solidFill>
                  <a:srgbClr val="191F1C"/>
                </a:solidFill>
                <a:latin typeface="Aptos"/>
              </a:defRPr>
            </a:pPr>
            <a:r>
              <a:t>Pulldown network</a:t>
            </a:r>
            <a:br/>
            <a:r>
              <a:t>connects toward ground</a:t>
            </a:r>
          </a:p>
        </p:txBody>
      </p:sp>
      <p:cxnSp>
        <p:nvCxnSpPr>
          <p:cNvPr id="9" name="Connector 8"/>
          <p:cNvCxnSpPr/>
          <p:nvPr/>
        </p:nvCxnSpPr>
        <p:spPr>
          <a:xfrm>
            <a:off x="6400800" y="2542032"/>
            <a:ext cx="73152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132320" y="2148840"/>
            <a:ext cx="1234440" cy="77724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PAD</a:t>
            </a:r>
            <a:br/>
            <a:r>
              <a:t>voltage</a:t>
            </a:r>
          </a:p>
        </p:txBody>
      </p:sp>
      <p:sp>
        <p:nvSpPr>
          <p:cNvPr id="11" name="Rounded Rectangle 10"/>
          <p:cNvSpPr/>
          <p:nvPr/>
        </p:nvSpPr>
        <p:spPr>
          <a:xfrm>
            <a:off x="8823960" y="1444752"/>
            <a:ext cx="2514600" cy="114300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Ku = pullup strength</a:t>
            </a:r>
            <a:br/>
            <a:r>
              <a:t>1: fully enabled</a:t>
            </a:r>
            <a:br/>
            <a:r>
              <a:t>0: off</a:t>
            </a:r>
          </a:p>
        </p:txBody>
      </p:sp>
      <p:sp>
        <p:nvSpPr>
          <p:cNvPr id="12" name="Rounded Rectangle 11"/>
          <p:cNvSpPr/>
          <p:nvPr/>
        </p:nvSpPr>
        <p:spPr>
          <a:xfrm>
            <a:off x="8823960" y="2788920"/>
            <a:ext cx="2514600" cy="114300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 = pulldown strength</a:t>
            </a:r>
            <a:br/>
            <a:r>
              <a:t>1: fully enabled</a:t>
            </a:r>
            <a:br/>
            <a:r>
              <a:t>0: off</a:t>
            </a:r>
          </a:p>
        </p:txBody>
      </p:sp>
      <p:sp>
        <p:nvSpPr>
          <p:cNvPr id="13" name="Rounded Rectangle 12"/>
          <p:cNvSpPr/>
          <p:nvPr/>
        </p:nvSpPr>
        <p:spPr>
          <a:xfrm>
            <a:off x="914400" y="4709160"/>
            <a:ext cx="1920240" cy="5029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Input goes HIGH</a:t>
            </a:r>
          </a:p>
        </p:txBody>
      </p:sp>
      <p:cxnSp>
        <p:nvCxnSpPr>
          <p:cNvPr id="14" name="Connector 13"/>
          <p:cNvCxnSpPr/>
          <p:nvPr/>
        </p:nvCxnSpPr>
        <p:spPr>
          <a:xfrm>
            <a:off x="2834640" y="4965192"/>
            <a:ext cx="5486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83280" y="4709160"/>
            <a:ext cx="2194560" cy="5029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 rises; Kd falls</a:t>
            </a:r>
          </a:p>
        </p:txBody>
      </p:sp>
      <p:cxnSp>
        <p:nvCxnSpPr>
          <p:cNvPr id="16" name="Connector 15"/>
          <p:cNvCxnSpPr/>
          <p:nvPr/>
        </p:nvCxnSpPr>
        <p:spPr>
          <a:xfrm>
            <a:off x="5577840" y="4965192"/>
            <a:ext cx="5486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126480" y="4709160"/>
            <a:ext cx="1645920" cy="5029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PAD rises</a:t>
            </a:r>
          </a:p>
        </p:txBody>
      </p:sp>
      <p:sp>
        <p:nvSpPr>
          <p:cNvPr id="18" name="TextBox 17"/>
          <p:cNvSpPr txBox="1"/>
          <p:nvPr/>
        </p:nvSpPr>
        <p:spPr>
          <a:xfrm>
            <a:off x="8092440" y="4590288"/>
            <a:ext cx="3200400" cy="777240"/>
          </a:xfrm>
          <a:prstGeom prst="rect">
            <a:avLst/>
          </a:prstGeom>
          <a:noFill/>
        </p:spPr>
        <p:txBody>
          <a:bodyPr wrap="square" lIns="45720" rIns="45720" anchor="t">
            <a:spAutoFit/>
          </a:bodyPr>
          <a:lstStyle/>
          <a:p>
            <a:pPr algn="ctr">
              <a:defRPr sz="1500" b="1">
                <a:solidFill>
                  <a:srgbClr val="CA3030"/>
                </a:solidFill>
                <a:latin typeface="Aptos"/>
              </a:defRPr>
            </a:pPr>
            <a:r>
              <a:t>A short pulse reverses the command before these strengths finish moving.</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Ku/Kd describe effective drive strength. The hard case is preserving their unfinished history.</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Conceptual diagram; Ku/Kd interpretation follows the io_buf native-IBIS and pybis coefficient convention.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Controlled experiment: same stimulus, three references</a:t>
            </a:r>
          </a:p>
        </p:txBody>
      </p:sp>
      <p:sp>
        <p:nvSpPr>
          <p:cNvPr id="3" name="TextBox 2"/>
          <p:cNvSpPr txBox="1"/>
          <p:nvPr/>
        </p:nvSpPr>
        <p:spPr>
          <a:xfrm>
            <a:off x="566928" y="914400"/>
            <a:ext cx="1828800" cy="320040"/>
          </a:xfrm>
          <a:prstGeom prst="rect">
            <a:avLst/>
          </a:prstGeom>
          <a:noFill/>
        </p:spPr>
        <p:txBody>
          <a:bodyPr wrap="square" lIns="45720" rIns="45720" anchor="t">
            <a:spAutoFit/>
          </a:bodyPr>
          <a:lstStyle/>
          <a:p>
            <a:pPr algn="l">
              <a:defRPr sz="1900" b="1">
                <a:solidFill>
                  <a:srgbClr val="2B7A43"/>
                </a:solidFill>
                <a:latin typeface="Aptos"/>
              </a:defRPr>
            </a:pPr>
            <a:r>
              <a:t>Testbench</a:t>
            </a:r>
          </a:p>
        </p:txBody>
      </p:sp>
      <p:sp>
        <p:nvSpPr>
          <p:cNvPr id="4" name="Rounded Rectangle 3"/>
          <p:cNvSpPr/>
          <p:nvPr/>
        </p:nvSpPr>
        <p:spPr>
          <a:xfrm>
            <a:off x="640080" y="1417320"/>
            <a:ext cx="1600200" cy="82296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1 ps edge</a:t>
            </a:r>
            <a:br/>
            <a:r>
              <a:t>3.3 V input</a:t>
            </a:r>
          </a:p>
        </p:txBody>
      </p:sp>
      <p:cxnSp>
        <p:nvCxnSpPr>
          <p:cNvPr id="5" name="Connector 4"/>
          <p:cNvCxnSpPr/>
          <p:nvPr/>
        </p:nvCxnSpPr>
        <p:spPr>
          <a:xfrm>
            <a:off x="2240280" y="1828800"/>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26080" y="1417320"/>
            <a:ext cx="182880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io_buf driver</a:t>
            </a:r>
          </a:p>
        </p:txBody>
      </p:sp>
      <p:cxnSp>
        <p:nvCxnSpPr>
          <p:cNvPr id="7" name="Connector 6"/>
          <p:cNvCxnSpPr/>
          <p:nvPr/>
        </p:nvCxnSpPr>
        <p:spPr>
          <a:xfrm>
            <a:off x="4754880" y="1828800"/>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40680" y="1536192"/>
            <a:ext cx="1097280" cy="585216"/>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PAD</a:t>
            </a:r>
          </a:p>
        </p:txBody>
      </p:sp>
      <p:cxnSp>
        <p:nvCxnSpPr>
          <p:cNvPr id="9" name="Connector 8"/>
          <p:cNvCxnSpPr/>
          <p:nvPr/>
        </p:nvCxnSpPr>
        <p:spPr>
          <a:xfrm>
            <a:off x="6537960" y="1828800"/>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23760" y="1417320"/>
            <a:ext cx="1920240" cy="82296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50 ohm || 2 pF</a:t>
            </a:r>
          </a:p>
        </p:txBody>
      </p:sp>
      <p:sp>
        <p:nvSpPr>
          <p:cNvPr id="11" name="TextBox 10"/>
          <p:cNvSpPr txBox="1"/>
          <p:nvPr/>
        </p:nvSpPr>
        <p:spPr>
          <a:xfrm>
            <a:off x="566928" y="2743200"/>
            <a:ext cx="2926080" cy="320040"/>
          </a:xfrm>
          <a:prstGeom prst="rect">
            <a:avLst/>
          </a:prstGeom>
          <a:noFill/>
        </p:spPr>
        <p:txBody>
          <a:bodyPr wrap="square" lIns="45720" rIns="45720" anchor="t">
            <a:spAutoFit/>
          </a:bodyPr>
          <a:lstStyle/>
          <a:p>
            <a:pPr algn="l">
              <a:defRPr sz="1900" b="1">
                <a:solidFill>
                  <a:srgbClr val="2B7A43"/>
                </a:solidFill>
                <a:latin typeface="Aptos"/>
              </a:defRPr>
            </a:pPr>
            <a:r>
              <a:t>What each flow tells us</a:t>
            </a:r>
          </a:p>
        </p:txBody>
      </p:sp>
      <p:sp>
        <p:nvSpPr>
          <p:cNvPr id="12" name="Rounded Rectangle 11"/>
          <p:cNvSpPr/>
          <p:nvPr/>
        </p:nvSpPr>
        <p:spPr>
          <a:xfrm>
            <a:off x="658368" y="3246120"/>
            <a:ext cx="3337560" cy="1143000"/>
          </a:xfrm>
          <a:prstGeom prst="roundRect">
            <a:avLst/>
          </a:prstGeom>
          <a:solidFill>
            <a:srgbClr val="F5F5F5"/>
          </a:solidFill>
          <a:ln w="15875">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HSPICE native IBIS</a:t>
            </a:r>
            <a:br/>
            <a:r>
              <a:t>Pad + Ku + Kd</a:t>
            </a:r>
            <a:br/>
            <a:r>
              <a:t>Playback reference</a:t>
            </a:r>
          </a:p>
        </p:txBody>
      </p:sp>
      <p:sp>
        <p:nvSpPr>
          <p:cNvPr id="13" name="Rounded Rectangle 12"/>
          <p:cNvSpPr/>
          <p:nvPr/>
        </p:nvSpPr>
        <p:spPr>
          <a:xfrm>
            <a:off x="4407408" y="3246120"/>
            <a:ext cx="3337560" cy="11430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HSPICE transistor io_buf.sp</a:t>
            </a:r>
            <a:br/>
            <a:r>
              <a:t>Pad only</a:t>
            </a:r>
            <a:br/>
            <a:r>
              <a:t>Circuit-level reference</a:t>
            </a:r>
          </a:p>
        </p:txBody>
      </p:sp>
      <p:sp>
        <p:nvSpPr>
          <p:cNvPr id="14" name="Rounded Rectangle 13"/>
          <p:cNvSpPr/>
          <p:nvPr/>
        </p:nvSpPr>
        <p:spPr>
          <a:xfrm>
            <a:off x="8156448" y="3246120"/>
            <a:ext cx="3337560" cy="11430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ngspice + pybis candidate</a:t>
            </a:r>
            <a:br/>
            <a:r>
              <a:t>Pad + Ku + Kd + hidden states</a:t>
            </a:r>
            <a:br/>
            <a:r>
              <a:t>Algorithm under test</a:t>
            </a:r>
          </a:p>
        </p:txBody>
      </p:sp>
      <p:sp>
        <p:nvSpPr>
          <p:cNvPr id="15" name="Rounded Rectangle 14"/>
          <p:cNvSpPr/>
          <p:nvPr/>
        </p:nvSpPr>
        <p:spPr>
          <a:xfrm>
            <a:off x="914400" y="4937760"/>
            <a:ext cx="1920240" cy="530352"/>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Long pulse</a:t>
            </a:r>
          </a:p>
        </p:txBody>
      </p:sp>
      <p:sp>
        <p:nvSpPr>
          <p:cNvPr id="16" name="TextBox 15"/>
          <p:cNvSpPr txBox="1"/>
          <p:nvPr/>
        </p:nvSpPr>
        <p:spPr>
          <a:xfrm>
            <a:off x="2971800" y="4983480"/>
            <a:ext cx="3108960" cy="329184"/>
          </a:xfrm>
          <a:prstGeom prst="rect">
            <a:avLst/>
          </a:prstGeom>
          <a:noFill/>
        </p:spPr>
        <p:txBody>
          <a:bodyPr wrap="square" lIns="45720" rIns="45720" anchor="t">
            <a:spAutoFit/>
          </a:bodyPr>
          <a:lstStyle/>
          <a:p>
            <a:pPr algn="l">
              <a:defRPr sz="1600" b="0">
                <a:solidFill>
                  <a:srgbClr val="191F1C"/>
                </a:solidFill>
                <a:latin typeface="Aptos"/>
              </a:defRPr>
            </a:pPr>
            <a:r>
              <a:t>Normal-operation regression guard</a:t>
            </a:r>
          </a:p>
        </p:txBody>
      </p:sp>
      <p:sp>
        <p:nvSpPr>
          <p:cNvPr id="17" name="Rounded Rectangle 16"/>
          <p:cNvSpPr/>
          <p:nvPr/>
        </p:nvSpPr>
        <p:spPr>
          <a:xfrm>
            <a:off x="6400800" y="4937760"/>
            <a:ext cx="2377440" cy="530352"/>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Short high / short low</a:t>
            </a:r>
          </a:p>
        </p:txBody>
      </p:sp>
      <p:sp>
        <p:nvSpPr>
          <p:cNvPr id="18" name="TextBox 17"/>
          <p:cNvSpPr txBox="1"/>
          <p:nvPr/>
        </p:nvSpPr>
        <p:spPr>
          <a:xfrm>
            <a:off x="8915400" y="4983480"/>
            <a:ext cx="2423160" cy="329184"/>
          </a:xfrm>
          <a:prstGeom prst="rect">
            <a:avLst/>
          </a:prstGeom>
          <a:noFill/>
        </p:spPr>
        <p:txBody>
          <a:bodyPr wrap="square" lIns="45720" rIns="45720" anchor="t">
            <a:spAutoFit/>
          </a:bodyPr>
          <a:lstStyle/>
          <a:p>
            <a:pPr algn="l">
              <a:defRPr sz="1600" b="0">
                <a:solidFill>
                  <a:srgbClr val="191F1C"/>
                </a:solidFill>
                <a:latin typeface="Aptos"/>
              </a:defRPr>
            </a:pPr>
            <a:r>
              <a:t>Interrupted-transition challenge</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HSPICE validates the result; no HSPICE waveform is used to fit the ngspice model.</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study setup: results/io_buf_two_state_gate_model_2026-06-30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Proposed solution: remember two hidden gate states</a:t>
            </a:r>
          </a:p>
        </p:txBody>
      </p:sp>
      <p:sp>
        <p:nvSpPr>
          <p:cNvPr id="3" name="Rounded Rectangle 2"/>
          <p:cNvSpPr/>
          <p:nvPr/>
        </p:nvSpPr>
        <p:spPr>
          <a:xfrm>
            <a:off x="411480" y="1874519"/>
            <a:ext cx="1234440" cy="9601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Input edge</a:t>
            </a:r>
          </a:p>
        </p:txBody>
      </p:sp>
      <p:cxnSp>
        <p:nvCxnSpPr>
          <p:cNvPr id="4" name="Connector 3"/>
          <p:cNvCxnSpPr/>
          <p:nvPr/>
        </p:nvCxnSpPr>
        <p:spPr>
          <a:xfrm>
            <a:off x="1645920" y="2359152"/>
            <a:ext cx="347472"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1993392" y="1874519"/>
            <a:ext cx="132588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Directional</a:t>
            </a:r>
            <a:br/>
            <a:r>
              <a:t>delays</a:t>
            </a:r>
          </a:p>
        </p:txBody>
      </p:sp>
      <p:cxnSp>
        <p:nvCxnSpPr>
          <p:cNvPr id="6" name="Connector 5"/>
          <p:cNvCxnSpPr/>
          <p:nvPr/>
        </p:nvCxnSpPr>
        <p:spPr>
          <a:xfrm>
            <a:off x="3319272" y="2359152"/>
            <a:ext cx="356615"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675887" y="1874519"/>
            <a:ext cx="155448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GUP / GDN</a:t>
            </a:r>
            <a:br/>
            <a:r>
              <a:t>continuous states</a:t>
            </a:r>
          </a:p>
        </p:txBody>
      </p:sp>
      <p:cxnSp>
        <p:nvCxnSpPr>
          <p:cNvPr id="8" name="Connector 7"/>
          <p:cNvCxnSpPr/>
          <p:nvPr/>
        </p:nvCxnSpPr>
        <p:spPr>
          <a:xfrm>
            <a:off x="5230368" y="2359152"/>
            <a:ext cx="329184"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559552" y="1874519"/>
            <a:ext cx="160020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Direction-specific</a:t>
            </a:r>
            <a:br/>
            <a:r>
              <a:t>PWL maps</a:t>
            </a:r>
          </a:p>
        </p:txBody>
      </p:sp>
      <p:cxnSp>
        <p:nvCxnSpPr>
          <p:cNvPr id="10" name="Connector 9"/>
          <p:cNvCxnSpPr/>
          <p:nvPr/>
        </p:nvCxnSpPr>
        <p:spPr>
          <a:xfrm>
            <a:off x="7159752" y="2359152"/>
            <a:ext cx="365760"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525512" y="1874519"/>
            <a:ext cx="1325880" cy="960120"/>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Kd rate</a:t>
            </a:r>
            <a:br/>
            <a:r>
              <a:t>residual</a:t>
            </a:r>
          </a:p>
        </p:txBody>
      </p:sp>
      <p:cxnSp>
        <p:nvCxnSpPr>
          <p:cNvPr id="12" name="Connector 11"/>
          <p:cNvCxnSpPr/>
          <p:nvPr/>
        </p:nvCxnSpPr>
        <p:spPr>
          <a:xfrm>
            <a:off x="8851392" y="2359152"/>
            <a:ext cx="402336"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253728" y="1874519"/>
            <a:ext cx="960120" cy="96012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Ku / Kd</a:t>
            </a:r>
          </a:p>
        </p:txBody>
      </p:sp>
      <p:cxnSp>
        <p:nvCxnSpPr>
          <p:cNvPr id="14" name="Connector 13"/>
          <p:cNvCxnSpPr/>
          <p:nvPr/>
        </p:nvCxnSpPr>
        <p:spPr>
          <a:xfrm>
            <a:off x="10213848" y="2359152"/>
            <a:ext cx="283464" cy="0"/>
          </a:xfrm>
          <a:prstGeom prst="line">
            <a:avLst/>
          </a:prstGeom>
          <a:ln w="22860">
            <a:solidFill>
              <a:srgbClr val="2B7A43"/>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497312" y="1874519"/>
            <a:ext cx="1234440" cy="96012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IBIS currents</a:t>
            </a:r>
            <a:br/>
            <a:r>
              <a:t>and PAD</a:t>
            </a:r>
          </a:p>
        </p:txBody>
      </p:sp>
      <p:sp>
        <p:nvSpPr>
          <p:cNvPr id="16" name="TextBox 15"/>
          <p:cNvSpPr txBox="1"/>
          <p:nvPr/>
        </p:nvSpPr>
        <p:spPr>
          <a:xfrm>
            <a:off x="685800" y="3429000"/>
            <a:ext cx="3840480" cy="320040"/>
          </a:xfrm>
          <a:prstGeom prst="rect">
            <a:avLst/>
          </a:prstGeom>
          <a:noFill/>
        </p:spPr>
        <p:txBody>
          <a:bodyPr wrap="square" lIns="45720" rIns="45720" anchor="t">
            <a:spAutoFit/>
          </a:bodyPr>
          <a:lstStyle/>
          <a:p>
            <a:pPr algn="l">
              <a:defRPr sz="1900" b="1">
                <a:solidFill>
                  <a:srgbClr val="2B7A43"/>
                </a:solidFill>
                <a:latin typeface="Aptos"/>
              </a:defRPr>
            </a:pPr>
            <a:r>
              <a:t>What changes at a reverse edge?</a:t>
            </a:r>
          </a:p>
        </p:txBody>
      </p:sp>
      <p:sp>
        <p:nvSpPr>
          <p:cNvPr id="17" name="TextBox 16"/>
          <p:cNvSpPr txBox="1"/>
          <p:nvPr/>
        </p:nvSpPr>
        <p:spPr>
          <a:xfrm>
            <a:off x="731520" y="3822191"/>
            <a:ext cx="4937760" cy="1572768"/>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The command target changes direction.</a:t>
            </a:r>
          </a:p>
          <a:p>
            <a:pPr>
              <a:spcAft>
                <a:spcPts val="700"/>
              </a:spcAft>
              <a:defRPr sz="1600">
                <a:solidFill>
                  <a:srgbClr val="191F1C"/>
                </a:solidFill>
                <a:latin typeface="Aptos"/>
              </a:defRPr>
            </a:pPr>
            <a:r>
              <a:t>- GUP and GDN continue from their present values.</a:t>
            </a:r>
          </a:p>
          <a:p>
            <a:pPr>
              <a:spcAft>
                <a:spcPts val="700"/>
              </a:spcAft>
              <a:defRPr sz="1600">
                <a:solidFill>
                  <a:srgbClr val="191F1C"/>
                </a:solidFill>
                <a:latin typeface="Aptos"/>
              </a:defRPr>
            </a:pPr>
            <a:r>
              <a:t>- Ku and Kd remain continuous; nothing restarts at t = 0.</a:t>
            </a:r>
          </a:p>
        </p:txBody>
      </p:sp>
      <p:sp>
        <p:nvSpPr>
          <p:cNvPr id="18" name="TextBox 17"/>
          <p:cNvSpPr txBox="1"/>
          <p:nvPr/>
        </p:nvSpPr>
        <p:spPr>
          <a:xfrm>
            <a:off x="6217920" y="3429000"/>
            <a:ext cx="4846320" cy="320040"/>
          </a:xfrm>
          <a:prstGeom prst="rect">
            <a:avLst/>
          </a:prstGeom>
          <a:noFill/>
        </p:spPr>
        <p:txBody>
          <a:bodyPr wrap="square" lIns="45720" rIns="45720" anchor="t">
            <a:spAutoFit/>
          </a:bodyPr>
          <a:lstStyle/>
          <a:p>
            <a:pPr algn="l">
              <a:defRPr sz="1900" b="1">
                <a:solidFill>
                  <a:srgbClr val="2B7A43"/>
                </a:solidFill>
                <a:latin typeface="Aptos"/>
              </a:defRPr>
            </a:pPr>
            <a:r>
              <a:t>What is learned from the IBIS tables?</a:t>
            </a:r>
          </a:p>
        </p:txBody>
      </p:sp>
      <p:sp>
        <p:nvSpPr>
          <p:cNvPr id="19" name="TextBox 18"/>
          <p:cNvSpPr txBox="1"/>
          <p:nvPr/>
        </p:nvSpPr>
        <p:spPr>
          <a:xfrm>
            <a:off x="6263640" y="3822191"/>
            <a:ext cx="4937760" cy="1572768"/>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Four onset delays and four time constants.</a:t>
            </a:r>
          </a:p>
          <a:p>
            <a:pPr>
              <a:spcAft>
                <a:spcPts val="700"/>
              </a:spcAft>
              <a:defRPr sz="1600">
                <a:solidFill>
                  <a:srgbClr val="191F1C"/>
                </a:solidFill>
                <a:latin typeface="Aptos"/>
              </a:defRPr>
            </a:pPr>
            <a:r>
              <a:t>- Separate on/off mappings for pullup and pulldown.</a:t>
            </a:r>
          </a:p>
          <a:p>
            <a:pPr>
              <a:spcAft>
                <a:spcPts val="700"/>
              </a:spcAft>
              <a:defRPr sz="1600">
                <a:solidFill>
                  <a:srgbClr val="191F1C"/>
                </a:solidFill>
                <a:latin typeface="Aptos"/>
              </a:defRPr>
            </a:pPr>
            <a:r>
              <a:t>- A small Kd correction linked to gate-state rate.</a:t>
            </a:r>
          </a:p>
        </p:txBody>
      </p:sp>
      <p:sp>
        <p:nvSpPr>
          <p:cNvPr id="20" name="Rectangle 1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Best structural method so far: two_state_directional_residual.</a:t>
            </a:r>
          </a:p>
        </p:txBody>
      </p:sp>
      <p:sp>
        <p:nvSpPr>
          <p:cNvPr id="21" name="TextBox 2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Implementation: tools/pybis2spice/pybis2spice/subcircuit.py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How a capacitor stores unfinished switching history</a:t>
            </a:r>
          </a:p>
        </p:txBody>
      </p:sp>
      <p:sp>
        <p:nvSpPr>
          <p:cNvPr id="3" name="TextBox 2"/>
          <p:cNvSpPr txBox="1"/>
          <p:nvPr/>
        </p:nvSpPr>
        <p:spPr>
          <a:xfrm>
            <a:off x="640080" y="960120"/>
            <a:ext cx="1920240" cy="320040"/>
          </a:xfrm>
          <a:prstGeom prst="rect">
            <a:avLst/>
          </a:prstGeom>
          <a:noFill/>
        </p:spPr>
        <p:txBody>
          <a:bodyPr wrap="square" lIns="45720" rIns="45720" anchor="t">
            <a:spAutoFit/>
          </a:bodyPr>
          <a:lstStyle/>
          <a:p>
            <a:pPr algn="l">
              <a:defRPr sz="1900" b="1">
                <a:solidFill>
                  <a:srgbClr val="2467AD"/>
                </a:solidFill>
                <a:latin typeface="Aptos"/>
              </a:defRPr>
            </a:pPr>
            <a:r>
              <a:t>Pullup state</a:t>
            </a:r>
          </a:p>
        </p:txBody>
      </p:sp>
      <p:sp>
        <p:nvSpPr>
          <p:cNvPr id="4" name="Rounded Rectangle 3"/>
          <p:cNvSpPr/>
          <p:nvPr/>
        </p:nvSpPr>
        <p:spPr>
          <a:xfrm>
            <a:off x="685800" y="1508760"/>
            <a:ext cx="1508760" cy="59436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GUPTARGET</a:t>
            </a:r>
          </a:p>
        </p:txBody>
      </p:sp>
      <p:cxnSp>
        <p:nvCxnSpPr>
          <p:cNvPr id="5" name="Connector 4"/>
          <p:cNvCxnSpPr/>
          <p:nvPr/>
        </p:nvCxnSpPr>
        <p:spPr>
          <a:xfrm>
            <a:off x="2194560" y="1810512"/>
            <a:ext cx="731520" cy="0"/>
          </a:xfrm>
          <a:prstGeom prst="line">
            <a:avLst/>
          </a:prstGeom>
          <a:ln w="27940">
            <a:solidFill>
              <a:srgbClr val="2467AD"/>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26080" y="1298448"/>
            <a:ext cx="2057400" cy="1024128"/>
          </a:xfrm>
          <a:prstGeom prst="roundRect">
            <a:avLst/>
          </a:prstGeom>
          <a:solidFill>
            <a:srgbClr val="FFFF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C_GUP</a:t>
            </a:r>
            <a:br/>
            <a:r>
              <a:t>stored state GUP</a:t>
            </a:r>
          </a:p>
        </p:txBody>
      </p:sp>
      <p:sp>
        <p:nvSpPr>
          <p:cNvPr id="7" name="TextBox 6"/>
          <p:cNvSpPr txBox="1"/>
          <p:nvPr/>
        </p:nvSpPr>
        <p:spPr>
          <a:xfrm>
            <a:off x="749808" y="2578608"/>
            <a:ext cx="4389120" cy="438912"/>
          </a:xfrm>
          <a:prstGeom prst="rect">
            <a:avLst/>
          </a:prstGeom>
          <a:noFill/>
        </p:spPr>
        <p:txBody>
          <a:bodyPr wrap="square" lIns="45720" rIns="45720" anchor="t">
            <a:spAutoFit/>
          </a:bodyPr>
          <a:lstStyle/>
          <a:p>
            <a:pPr algn="l">
              <a:defRPr sz="1600" b="1">
                <a:solidFill>
                  <a:srgbClr val="2467AD"/>
                </a:solidFill>
                <a:latin typeface="Consolas"/>
              </a:defRPr>
            </a:pPr>
            <a:r>
              <a:t>dGUP/dt = (target - GUP) / tau_PU</a:t>
            </a:r>
          </a:p>
        </p:txBody>
      </p:sp>
      <p:sp>
        <p:nvSpPr>
          <p:cNvPr id="8" name="TextBox 7"/>
          <p:cNvSpPr txBox="1"/>
          <p:nvPr/>
        </p:nvSpPr>
        <p:spPr>
          <a:xfrm>
            <a:off x="6263640" y="960120"/>
            <a:ext cx="2011680" cy="320040"/>
          </a:xfrm>
          <a:prstGeom prst="rect">
            <a:avLst/>
          </a:prstGeom>
          <a:noFill/>
        </p:spPr>
        <p:txBody>
          <a:bodyPr wrap="square" lIns="45720" rIns="45720" anchor="t">
            <a:spAutoFit/>
          </a:bodyPr>
          <a:lstStyle/>
          <a:p>
            <a:pPr algn="l">
              <a:defRPr sz="1900" b="1">
                <a:solidFill>
                  <a:srgbClr val="DA8426"/>
                </a:solidFill>
                <a:latin typeface="Aptos"/>
              </a:defRPr>
            </a:pPr>
            <a:r>
              <a:t>Pulldown state</a:t>
            </a:r>
          </a:p>
        </p:txBody>
      </p:sp>
      <p:sp>
        <p:nvSpPr>
          <p:cNvPr id="9" name="Rounded Rectangle 8"/>
          <p:cNvSpPr/>
          <p:nvPr/>
        </p:nvSpPr>
        <p:spPr>
          <a:xfrm>
            <a:off x="6309360" y="1508760"/>
            <a:ext cx="1508760" cy="59436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GDNTARGET</a:t>
            </a:r>
          </a:p>
        </p:txBody>
      </p:sp>
      <p:cxnSp>
        <p:nvCxnSpPr>
          <p:cNvPr id="10" name="Connector 9"/>
          <p:cNvCxnSpPr/>
          <p:nvPr/>
        </p:nvCxnSpPr>
        <p:spPr>
          <a:xfrm>
            <a:off x="7818120" y="1810512"/>
            <a:ext cx="731520" cy="0"/>
          </a:xfrm>
          <a:prstGeom prst="line">
            <a:avLst/>
          </a:prstGeom>
          <a:ln w="27940">
            <a:solidFill>
              <a:srgbClr val="DA8426"/>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549640" y="1298448"/>
            <a:ext cx="2057400" cy="1024128"/>
          </a:xfrm>
          <a:prstGeom prst="roundRect">
            <a:avLst/>
          </a:prstGeom>
          <a:solidFill>
            <a:srgbClr val="FFFFFF"/>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C_GDN</a:t>
            </a:r>
            <a:br/>
            <a:r>
              <a:t>stored state GDN</a:t>
            </a:r>
          </a:p>
        </p:txBody>
      </p:sp>
      <p:sp>
        <p:nvSpPr>
          <p:cNvPr id="12" name="TextBox 11"/>
          <p:cNvSpPr txBox="1"/>
          <p:nvPr/>
        </p:nvSpPr>
        <p:spPr>
          <a:xfrm>
            <a:off x="6382512" y="2578608"/>
            <a:ext cx="4389120" cy="438912"/>
          </a:xfrm>
          <a:prstGeom prst="rect">
            <a:avLst/>
          </a:prstGeom>
          <a:noFill/>
        </p:spPr>
        <p:txBody>
          <a:bodyPr wrap="square" lIns="45720" rIns="45720" anchor="t">
            <a:spAutoFit/>
          </a:bodyPr>
          <a:lstStyle/>
          <a:p>
            <a:pPr algn="l">
              <a:defRPr sz="1600" b="1">
                <a:solidFill>
                  <a:srgbClr val="DA8426"/>
                </a:solidFill>
                <a:latin typeface="Consolas"/>
              </a:defRPr>
            </a:pPr>
            <a:r>
              <a:t>dGDN/dt = (target - GDN) / tau_PD</a:t>
            </a:r>
          </a:p>
        </p:txBody>
      </p:sp>
      <p:sp>
        <p:nvSpPr>
          <p:cNvPr id="13" name="Rounded Rectangle 12"/>
          <p:cNvSpPr/>
          <p:nvPr/>
        </p:nvSpPr>
        <p:spPr>
          <a:xfrm>
            <a:off x="777240" y="3794760"/>
            <a:ext cx="1965960" cy="109728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Before reverse edge</a:t>
            </a:r>
            <a:br/>
            <a:r>
              <a:t>GUP = 0.31</a:t>
            </a:r>
            <a:br/>
            <a:r>
              <a:t>GDN = 0.42</a:t>
            </a:r>
          </a:p>
        </p:txBody>
      </p:sp>
      <p:cxnSp>
        <p:nvCxnSpPr>
          <p:cNvPr id="14" name="Connector 13"/>
          <p:cNvCxnSpPr/>
          <p:nvPr/>
        </p:nvCxnSpPr>
        <p:spPr>
          <a:xfrm>
            <a:off x="2743200" y="4343400"/>
            <a:ext cx="1051560" cy="0"/>
          </a:xfrm>
          <a:prstGeom prst="line">
            <a:avLst/>
          </a:prstGeom>
          <a:ln w="27940">
            <a:solidFill>
              <a:srgbClr val="CA303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94760" y="3913632"/>
            <a:ext cx="1874519" cy="84124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Reverse edge</a:t>
            </a:r>
            <a:br/>
            <a:r>
              <a:t>changes targets</a:t>
            </a:r>
          </a:p>
        </p:txBody>
      </p:sp>
      <p:cxnSp>
        <p:nvCxnSpPr>
          <p:cNvPr id="16" name="Connector 15"/>
          <p:cNvCxnSpPr/>
          <p:nvPr/>
        </p:nvCxnSpPr>
        <p:spPr>
          <a:xfrm>
            <a:off x="5669280" y="4343400"/>
            <a:ext cx="10515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720840" y="3794760"/>
            <a:ext cx="22860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After reverse edge</a:t>
            </a:r>
            <a:br/>
            <a:r>
              <a:t>GUP starts at 0.31</a:t>
            </a:r>
            <a:br/>
            <a:r>
              <a:t>GDN starts at 0.42</a:t>
            </a:r>
          </a:p>
        </p:txBody>
      </p:sp>
      <p:sp>
        <p:nvSpPr>
          <p:cNvPr id="18" name="TextBox 17"/>
          <p:cNvSpPr txBox="1"/>
          <p:nvPr/>
        </p:nvSpPr>
        <p:spPr>
          <a:xfrm>
            <a:off x="9281160" y="4096512"/>
            <a:ext cx="1828800" cy="411480"/>
          </a:xfrm>
          <a:prstGeom prst="rect">
            <a:avLst/>
          </a:prstGeom>
          <a:noFill/>
        </p:spPr>
        <p:txBody>
          <a:bodyPr wrap="square" lIns="45720" rIns="45720" anchor="t">
            <a:spAutoFit/>
          </a:bodyPr>
          <a:lstStyle/>
          <a:p>
            <a:pPr algn="ctr">
              <a:defRPr sz="1800" b="1">
                <a:solidFill>
                  <a:srgbClr val="2B7A43"/>
                </a:solidFill>
                <a:latin typeface="Aptos"/>
              </a:defRPr>
            </a:pPr>
            <a:r>
              <a:t>State is preserved</a:t>
            </a:r>
          </a:p>
        </p:txBody>
      </p:sp>
      <p:sp>
        <p:nvSpPr>
          <p:cNvPr id="19" name="Rectangle 1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capacitor is the memory: voltage cannot jump, so a reverse edge continues from the true partial state.</a:t>
            </a:r>
          </a:p>
        </p:txBody>
      </p:sp>
      <p:sp>
        <p:nvSpPr>
          <p:cNvPr id="20" name="TextBox 1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Conceptual state equation; generated ngspice implementation uses behavioral current sources plus capacitors.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Direction matters: four processes, four fitted dynamics</a:t>
            </a:r>
          </a:p>
        </p:txBody>
      </p:sp>
      <p:sp>
        <p:nvSpPr>
          <p:cNvPr id="3" name="TextBox 2"/>
          <p:cNvSpPr txBox="1"/>
          <p:nvPr/>
        </p:nvSpPr>
        <p:spPr>
          <a:xfrm>
            <a:off x="658368" y="914400"/>
            <a:ext cx="5303520" cy="347472"/>
          </a:xfrm>
          <a:prstGeom prst="rect">
            <a:avLst/>
          </a:prstGeom>
          <a:noFill/>
        </p:spPr>
        <p:txBody>
          <a:bodyPr wrap="square" lIns="45720" rIns="45720" anchor="t">
            <a:spAutoFit/>
          </a:bodyPr>
          <a:lstStyle/>
          <a:p>
            <a:pPr algn="ctr">
              <a:defRPr sz="2000" b="1">
                <a:solidFill>
                  <a:srgbClr val="2B7A43"/>
                </a:solidFill>
                <a:latin typeface="Aptos"/>
              </a:defRPr>
            </a:pPr>
            <a:r>
              <a:t>Input rises</a:t>
            </a:r>
          </a:p>
        </p:txBody>
      </p:sp>
      <p:sp>
        <p:nvSpPr>
          <p:cNvPr id="4" name="TextBox 3"/>
          <p:cNvSpPr txBox="1"/>
          <p:nvPr/>
        </p:nvSpPr>
        <p:spPr>
          <a:xfrm>
            <a:off x="6217920" y="914400"/>
            <a:ext cx="5303520" cy="347472"/>
          </a:xfrm>
          <a:prstGeom prst="rect">
            <a:avLst/>
          </a:prstGeom>
          <a:noFill/>
        </p:spPr>
        <p:txBody>
          <a:bodyPr wrap="square" lIns="45720" rIns="45720" anchor="t">
            <a:spAutoFit/>
          </a:bodyPr>
          <a:lstStyle/>
          <a:p>
            <a:pPr algn="ctr">
              <a:defRPr sz="2000" b="1">
                <a:solidFill>
                  <a:srgbClr val="2B7A43"/>
                </a:solidFill>
                <a:latin typeface="Aptos"/>
              </a:defRPr>
            </a:pPr>
            <a:r>
              <a:t>Input falls</a:t>
            </a:r>
          </a:p>
        </p:txBody>
      </p:sp>
      <p:sp>
        <p:nvSpPr>
          <p:cNvPr id="5" name="Rounded Rectangle 4"/>
          <p:cNvSpPr/>
          <p:nvPr/>
        </p:nvSpPr>
        <p:spPr>
          <a:xfrm>
            <a:off x="749808" y="1444752"/>
            <a:ext cx="2331720" cy="132588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Pullup turns ON</a:t>
            </a:r>
            <a:br/>
            <a:r>
              <a:t>PU delay 1.302 ns</a:t>
            </a:r>
            <a:br/>
            <a:r>
              <a:t>PU tau 1.284 ns</a:t>
            </a:r>
            <a:br/>
            <a:r>
              <a:t>use Ku-on map</a:t>
            </a:r>
          </a:p>
        </p:txBody>
      </p:sp>
      <p:sp>
        <p:nvSpPr>
          <p:cNvPr id="6" name="Rounded Rectangle 5"/>
          <p:cNvSpPr/>
          <p:nvPr/>
        </p:nvSpPr>
        <p:spPr>
          <a:xfrm>
            <a:off x="3364992" y="1444752"/>
            <a:ext cx="2331720" cy="132588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Pulldown turns OFF</a:t>
            </a:r>
            <a:br/>
            <a:r>
              <a:t>PD delay 1.443 ns</a:t>
            </a:r>
            <a:br/>
            <a:r>
              <a:t>PD tau 0.237 ns</a:t>
            </a:r>
            <a:br/>
            <a:r>
              <a:t>use Kd-off map</a:t>
            </a:r>
          </a:p>
        </p:txBody>
      </p:sp>
      <p:sp>
        <p:nvSpPr>
          <p:cNvPr id="7" name="Rounded Rectangle 6"/>
          <p:cNvSpPr/>
          <p:nvPr/>
        </p:nvSpPr>
        <p:spPr>
          <a:xfrm>
            <a:off x="6309360" y="1444752"/>
            <a:ext cx="2331720" cy="132588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Pullup turns OFF</a:t>
            </a:r>
            <a:br/>
            <a:r>
              <a:t>PU delay 0.440 ns</a:t>
            </a:r>
            <a:br/>
            <a:r>
              <a:t>PU tau 0.363 ns</a:t>
            </a:r>
            <a:br/>
            <a:r>
              <a:t>use Ku-off map</a:t>
            </a:r>
          </a:p>
        </p:txBody>
      </p:sp>
      <p:sp>
        <p:nvSpPr>
          <p:cNvPr id="8" name="Rounded Rectangle 7"/>
          <p:cNvSpPr/>
          <p:nvPr/>
        </p:nvSpPr>
        <p:spPr>
          <a:xfrm>
            <a:off x="8924544" y="1444752"/>
            <a:ext cx="2331720" cy="132588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Pulldown turns ON</a:t>
            </a:r>
            <a:br/>
            <a:r>
              <a:t>PD delay 2.480 ns</a:t>
            </a:r>
            <a:br/>
            <a:r>
              <a:t>PD tau 0.275 ns</a:t>
            </a:r>
            <a:br/>
            <a:r>
              <a:t>use Kd-on map</a:t>
            </a:r>
          </a:p>
        </p:txBody>
      </p:sp>
      <p:sp>
        <p:nvSpPr>
          <p:cNvPr id="9" name="TextBox 8"/>
          <p:cNvSpPr txBox="1"/>
          <p:nvPr/>
        </p:nvSpPr>
        <p:spPr>
          <a:xfrm>
            <a:off x="713232" y="3310128"/>
            <a:ext cx="3017520" cy="347472"/>
          </a:xfrm>
          <a:prstGeom prst="rect">
            <a:avLst/>
          </a:prstGeom>
          <a:noFill/>
        </p:spPr>
        <p:txBody>
          <a:bodyPr wrap="square" lIns="45720" rIns="45720" anchor="t">
            <a:spAutoFit/>
          </a:bodyPr>
          <a:lstStyle/>
          <a:p>
            <a:pPr algn="l">
              <a:defRPr sz="2000" b="1">
                <a:solidFill>
                  <a:srgbClr val="CA3030"/>
                </a:solidFill>
                <a:latin typeface="Aptos"/>
              </a:defRPr>
            </a:pPr>
            <a:r>
              <a:t>Why not one shared map?</a:t>
            </a:r>
          </a:p>
        </p:txBody>
      </p:sp>
      <p:sp>
        <p:nvSpPr>
          <p:cNvPr id="10" name="TextBox 9"/>
          <p:cNvSpPr txBox="1"/>
          <p:nvPr/>
        </p:nvSpPr>
        <p:spPr>
          <a:xfrm>
            <a:off x="749808" y="3703320"/>
            <a:ext cx="5486400" cy="1572768"/>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The same gate-state value can produce a different coefficient while turning on versus turning off.</a:t>
            </a:r>
          </a:p>
          <a:p>
            <a:pPr>
              <a:spcAft>
                <a:spcPts val="700"/>
              </a:spcAft>
              <a:defRPr sz="1600">
                <a:solidFill>
                  <a:srgbClr val="191F1C"/>
                </a:solidFill>
                <a:latin typeface="Aptos"/>
              </a:defRPr>
            </a:pPr>
            <a:r>
              <a:t>- Pullup and pulldown have different predriver delays and device physics.</a:t>
            </a:r>
          </a:p>
          <a:p>
            <a:pPr>
              <a:spcAft>
                <a:spcPts val="700"/>
              </a:spcAft>
              <a:defRPr sz="1600">
                <a:solidFill>
                  <a:srgbClr val="191F1C"/>
                </a:solidFill>
                <a:latin typeface="Aptos"/>
              </a:defRPr>
            </a:pPr>
            <a:r>
              <a:t>- A short pulse can interrupt any one of these four paths.</a:t>
            </a:r>
          </a:p>
        </p:txBody>
      </p:sp>
      <p:sp>
        <p:nvSpPr>
          <p:cNvPr id="11" name="Rounded Rectangle 10"/>
          <p:cNvSpPr/>
          <p:nvPr/>
        </p:nvSpPr>
        <p:spPr>
          <a:xfrm>
            <a:off x="6720840" y="3364992"/>
            <a:ext cx="1920240" cy="43891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Decision at runtime</a:t>
            </a:r>
          </a:p>
        </p:txBody>
      </p:sp>
      <p:cxnSp>
        <p:nvCxnSpPr>
          <p:cNvPr id="12" name="Connector 11"/>
          <p:cNvCxnSpPr/>
          <p:nvPr/>
        </p:nvCxnSpPr>
        <p:spPr>
          <a:xfrm>
            <a:off x="8641080" y="3584448"/>
            <a:ext cx="64008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281160" y="3127248"/>
            <a:ext cx="1874519" cy="93268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target &gt;= state?</a:t>
            </a:r>
            <a:br/>
            <a:r>
              <a:t>use ON map</a:t>
            </a:r>
            <a:br/>
            <a:r>
              <a:t>else use OFF map</a:t>
            </a:r>
          </a:p>
        </p:txBody>
      </p:sp>
      <p:sp>
        <p:nvSpPr>
          <p:cNvPr id="14" name="Rounded Rectangle 13"/>
          <p:cNvSpPr/>
          <p:nvPr/>
        </p:nvSpPr>
        <p:spPr>
          <a:xfrm>
            <a:off x="6720840" y="4526280"/>
            <a:ext cx="4434840" cy="822960"/>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Kd only: add a small rate residual to reproduce undershoot missed by static maps.</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Direction-specific maps fixed the large shape error; the Kd rate residual recovered the missing undershoot.</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Numbers are generated from io_buf IBIS-derived coefficient tables; see driver_OutputInput_Typical.sub comments.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0: the model learns from four complete-edge traces</a:t>
            </a:r>
          </a:p>
        </p:txBody>
      </p:sp>
      <p:sp>
        <p:nvSpPr>
          <p:cNvPr id="3" name="TextBox 2"/>
          <p:cNvSpPr txBox="1"/>
          <p:nvPr/>
        </p:nvSpPr>
        <p:spPr>
          <a:xfrm>
            <a:off x="658368" y="896112"/>
            <a:ext cx="5166360" cy="347472"/>
          </a:xfrm>
          <a:prstGeom prst="rect">
            <a:avLst/>
          </a:prstGeom>
          <a:noFill/>
        </p:spPr>
        <p:txBody>
          <a:bodyPr wrap="square" lIns="45720" rIns="45720" anchor="t">
            <a:spAutoFit/>
          </a:bodyPr>
          <a:lstStyle/>
          <a:p>
            <a:pPr algn="ctr">
              <a:defRPr sz="2000" b="1">
                <a:solidFill>
                  <a:srgbClr val="2B7A43"/>
                </a:solidFill>
                <a:latin typeface="Aptos"/>
              </a:defRPr>
            </a:pPr>
            <a:r>
              <a:t>Rising input command</a:t>
            </a:r>
          </a:p>
        </p:txBody>
      </p:sp>
      <p:sp>
        <p:nvSpPr>
          <p:cNvPr id="4" name="TextBox 3"/>
          <p:cNvSpPr txBox="1"/>
          <p:nvPr/>
        </p:nvSpPr>
        <p:spPr>
          <a:xfrm>
            <a:off x="6309360" y="896112"/>
            <a:ext cx="5166360" cy="347472"/>
          </a:xfrm>
          <a:prstGeom prst="rect">
            <a:avLst/>
          </a:prstGeom>
          <a:noFill/>
        </p:spPr>
        <p:txBody>
          <a:bodyPr wrap="square" lIns="45720" rIns="45720" anchor="t">
            <a:spAutoFit/>
          </a:bodyPr>
          <a:lstStyle/>
          <a:p>
            <a:pPr algn="ctr">
              <a:defRPr sz="2000" b="1">
                <a:solidFill>
                  <a:srgbClr val="2B7A43"/>
                </a:solidFill>
                <a:latin typeface="Aptos"/>
              </a:defRPr>
            </a:pPr>
            <a:r>
              <a:t>Falling input command</a:t>
            </a:r>
          </a:p>
        </p:txBody>
      </p:sp>
      <p:sp>
        <p:nvSpPr>
          <p:cNvPr id="5" name="Rounded Rectangle 4"/>
          <p:cNvSpPr/>
          <p:nvPr/>
        </p:nvSpPr>
        <p:spPr>
          <a:xfrm>
            <a:off x="749808" y="1417320"/>
            <a:ext cx="1417320" cy="53035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kr[:, TIME]</a:t>
            </a:r>
          </a:p>
        </p:txBody>
      </p:sp>
      <p:sp>
        <p:nvSpPr>
          <p:cNvPr id="6" name="Rounded Rectangle 5"/>
          <p:cNvSpPr/>
          <p:nvPr/>
        </p:nvSpPr>
        <p:spPr>
          <a:xfrm>
            <a:off x="2395728" y="1298448"/>
            <a:ext cx="1783080" cy="768096"/>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kr[:, Ku]</a:t>
            </a:r>
            <a:br/>
            <a:r>
              <a:t>pullup turns ON</a:t>
            </a:r>
          </a:p>
        </p:txBody>
      </p:sp>
      <p:sp>
        <p:nvSpPr>
          <p:cNvPr id="7" name="Rounded Rectangle 6"/>
          <p:cNvSpPr/>
          <p:nvPr/>
        </p:nvSpPr>
        <p:spPr>
          <a:xfrm>
            <a:off x="4407408" y="1298448"/>
            <a:ext cx="1783080" cy="768096"/>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kr[:, Kd]</a:t>
            </a:r>
            <a:br/>
            <a:r>
              <a:t>pulldown turns OFF</a:t>
            </a:r>
          </a:p>
        </p:txBody>
      </p:sp>
      <p:sp>
        <p:nvSpPr>
          <p:cNvPr id="8" name="Rounded Rectangle 7"/>
          <p:cNvSpPr/>
          <p:nvPr/>
        </p:nvSpPr>
        <p:spPr>
          <a:xfrm>
            <a:off x="6400800" y="1417320"/>
            <a:ext cx="1417320" cy="53035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kf[:, TIME]</a:t>
            </a:r>
          </a:p>
        </p:txBody>
      </p:sp>
      <p:sp>
        <p:nvSpPr>
          <p:cNvPr id="9" name="Rounded Rectangle 8"/>
          <p:cNvSpPr/>
          <p:nvPr/>
        </p:nvSpPr>
        <p:spPr>
          <a:xfrm>
            <a:off x="8046720" y="1298448"/>
            <a:ext cx="1783080" cy="768096"/>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kf[:, Ku]</a:t>
            </a:r>
            <a:br/>
            <a:r>
              <a:t>pullup turns OFF</a:t>
            </a:r>
          </a:p>
        </p:txBody>
      </p:sp>
      <p:sp>
        <p:nvSpPr>
          <p:cNvPr id="10" name="Rounded Rectangle 9"/>
          <p:cNvSpPr/>
          <p:nvPr/>
        </p:nvSpPr>
        <p:spPr>
          <a:xfrm>
            <a:off x="10058400" y="1298448"/>
            <a:ext cx="1783080" cy="768096"/>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kf[:, Kd]</a:t>
            </a:r>
            <a:br/>
            <a:r>
              <a:t>pulldown turns ON</a:t>
            </a:r>
          </a:p>
        </p:txBody>
      </p:sp>
      <p:sp>
        <p:nvSpPr>
          <p:cNvPr id="11" name="TextBox 10"/>
          <p:cNvSpPr txBox="1"/>
          <p:nvPr/>
        </p:nvSpPr>
        <p:spPr>
          <a:xfrm>
            <a:off x="713232" y="2633472"/>
            <a:ext cx="4114800" cy="347472"/>
          </a:xfrm>
          <a:prstGeom prst="rect">
            <a:avLst/>
          </a:prstGeom>
          <a:noFill/>
        </p:spPr>
        <p:txBody>
          <a:bodyPr wrap="square" lIns="45720" rIns="45720" anchor="t">
            <a:spAutoFit/>
          </a:bodyPr>
          <a:lstStyle/>
          <a:p>
            <a:pPr algn="l">
              <a:defRPr sz="2000" b="1">
                <a:solidFill>
                  <a:srgbClr val="2B7A43"/>
                </a:solidFill>
                <a:latin typeface="Aptos"/>
              </a:defRPr>
            </a:pPr>
            <a:r>
              <a:t>First infer the settled endpoints</a:t>
            </a:r>
          </a:p>
        </p:txBody>
      </p:sp>
      <p:sp>
        <p:nvSpPr>
          <p:cNvPr id="12" name="Rounded Rectangle 11"/>
          <p:cNvSpPr/>
          <p:nvPr/>
        </p:nvSpPr>
        <p:spPr>
          <a:xfrm>
            <a:off x="713232" y="3063240"/>
            <a:ext cx="5486400" cy="15727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30">
                <a:solidFill>
                  <a:srgbClr val="1E3027"/>
                </a:solidFill>
                <a:latin typeface="Consolas"/>
              </a:defRPr>
            </a:pPr>
            <a:r>
              <a:t>Ku_off = mean(Ku_rise[0],  Ku_fall[-1])</a:t>
            </a:r>
            <a:br/>
            <a:r>
              <a:t>Ku_on  = mean(Ku_rise[-1], Ku_fall[0])</a:t>
            </a:r>
            <a:br/>
            <a:r>
              <a:t>Kd_on  = mean(Kd_rise[0],  Kd_fall[-1])</a:t>
            </a:r>
            <a:br/>
            <a:r>
              <a:t>Kd_off = mean(Kd_rise[-1], Kd_fall[0])</a:t>
            </a:r>
          </a:p>
        </p:txBody>
      </p:sp>
      <p:sp>
        <p:nvSpPr>
          <p:cNvPr id="13" name="TextBox 12"/>
          <p:cNvSpPr txBox="1"/>
          <p:nvPr/>
        </p:nvSpPr>
        <p:spPr>
          <a:xfrm>
            <a:off x="6583680" y="2633472"/>
            <a:ext cx="4480560" cy="347472"/>
          </a:xfrm>
          <a:prstGeom prst="rect">
            <a:avLst/>
          </a:prstGeom>
          <a:noFill/>
        </p:spPr>
        <p:txBody>
          <a:bodyPr wrap="square" lIns="45720" rIns="45720" anchor="t">
            <a:spAutoFit/>
          </a:bodyPr>
          <a:lstStyle/>
          <a:p>
            <a:pPr algn="l">
              <a:defRPr sz="2000" b="1">
                <a:solidFill>
                  <a:srgbClr val="2B7A43"/>
                </a:solidFill>
                <a:latin typeface="Aptos"/>
              </a:defRPr>
            </a:pPr>
            <a:r>
              <a:t>io_buf endpoints used by this run</a:t>
            </a:r>
          </a:p>
        </p:txBody>
      </p:sp>
      <p:sp>
        <p:nvSpPr>
          <p:cNvPr id="14" name="Rounded Rectangle 13"/>
          <p:cNvSpPr/>
          <p:nvPr/>
        </p:nvSpPr>
        <p:spPr>
          <a:xfrm>
            <a:off x="6601968" y="3154680"/>
            <a:ext cx="2240280" cy="987552"/>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Ku_off = 0.00194</a:t>
            </a:r>
            <a:br/>
            <a:r>
              <a:t>Ku_on  = 0.99579</a:t>
            </a:r>
          </a:p>
        </p:txBody>
      </p:sp>
      <p:sp>
        <p:nvSpPr>
          <p:cNvPr id="15" name="Rounded Rectangle 14"/>
          <p:cNvSpPr/>
          <p:nvPr/>
        </p:nvSpPr>
        <p:spPr>
          <a:xfrm>
            <a:off x="9125712" y="3154680"/>
            <a:ext cx="2240280" cy="987552"/>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Kd_off = 0.00110</a:t>
            </a:r>
            <a:br/>
            <a:r>
              <a:t>Kd_on  = 0.99861</a:t>
            </a:r>
          </a:p>
        </p:txBody>
      </p:sp>
      <p:sp>
        <p:nvSpPr>
          <p:cNvPr id="16" name="Rounded Rectangle 15"/>
          <p:cNvSpPr/>
          <p:nvPr/>
        </p:nvSpPr>
        <p:spPr>
          <a:xfrm>
            <a:off x="749808" y="5102352"/>
            <a:ext cx="1508760" cy="4572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Training input</a:t>
            </a:r>
          </a:p>
        </p:txBody>
      </p:sp>
      <p:cxnSp>
        <p:nvCxnSpPr>
          <p:cNvPr id="17" name="Connector 16"/>
          <p:cNvCxnSpPr/>
          <p:nvPr/>
        </p:nvCxnSpPr>
        <p:spPr>
          <a:xfrm>
            <a:off x="2258568" y="5330952"/>
            <a:ext cx="649224"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907792" y="4983480"/>
            <a:ext cx="3246120" cy="694944"/>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IBIS-derived Ku/Kd tables only</a:t>
            </a:r>
          </a:p>
        </p:txBody>
      </p:sp>
      <p:cxnSp>
        <p:nvCxnSpPr>
          <p:cNvPr id="19" name="Connector 18"/>
          <p:cNvCxnSpPr/>
          <p:nvPr/>
        </p:nvCxnSpPr>
        <p:spPr>
          <a:xfrm>
            <a:off x="6153912" y="5330952"/>
            <a:ext cx="658368"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12280" y="4983480"/>
            <a:ext cx="3931920" cy="694944"/>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No HSPICE waveform enters the fit</a:t>
            </a:r>
          </a:p>
        </p:txBody>
      </p:sp>
      <p:sp>
        <p:nvSpPr>
          <p:cNvPr id="21" name="Rectangle 2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Everything that follows is derived from these four complete-edge coefficient traces.</a:t>
            </a:r>
          </a:p>
        </p:txBody>
      </p:sp>
      <p:sp>
        <p:nvSpPr>
          <p:cNvPr id="22" name="TextBox 2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Implementation: gate_state_fit(kr, kf) in tools/pybis2spice/pybis2spice/subcircuit.py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1: normalize each coefficient into transition progress</a:t>
            </a:r>
          </a:p>
        </p:txBody>
      </p:sp>
      <p:sp>
        <p:nvSpPr>
          <p:cNvPr id="3" name="TextBox 2"/>
          <p:cNvSpPr txBox="1"/>
          <p:nvPr/>
        </p:nvSpPr>
        <p:spPr>
          <a:xfrm>
            <a:off x="566928" y="896112"/>
            <a:ext cx="11064240" cy="365760"/>
          </a:xfrm>
          <a:prstGeom prst="rect">
            <a:avLst/>
          </a:prstGeom>
          <a:noFill/>
        </p:spPr>
        <p:txBody>
          <a:bodyPr wrap="square" lIns="45720" rIns="45720" anchor="t">
            <a:spAutoFit/>
          </a:bodyPr>
          <a:lstStyle/>
          <a:p>
            <a:pPr algn="ctr">
              <a:defRPr sz="2000" b="1">
                <a:solidFill>
                  <a:srgbClr val="2B7A43"/>
                </a:solidFill>
                <a:latin typeface="Aptos"/>
              </a:defRPr>
            </a:pPr>
            <a:r>
              <a:t>One formula handles both increasing and decreasing traces</a:t>
            </a:r>
          </a:p>
        </p:txBody>
      </p:sp>
      <p:sp>
        <p:nvSpPr>
          <p:cNvPr id="4" name="Rounded Rectangle 3"/>
          <p:cNvSpPr/>
          <p:nvPr/>
        </p:nvSpPr>
        <p:spPr>
          <a:xfrm>
            <a:off x="1645920" y="1417320"/>
            <a:ext cx="8869680" cy="6583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800">
                <a:solidFill>
                  <a:srgbClr val="1E3027"/>
                </a:solidFill>
                <a:latin typeface="Consolas"/>
              </a:defRPr>
            </a:pPr>
            <a:r>
              <a:t>progress(t) = [K(t) - K_start] / [K_end - K_start]</a:t>
            </a:r>
          </a:p>
        </p:txBody>
      </p:sp>
      <p:sp>
        <p:nvSpPr>
          <p:cNvPr id="5" name="Rounded Rectangle 4"/>
          <p:cNvSpPr/>
          <p:nvPr/>
        </p:nvSpPr>
        <p:spPr>
          <a:xfrm>
            <a:off x="822960" y="2743200"/>
            <a:ext cx="1143000" cy="80467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start</a:t>
            </a:r>
            <a:br/>
            <a:r>
              <a:t>0%</a:t>
            </a:r>
          </a:p>
        </p:txBody>
      </p:sp>
      <p:cxnSp>
        <p:nvCxnSpPr>
          <p:cNvPr id="6" name="Connector 5"/>
          <p:cNvCxnSpPr/>
          <p:nvPr/>
        </p:nvCxnSpPr>
        <p:spPr>
          <a:xfrm>
            <a:off x="1965960" y="3145536"/>
            <a:ext cx="86868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2743200"/>
            <a:ext cx="1143000" cy="80467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t05</a:t>
            </a:r>
            <a:br/>
            <a:r>
              <a:t>5%</a:t>
            </a:r>
          </a:p>
        </p:txBody>
      </p:sp>
      <p:cxnSp>
        <p:nvCxnSpPr>
          <p:cNvPr id="8" name="Connector 7"/>
          <p:cNvCxnSpPr/>
          <p:nvPr/>
        </p:nvCxnSpPr>
        <p:spPr>
          <a:xfrm>
            <a:off x="3977639" y="3145536"/>
            <a:ext cx="1508761"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0" y="2743200"/>
            <a:ext cx="1143000" cy="80467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t63</a:t>
            </a:r>
            <a:br/>
            <a:r>
              <a:t>63.2%</a:t>
            </a:r>
          </a:p>
        </p:txBody>
      </p:sp>
      <p:cxnSp>
        <p:nvCxnSpPr>
          <p:cNvPr id="10" name="Connector 9"/>
          <p:cNvCxnSpPr/>
          <p:nvPr/>
        </p:nvCxnSpPr>
        <p:spPr>
          <a:xfrm>
            <a:off x="6629400" y="3145536"/>
            <a:ext cx="16002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229600" y="2743200"/>
            <a:ext cx="1143000" cy="80467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t90</a:t>
            </a:r>
            <a:br/>
            <a:r>
              <a:t>90%</a:t>
            </a:r>
          </a:p>
        </p:txBody>
      </p:sp>
      <p:cxnSp>
        <p:nvCxnSpPr>
          <p:cNvPr id="12" name="Connector 11"/>
          <p:cNvCxnSpPr/>
          <p:nvPr/>
        </p:nvCxnSpPr>
        <p:spPr>
          <a:xfrm>
            <a:off x="9372600" y="3145536"/>
            <a:ext cx="914400" cy="0"/>
          </a:xfrm>
          <a:prstGeom prst="line">
            <a:avLst/>
          </a:prstGeom>
          <a:ln w="21590">
            <a:solidFill>
              <a:srgbClr val="2B7A4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287000" y="2743200"/>
            <a:ext cx="1143000" cy="80467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end</a:t>
            </a:r>
            <a:br/>
            <a:r>
              <a:t>100%</a:t>
            </a:r>
          </a:p>
        </p:txBody>
      </p:sp>
      <p:sp>
        <p:nvSpPr>
          <p:cNvPr id="14" name="TextBox 13"/>
          <p:cNvSpPr txBox="1"/>
          <p:nvPr/>
        </p:nvSpPr>
        <p:spPr>
          <a:xfrm>
            <a:off x="713232" y="4160520"/>
            <a:ext cx="2194560" cy="320040"/>
          </a:xfrm>
          <a:prstGeom prst="rect">
            <a:avLst/>
          </a:prstGeom>
          <a:noFill/>
        </p:spPr>
        <p:txBody>
          <a:bodyPr wrap="square" lIns="45720" rIns="45720" anchor="t">
            <a:spAutoFit/>
          </a:bodyPr>
          <a:lstStyle/>
          <a:p>
            <a:pPr algn="l">
              <a:defRPr sz="1900" b="1">
                <a:solidFill>
                  <a:srgbClr val="2B7A43"/>
                </a:solidFill>
                <a:latin typeface="Aptos"/>
              </a:defRPr>
            </a:pPr>
            <a:r>
              <a:t>Why normalize?</a:t>
            </a:r>
          </a:p>
        </p:txBody>
      </p:sp>
      <p:sp>
        <p:nvSpPr>
          <p:cNvPr id="15" name="TextBox 14"/>
          <p:cNvSpPr txBox="1"/>
          <p:nvPr/>
        </p:nvSpPr>
        <p:spPr>
          <a:xfrm>
            <a:off x="749808" y="4526280"/>
            <a:ext cx="10515600" cy="1234440"/>
          </a:xfrm>
          <a:prstGeom prst="rect">
            <a:avLst/>
          </a:prstGeom>
          <a:noFill/>
        </p:spPr>
        <p:txBody>
          <a:bodyPr wrap="square" lIns="73152" rIns="36576" tIns="36576" bIns="36576">
            <a:spAutoFit/>
          </a:bodyPr>
          <a:lstStyle/>
          <a:p>
            <a:pPr>
              <a:spcAft>
                <a:spcPts val="500"/>
              </a:spcAft>
              <a:defRPr sz="1550">
                <a:solidFill>
                  <a:srgbClr val="191F1C"/>
                </a:solidFill>
                <a:latin typeface="Aptos"/>
              </a:defRPr>
            </a:pPr>
            <a:r>
              <a:t>- Ku and Kd have different numerical endpoints, but progress always runs from 0 to 1.</a:t>
            </a:r>
          </a:p>
          <a:p>
            <a:pPr>
              <a:spcAft>
                <a:spcPts val="500"/>
              </a:spcAft>
              <a:defRPr sz="1550">
                <a:solidFill>
                  <a:srgbClr val="191F1C"/>
                </a:solidFill>
                <a:latin typeface="Aptos"/>
              </a:defRPr>
            </a:pPr>
            <a:r>
              <a:t>- The sign of K_end - K_start automatically handles a falling coefficient.</a:t>
            </a:r>
          </a:p>
          <a:p>
            <a:pPr>
              <a:spcAft>
                <a:spcPts val="500"/>
              </a:spcAft>
              <a:defRPr sz="1550">
                <a:solidFill>
                  <a:srgbClr val="191F1C"/>
                </a:solidFill>
                <a:latin typeface="Aptos"/>
              </a:defRPr>
            </a:pPr>
            <a:r>
              <a:t>- The code keeps a wider -0.5 to 1.5 range so real overshoot or undershoot is not erased.</a:t>
            </a:r>
          </a:p>
        </p:txBody>
      </p:sp>
      <p:sp>
        <p:nvSpPr>
          <p:cNvPr id="16" name="Rectangle 15"/>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Normalized progress lets the same timing extractor operate on Ku-on, Ku-off, Kd-on, and Kd-off.</a:t>
            </a:r>
          </a:p>
        </p:txBody>
      </p:sp>
      <p:sp>
        <p:nvSpPr>
          <p:cNvPr id="17" name="TextBox 16"/>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helpers: coefficient_progress() and crossing_time_ns()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2: derive delay and tau from 5%, 63.2%, and 90% crossings</a:t>
            </a:r>
          </a:p>
        </p:txBody>
      </p:sp>
      <p:cxnSp>
        <p:nvCxnSpPr>
          <p:cNvPr id="3" name="Connector 2"/>
          <p:cNvCxnSpPr/>
          <p:nvPr/>
        </p:nvCxnSpPr>
        <p:spPr>
          <a:xfrm>
            <a:off x="658368" y="4389120"/>
            <a:ext cx="4892039" cy="0"/>
          </a:xfrm>
          <a:prstGeom prst="line">
            <a:avLst/>
          </a:prstGeom>
          <a:ln w="17780">
            <a:solidFill>
              <a:srgbClr val="666C68"/>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658368" y="1325880"/>
            <a:ext cx="0" cy="3063240"/>
          </a:xfrm>
          <a:prstGeom prst="line">
            <a:avLst/>
          </a:prstGeom>
          <a:ln w="17780">
            <a:solidFill>
              <a:srgbClr val="666C6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58368" y="4389120"/>
            <a:ext cx="81533"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39901" y="4389120"/>
            <a:ext cx="81535"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21436"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2970"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84504"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66038"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47572"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29106" y="4389120"/>
            <a:ext cx="81533"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10639" y="4389120"/>
            <a:ext cx="81535"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92174" y="4389120"/>
            <a:ext cx="81534"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73708" y="4389120"/>
            <a:ext cx="81533"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55241" y="4389120"/>
            <a:ext cx="81535" cy="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636776" y="4165628"/>
            <a:ext cx="81534" cy="22349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718310" y="3958443"/>
            <a:ext cx="81534" cy="207185"/>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799844" y="3766373"/>
            <a:ext cx="81534" cy="19207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881378" y="3588317"/>
            <a:ext cx="81533" cy="178056"/>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962911" y="3423252"/>
            <a:ext cx="81534" cy="165065"/>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44445" y="3270229"/>
            <a:ext cx="81534" cy="15302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125979" y="3128371"/>
            <a:ext cx="81535" cy="141858"/>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207514" y="2996863"/>
            <a:ext cx="81533" cy="131508"/>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289047" y="2874950"/>
            <a:ext cx="81535" cy="12191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370582" y="2761931"/>
            <a:ext cx="81534" cy="113019"/>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452116" y="2657158"/>
            <a:ext cx="81533" cy="10477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533649" y="2560029"/>
            <a:ext cx="81535" cy="97129"/>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615184" y="2469987"/>
            <a:ext cx="81534" cy="9004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696718" y="2386514"/>
            <a:ext cx="81534" cy="8347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778252" y="2309131"/>
            <a:ext cx="81533" cy="7738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59785" y="2237394"/>
            <a:ext cx="81535" cy="7173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41320" y="2170891"/>
            <a:ext cx="81534" cy="6650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22854" y="2109239"/>
            <a:ext cx="81533" cy="6165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104387" y="2052086"/>
            <a:ext cx="81535" cy="5715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185922" y="1999103"/>
            <a:ext cx="81534" cy="5298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67456" y="1949985"/>
            <a:ext cx="81533" cy="49118"/>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348989" y="1904451"/>
            <a:ext cx="81534" cy="45534"/>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30523" y="1862239"/>
            <a:ext cx="81535" cy="4221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512058" y="1823106"/>
            <a:ext cx="81533" cy="3913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593591" y="1786829"/>
            <a:ext cx="81535" cy="3627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675126" y="1753199"/>
            <a:ext cx="81533" cy="3363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756659" y="1722022"/>
            <a:ext cx="81535" cy="3117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838194" y="1693120"/>
            <a:ext cx="81533" cy="2890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919727" y="1666326"/>
            <a:ext cx="81535" cy="26794"/>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001262" y="1641488"/>
            <a:ext cx="81534" cy="24838"/>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082796" y="1618461"/>
            <a:ext cx="81533" cy="2302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164329" y="1597115"/>
            <a:ext cx="81534" cy="21346"/>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45863" y="1577326"/>
            <a:ext cx="81534" cy="19789"/>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327397" y="1558980"/>
            <a:ext cx="81535" cy="18346"/>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408932" y="1541973"/>
            <a:ext cx="81533" cy="1700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490465" y="1526207"/>
            <a:ext cx="81535" cy="15766"/>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572000" y="1511592"/>
            <a:ext cx="81534" cy="14615"/>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53534" y="1498042"/>
            <a:ext cx="81533" cy="1355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735067" y="1485481"/>
            <a:ext cx="81534" cy="12561"/>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816601" y="1473837"/>
            <a:ext cx="81535" cy="11644"/>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98136" y="1463042"/>
            <a:ext cx="81534" cy="10795"/>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979670" y="1453035"/>
            <a:ext cx="81533" cy="1000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061203" y="1443758"/>
            <a:ext cx="81534" cy="9277"/>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142737" y="1435158"/>
            <a:ext cx="81535" cy="8600"/>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224272" y="1427185"/>
            <a:ext cx="81533" cy="7973"/>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305805" y="1419794"/>
            <a:ext cx="81534" cy="7391"/>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387339" y="1412942"/>
            <a:ext cx="81534" cy="685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468873" y="1406590"/>
            <a:ext cx="81534" cy="6352"/>
          </a:xfrm>
          <a:prstGeom prst="line">
            <a:avLst/>
          </a:prstGeom>
          <a:ln w="35560">
            <a:solidFill>
              <a:srgbClr val="2B7A43"/>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58368" y="4235958"/>
            <a:ext cx="1032220" cy="0"/>
          </a:xfrm>
          <a:prstGeom prst="line">
            <a:avLst/>
          </a:prstGeom>
          <a:ln w="12700">
            <a:solidFill>
              <a:srgbClr val="CBD0CC"/>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489420" y="3925062"/>
            <a:ext cx="548640" cy="219456"/>
          </a:xfrm>
          <a:prstGeom prst="rect">
            <a:avLst/>
          </a:prstGeom>
          <a:noFill/>
        </p:spPr>
        <p:txBody>
          <a:bodyPr wrap="square" lIns="45720" rIns="45720" anchor="t">
            <a:spAutoFit/>
          </a:bodyPr>
          <a:lstStyle/>
          <a:p>
            <a:pPr algn="l">
              <a:defRPr sz="1100" b="1">
                <a:solidFill>
                  <a:srgbClr val="666C68"/>
                </a:solidFill>
                <a:latin typeface="Aptos"/>
              </a:defRPr>
            </a:pPr>
            <a:r>
              <a:t>t05</a:t>
            </a:r>
          </a:p>
        </p:txBody>
      </p:sp>
      <p:cxnSp>
        <p:nvCxnSpPr>
          <p:cNvPr id="67" name="Connector 66"/>
          <p:cNvCxnSpPr/>
          <p:nvPr/>
        </p:nvCxnSpPr>
        <p:spPr>
          <a:xfrm>
            <a:off x="658368" y="2453152"/>
            <a:ext cx="2054656" cy="0"/>
          </a:xfrm>
          <a:prstGeom prst="line">
            <a:avLst/>
          </a:prstGeom>
          <a:ln w="12700">
            <a:solidFill>
              <a:srgbClr val="CBD0CC"/>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2511856" y="2142256"/>
            <a:ext cx="548640" cy="219456"/>
          </a:xfrm>
          <a:prstGeom prst="rect">
            <a:avLst/>
          </a:prstGeom>
          <a:noFill/>
        </p:spPr>
        <p:txBody>
          <a:bodyPr wrap="square" lIns="45720" rIns="45720" anchor="t">
            <a:spAutoFit/>
          </a:bodyPr>
          <a:lstStyle/>
          <a:p>
            <a:pPr algn="l">
              <a:defRPr sz="1100" b="1">
                <a:solidFill>
                  <a:srgbClr val="666C68"/>
                </a:solidFill>
                <a:latin typeface="Aptos"/>
              </a:defRPr>
            </a:pPr>
            <a:r>
              <a:t>t63</a:t>
            </a:r>
          </a:p>
        </p:txBody>
      </p:sp>
      <p:cxnSp>
        <p:nvCxnSpPr>
          <p:cNvPr id="69" name="Connector 68"/>
          <p:cNvCxnSpPr/>
          <p:nvPr/>
        </p:nvCxnSpPr>
        <p:spPr>
          <a:xfrm>
            <a:off x="658368" y="1632204"/>
            <a:ext cx="3448888" cy="0"/>
          </a:xfrm>
          <a:prstGeom prst="line">
            <a:avLst/>
          </a:prstGeom>
          <a:ln w="12700">
            <a:solidFill>
              <a:srgbClr val="CBD0CC"/>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3906088" y="1321307"/>
            <a:ext cx="548640" cy="219456"/>
          </a:xfrm>
          <a:prstGeom prst="rect">
            <a:avLst/>
          </a:prstGeom>
          <a:noFill/>
        </p:spPr>
        <p:txBody>
          <a:bodyPr wrap="square" lIns="45720" rIns="45720" anchor="t">
            <a:spAutoFit/>
          </a:bodyPr>
          <a:lstStyle/>
          <a:p>
            <a:pPr algn="l">
              <a:defRPr sz="1100" b="1">
                <a:solidFill>
                  <a:srgbClr val="666C68"/>
                </a:solidFill>
                <a:latin typeface="Aptos"/>
              </a:defRPr>
            </a:pPr>
            <a:r>
              <a:t>t90</a:t>
            </a:r>
          </a:p>
        </p:txBody>
      </p:sp>
      <p:sp>
        <p:nvSpPr>
          <p:cNvPr id="71" name="TextBox 70"/>
          <p:cNvSpPr txBox="1"/>
          <p:nvPr/>
        </p:nvSpPr>
        <p:spPr>
          <a:xfrm>
            <a:off x="45720" y="2331720"/>
            <a:ext cx="1417320" cy="274320"/>
          </a:xfrm>
          <a:prstGeom prst="rect">
            <a:avLst/>
          </a:prstGeom>
          <a:noFill/>
        </p:spPr>
        <p:txBody>
          <a:bodyPr wrap="square" lIns="45720" rIns="45720" anchor="t">
            <a:spAutoFit/>
          </a:bodyPr>
          <a:lstStyle/>
          <a:p>
            <a:pPr algn="ctr">
              <a:defRPr sz="1100" b="0">
                <a:solidFill>
                  <a:srgbClr val="666C68"/>
                </a:solidFill>
                <a:latin typeface="Aptos"/>
              </a:defRPr>
            </a:pPr>
            <a:r>
              <a:t>normalized progress</a:t>
            </a:r>
          </a:p>
        </p:txBody>
      </p:sp>
      <p:sp>
        <p:nvSpPr>
          <p:cNvPr id="72" name="TextBox 71"/>
          <p:cNvSpPr txBox="1"/>
          <p:nvPr/>
        </p:nvSpPr>
        <p:spPr>
          <a:xfrm>
            <a:off x="2514600" y="4425696"/>
            <a:ext cx="1280160" cy="256032"/>
          </a:xfrm>
          <a:prstGeom prst="rect">
            <a:avLst/>
          </a:prstGeom>
          <a:noFill/>
        </p:spPr>
        <p:txBody>
          <a:bodyPr wrap="square" lIns="45720" rIns="45720" anchor="t">
            <a:spAutoFit/>
          </a:bodyPr>
          <a:lstStyle/>
          <a:p>
            <a:pPr algn="ctr">
              <a:defRPr sz="1100" b="0">
                <a:solidFill>
                  <a:srgbClr val="666C68"/>
                </a:solidFill>
                <a:latin typeface="Aptos"/>
              </a:defRPr>
            </a:pPr>
            <a:r>
              <a:t>table time</a:t>
            </a:r>
          </a:p>
        </p:txBody>
      </p:sp>
      <p:sp>
        <p:nvSpPr>
          <p:cNvPr id="73" name="TextBox 72"/>
          <p:cNvSpPr txBox="1"/>
          <p:nvPr/>
        </p:nvSpPr>
        <p:spPr>
          <a:xfrm>
            <a:off x="5925312" y="1051560"/>
            <a:ext cx="5394960" cy="347472"/>
          </a:xfrm>
          <a:prstGeom prst="rect">
            <a:avLst/>
          </a:prstGeom>
          <a:noFill/>
        </p:spPr>
        <p:txBody>
          <a:bodyPr wrap="square" lIns="45720" rIns="45720" anchor="t">
            <a:spAutoFit/>
          </a:bodyPr>
          <a:lstStyle/>
          <a:p>
            <a:pPr algn="l">
              <a:defRPr sz="2000" b="1">
                <a:solidFill>
                  <a:srgbClr val="2B7A43"/>
                </a:solidFill>
                <a:latin typeface="Aptos"/>
              </a:defRPr>
            </a:pPr>
            <a:r>
              <a:t>Exact extraction rule used in code</a:t>
            </a:r>
          </a:p>
        </p:txBody>
      </p:sp>
      <p:sp>
        <p:nvSpPr>
          <p:cNvPr id="74" name="Rounded Rectangle 73"/>
          <p:cNvSpPr/>
          <p:nvPr/>
        </p:nvSpPr>
        <p:spPr>
          <a:xfrm>
            <a:off x="5925312" y="1499616"/>
            <a:ext cx="5257800" cy="166420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500">
                <a:solidFill>
                  <a:srgbClr val="1E3027"/>
                </a:solidFill>
                <a:latin typeface="Consolas"/>
              </a:defRPr>
            </a:pPr>
            <a:r>
              <a:t>delay = max(0, t05)</a:t>
            </a:r>
            <a:br/>
            <a:r>
              <a:t>tau63 = t63 - delay</a:t>
            </a:r>
            <a:br/>
            <a:r>
              <a:t>tau90 = (t90 - delay) / ln(10)</a:t>
            </a:r>
            <a:br/>
            <a:r>
              <a:t>tau = max(0.020 ns, tau63, tau90)</a:t>
            </a:r>
          </a:p>
        </p:txBody>
      </p:sp>
      <p:sp>
        <p:nvSpPr>
          <p:cNvPr id="75" name="Rounded Rectangle 74"/>
          <p:cNvSpPr/>
          <p:nvPr/>
        </p:nvSpPr>
        <p:spPr>
          <a:xfrm>
            <a:off x="5925312" y="3474720"/>
            <a:ext cx="2487168" cy="11155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Why 63.2%?</a:t>
            </a:r>
            <a:br/>
            <a:r>
              <a:t>A first-order response reaches 1 - e^-1 = 63.2% after one tau.</a:t>
            </a:r>
          </a:p>
        </p:txBody>
      </p:sp>
      <p:sp>
        <p:nvSpPr>
          <p:cNvPr id="76" name="Rounded Rectangle 75"/>
          <p:cNvSpPr/>
          <p:nvPr/>
        </p:nvSpPr>
        <p:spPr>
          <a:xfrm>
            <a:off x="8686800" y="3474720"/>
            <a:ext cx="2487168" cy="1115568"/>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Why also 90%?</a:t>
            </a:r>
            <a:br/>
            <a:r>
              <a:t>It prevents a fast early crossing from underestimating the slower tail.</a:t>
            </a:r>
          </a:p>
        </p:txBody>
      </p:sp>
      <p:sp>
        <p:nvSpPr>
          <p:cNvPr id="77" name="TextBox 76"/>
          <p:cNvSpPr txBox="1"/>
          <p:nvPr/>
        </p:nvSpPr>
        <p:spPr>
          <a:xfrm>
            <a:off x="6035040" y="4919472"/>
            <a:ext cx="5029200" cy="365760"/>
          </a:xfrm>
          <a:prstGeom prst="rect">
            <a:avLst/>
          </a:prstGeom>
          <a:noFill/>
        </p:spPr>
        <p:txBody>
          <a:bodyPr wrap="square" lIns="45720" rIns="45720" anchor="t">
            <a:spAutoFit/>
          </a:bodyPr>
          <a:lstStyle/>
          <a:p>
            <a:pPr algn="ctr">
              <a:defRPr sz="1600" b="1">
                <a:solidFill>
                  <a:srgbClr val="CA3030"/>
                </a:solidFill>
                <a:latin typeface="Aptos"/>
              </a:defRPr>
            </a:pPr>
            <a:r>
              <a:t>This is a deterministic timing estimate, not a nonlinear optimizer.</a:t>
            </a:r>
          </a:p>
        </p:txBody>
      </p:sp>
      <p:sp>
        <p:nvSpPr>
          <p:cNvPr id="78" name="Rectangle 7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Delay captures when motion starts; tau captures how quickly the hidden state approaches its target.</a:t>
            </a:r>
          </a:p>
        </p:txBody>
      </p:sp>
      <p:sp>
        <p:nvSpPr>
          <p:cNvPr id="79" name="TextBox 7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helper: coefficient_transition_timing(); all time values are converted to ns before fitting.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3: reconstruct GUP and GDN from the fitted timing</a:t>
            </a:r>
          </a:p>
        </p:txBody>
      </p:sp>
      <p:sp>
        <p:nvSpPr>
          <p:cNvPr id="3" name="TextBox 2"/>
          <p:cNvSpPr txBox="1"/>
          <p:nvPr/>
        </p:nvSpPr>
        <p:spPr>
          <a:xfrm>
            <a:off x="566928" y="896112"/>
            <a:ext cx="11064240" cy="347472"/>
          </a:xfrm>
          <a:prstGeom prst="rect">
            <a:avLst/>
          </a:prstGeom>
          <a:noFill/>
        </p:spPr>
        <p:txBody>
          <a:bodyPr wrap="square" lIns="45720" rIns="45720" anchor="t">
            <a:spAutoFit/>
          </a:bodyPr>
          <a:lstStyle/>
          <a:p>
            <a:pPr algn="ctr">
              <a:defRPr sz="1900" b="1">
                <a:solidFill>
                  <a:srgbClr val="2B7A43"/>
                </a:solidFill>
                <a:latin typeface="Aptos"/>
              </a:defRPr>
            </a:pPr>
            <a:r>
              <a:t>The hidden state is normalized internal progress, not the final Ku or Kd coefficient.</a:t>
            </a:r>
          </a:p>
        </p:txBody>
      </p:sp>
      <p:sp>
        <p:nvSpPr>
          <p:cNvPr id="4" name="Rounded Rectangle 3"/>
          <p:cNvSpPr/>
          <p:nvPr/>
        </p:nvSpPr>
        <p:spPr>
          <a:xfrm>
            <a:off x="1097280" y="1417320"/>
            <a:ext cx="9966960" cy="13258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700">
                <a:solidFill>
                  <a:srgbClr val="1E3027"/>
                </a:solidFill>
                <a:latin typeface="Consolas"/>
              </a:defRPr>
            </a:pPr>
            <a:r>
              <a:t>x = max(0, t - delay)</a:t>
            </a:r>
            <a:br/>
            <a:r>
              <a:t>progress = 1 - exp(-x / tau)</a:t>
            </a:r>
            <a:br/>
            <a:r>
              <a:t>G(t) = G_start + (G_end - G_start) * progress</a:t>
            </a:r>
          </a:p>
        </p:txBody>
      </p:sp>
      <p:sp>
        <p:nvSpPr>
          <p:cNvPr id="5" name="Rounded Rectangle 4"/>
          <p:cNvSpPr/>
          <p:nvPr/>
        </p:nvSpPr>
        <p:spPr>
          <a:xfrm>
            <a:off x="658368" y="3246120"/>
            <a:ext cx="2331720" cy="109728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Input rises</a:t>
            </a:r>
            <a:br/>
            <a:r>
              <a:t>GUP: 0 -&gt; 1</a:t>
            </a:r>
            <a:br/>
            <a:r>
              <a:t>PU-on delay/tau</a:t>
            </a:r>
          </a:p>
        </p:txBody>
      </p:sp>
      <p:sp>
        <p:nvSpPr>
          <p:cNvPr id="6" name="Rounded Rectangle 5"/>
          <p:cNvSpPr/>
          <p:nvPr/>
        </p:nvSpPr>
        <p:spPr>
          <a:xfrm>
            <a:off x="3182112" y="3246120"/>
            <a:ext cx="2331720" cy="109728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Input rises</a:t>
            </a:r>
            <a:br/>
            <a:r>
              <a:t>GDN: 1 -&gt; 0</a:t>
            </a:r>
            <a:br/>
            <a:r>
              <a:t>PD-off delay/tau</a:t>
            </a:r>
          </a:p>
        </p:txBody>
      </p:sp>
      <p:sp>
        <p:nvSpPr>
          <p:cNvPr id="7" name="Rounded Rectangle 6"/>
          <p:cNvSpPr/>
          <p:nvPr/>
        </p:nvSpPr>
        <p:spPr>
          <a:xfrm>
            <a:off x="5705856" y="3246120"/>
            <a:ext cx="2331720" cy="109728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Input falls</a:t>
            </a:r>
            <a:br/>
            <a:r>
              <a:t>GUP: 1 -&gt; 0</a:t>
            </a:r>
            <a:br/>
            <a:r>
              <a:t>PU-off delay/tau</a:t>
            </a:r>
          </a:p>
        </p:txBody>
      </p:sp>
      <p:sp>
        <p:nvSpPr>
          <p:cNvPr id="8" name="Rounded Rectangle 7"/>
          <p:cNvSpPr/>
          <p:nvPr/>
        </p:nvSpPr>
        <p:spPr>
          <a:xfrm>
            <a:off x="8229600" y="3246120"/>
            <a:ext cx="2331720" cy="1097280"/>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Input falls</a:t>
            </a:r>
            <a:br/>
            <a:r>
              <a:t>GDN: 0 -&gt; 1</a:t>
            </a:r>
            <a:br/>
            <a:r>
              <a:t>PD-on delay/tau</a:t>
            </a:r>
          </a:p>
        </p:txBody>
      </p:sp>
      <p:sp>
        <p:nvSpPr>
          <p:cNvPr id="9" name="Rounded Rectangle 8"/>
          <p:cNvSpPr/>
          <p:nvPr/>
        </p:nvSpPr>
        <p:spPr>
          <a:xfrm>
            <a:off x="1097280" y="4892040"/>
            <a:ext cx="301752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Initial low output: GUP = 0</a:t>
            </a:r>
          </a:p>
        </p:txBody>
      </p:sp>
      <p:sp>
        <p:nvSpPr>
          <p:cNvPr id="10" name="Rounded Rectangle 9"/>
          <p:cNvSpPr/>
          <p:nvPr/>
        </p:nvSpPr>
        <p:spPr>
          <a:xfrm>
            <a:off x="4526280" y="4892040"/>
            <a:ext cx="301752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Initial low output: GDN = 1</a:t>
            </a:r>
          </a:p>
        </p:txBody>
      </p:sp>
      <p:sp>
        <p:nvSpPr>
          <p:cNvPr id="11" name="Rounded Rectangle 10"/>
          <p:cNvSpPr/>
          <p:nvPr/>
        </p:nvSpPr>
        <p:spPr>
          <a:xfrm>
            <a:off x="7955279" y="4800600"/>
            <a:ext cx="320040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Reverse edge changes target; G itself is preserved</a:t>
            </a:r>
          </a:p>
        </p:txBody>
      </p:sp>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At every original table sample time, the fitted delay/tau gives one corresponding hidden-state value.</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helper: gate_response(time_ns, delay_ns, tau_ns, start_value, end_value)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4: turn hidden state and coefficient samples into four PWL maps</a:t>
            </a:r>
          </a:p>
        </p:txBody>
      </p:sp>
      <p:sp>
        <p:nvSpPr>
          <p:cNvPr id="3" name="Rounded Rectangle 2"/>
          <p:cNvSpPr/>
          <p:nvPr/>
        </p:nvSpPr>
        <p:spPr>
          <a:xfrm>
            <a:off x="411480" y="1298448"/>
            <a:ext cx="1737360" cy="84124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For each table time t</a:t>
            </a:r>
          </a:p>
        </p:txBody>
      </p:sp>
      <p:cxnSp>
        <p:nvCxnSpPr>
          <p:cNvPr id="4" name="Connector 3"/>
          <p:cNvCxnSpPr/>
          <p:nvPr/>
        </p:nvCxnSpPr>
        <p:spPr>
          <a:xfrm>
            <a:off x="2148840" y="1719072"/>
            <a:ext cx="457200" cy="0"/>
          </a:xfrm>
          <a:prstGeom prst="line">
            <a:avLst/>
          </a:prstGeom>
          <a:ln w="19050">
            <a:solidFill>
              <a:srgbClr val="2B7A43"/>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606040" y="1298448"/>
            <a:ext cx="1691640" cy="84124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Compute fitted G(t)</a:t>
            </a:r>
          </a:p>
        </p:txBody>
      </p:sp>
      <p:cxnSp>
        <p:nvCxnSpPr>
          <p:cNvPr id="6" name="Connector 5"/>
          <p:cNvCxnSpPr/>
          <p:nvPr/>
        </p:nvCxnSpPr>
        <p:spPr>
          <a:xfrm>
            <a:off x="4297680" y="1719072"/>
            <a:ext cx="457200" cy="0"/>
          </a:xfrm>
          <a:prstGeom prst="line">
            <a:avLst/>
          </a:prstGeom>
          <a:ln w="1905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754880" y="1298448"/>
            <a:ext cx="1691640" cy="84124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Pair (G(t), K(t))</a:t>
            </a:r>
          </a:p>
        </p:txBody>
      </p:sp>
      <p:cxnSp>
        <p:nvCxnSpPr>
          <p:cNvPr id="8" name="Connector 7"/>
          <p:cNvCxnSpPr/>
          <p:nvPr/>
        </p:nvCxnSpPr>
        <p:spPr>
          <a:xfrm>
            <a:off x="6446520" y="1719072"/>
            <a:ext cx="457200" cy="0"/>
          </a:xfrm>
          <a:prstGeom prst="line">
            <a:avLst/>
          </a:prstGeom>
          <a:ln w="1905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903720" y="1298448"/>
            <a:ext cx="1737360" cy="84124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Sort by G and merge duplicates</a:t>
            </a:r>
          </a:p>
        </p:txBody>
      </p:sp>
      <p:cxnSp>
        <p:nvCxnSpPr>
          <p:cNvPr id="10" name="Connector 9"/>
          <p:cNvCxnSpPr/>
          <p:nvPr/>
        </p:nvCxnSpPr>
        <p:spPr>
          <a:xfrm>
            <a:off x="8641080" y="1719072"/>
            <a:ext cx="411480" cy="0"/>
          </a:xfrm>
          <a:prstGeom prst="line">
            <a:avLst/>
          </a:prstGeom>
          <a:ln w="1905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9052560" y="1298448"/>
            <a:ext cx="2240280" cy="841248"/>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Interpolate 81 points from G=0..1</a:t>
            </a:r>
          </a:p>
        </p:txBody>
      </p:sp>
      <p:sp>
        <p:nvSpPr>
          <p:cNvPr id="12" name="TextBox 11"/>
          <p:cNvSpPr txBox="1"/>
          <p:nvPr/>
        </p:nvSpPr>
        <p:spPr>
          <a:xfrm>
            <a:off x="658368" y="2697480"/>
            <a:ext cx="2194560" cy="347472"/>
          </a:xfrm>
          <a:prstGeom prst="rect">
            <a:avLst/>
          </a:prstGeom>
          <a:noFill/>
        </p:spPr>
        <p:txBody>
          <a:bodyPr wrap="square" lIns="45720" rIns="45720" anchor="t">
            <a:spAutoFit/>
          </a:bodyPr>
          <a:lstStyle/>
          <a:p>
            <a:pPr algn="l">
              <a:defRPr sz="2000" b="1">
                <a:solidFill>
                  <a:srgbClr val="2B7A43"/>
                </a:solidFill>
                <a:latin typeface="Aptos"/>
              </a:defRPr>
            </a:pPr>
            <a:r>
              <a:t>Why four maps?</a:t>
            </a:r>
          </a:p>
        </p:txBody>
      </p:sp>
      <p:sp>
        <p:nvSpPr>
          <p:cNvPr id="13" name="Rounded Rectangle 12"/>
          <p:cNvSpPr/>
          <p:nvPr/>
        </p:nvSpPr>
        <p:spPr>
          <a:xfrm>
            <a:off x="685800" y="3200400"/>
            <a:ext cx="1920240" cy="84124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Ku-on</a:t>
            </a:r>
            <a:br/>
            <a:r>
              <a:t>kr Ku vs GUP</a:t>
            </a:r>
          </a:p>
        </p:txBody>
      </p:sp>
      <p:sp>
        <p:nvSpPr>
          <p:cNvPr id="14" name="Rounded Rectangle 13"/>
          <p:cNvSpPr/>
          <p:nvPr/>
        </p:nvSpPr>
        <p:spPr>
          <a:xfrm>
            <a:off x="2788920" y="3200400"/>
            <a:ext cx="1920240" cy="84124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Ku-off</a:t>
            </a:r>
            <a:br/>
            <a:r>
              <a:t>kf Ku vs GUP</a:t>
            </a:r>
          </a:p>
        </p:txBody>
      </p:sp>
      <p:sp>
        <p:nvSpPr>
          <p:cNvPr id="15" name="Rounded Rectangle 14"/>
          <p:cNvSpPr/>
          <p:nvPr/>
        </p:nvSpPr>
        <p:spPr>
          <a:xfrm>
            <a:off x="4892040" y="3200400"/>
            <a:ext cx="1920240" cy="84124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Kd-off</a:t>
            </a:r>
            <a:br/>
            <a:r>
              <a:t>kr Kd vs GDN</a:t>
            </a:r>
          </a:p>
        </p:txBody>
      </p:sp>
      <p:sp>
        <p:nvSpPr>
          <p:cNvPr id="16" name="Rounded Rectangle 15"/>
          <p:cNvSpPr/>
          <p:nvPr/>
        </p:nvSpPr>
        <p:spPr>
          <a:xfrm>
            <a:off x="6995160" y="3200400"/>
            <a:ext cx="1920240" cy="84124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Kd-on</a:t>
            </a:r>
            <a:br/>
            <a:r>
              <a:t>kf Kd vs GDN</a:t>
            </a:r>
          </a:p>
        </p:txBody>
      </p:sp>
      <p:sp>
        <p:nvSpPr>
          <p:cNvPr id="17" name="Rounded Rectangle 16"/>
          <p:cNvSpPr/>
          <p:nvPr/>
        </p:nvSpPr>
        <p:spPr>
          <a:xfrm>
            <a:off x="9189720" y="3035808"/>
            <a:ext cx="2286000" cy="1170432"/>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Same G can map to different K while turning on versus turning off</a:t>
            </a:r>
          </a:p>
        </p:txBody>
      </p:sp>
      <p:sp>
        <p:nvSpPr>
          <p:cNvPr id="18" name="TextBox 17"/>
          <p:cNvSpPr txBox="1"/>
          <p:nvPr/>
        </p:nvSpPr>
        <p:spPr>
          <a:xfrm>
            <a:off x="658368" y="4572000"/>
            <a:ext cx="2926080" cy="320040"/>
          </a:xfrm>
          <a:prstGeom prst="rect">
            <a:avLst/>
          </a:prstGeom>
          <a:noFill/>
        </p:spPr>
        <p:txBody>
          <a:bodyPr wrap="square" lIns="45720" rIns="45720" anchor="t">
            <a:spAutoFit/>
          </a:bodyPr>
          <a:lstStyle/>
          <a:p>
            <a:pPr algn="l">
              <a:defRPr sz="1900" b="1">
                <a:solidFill>
                  <a:srgbClr val="CA3030"/>
                </a:solidFill>
                <a:latin typeface="Aptos"/>
              </a:defRPr>
            </a:pPr>
            <a:r>
              <a:t>Critical implementation choice</a:t>
            </a:r>
          </a:p>
        </p:txBody>
      </p:sp>
      <p:sp>
        <p:nvSpPr>
          <p:cNvPr id="19" name="TextBox 18"/>
          <p:cNvSpPr txBox="1"/>
          <p:nvPr/>
        </p:nvSpPr>
        <p:spPr>
          <a:xfrm>
            <a:off x="713232" y="4974336"/>
            <a:ext cx="10607040" cy="585216"/>
          </a:xfrm>
          <a:prstGeom prst="rect">
            <a:avLst/>
          </a:prstGeom>
          <a:noFill/>
        </p:spPr>
        <p:txBody>
          <a:bodyPr wrap="square" lIns="45720" rIns="45720" anchor="t">
            <a:spAutoFit/>
          </a:bodyPr>
          <a:lstStyle/>
          <a:p>
            <a:pPr algn="ctr">
              <a:defRPr sz="1650" b="1">
                <a:solidFill>
                  <a:srgbClr val="191F1C"/>
                </a:solidFill>
                <a:latin typeface="Aptos"/>
              </a:defRPr>
            </a:pPr>
            <a:r>
              <a:t>The directional maps are NOT forced monotonic. That preserves the real negative Kd excursion instead of smoothing it away.</a:t>
            </a:r>
          </a:p>
        </p:txBody>
      </p:sp>
      <p:sp>
        <p:nvSpPr>
          <p:cNvPr id="20" name="Rectangle 1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PWL map converts state into coefficient; direction selects which history-dependent map is valid.</a:t>
            </a:r>
          </a:p>
        </p:txBody>
      </p:sp>
      <p:sp>
        <p:nvSpPr>
          <p:cNvPr id="21" name="TextBox 2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helper: directional_gate_transfer_curve(..., point_count=81)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Step 5: recover the Kd detail that a static state map misses</a:t>
            </a:r>
          </a:p>
        </p:txBody>
      </p:sp>
      <p:sp>
        <p:nvSpPr>
          <p:cNvPr id="3" name="TextBox 2"/>
          <p:cNvSpPr txBox="1"/>
          <p:nvPr/>
        </p:nvSpPr>
        <p:spPr>
          <a:xfrm>
            <a:off x="566928" y="896112"/>
            <a:ext cx="11064240" cy="365760"/>
          </a:xfrm>
          <a:prstGeom prst="rect">
            <a:avLst/>
          </a:prstGeom>
          <a:noFill/>
        </p:spPr>
        <p:txBody>
          <a:bodyPr wrap="square" lIns="45720" rIns="45720" anchor="t">
            <a:spAutoFit/>
          </a:bodyPr>
          <a:lstStyle/>
          <a:p>
            <a:pPr algn="ctr">
              <a:defRPr sz="1850" b="1">
                <a:solidFill>
                  <a:srgbClr val="2B7A43"/>
                </a:solidFill>
                <a:latin typeface="Aptos"/>
              </a:defRPr>
            </a:pPr>
            <a:r>
              <a:t>A single value of GDN does not capture every dynamic feature of Kd, especially its negative undershoot.</a:t>
            </a:r>
          </a:p>
        </p:txBody>
      </p:sp>
      <p:sp>
        <p:nvSpPr>
          <p:cNvPr id="4" name="Rounded Rectangle 3"/>
          <p:cNvSpPr/>
          <p:nvPr/>
        </p:nvSpPr>
        <p:spPr>
          <a:xfrm>
            <a:off x="658368" y="1481328"/>
            <a:ext cx="2011680" cy="4572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1. Base prediction</a:t>
            </a:r>
          </a:p>
        </p:txBody>
      </p:sp>
      <p:sp>
        <p:nvSpPr>
          <p:cNvPr id="5" name="Rounded Rectangle 4"/>
          <p:cNvSpPr/>
          <p:nvPr/>
        </p:nvSpPr>
        <p:spPr>
          <a:xfrm>
            <a:off x="658368" y="2011680"/>
            <a:ext cx="3429000" cy="6583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420">
                <a:solidFill>
                  <a:srgbClr val="1E3027"/>
                </a:solidFill>
                <a:latin typeface="Consolas"/>
              </a:defRPr>
            </a:pPr>
            <a:r>
              <a:t>Kd_base(t) = PWL_direction[GDN(t)]</a:t>
            </a:r>
          </a:p>
        </p:txBody>
      </p:sp>
      <p:sp>
        <p:nvSpPr>
          <p:cNvPr id="6" name="Rounded Rectangle 5"/>
          <p:cNvSpPr/>
          <p:nvPr/>
        </p:nvSpPr>
        <p:spPr>
          <a:xfrm>
            <a:off x="4343400" y="1481328"/>
            <a:ext cx="2011680" cy="457200"/>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2. Table residual</a:t>
            </a:r>
          </a:p>
        </p:txBody>
      </p:sp>
      <p:sp>
        <p:nvSpPr>
          <p:cNvPr id="7" name="Rounded Rectangle 6"/>
          <p:cNvSpPr/>
          <p:nvPr/>
        </p:nvSpPr>
        <p:spPr>
          <a:xfrm>
            <a:off x="4343400" y="2011680"/>
            <a:ext cx="3429000" cy="6583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420">
                <a:solidFill>
                  <a:srgbClr val="1E3027"/>
                </a:solidFill>
                <a:latin typeface="Consolas"/>
              </a:defRPr>
            </a:pPr>
            <a:r>
              <a:t>r(t) = Kd_table(t) - Kd_base(t)</a:t>
            </a:r>
          </a:p>
        </p:txBody>
      </p:sp>
      <p:sp>
        <p:nvSpPr>
          <p:cNvPr id="8" name="Rounded Rectangle 7"/>
          <p:cNvSpPr/>
          <p:nvPr/>
        </p:nvSpPr>
        <p:spPr>
          <a:xfrm>
            <a:off x="8028431" y="1481328"/>
            <a:ext cx="2011680" cy="45720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3. Gate-state rate</a:t>
            </a:r>
          </a:p>
        </p:txBody>
      </p:sp>
      <p:sp>
        <p:nvSpPr>
          <p:cNvPr id="9" name="Rounded Rectangle 8"/>
          <p:cNvSpPr/>
          <p:nvPr/>
        </p:nvSpPr>
        <p:spPr>
          <a:xfrm>
            <a:off x="8028431" y="2011680"/>
            <a:ext cx="3429000" cy="6583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420">
                <a:solidFill>
                  <a:srgbClr val="1E3027"/>
                </a:solidFill>
                <a:latin typeface="Consolas"/>
              </a:defRPr>
            </a:pPr>
            <a:r>
              <a:t>dGDN/dt = (target - GDN) / tau</a:t>
            </a:r>
          </a:p>
        </p:txBody>
      </p:sp>
      <p:sp>
        <p:nvSpPr>
          <p:cNvPr id="10" name="TextBox 9"/>
          <p:cNvSpPr txBox="1"/>
          <p:nvPr/>
        </p:nvSpPr>
        <p:spPr>
          <a:xfrm>
            <a:off x="685800" y="3127248"/>
            <a:ext cx="5029200" cy="347472"/>
          </a:xfrm>
          <a:prstGeom prst="rect">
            <a:avLst/>
          </a:prstGeom>
          <a:noFill/>
        </p:spPr>
        <p:txBody>
          <a:bodyPr wrap="square" lIns="45720" rIns="45720" anchor="t">
            <a:spAutoFit/>
          </a:bodyPr>
          <a:lstStyle/>
          <a:p>
            <a:pPr algn="l">
              <a:defRPr sz="2000" b="1">
                <a:solidFill>
                  <a:srgbClr val="2B7A43"/>
                </a:solidFill>
                <a:latin typeface="Aptos"/>
              </a:defRPr>
            </a:pPr>
            <a:r>
              <a:t>Fit one scalar rate gain by least squares</a:t>
            </a:r>
          </a:p>
        </p:txBody>
      </p:sp>
      <p:sp>
        <p:nvSpPr>
          <p:cNvPr id="11" name="Rounded Rectangle 10"/>
          <p:cNvSpPr/>
          <p:nvPr/>
        </p:nvSpPr>
        <p:spPr>
          <a:xfrm>
            <a:off x="713232" y="3584448"/>
            <a:ext cx="5166360" cy="111556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500">
                <a:solidFill>
                  <a:srgbClr val="1E3027"/>
                </a:solidFill>
                <a:latin typeface="Consolas"/>
              </a:defRPr>
            </a:pPr>
            <a:r>
              <a:t>a = sum[(dGDN/dt) * r] / sum[(dGDN/dt)^2]</a:t>
            </a:r>
            <a:br/>
            <a:r>
              <a:t>a = 0.0002386915 ns for io_buf</a:t>
            </a:r>
          </a:p>
        </p:txBody>
      </p:sp>
      <p:sp>
        <p:nvSpPr>
          <p:cNvPr id="12" name="TextBox 11"/>
          <p:cNvSpPr txBox="1"/>
          <p:nvPr/>
        </p:nvSpPr>
        <p:spPr>
          <a:xfrm>
            <a:off x="6236208" y="3127248"/>
            <a:ext cx="3474720" cy="347472"/>
          </a:xfrm>
          <a:prstGeom prst="rect">
            <a:avLst/>
          </a:prstGeom>
          <a:noFill/>
        </p:spPr>
        <p:txBody>
          <a:bodyPr wrap="square" lIns="45720" rIns="45720" anchor="t">
            <a:spAutoFit/>
          </a:bodyPr>
          <a:lstStyle/>
          <a:p>
            <a:pPr algn="l">
              <a:defRPr sz="2000" b="1">
                <a:solidFill>
                  <a:srgbClr val="2B7A43"/>
                </a:solidFill>
                <a:latin typeface="Aptos"/>
              </a:defRPr>
            </a:pPr>
            <a:r>
              <a:t>Runtime Kd construction</a:t>
            </a:r>
          </a:p>
        </p:txBody>
      </p:sp>
      <p:sp>
        <p:nvSpPr>
          <p:cNvPr id="13" name="Rounded Rectangle 12"/>
          <p:cNvSpPr/>
          <p:nvPr/>
        </p:nvSpPr>
        <p:spPr>
          <a:xfrm>
            <a:off x="6263640" y="3584448"/>
            <a:ext cx="4754880" cy="1298448"/>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600">
                <a:solidFill>
                  <a:srgbClr val="1E3027"/>
                </a:solidFill>
                <a:latin typeface="Consolas"/>
              </a:defRPr>
            </a:pPr>
            <a:r>
              <a:t>Kd = Kd_base</a:t>
            </a:r>
            <a:br/>
            <a:r>
              <a:t>   + Kd_residual_table(edge_time)</a:t>
            </a:r>
            <a:br/>
            <a:r>
              <a:t>   + a * dGDN/dt</a:t>
            </a:r>
          </a:p>
        </p:txBody>
      </p:sp>
      <p:sp>
        <p:nvSpPr>
          <p:cNvPr id="14" name="Rounded Rectangle 13"/>
          <p:cNvSpPr/>
          <p:nvPr/>
        </p:nvSpPr>
        <p:spPr>
          <a:xfrm>
            <a:off x="868680" y="5138928"/>
            <a:ext cx="10424160" cy="56692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Important nuance: the main state path is continuous, but the small residual-table correction still uses elapsed edge time.</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rate term adds direction and speed information that GDN amplitude alone cannot express.</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fit: kd_rate_gain_ns = dot(kd_rate, kd_residual) / dot(kd_rate, kd_rate)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Reading the fit evidence: the on and off maps are genuinely different</a:t>
            </a:r>
          </a:p>
        </p:txBody>
      </p:sp>
      <p:sp>
        <p:nvSpPr>
          <p:cNvPr id="3" name="Rectangle 2"/>
          <p:cNvSpPr/>
          <p:nvPr/>
        </p:nvSpPr>
        <p:spPr>
          <a:xfrm>
            <a:off x="429768" y="1701165"/>
            <a:ext cx="8284464" cy="300761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irectional_maps_only.png"/>
          <p:cNvPicPr>
            <a:picLocks noChangeAspect="1"/>
          </p:cNvPicPr>
          <p:nvPr/>
        </p:nvPicPr>
        <p:blipFill>
          <a:blip r:embed="rId2"/>
          <a:stretch>
            <a:fillRect/>
          </a:stretch>
        </p:blipFill>
        <p:spPr>
          <a:xfrm>
            <a:off x="457200" y="1728597"/>
            <a:ext cx="8229600" cy="2952750"/>
          </a:xfrm>
          <a:prstGeom prst="rect">
            <a:avLst/>
          </a:prstGeom>
        </p:spPr>
      </p:pic>
      <p:sp>
        <p:nvSpPr>
          <p:cNvPr id="5" name="Rounded Rectangle 4"/>
          <p:cNvSpPr/>
          <p:nvPr/>
        </p:nvSpPr>
        <p:spPr>
          <a:xfrm>
            <a:off x="8961120" y="1143000"/>
            <a:ext cx="2423160" cy="9144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Horizontal axis</a:t>
            </a:r>
            <a:br/>
            <a:r>
              <a:t>normalized hidden state</a:t>
            </a:r>
            <a:br/>
            <a:r>
              <a:t>GUP or GDN</a:t>
            </a:r>
          </a:p>
        </p:txBody>
      </p:sp>
      <p:sp>
        <p:nvSpPr>
          <p:cNvPr id="6" name="Rounded Rectangle 5"/>
          <p:cNvSpPr/>
          <p:nvPr/>
        </p:nvSpPr>
        <p:spPr>
          <a:xfrm>
            <a:off x="8961120" y="2331720"/>
            <a:ext cx="2423160" cy="9144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Vertical axis</a:t>
            </a:r>
            <a:br/>
            <a:r>
              <a:t>effective coefficient</a:t>
            </a:r>
            <a:br/>
            <a:r>
              <a:t>Ku or Kd</a:t>
            </a:r>
          </a:p>
        </p:txBody>
      </p:sp>
      <p:sp>
        <p:nvSpPr>
          <p:cNvPr id="7" name="Rounded Rectangle 6"/>
          <p:cNvSpPr/>
          <p:nvPr/>
        </p:nvSpPr>
        <p:spPr>
          <a:xfrm>
            <a:off x="8961120" y="3520440"/>
            <a:ext cx="2423160" cy="13258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Blue vs orange separation means one shared map would erase directional history.</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maps are learned point by point from complete edges; they are not hand-drawn transfer curves.</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results\io_buf_two_state_gate_model_2026-06-30\presentation\assets\directional_maps_only.png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Reading the fit evidence: rate and residual explain the Kd undershoot</a:t>
            </a:r>
          </a:p>
        </p:txBody>
      </p:sp>
      <p:sp>
        <p:nvSpPr>
          <p:cNvPr id="3" name="Rectangle 2"/>
          <p:cNvSpPr/>
          <p:nvPr/>
        </p:nvSpPr>
        <p:spPr>
          <a:xfrm>
            <a:off x="429768" y="1720214"/>
            <a:ext cx="8284464" cy="2969514"/>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ate_residual_only.png"/>
          <p:cNvPicPr>
            <a:picLocks noChangeAspect="1"/>
          </p:cNvPicPr>
          <p:nvPr/>
        </p:nvPicPr>
        <p:blipFill>
          <a:blip r:embed="rId2"/>
          <a:stretch>
            <a:fillRect/>
          </a:stretch>
        </p:blipFill>
        <p:spPr>
          <a:xfrm>
            <a:off x="457200" y="1747647"/>
            <a:ext cx="8229600" cy="2914650"/>
          </a:xfrm>
          <a:prstGeom prst="rect">
            <a:avLst/>
          </a:prstGeom>
        </p:spPr>
      </p:pic>
      <p:sp>
        <p:nvSpPr>
          <p:cNvPr id="5" name="Rounded Rectangle 4"/>
          <p:cNvSpPr/>
          <p:nvPr/>
        </p:nvSpPr>
        <p:spPr>
          <a:xfrm>
            <a:off x="8961120" y="1078992"/>
            <a:ext cx="2423160" cy="118872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Left panel</a:t>
            </a:r>
            <a:br/>
            <a:r>
              <a:t>dGDN/dt is negative when pulldown turns off and positive when it turns on.</a:t>
            </a:r>
          </a:p>
        </p:txBody>
      </p:sp>
      <p:sp>
        <p:nvSpPr>
          <p:cNvPr id="6" name="Rounded Rectangle 5"/>
          <p:cNvSpPr/>
          <p:nvPr/>
        </p:nvSpPr>
        <p:spPr>
          <a:xfrm>
            <a:off x="8961120" y="2542032"/>
            <a:ext cx="2423160" cy="1078992"/>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Right panel</a:t>
            </a:r>
            <a:br/>
            <a:r>
              <a:t>residual is what the PWL state map did not reproduce.</a:t>
            </a:r>
          </a:p>
        </p:txBody>
      </p:sp>
      <p:sp>
        <p:nvSpPr>
          <p:cNvPr id="7" name="Rounded Rectangle 6"/>
          <p:cNvSpPr/>
          <p:nvPr/>
        </p:nvSpPr>
        <p:spPr>
          <a:xfrm>
            <a:off x="8961120" y="3895344"/>
            <a:ext cx="2423160" cy="1078992"/>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The large negative region is why a static nonnegative map failed the reconstruction gate.</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residual is small in model structure, but essential for preserving the measured Kd excursion.</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results\io_buf_two_state_gate_model_2026-06-30\presentation\assets\rate_residual_only.png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End-to-end implementation flow</a:t>
            </a:r>
          </a:p>
        </p:txBody>
      </p:sp>
      <p:sp>
        <p:nvSpPr>
          <p:cNvPr id="3" name="Rounded Rectangle 2"/>
          <p:cNvSpPr/>
          <p:nvPr/>
        </p:nvSpPr>
        <p:spPr>
          <a:xfrm>
            <a:off x="411480" y="1847088"/>
            <a:ext cx="1554480" cy="107899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io_buf.ibs</a:t>
            </a:r>
            <a:br/>
            <a:r>
              <a:t>Input data</a:t>
            </a:r>
          </a:p>
        </p:txBody>
      </p:sp>
      <p:cxnSp>
        <p:nvCxnSpPr>
          <p:cNvPr id="4" name="Connector 3"/>
          <p:cNvCxnSpPr/>
          <p:nvPr/>
        </p:nvCxnSpPr>
        <p:spPr>
          <a:xfrm>
            <a:off x="1965960" y="2386584"/>
            <a:ext cx="301752" cy="0"/>
          </a:xfrm>
          <a:prstGeom prst="line">
            <a:avLst/>
          </a:prstGeom>
          <a:ln w="20320">
            <a:solidFill>
              <a:srgbClr val="2B7A43"/>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267712" y="1847088"/>
            <a:ext cx="1554480" cy="107899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pybis extraction</a:t>
            </a:r>
            <a:br/>
            <a:r>
              <a:t>Ku/Kd rise + fall tables</a:t>
            </a:r>
          </a:p>
        </p:txBody>
      </p:sp>
      <p:cxnSp>
        <p:nvCxnSpPr>
          <p:cNvPr id="6" name="Connector 5"/>
          <p:cNvCxnSpPr/>
          <p:nvPr/>
        </p:nvCxnSpPr>
        <p:spPr>
          <a:xfrm>
            <a:off x="3822191" y="2386584"/>
            <a:ext cx="310896" cy="0"/>
          </a:xfrm>
          <a:prstGeom prst="line">
            <a:avLst/>
          </a:prstGeom>
          <a:ln w="2032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133087" y="1847088"/>
            <a:ext cx="1554480" cy="107899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directional fit</a:t>
            </a:r>
            <a:br/>
            <a:r>
              <a:t>delays, taus, maps, residual</a:t>
            </a:r>
          </a:p>
        </p:txBody>
      </p:sp>
      <p:cxnSp>
        <p:nvCxnSpPr>
          <p:cNvPr id="8" name="Connector 7"/>
          <p:cNvCxnSpPr/>
          <p:nvPr/>
        </p:nvCxnSpPr>
        <p:spPr>
          <a:xfrm>
            <a:off x="5687568" y="2386584"/>
            <a:ext cx="310896" cy="0"/>
          </a:xfrm>
          <a:prstGeom prst="line">
            <a:avLst/>
          </a:prstGeom>
          <a:ln w="2032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998464" y="1847088"/>
            <a:ext cx="1554480" cy="107899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SPICE generator</a:t>
            </a:r>
            <a:br/>
            <a:r>
              <a:t>state nodes + PWL equations</a:t>
            </a:r>
          </a:p>
        </p:txBody>
      </p:sp>
      <p:cxnSp>
        <p:nvCxnSpPr>
          <p:cNvPr id="10" name="Connector 9"/>
          <p:cNvCxnSpPr/>
          <p:nvPr/>
        </p:nvCxnSpPr>
        <p:spPr>
          <a:xfrm>
            <a:off x="7552944" y="2386584"/>
            <a:ext cx="310896" cy="0"/>
          </a:xfrm>
          <a:prstGeom prst="line">
            <a:avLst/>
          </a:prstGeom>
          <a:ln w="20320">
            <a:solidFill>
              <a:srgbClr val="2B7A4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863840" y="1847088"/>
            <a:ext cx="1554480" cy="107899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ngspice deck</a:t>
            </a:r>
            <a:br/>
            <a:r>
              <a:t>50 ohm || 2 pF transient</a:t>
            </a:r>
          </a:p>
        </p:txBody>
      </p:sp>
      <p:cxnSp>
        <p:nvCxnSpPr>
          <p:cNvPr id="12" name="Connector 11"/>
          <p:cNvCxnSpPr/>
          <p:nvPr/>
        </p:nvCxnSpPr>
        <p:spPr>
          <a:xfrm>
            <a:off x="9418319" y="2386584"/>
            <a:ext cx="310897" cy="0"/>
          </a:xfrm>
          <a:prstGeom prst="line">
            <a:avLst/>
          </a:prstGeom>
          <a:ln w="20320">
            <a:solidFill>
              <a:srgbClr val="2B7A43"/>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729216" y="1847088"/>
            <a:ext cx="1554480" cy="1078992"/>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350" b="1">
                <a:solidFill>
                  <a:srgbClr val="191F1C"/>
                </a:solidFill>
                <a:latin typeface="Aptos"/>
              </a:defRPr>
            </a:pPr>
            <a:r>
              <a:t>cached audit</a:t>
            </a:r>
            <a:br/>
            <a:r>
              <a:t>native IBIS + transistor pad</a:t>
            </a:r>
          </a:p>
        </p:txBody>
      </p:sp>
      <p:sp>
        <p:nvSpPr>
          <p:cNvPr id="14" name="TextBox 13"/>
          <p:cNvSpPr txBox="1"/>
          <p:nvPr/>
        </p:nvSpPr>
        <p:spPr>
          <a:xfrm>
            <a:off x="658368" y="3520440"/>
            <a:ext cx="3017520" cy="347472"/>
          </a:xfrm>
          <a:prstGeom prst="rect">
            <a:avLst/>
          </a:prstGeom>
          <a:noFill/>
        </p:spPr>
        <p:txBody>
          <a:bodyPr wrap="square" lIns="45720" rIns="45720" anchor="t">
            <a:spAutoFit/>
          </a:bodyPr>
          <a:lstStyle/>
          <a:p>
            <a:pPr algn="l">
              <a:defRPr sz="2000" b="1">
                <a:solidFill>
                  <a:srgbClr val="2B7A43"/>
                </a:solidFill>
                <a:latin typeface="Aptos"/>
              </a:defRPr>
            </a:pPr>
            <a:r>
              <a:t>Primary Python entry points</a:t>
            </a:r>
          </a:p>
        </p:txBody>
      </p:sp>
      <p:sp>
        <p:nvSpPr>
          <p:cNvPr id="15" name="Rounded Rectangle 14"/>
          <p:cNvSpPr/>
          <p:nvPr/>
        </p:nvSpPr>
        <p:spPr>
          <a:xfrm>
            <a:off x="685800" y="3913632"/>
            <a:ext cx="5532120" cy="123444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300">
                <a:solidFill>
                  <a:srgbClr val="1E3027"/>
                </a:solidFill>
                <a:latin typeface="Consolas"/>
              </a:defRPr>
            </a:pPr>
            <a:r>
              <a:t>two_state_directional_gate_fit(kr, kf)</a:t>
            </a:r>
            <a:br/>
            <a:r>
              <a:t>create_ngspice_two_state_gate_input_control_netlist(</a:t>
            </a:r>
            <a:br/>
            <a:r>
              <a:t>    kr, kf, ibis_data, mode='directional_residual_full')</a:t>
            </a:r>
          </a:p>
        </p:txBody>
      </p:sp>
      <p:sp>
        <p:nvSpPr>
          <p:cNvPr id="16" name="TextBox 15"/>
          <p:cNvSpPr txBox="1"/>
          <p:nvPr/>
        </p:nvSpPr>
        <p:spPr>
          <a:xfrm>
            <a:off x="6629400" y="3520440"/>
            <a:ext cx="2560320" cy="347472"/>
          </a:xfrm>
          <a:prstGeom prst="rect">
            <a:avLst/>
          </a:prstGeom>
          <a:noFill/>
        </p:spPr>
        <p:txBody>
          <a:bodyPr wrap="square" lIns="45720" rIns="45720" anchor="t">
            <a:spAutoFit/>
          </a:bodyPr>
          <a:lstStyle/>
          <a:p>
            <a:pPr algn="l">
              <a:defRPr sz="2000" b="1">
                <a:solidFill>
                  <a:srgbClr val="2B7A43"/>
                </a:solidFill>
                <a:latin typeface="Aptos"/>
              </a:defRPr>
            </a:pPr>
            <a:r>
              <a:t>Generated artifacts</a:t>
            </a:r>
          </a:p>
        </p:txBody>
      </p:sp>
      <p:sp>
        <p:nvSpPr>
          <p:cNvPr id="17" name="TextBox 16"/>
          <p:cNvSpPr txBox="1"/>
          <p:nvPr/>
        </p:nvSpPr>
        <p:spPr>
          <a:xfrm>
            <a:off x="6675120" y="3886200"/>
            <a:ext cx="4572000" cy="141732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driver_OutputInput_Typical.sub</a:t>
            </a:r>
          </a:p>
          <a:p>
            <a:pPr>
              <a:spcAft>
                <a:spcPts val="700"/>
              </a:spcAft>
              <a:defRPr sz="1550">
                <a:solidFill>
                  <a:srgbClr val="191F1C"/>
                </a:solidFill>
                <a:latin typeface="Aptos"/>
              </a:defRPr>
            </a:pPr>
            <a:r>
              <a:t>- ngspice transient deck and raw file</a:t>
            </a:r>
          </a:p>
          <a:p>
            <a:pPr>
              <a:spcAft>
                <a:spcPts val="700"/>
              </a:spcAft>
              <a:defRPr sz="1550">
                <a:solidFill>
                  <a:srgbClr val="191F1C"/>
                </a:solidFill>
                <a:latin typeface="Aptos"/>
              </a:defRPr>
            </a:pPr>
            <a:r>
              <a:t>- diagnostic nodes: GUP, GDN, Ku, Kd, residual</a:t>
            </a:r>
          </a:p>
        </p:txBody>
      </p:sp>
      <p:sp>
        <p:nvSpPr>
          <p:cNvPr id="18" name="Rectangle 1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Normal generation needs only the IBIS file and ngspice. HSPICE enters after model selection as an audit.</a:t>
            </a:r>
          </a:p>
        </p:txBody>
      </p:sp>
      <p:sp>
        <p:nvSpPr>
          <p:cNvPr id="19" name="TextBox 1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tools/pybis2spice/pybis2spice/subcircuit.py; scripts/run_io_buf_two_state_gate_model.py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Implementation 1: endpoint and timing extraction in Python</a:t>
            </a:r>
          </a:p>
        </p:txBody>
      </p:sp>
      <p:sp>
        <p:nvSpPr>
          <p:cNvPr id="3" name="Rounded Rectangle 2"/>
          <p:cNvSpPr/>
          <p:nvPr/>
        </p:nvSpPr>
        <p:spPr>
          <a:xfrm>
            <a:off x="475488" y="932688"/>
            <a:ext cx="7452360" cy="498348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110">
                <a:solidFill>
                  <a:srgbClr val="1E3027"/>
                </a:solidFill>
                <a:latin typeface="Consolas"/>
              </a:defRPr>
            </a:pPr>
            <a:r>
              <a:t>ku_off = mean([kr[0, KU],  kf[-1, KU]])</a:t>
            </a:r>
            <a:br/>
            <a:r>
              <a:t>ku_on  = mean([kr[-1, KU], kf[0, KU]])</a:t>
            </a:r>
            <a:br/>
            <a:r>
              <a:t>kd_on  = mean([kr[0, KD],  kf[-1, KD]])</a:t>
            </a:r>
            <a:br/>
            <a:r>
              <a:t>kd_off = mean([kr[-1, KD], kf[0, KD]])</a:t>
            </a:r>
            <a:br/>
            <a:br/>
            <a:r>
              <a:t>def coefficient_transition_timing(time, values, start, end):</a:t>
            </a:r>
            <a:br/>
            <a:r>
              <a:t>    time_ns, progress = coefficient_progress(time, values, start, end)</a:t>
            </a:r>
            <a:br/>
            <a:r>
              <a:t>    t05 = crossing_time_ns(time_ns, progress, 0.05)</a:t>
            </a:r>
            <a:br/>
            <a:r>
              <a:t>    t63 = crossing_time_ns(time_ns, progress, 0.632)</a:t>
            </a:r>
            <a:br/>
            <a:r>
              <a:t>    t90 = crossing_time_ns(time_ns, progress, 0.90)</a:t>
            </a:r>
            <a:br/>
            <a:r>
              <a:t>    delay = max(0.0, t05)</a:t>
            </a:r>
            <a:br/>
            <a:r>
              <a:t>    tau = max(0.02, t63 - delay)</a:t>
            </a:r>
            <a:br/>
            <a:r>
              <a:t>    tau = max(tau, (t90 - delay) / 2.302585093)</a:t>
            </a:r>
            <a:br/>
            <a:r>
              <a:t>    return delay, tau</a:t>
            </a:r>
          </a:p>
        </p:txBody>
      </p:sp>
      <p:sp>
        <p:nvSpPr>
          <p:cNvPr id="4" name="TextBox 3"/>
          <p:cNvSpPr txBox="1"/>
          <p:nvPr/>
        </p:nvSpPr>
        <p:spPr>
          <a:xfrm>
            <a:off x="8211312" y="987552"/>
            <a:ext cx="2971800" cy="347472"/>
          </a:xfrm>
          <a:prstGeom prst="rect">
            <a:avLst/>
          </a:prstGeom>
          <a:noFill/>
        </p:spPr>
        <p:txBody>
          <a:bodyPr wrap="square" lIns="45720" rIns="45720" anchor="t">
            <a:spAutoFit/>
          </a:bodyPr>
          <a:lstStyle/>
          <a:p>
            <a:pPr algn="l">
              <a:defRPr sz="2000" b="1">
                <a:solidFill>
                  <a:srgbClr val="2B7A43"/>
                </a:solidFill>
                <a:latin typeface="Aptos"/>
              </a:defRPr>
            </a:pPr>
            <a:r>
              <a:t>Line-by-line meaning</a:t>
            </a:r>
          </a:p>
        </p:txBody>
      </p:sp>
      <p:sp>
        <p:nvSpPr>
          <p:cNvPr id="5" name="TextBox 4"/>
          <p:cNvSpPr txBox="1"/>
          <p:nvPr/>
        </p:nvSpPr>
        <p:spPr>
          <a:xfrm>
            <a:off x="8211312" y="1444752"/>
            <a:ext cx="3154680" cy="3493008"/>
          </a:xfrm>
          <a:prstGeom prst="rect">
            <a:avLst/>
          </a:prstGeom>
          <a:noFill/>
        </p:spPr>
        <p:txBody>
          <a:bodyPr wrap="square" lIns="73152" rIns="36576" tIns="36576" bIns="36576">
            <a:spAutoFit/>
          </a:bodyPr>
          <a:lstStyle/>
          <a:p>
            <a:pPr>
              <a:spcAft>
                <a:spcPts val="700"/>
              </a:spcAft>
              <a:defRPr sz="1430">
                <a:solidFill>
                  <a:srgbClr val="191F1C"/>
                </a:solidFill>
                <a:latin typeface="Aptos"/>
              </a:defRPr>
            </a:pPr>
            <a:r>
              <a:t>- Average both tables at the settled endpoints to reduce endpoint noise.</a:t>
            </a:r>
          </a:p>
          <a:p>
            <a:pPr>
              <a:spcAft>
                <a:spcPts val="700"/>
              </a:spcAft>
              <a:defRPr sz="1430">
                <a:solidFill>
                  <a:srgbClr val="191F1C"/>
                </a:solidFill>
                <a:latin typeface="Aptos"/>
              </a:defRPr>
            </a:pPr>
            <a:r>
              <a:t>- Normalize each trace so a decreasing Kd is treated exactly like an increasing Ku.</a:t>
            </a:r>
          </a:p>
          <a:p>
            <a:pPr>
              <a:spcAft>
                <a:spcPts val="700"/>
              </a:spcAft>
              <a:defRPr sz="1430">
                <a:solidFill>
                  <a:srgbClr val="191F1C"/>
                </a:solidFill>
                <a:latin typeface="Aptos"/>
              </a:defRPr>
            </a:pPr>
            <a:r>
              <a:t>- Interpolate the first crossing; do not require an exact sample at 5%, 63.2%, or 90%.</a:t>
            </a:r>
          </a:p>
          <a:p>
            <a:pPr>
              <a:spcAft>
                <a:spcPts val="700"/>
              </a:spcAft>
              <a:defRPr sz="1430">
                <a:solidFill>
                  <a:srgbClr val="191F1C"/>
                </a:solidFill>
                <a:latin typeface="Aptos"/>
              </a:defRPr>
            </a:pPr>
            <a:r>
              <a:t>- Use the slower of the 63.2% and 90% estimates, with a 20 ps floor.</a:t>
            </a:r>
          </a:p>
        </p:txBody>
      </p:sp>
      <p:sp>
        <p:nvSpPr>
          <p:cNvPr id="6" name="Rounded Rectangle 5"/>
          <p:cNvSpPr/>
          <p:nvPr/>
        </p:nvSpPr>
        <p:spPr>
          <a:xfrm>
            <a:off x="8275320" y="5074920"/>
            <a:ext cx="2971800" cy="56692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Output: four delays + four taus</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This stage turns raw coefficient tables into compact, reproducible timing parameters.</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Exact implementation shortened only by replacing internal column constants with TIME/Ku/Kd labels.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Implementation 2: build directional PWL maps and fit the rate gain</a:t>
            </a:r>
          </a:p>
        </p:txBody>
      </p:sp>
      <p:sp>
        <p:nvSpPr>
          <p:cNvPr id="3" name="Rounded Rectangle 2"/>
          <p:cNvSpPr/>
          <p:nvPr/>
        </p:nvSpPr>
        <p:spPr>
          <a:xfrm>
            <a:off x="475488" y="932688"/>
            <a:ext cx="7818120" cy="5010912"/>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50">
                <a:solidFill>
                  <a:srgbClr val="1E3027"/>
                </a:solidFill>
                <a:latin typeface="Consolas"/>
              </a:defRPr>
            </a:pPr>
            <a:r>
              <a:t>gdn_rise = gate_response(tr, pd_off_delay, pd_off_tau, 1.0, 0.0)</a:t>
            </a:r>
            <a:br/>
            <a:r>
              <a:t>gdn_fall = gate_response(tf, pd_on_delay,  pd_on_tau,  0.0, 1.0)</a:t>
            </a:r>
            <a:br/>
            <a:br/>
            <a:r>
              <a:t>kd_off_x, kd_off_y = directional_gate_transfer_curve(</a:t>
            </a:r>
            <a:br/>
            <a:r>
              <a:t>    kr[:, TIME], kr[:, KD], pd_off_delay, pd_off_tau, 1.0, 0.0,</a:t>
            </a:r>
            <a:br/>
            <a:r>
              <a:t>    kd_off, kd_on)</a:t>
            </a:r>
            <a:br/>
            <a:r>
              <a:t>kd_on_x, kd_on_y = directional_gate_transfer_curve(</a:t>
            </a:r>
            <a:br/>
            <a:r>
              <a:t>    kf[:, TIME], kf[:, KD], pd_on_delay, pd_on_tau, 0.0, 1.0,</a:t>
            </a:r>
            <a:br/>
            <a:r>
              <a:t>    kd_off, kd_on)</a:t>
            </a:r>
            <a:br/>
            <a:br/>
            <a:r>
              <a:t>kd_base = concatenate([interp(gdn_rise, kd_off_x, kd_off_y),</a:t>
            </a:r>
            <a:br/>
            <a:r>
              <a:t>                       interp(gdn_fall, kd_on_x, kd_on_y)])</a:t>
            </a:r>
            <a:br/>
            <a:r>
              <a:t>kd_residual = kd_table - kd_base</a:t>
            </a:r>
            <a:br/>
            <a:r>
              <a:t>kd_rate_gain = dot(kd_rate, kd_residual) / dot(kd_rate, kd_rate)</a:t>
            </a:r>
          </a:p>
        </p:txBody>
      </p:sp>
      <p:sp>
        <p:nvSpPr>
          <p:cNvPr id="4" name="Rounded Rectangle 3"/>
          <p:cNvSpPr/>
          <p:nvPr/>
        </p:nvSpPr>
        <p:spPr>
          <a:xfrm>
            <a:off x="8577072" y="1078992"/>
            <a:ext cx="2743200" cy="8229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gate_response</a:t>
            </a:r>
            <a:br/>
            <a:r>
              <a:t>creates the hidden state at each table time</a:t>
            </a:r>
          </a:p>
        </p:txBody>
      </p:sp>
      <p:sp>
        <p:nvSpPr>
          <p:cNvPr id="5" name="Rounded Rectangle 4"/>
          <p:cNvSpPr/>
          <p:nvPr/>
        </p:nvSpPr>
        <p:spPr>
          <a:xfrm>
            <a:off x="8577072" y="2240280"/>
            <a:ext cx="2743200" cy="93268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directional_gate_transfer_curve</a:t>
            </a:r>
            <a:br/>
            <a:r>
              <a:t>pairs state with the original coefficient</a:t>
            </a:r>
          </a:p>
        </p:txBody>
      </p:sp>
      <p:sp>
        <p:nvSpPr>
          <p:cNvPr id="6" name="Rounded Rectangle 5"/>
          <p:cNvSpPr/>
          <p:nvPr/>
        </p:nvSpPr>
        <p:spPr>
          <a:xfrm>
            <a:off x="8577072" y="3520440"/>
            <a:ext cx="2743200" cy="822960"/>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interp</a:t>
            </a:r>
            <a:br/>
            <a:r>
              <a:t>reconstructs Kd from the state-only map</a:t>
            </a:r>
          </a:p>
        </p:txBody>
      </p:sp>
      <p:sp>
        <p:nvSpPr>
          <p:cNvPr id="7" name="Rounded Rectangle 6"/>
          <p:cNvSpPr/>
          <p:nvPr/>
        </p:nvSpPr>
        <p:spPr>
          <a:xfrm>
            <a:off x="8577072" y="4681728"/>
            <a:ext cx="2743200" cy="822960"/>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dot / dot</a:t>
            </a:r>
            <a:br/>
            <a:r>
              <a:t>fits one least-squares scalar for the rate term</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fit remains global and deterministic; there is no per-pulse tuning in this code path.</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implementation: two_state_directional_gate_fit(kr, kf)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Implementation 3: each input edge launches four delayed gate commands</a:t>
            </a:r>
          </a:p>
        </p:txBody>
      </p:sp>
      <p:sp>
        <p:nvSpPr>
          <p:cNvPr id="3" name="TextBox 2"/>
          <p:cNvSpPr txBox="1"/>
          <p:nvPr/>
        </p:nvSpPr>
        <p:spPr>
          <a:xfrm>
            <a:off x="640080" y="914400"/>
            <a:ext cx="5303520" cy="347472"/>
          </a:xfrm>
          <a:prstGeom prst="rect">
            <a:avLst/>
          </a:prstGeom>
          <a:noFill/>
        </p:spPr>
        <p:txBody>
          <a:bodyPr wrap="square" lIns="45720" rIns="45720" anchor="t">
            <a:spAutoFit/>
          </a:bodyPr>
          <a:lstStyle/>
          <a:p>
            <a:pPr algn="ctr">
              <a:defRPr sz="2000" b="1">
                <a:solidFill>
                  <a:srgbClr val="2B7A43"/>
                </a:solidFill>
                <a:latin typeface="Aptos"/>
              </a:defRPr>
            </a:pPr>
            <a:r>
              <a:t>Rising input edge</a:t>
            </a:r>
          </a:p>
        </p:txBody>
      </p:sp>
      <p:sp>
        <p:nvSpPr>
          <p:cNvPr id="4" name="TextBox 3"/>
          <p:cNvSpPr txBox="1"/>
          <p:nvPr/>
        </p:nvSpPr>
        <p:spPr>
          <a:xfrm>
            <a:off x="6217920" y="914400"/>
            <a:ext cx="5303520" cy="347472"/>
          </a:xfrm>
          <a:prstGeom prst="rect">
            <a:avLst/>
          </a:prstGeom>
          <a:noFill/>
        </p:spPr>
        <p:txBody>
          <a:bodyPr wrap="square" lIns="45720" rIns="45720" anchor="t">
            <a:spAutoFit/>
          </a:bodyPr>
          <a:lstStyle/>
          <a:p>
            <a:pPr algn="ctr">
              <a:defRPr sz="2000" b="1">
                <a:solidFill>
                  <a:srgbClr val="2B7A43"/>
                </a:solidFill>
                <a:latin typeface="Aptos"/>
              </a:defRPr>
            </a:pPr>
            <a:r>
              <a:t>Falling input edge</a:t>
            </a:r>
          </a:p>
        </p:txBody>
      </p:sp>
      <p:sp>
        <p:nvSpPr>
          <p:cNvPr id="5" name="Rounded Rectangle 4"/>
          <p:cNvSpPr/>
          <p:nvPr/>
        </p:nvSpPr>
        <p:spPr>
          <a:xfrm>
            <a:off x="731520" y="1481328"/>
            <a:ext cx="150876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RISEEDGE</a:t>
            </a:r>
          </a:p>
        </p:txBody>
      </p:sp>
      <p:cxnSp>
        <p:nvCxnSpPr>
          <p:cNvPr id="6" name="Connector 5"/>
          <p:cNvCxnSpPr/>
          <p:nvPr/>
        </p:nvCxnSpPr>
        <p:spPr>
          <a:xfrm>
            <a:off x="2240280" y="1764792"/>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926080" y="1325880"/>
            <a:ext cx="1828800" cy="877824"/>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delay 1.302 ns</a:t>
            </a:r>
            <a:br/>
            <a:r>
              <a:t>PUONP</a:t>
            </a:r>
          </a:p>
        </p:txBody>
      </p:sp>
      <p:cxnSp>
        <p:nvCxnSpPr>
          <p:cNvPr id="8" name="Connector 7"/>
          <p:cNvCxnSpPr/>
          <p:nvPr/>
        </p:nvCxnSpPr>
        <p:spPr>
          <a:xfrm>
            <a:off x="4754880" y="1764792"/>
            <a:ext cx="5943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49240" y="1325880"/>
            <a:ext cx="1828800" cy="877824"/>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GUPCMD +1</a:t>
            </a:r>
            <a:br/>
            <a:r>
              <a:t>GUPTARGET -&gt; 1</a:t>
            </a:r>
          </a:p>
        </p:txBody>
      </p:sp>
      <p:sp>
        <p:nvSpPr>
          <p:cNvPr id="10" name="Rounded Rectangle 9"/>
          <p:cNvSpPr/>
          <p:nvPr/>
        </p:nvSpPr>
        <p:spPr>
          <a:xfrm>
            <a:off x="731520" y="2743200"/>
            <a:ext cx="150876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RISEEDGE</a:t>
            </a:r>
          </a:p>
        </p:txBody>
      </p:sp>
      <p:cxnSp>
        <p:nvCxnSpPr>
          <p:cNvPr id="11" name="Connector 10"/>
          <p:cNvCxnSpPr/>
          <p:nvPr/>
        </p:nvCxnSpPr>
        <p:spPr>
          <a:xfrm>
            <a:off x="2240280" y="3026664"/>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26080" y="2587752"/>
            <a:ext cx="1828800" cy="877824"/>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delay 1.443 ns</a:t>
            </a:r>
            <a:br/>
            <a:r>
              <a:t>PDOFFP</a:t>
            </a:r>
          </a:p>
        </p:txBody>
      </p:sp>
      <p:cxnSp>
        <p:nvCxnSpPr>
          <p:cNvPr id="13" name="Connector 12"/>
          <p:cNvCxnSpPr/>
          <p:nvPr/>
        </p:nvCxnSpPr>
        <p:spPr>
          <a:xfrm>
            <a:off x="4754880" y="3026664"/>
            <a:ext cx="5943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349240" y="2587752"/>
            <a:ext cx="1828800" cy="877824"/>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GDNCMD -1</a:t>
            </a:r>
            <a:br/>
            <a:r>
              <a:t>GDNTARGET -&gt; 0</a:t>
            </a:r>
          </a:p>
        </p:txBody>
      </p:sp>
      <p:sp>
        <p:nvSpPr>
          <p:cNvPr id="15" name="Rounded Rectangle 14"/>
          <p:cNvSpPr/>
          <p:nvPr/>
        </p:nvSpPr>
        <p:spPr>
          <a:xfrm>
            <a:off x="6492240" y="1481328"/>
            <a:ext cx="150876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FALLEDGE</a:t>
            </a:r>
          </a:p>
        </p:txBody>
      </p:sp>
      <p:cxnSp>
        <p:nvCxnSpPr>
          <p:cNvPr id="16" name="Connector 15"/>
          <p:cNvCxnSpPr/>
          <p:nvPr/>
        </p:nvCxnSpPr>
        <p:spPr>
          <a:xfrm>
            <a:off x="8001000" y="1764792"/>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1325880"/>
            <a:ext cx="1828800" cy="877824"/>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delay 0.440 ns</a:t>
            </a:r>
            <a:br/>
            <a:r>
              <a:t>PUOFFP</a:t>
            </a:r>
          </a:p>
        </p:txBody>
      </p:sp>
      <p:cxnSp>
        <p:nvCxnSpPr>
          <p:cNvPr id="18" name="Connector 17"/>
          <p:cNvCxnSpPr/>
          <p:nvPr/>
        </p:nvCxnSpPr>
        <p:spPr>
          <a:xfrm>
            <a:off x="10515600" y="1764792"/>
            <a:ext cx="5486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1064240" y="1435608"/>
            <a:ext cx="822960" cy="658368"/>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250" b="1">
                <a:solidFill>
                  <a:srgbClr val="191F1C"/>
                </a:solidFill>
                <a:latin typeface="Aptos"/>
              </a:defRPr>
            </a:pPr>
            <a:r>
              <a:t>GUPCMD -1</a:t>
            </a:r>
          </a:p>
        </p:txBody>
      </p:sp>
      <p:sp>
        <p:nvSpPr>
          <p:cNvPr id="20" name="Rounded Rectangle 19"/>
          <p:cNvSpPr/>
          <p:nvPr/>
        </p:nvSpPr>
        <p:spPr>
          <a:xfrm>
            <a:off x="6492240" y="2743200"/>
            <a:ext cx="1508760" cy="566928"/>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FALLEDGE</a:t>
            </a:r>
          </a:p>
        </p:txBody>
      </p:sp>
      <p:cxnSp>
        <p:nvCxnSpPr>
          <p:cNvPr id="21" name="Connector 20"/>
          <p:cNvCxnSpPr/>
          <p:nvPr/>
        </p:nvCxnSpPr>
        <p:spPr>
          <a:xfrm>
            <a:off x="8001000" y="3026664"/>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686800" y="2587752"/>
            <a:ext cx="1828800" cy="877824"/>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400" b="1">
                <a:solidFill>
                  <a:srgbClr val="191F1C"/>
                </a:solidFill>
                <a:latin typeface="Aptos"/>
              </a:defRPr>
            </a:pPr>
            <a:r>
              <a:t>delay 2.480 ns</a:t>
            </a:r>
            <a:br/>
            <a:r>
              <a:t>PDONP</a:t>
            </a:r>
          </a:p>
        </p:txBody>
      </p:sp>
      <p:cxnSp>
        <p:nvCxnSpPr>
          <p:cNvPr id="23" name="Connector 22"/>
          <p:cNvCxnSpPr/>
          <p:nvPr/>
        </p:nvCxnSpPr>
        <p:spPr>
          <a:xfrm>
            <a:off x="10515600" y="3026664"/>
            <a:ext cx="5486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1064240" y="2697480"/>
            <a:ext cx="822960" cy="658368"/>
          </a:xfrm>
          <a:prstGeom prst="roundRect">
            <a:avLst/>
          </a:prstGeom>
          <a:solidFill>
            <a:srgbClr val="FFF1E4"/>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250" b="1">
                <a:solidFill>
                  <a:srgbClr val="191F1C"/>
                </a:solidFill>
                <a:latin typeface="Aptos"/>
              </a:defRPr>
            </a:pPr>
            <a:r>
              <a:t>GDNCMD +1</a:t>
            </a:r>
          </a:p>
        </p:txBody>
      </p:sp>
      <p:sp>
        <p:nvSpPr>
          <p:cNvPr id="25" name="TextBox 24"/>
          <p:cNvSpPr txBox="1"/>
          <p:nvPr/>
        </p:nvSpPr>
        <p:spPr>
          <a:xfrm>
            <a:off x="685800" y="4160520"/>
            <a:ext cx="10972800" cy="365760"/>
          </a:xfrm>
          <a:prstGeom prst="rect">
            <a:avLst/>
          </a:prstGeom>
          <a:noFill/>
        </p:spPr>
        <p:txBody>
          <a:bodyPr wrap="square" lIns="45720" rIns="45720" anchor="t">
            <a:spAutoFit/>
          </a:bodyPr>
          <a:lstStyle/>
          <a:p>
            <a:pPr algn="ctr">
              <a:defRPr sz="1800" b="1">
                <a:solidFill>
                  <a:srgbClr val="2B7A43"/>
                </a:solidFill>
                <a:latin typeface="Aptos"/>
              </a:defRPr>
            </a:pPr>
            <a:r>
              <a:t>The delayed pulses update command capacitors; target nodes are clamped to 0..1.</a:t>
            </a:r>
          </a:p>
        </p:txBody>
      </p:sp>
      <p:sp>
        <p:nvSpPr>
          <p:cNvPr id="26" name="Rounded Rectangle 25"/>
          <p:cNvSpPr/>
          <p:nvPr/>
        </p:nvSpPr>
        <p:spPr>
          <a:xfrm>
            <a:off x="3246120" y="4681728"/>
            <a:ext cx="5715000" cy="877824"/>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600">
                <a:solidFill>
                  <a:srgbClr val="1E3027"/>
                </a:solidFill>
                <a:latin typeface="Consolas"/>
              </a:defRPr>
            </a:pPr>
            <a:r>
              <a:t>GUPTARGET = clamp(GUPCMD, 0, 1)</a:t>
            </a:r>
            <a:br/>
            <a:r>
              <a:t>GDNTARGET = clamp(GDNCMD, 0, 1)</a:t>
            </a:r>
          </a:p>
        </p:txBody>
      </p:sp>
      <p:sp>
        <p:nvSpPr>
          <p:cNvPr id="27" name="Rectangle 2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 reverse edge schedules the opposite commands; the stored GUP/GDN voltages are not reset.</a:t>
            </a:r>
          </a:p>
        </p:txBody>
      </p:sp>
      <p:sp>
        <p:nvSpPr>
          <p:cNvPr id="28" name="TextBox 2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Generated SPICE uses lossless T-lines as transport delays for PUONP, PUOFFP, PDOFFP, and PDONP.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Implementation 4: capacitor-backed hidden states in generated SPICE</a:t>
            </a:r>
          </a:p>
        </p:txBody>
      </p:sp>
      <p:sp>
        <p:nvSpPr>
          <p:cNvPr id="3" name="Rounded Rectangle 2"/>
          <p:cNvSpPr/>
          <p:nvPr/>
        </p:nvSpPr>
        <p:spPr>
          <a:xfrm>
            <a:off x="502920" y="1024128"/>
            <a:ext cx="7818120" cy="443484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20">
                <a:solidFill>
                  <a:srgbClr val="1E3027"/>
                </a:solidFill>
                <a:latin typeface="Consolas"/>
              </a:defRPr>
            </a:pPr>
            <a:r>
              <a:t>* GUP: pullup hidden state</a:t>
            </a:r>
            <a:br/>
            <a:r>
              <a:t>BGUP GUP 0 I = -{gate_c} * (V(GUPTARGET)-V(GUP)) /</a:t>
            </a:r>
            <a:br/>
            <a:r>
              <a:t>+ ((V(GUPTARGET)&gt;V(GUP)) ? 1.28444958348n : 0.363111553053n)</a:t>
            </a:r>
            <a:br/>
            <a:r>
              <a:t>CGUP GUP 0 {gate_c} ic=0</a:t>
            </a:r>
            <a:br/>
            <a:r>
              <a:t>RGUP GUP 0 1e12</a:t>
            </a:r>
            <a:br/>
            <a:br/>
            <a:r>
              <a:t>* GDN: pulldown hidden state</a:t>
            </a:r>
            <a:br/>
            <a:r>
              <a:t>BGDN GDN 0 I = -{gate_c} * (V(GDNTARGET)-V(GDN)) /</a:t>
            </a:r>
            <a:br/>
            <a:r>
              <a:t>+ ((V(GDNTARGET)&gt;V(GDN)) ? 0.274962895839n : 0.237281600919n)</a:t>
            </a:r>
            <a:br/>
            <a:r>
              <a:t>CGDN GDN 0 {gate_c} ic=1</a:t>
            </a:r>
            <a:br/>
            <a:r>
              <a:t>RGDN GDN GDNBASE 1e12</a:t>
            </a:r>
          </a:p>
        </p:txBody>
      </p:sp>
      <p:sp>
        <p:nvSpPr>
          <p:cNvPr id="4" name="TextBox 3"/>
          <p:cNvSpPr txBox="1"/>
          <p:nvPr/>
        </p:nvSpPr>
        <p:spPr>
          <a:xfrm>
            <a:off x="8641080" y="1115568"/>
            <a:ext cx="2560320" cy="347472"/>
          </a:xfrm>
          <a:prstGeom prst="rect">
            <a:avLst/>
          </a:prstGeom>
          <a:noFill/>
        </p:spPr>
        <p:txBody>
          <a:bodyPr wrap="square" lIns="45720" rIns="45720" anchor="t">
            <a:spAutoFit/>
          </a:bodyPr>
          <a:lstStyle/>
          <a:p>
            <a:pPr algn="l">
              <a:defRPr sz="2000" b="1">
                <a:solidFill>
                  <a:srgbClr val="2B7A43"/>
                </a:solidFill>
                <a:latin typeface="Aptos"/>
              </a:defRPr>
            </a:pPr>
            <a:r>
              <a:t>How to read this</a:t>
            </a:r>
          </a:p>
        </p:txBody>
      </p:sp>
      <p:sp>
        <p:nvSpPr>
          <p:cNvPr id="5" name="TextBox 4"/>
          <p:cNvSpPr txBox="1"/>
          <p:nvPr/>
        </p:nvSpPr>
        <p:spPr>
          <a:xfrm>
            <a:off x="8641080" y="1554480"/>
            <a:ext cx="2926080" cy="324612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B source supplies charging current.</a:t>
            </a:r>
          </a:p>
          <a:p>
            <a:pPr>
              <a:spcAft>
                <a:spcPts val="700"/>
              </a:spcAft>
              <a:defRPr sz="1550">
                <a:solidFill>
                  <a:srgbClr val="191F1C"/>
                </a:solidFill>
                <a:latin typeface="Aptos"/>
              </a:defRPr>
            </a:pPr>
            <a:r>
              <a:t>- C stores the continuous state voltage.</a:t>
            </a:r>
          </a:p>
          <a:p>
            <a:pPr>
              <a:spcAft>
                <a:spcPts val="700"/>
              </a:spcAft>
              <a:defRPr sz="1550">
                <a:solidFill>
                  <a:srgbClr val="191F1C"/>
                </a:solidFill>
                <a:latin typeface="Aptos"/>
              </a:defRPr>
            </a:pPr>
            <a:r>
              <a:t>- Different tau is selected for charging and discharging.</a:t>
            </a:r>
          </a:p>
          <a:p>
            <a:pPr>
              <a:spcAft>
                <a:spcPts val="700"/>
              </a:spcAft>
              <a:defRPr sz="1550">
                <a:solidFill>
                  <a:srgbClr val="191F1C"/>
                </a:solidFill>
                <a:latin typeface="Aptos"/>
              </a:defRPr>
            </a:pPr>
            <a:r>
              <a:t>- Initial condition is low output: GUP=0, GDN=1.</a:t>
            </a:r>
          </a:p>
          <a:p>
            <a:pPr>
              <a:spcAft>
                <a:spcPts val="700"/>
              </a:spcAft>
              <a:defRPr sz="1550">
                <a:solidFill>
                  <a:srgbClr val="191F1C"/>
                </a:solidFill>
                <a:latin typeface="Aptos"/>
              </a:defRPr>
            </a:pPr>
            <a:r>
              <a:t>- A reverse edge changes the target, not the stored voltage.</a:t>
            </a:r>
          </a:p>
        </p:txBody>
      </p:sp>
      <p:sp>
        <p:nvSpPr>
          <p:cNvPr id="6" name="Rounded Rectangle 5"/>
          <p:cNvSpPr/>
          <p:nvPr/>
        </p:nvSpPr>
        <p:spPr>
          <a:xfrm>
            <a:off x="8641080" y="4919472"/>
            <a:ext cx="2834640" cy="585216"/>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Result: GUP and GDN cannot jump at retrigger.</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SPICE capacitor is not the physical transistor capacitance; it is a compact state-memory implementation.</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Actual generated subcircuit: cases/short_pulse_1ns_high/.../driver_OutputInput_Typical.sub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Implementation 5: choose direction, add residual, emit continuous Ku/Kd</a:t>
            </a:r>
          </a:p>
        </p:txBody>
      </p:sp>
      <p:sp>
        <p:nvSpPr>
          <p:cNvPr id="3" name="Rounded Rectangle 2"/>
          <p:cNvSpPr/>
          <p:nvPr/>
        </p:nvSpPr>
        <p:spPr>
          <a:xfrm>
            <a:off x="475488" y="914400"/>
            <a:ext cx="7543800" cy="50749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070">
                <a:solidFill>
                  <a:srgbClr val="1E3027"/>
                </a:solidFill>
                <a:latin typeface="Consolas"/>
              </a:defRPr>
            </a:pPr>
            <a:r>
              <a:t>BKUGATE_BASE ... V = (V(GUPTARGET)&gt;=V(GUP))</a:t>
            </a:r>
            <a:br/>
            <a:r>
              <a:t>+ ? V(KUGATE_ON) : V(KUGATE_OFF)</a:t>
            </a:r>
            <a:br/>
            <a:r>
              <a:t>BKDGATE_BASE ... V = (V(GDNTARGET)&gt;=V(GDN))</a:t>
            </a:r>
            <a:br/>
            <a:r>
              <a:t>+ ? V(KDGATE_ON) : V(KDGATE_OFF)</a:t>
            </a:r>
            <a:br/>
            <a:br/>
            <a:r>
              <a:t>BGDNRATE ... V = (V(GDNTARGET)-V(GDN))/tau_pd * 1e-9</a:t>
            </a:r>
            <a:br/>
            <a:r>
              <a:t>BKDRES ... V = V(KDRES_TABLE)</a:t>
            </a:r>
            <a:br/>
            <a:r>
              <a:t>+              + 0.00023869148*V(GDNRATE)</a:t>
            </a:r>
            <a:br/>
            <a:r>
              <a:t>BKUGATE KUGATE 0 V = V(KUGATE_BASE)</a:t>
            </a:r>
            <a:br/>
            <a:r>
              <a:t>BKDGATE KDGATE 0 V = V(KDGATE_BASE) + V(KDRES)</a:t>
            </a:r>
            <a:br/>
            <a:br/>
            <a:r>
              <a:t>B44 Ku 0 I = -{coeff_c}*(V(KUTARGET)-V(Ku))/coeff_tau</a:t>
            </a:r>
            <a:br/>
            <a:r>
              <a:t>Cku Ku 0 {coeff_c} ic=0.00194059</a:t>
            </a:r>
            <a:br/>
            <a:r>
              <a:t>B45 Kd 0 I = -{coeff_c}*(V(KDTARGET)-V(Kd))/coeff_tau</a:t>
            </a:r>
            <a:br/>
            <a:r>
              <a:t>Ckd Kd 0 {coeff_c} ic=0.99861080</a:t>
            </a:r>
          </a:p>
        </p:txBody>
      </p:sp>
      <p:sp>
        <p:nvSpPr>
          <p:cNvPr id="4" name="Rounded Rectangle 3"/>
          <p:cNvSpPr/>
          <p:nvPr/>
        </p:nvSpPr>
        <p:spPr>
          <a:xfrm>
            <a:off x="8302752" y="1078992"/>
            <a:ext cx="315468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Direction selector</a:t>
            </a:r>
            <a:br/>
            <a:r>
              <a:t>Target above state: ON map</a:t>
            </a:r>
            <a:br/>
            <a:r>
              <a:t>Target below state: OFF map</a:t>
            </a:r>
          </a:p>
        </p:txBody>
      </p:sp>
      <p:sp>
        <p:nvSpPr>
          <p:cNvPr id="5" name="Rounded Rectangle 4"/>
          <p:cNvSpPr/>
          <p:nvPr/>
        </p:nvSpPr>
        <p:spPr>
          <a:xfrm>
            <a:off x="8302752" y="2487168"/>
            <a:ext cx="3154680" cy="1170432"/>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Kd residual</a:t>
            </a:r>
            <a:br/>
            <a:r>
              <a:t>Adds table error plus a small dGDN/dt term to restore negative undershoot</a:t>
            </a:r>
          </a:p>
        </p:txBody>
      </p:sp>
      <p:sp>
        <p:nvSpPr>
          <p:cNvPr id="6" name="Rounded Rectangle 5"/>
          <p:cNvSpPr/>
          <p:nvPr/>
        </p:nvSpPr>
        <p:spPr>
          <a:xfrm>
            <a:off x="8302752" y="4114800"/>
            <a:ext cx="3154680" cy="987552"/>
          </a:xfrm>
          <a:prstGeom prst="roundRect">
            <a:avLst/>
          </a:prstGeom>
          <a:solidFill>
            <a:srgbClr val="EAF4FF"/>
          </a:solidFill>
          <a:ln w="15875">
            <a:solidFill>
              <a:srgbClr val="2467A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Final smoothing</a:t>
            </a:r>
            <a:br/>
            <a:r>
              <a:t>Ku/Kd are capacitor-backed, preventing coefficient jumps</a:t>
            </a:r>
          </a:p>
        </p:txBody>
      </p:sp>
      <p:sp>
        <p:nvSpPr>
          <p:cNvPr id="7" name="TextBox 6"/>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Exact generated syntax shortened only by replacing long PWL point lists with labels.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First validation gate: reproduce the original complete-edge tables</a:t>
            </a:r>
          </a:p>
        </p:txBody>
      </p:sp>
      <p:sp>
        <p:nvSpPr>
          <p:cNvPr id="3" name="Rectangle 2"/>
          <p:cNvSpPr/>
          <p:nvPr/>
        </p:nvSpPr>
        <p:spPr>
          <a:xfrm>
            <a:off x="1378097" y="813816"/>
            <a:ext cx="9414469" cy="528523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construction_gate_evidence.png"/>
          <p:cNvPicPr>
            <a:picLocks noChangeAspect="1"/>
          </p:cNvPicPr>
          <p:nvPr/>
        </p:nvPicPr>
        <p:blipFill>
          <a:blip r:embed="rId2"/>
          <a:stretch>
            <a:fillRect/>
          </a:stretch>
        </p:blipFill>
        <p:spPr>
          <a:xfrm>
            <a:off x="1405529" y="841248"/>
            <a:ext cx="9359605" cy="5230368"/>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Directional maps plus the Kd rate residual pass: worst RMSE 0.01994, worst max error 0.04869.</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results\io_buf_two_state_gate_model_2026-06-30\presentation_evidence_figures\reconstruction_gate_evidence.png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Normal transition: structure is close, but legacy remains better</a:t>
            </a:r>
          </a:p>
        </p:txBody>
      </p:sp>
      <p:sp>
        <p:nvSpPr>
          <p:cNvPr id="3" name="Rectangle 2"/>
          <p:cNvSpPr/>
          <p:nvPr/>
        </p:nvSpPr>
        <p:spPr>
          <a:xfrm>
            <a:off x="1053003" y="886968"/>
            <a:ext cx="7266592" cy="5129783"/>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dge_1ps_base_50r_2pf_directional_residual_vs_native_ibis.png"/>
          <p:cNvPicPr>
            <a:picLocks noChangeAspect="1"/>
          </p:cNvPicPr>
          <p:nvPr/>
        </p:nvPicPr>
        <p:blipFill>
          <a:blip r:embed="rId2"/>
          <a:stretch>
            <a:fillRect/>
          </a:stretch>
        </p:blipFill>
        <p:spPr>
          <a:xfrm>
            <a:off x="1080435" y="914400"/>
            <a:ext cx="7211728" cy="5074920"/>
          </a:xfrm>
          <a:prstGeom prst="rect">
            <a:avLst/>
          </a:prstGeom>
        </p:spPr>
      </p:pic>
      <p:sp>
        <p:nvSpPr>
          <p:cNvPr id="5" name="Rounded Rectangle 4"/>
          <p:cNvSpPr/>
          <p:nvPr/>
        </p:nvSpPr>
        <p:spPr>
          <a:xfrm>
            <a:off x="9281160" y="1078992"/>
            <a:ext cx="2423160" cy="548640"/>
          </a:xfrm>
          <a:prstGeom prst="roundRect">
            <a:avLst/>
          </a:prstGeom>
          <a:solidFill>
            <a:srgbClr val="FCEBEB"/>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DA8426"/>
                </a:solidFill>
                <a:latin typeface="Aptos"/>
              </a:defRPr>
            </a:pPr>
            <a:r>
              <a:t>NORMAL EDGE: WARN</a:t>
            </a:r>
          </a:p>
        </p:txBody>
      </p:sp>
      <p:sp>
        <p:nvSpPr>
          <p:cNvPr id="6" name="TextBox 5"/>
          <p:cNvSpPr txBox="1"/>
          <p:nvPr/>
        </p:nvSpPr>
        <p:spPr>
          <a:xfrm>
            <a:off x="9217152" y="1901952"/>
            <a:ext cx="2514600" cy="3310128"/>
          </a:xfrm>
          <a:prstGeom prst="rect">
            <a:avLst/>
          </a:prstGeom>
          <a:noFill/>
        </p:spPr>
        <p:txBody>
          <a:bodyPr wrap="square" lIns="73152" rIns="36576" tIns="36576" bIns="36576">
            <a:spAutoFit/>
          </a:bodyPr>
          <a:lstStyle/>
          <a:p>
            <a:pPr>
              <a:spcAft>
                <a:spcPts val="800"/>
              </a:spcAft>
              <a:defRPr sz="1450">
                <a:solidFill>
                  <a:srgbClr val="191F1C"/>
                </a:solidFill>
                <a:latin typeface="Aptos"/>
              </a:defRPr>
            </a:pPr>
            <a:r>
              <a:t>- Ku/Kd shapes track native IBIS closely.</a:t>
            </a:r>
          </a:p>
          <a:p>
            <a:pPr>
              <a:spcAft>
                <a:spcPts val="800"/>
              </a:spcAft>
              <a:defRPr sz="1450">
                <a:solidFill>
                  <a:srgbClr val="191F1C"/>
                </a:solidFill>
                <a:latin typeface="Aptos"/>
              </a:defRPr>
            </a:pPr>
            <a:r>
              <a:t>- Pad RMSE is 18.739 mV versus 5.289 mV for legacy.</a:t>
            </a:r>
          </a:p>
          <a:p>
            <a:pPr>
              <a:spcAft>
                <a:spcPts val="800"/>
              </a:spcAft>
              <a:defRPr sz="1450">
                <a:solidFill>
                  <a:srgbClr val="191F1C"/>
                </a:solidFill>
                <a:latin typeface="Aptos"/>
              </a:defRPr>
            </a:pPr>
            <a:r>
              <a:t>- This is a regression guard, not a claimed win.</a:t>
            </a:r>
          </a:p>
          <a:p>
            <a:pPr>
              <a:spcAft>
                <a:spcPts val="800"/>
              </a:spcAft>
              <a:defRPr sz="1450">
                <a:solidFill>
                  <a:srgbClr val="191F1C"/>
                </a:solidFill>
                <a:latin typeface="Aptos"/>
              </a:defRPr>
            </a:pPr>
            <a:r>
              <a:t>- Normal behavior must be preserved before promotion.</a:t>
            </a:r>
          </a:p>
        </p:txBody>
      </p:sp>
      <p:sp>
        <p:nvSpPr>
          <p:cNvPr id="7" name="Rectangle 6"/>
          <p:cNvSpPr/>
          <p:nvPr/>
        </p:nvSpPr>
        <p:spPr>
          <a:xfrm>
            <a:off x="384048" y="6080760"/>
            <a:ext cx="11109960" cy="393192"/>
          </a:xfrm>
          <a:prstGeom prst="rect">
            <a:avLst/>
          </a:prstGeom>
          <a:solidFill>
            <a:srgbClr val="FCEBEB"/>
          </a:solidFill>
          <a:ln>
            <a:solidFill>
              <a:srgbClr val="FC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DA8426"/>
                </a:solidFill>
                <a:latin typeface="Aptos"/>
              </a:defRPr>
            </a:pPr>
            <a:r>
              <a:t>Normal behavior must be preserved before promotion.</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results\io_buf_two_state_gate_model_2026-06-30\waveform_evidence_report\plots\directional_residual_vs_native_ibis\edge_1ps_base_50r_2pf_directional_residual_vs_native_ibis.png (cached data only)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Short-low success: right for the right reasons</a:t>
            </a:r>
          </a:p>
        </p:txBody>
      </p:sp>
      <p:sp>
        <p:nvSpPr>
          <p:cNvPr id="3" name="Rectangle 2"/>
          <p:cNvSpPr/>
          <p:nvPr/>
        </p:nvSpPr>
        <p:spPr>
          <a:xfrm>
            <a:off x="1053003" y="886968"/>
            <a:ext cx="7266592" cy="5129783"/>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hort_pulse_2ns_low_directional_residual_vs_native_ibis.png"/>
          <p:cNvPicPr>
            <a:picLocks noChangeAspect="1"/>
          </p:cNvPicPr>
          <p:nvPr/>
        </p:nvPicPr>
        <p:blipFill>
          <a:blip r:embed="rId2"/>
          <a:stretch>
            <a:fillRect/>
          </a:stretch>
        </p:blipFill>
        <p:spPr>
          <a:xfrm>
            <a:off x="1080435" y="914400"/>
            <a:ext cx="7211728" cy="5074920"/>
          </a:xfrm>
          <a:prstGeom prst="rect">
            <a:avLst/>
          </a:prstGeom>
        </p:spPr>
      </p:pic>
      <p:sp>
        <p:nvSpPr>
          <p:cNvPr id="5" name="Rounded Rectangle 4"/>
          <p:cNvSpPr/>
          <p:nvPr/>
        </p:nvSpPr>
        <p:spPr>
          <a:xfrm>
            <a:off x="9281160" y="1078992"/>
            <a:ext cx="2423160" cy="548640"/>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2B7A43"/>
                </a:solidFill>
                <a:latin typeface="Aptos"/>
              </a:defRPr>
            </a:pPr>
            <a:r>
              <a:t>2 NS SHORT-LOW: GOOD</a:t>
            </a:r>
          </a:p>
        </p:txBody>
      </p:sp>
      <p:sp>
        <p:nvSpPr>
          <p:cNvPr id="6" name="TextBox 5"/>
          <p:cNvSpPr txBox="1"/>
          <p:nvPr/>
        </p:nvSpPr>
        <p:spPr>
          <a:xfrm>
            <a:off x="9217152" y="1901952"/>
            <a:ext cx="2514600" cy="3310128"/>
          </a:xfrm>
          <a:prstGeom prst="rect">
            <a:avLst/>
          </a:prstGeom>
          <a:noFill/>
        </p:spPr>
        <p:txBody>
          <a:bodyPr wrap="square" lIns="73152" rIns="36576" tIns="36576" bIns="36576">
            <a:spAutoFit/>
          </a:bodyPr>
          <a:lstStyle/>
          <a:p>
            <a:pPr>
              <a:spcAft>
                <a:spcPts val="800"/>
              </a:spcAft>
              <a:defRPr sz="1450">
                <a:solidFill>
                  <a:srgbClr val="191F1C"/>
                </a:solidFill>
                <a:latin typeface="Aptos"/>
              </a:defRPr>
            </a:pPr>
            <a:r>
              <a:t>- Pad, Ku, and Kd improve together.</a:t>
            </a:r>
          </a:p>
          <a:p>
            <a:pPr>
              <a:spcAft>
                <a:spcPts val="800"/>
              </a:spcAft>
              <a:defRPr sz="1450">
                <a:solidFill>
                  <a:srgbClr val="191F1C"/>
                </a:solidFill>
                <a:latin typeface="Aptos"/>
              </a:defRPr>
            </a:pPr>
            <a:r>
              <a:t>- Pad RMSE: 23.271 mV.</a:t>
            </a:r>
          </a:p>
          <a:p>
            <a:pPr>
              <a:spcAft>
                <a:spcPts val="800"/>
              </a:spcAft>
              <a:defRPr sz="1450">
                <a:solidFill>
                  <a:srgbClr val="191F1C"/>
                </a:solidFill>
                <a:latin typeface="Aptos"/>
              </a:defRPr>
            </a:pPr>
            <a:r>
              <a:t>- Ku RMSE: 0.02141; Kd RMSE: 0.01319.</a:t>
            </a:r>
          </a:p>
          <a:p>
            <a:pPr>
              <a:spcAft>
                <a:spcPts val="800"/>
              </a:spcAft>
              <a:defRPr sz="1450">
                <a:solidFill>
                  <a:srgbClr val="191F1C"/>
                </a:solidFill>
                <a:latin typeface="Aptos"/>
              </a:defRPr>
            </a:pPr>
            <a:r>
              <a:t>- This is the strongest interrupted-transition result.</a:t>
            </a:r>
          </a:p>
        </p:txBody>
      </p:sp>
      <p:sp>
        <p:nvSpPr>
          <p:cNvPr id="7" name="Rectangle 6"/>
          <p:cNvSpPr/>
          <p:nvPr/>
        </p:nvSpPr>
        <p:spPr>
          <a:xfrm>
            <a:off x="384048" y="6080760"/>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This is the strongest interrupted-transition result.</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results\io_buf_two_state_gate_model_2026-06-30\waveform_evidence_report\plots\directional_residual_vs_native_ibis\short_pulse_2ns_low_directional_residual_vs_native_ibis.png (cached data only)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Short-high remains open: pad alone hides the Kd error</a:t>
            </a:r>
          </a:p>
        </p:txBody>
      </p:sp>
      <p:sp>
        <p:nvSpPr>
          <p:cNvPr id="3" name="Rectangle 2"/>
          <p:cNvSpPr/>
          <p:nvPr/>
        </p:nvSpPr>
        <p:spPr>
          <a:xfrm>
            <a:off x="1053003" y="886968"/>
            <a:ext cx="7266592" cy="5129783"/>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hort_pulse_1ns_high_directional_residual_vs_native_ibis.png"/>
          <p:cNvPicPr>
            <a:picLocks noChangeAspect="1"/>
          </p:cNvPicPr>
          <p:nvPr/>
        </p:nvPicPr>
        <p:blipFill>
          <a:blip r:embed="rId2"/>
          <a:stretch>
            <a:fillRect/>
          </a:stretch>
        </p:blipFill>
        <p:spPr>
          <a:xfrm>
            <a:off x="1080435" y="914400"/>
            <a:ext cx="7211728" cy="5074920"/>
          </a:xfrm>
          <a:prstGeom prst="rect">
            <a:avLst/>
          </a:prstGeom>
        </p:spPr>
      </p:pic>
      <p:sp>
        <p:nvSpPr>
          <p:cNvPr id="5" name="Rounded Rectangle 4"/>
          <p:cNvSpPr/>
          <p:nvPr/>
        </p:nvSpPr>
        <p:spPr>
          <a:xfrm>
            <a:off x="9281160" y="1078992"/>
            <a:ext cx="2423160" cy="54864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CA3030"/>
                </a:solidFill>
                <a:latin typeface="Aptos"/>
              </a:defRPr>
            </a:pPr>
            <a:r>
              <a:t>1 NS SHORT-HIGH: OPEN</a:t>
            </a:r>
          </a:p>
        </p:txBody>
      </p:sp>
      <p:sp>
        <p:nvSpPr>
          <p:cNvPr id="6" name="TextBox 5"/>
          <p:cNvSpPr txBox="1"/>
          <p:nvPr/>
        </p:nvSpPr>
        <p:spPr>
          <a:xfrm>
            <a:off x="9217152" y="1901952"/>
            <a:ext cx="2514600" cy="3310128"/>
          </a:xfrm>
          <a:prstGeom prst="rect">
            <a:avLst/>
          </a:prstGeom>
          <a:noFill/>
        </p:spPr>
        <p:txBody>
          <a:bodyPr wrap="square" lIns="73152" rIns="36576" tIns="36576" bIns="36576">
            <a:spAutoFit/>
          </a:bodyPr>
          <a:lstStyle/>
          <a:p>
            <a:pPr>
              <a:spcAft>
                <a:spcPts val="800"/>
              </a:spcAft>
              <a:defRPr sz="1450">
                <a:solidFill>
                  <a:srgbClr val="191F1C"/>
                </a:solidFill>
                <a:latin typeface="Aptos"/>
              </a:defRPr>
            </a:pPr>
            <a:r>
              <a:t>- Ku stays partial and is close to native IBIS.</a:t>
            </a:r>
          </a:p>
          <a:p>
            <a:pPr>
              <a:spcAft>
                <a:spcPts val="800"/>
              </a:spcAft>
              <a:defRPr sz="1450">
                <a:solidFill>
                  <a:srgbClr val="191F1C"/>
                </a:solidFill>
                <a:latin typeface="Aptos"/>
              </a:defRPr>
            </a:pPr>
            <a:r>
              <a:t>- Absolute pad error is small because output swing is tiny.</a:t>
            </a:r>
          </a:p>
          <a:p>
            <a:pPr>
              <a:spcAft>
                <a:spcPts val="800"/>
              </a:spcAft>
              <a:defRPr sz="1450">
                <a:solidFill>
                  <a:srgbClr val="191F1C"/>
                </a:solidFill>
                <a:latin typeface="Aptos"/>
              </a:defRPr>
            </a:pPr>
            <a:r>
              <a:t>- Kd recovery is late and strongly different.</a:t>
            </a:r>
          </a:p>
          <a:p>
            <a:pPr>
              <a:spcAft>
                <a:spcPts val="800"/>
              </a:spcAft>
              <a:defRPr sz="1450">
                <a:solidFill>
                  <a:srgbClr val="191F1C"/>
                </a:solidFill>
                <a:latin typeface="Aptos"/>
              </a:defRPr>
            </a:pPr>
            <a:r>
              <a:t>- Kd RMSE 0.48754 prevents a coefficient-correct pass.</a:t>
            </a:r>
          </a:p>
        </p:txBody>
      </p:sp>
      <p:sp>
        <p:nvSpPr>
          <p:cNvPr id="7" name="Rectangle 6"/>
          <p:cNvSpPr/>
          <p:nvPr/>
        </p:nvSpPr>
        <p:spPr>
          <a:xfrm>
            <a:off x="384048" y="6080760"/>
            <a:ext cx="11109960" cy="393192"/>
          </a:xfrm>
          <a:prstGeom prst="rect">
            <a:avLst/>
          </a:prstGeom>
          <a:solidFill>
            <a:srgbClr val="FCEBEB"/>
          </a:solidFill>
          <a:ln>
            <a:solidFill>
              <a:srgbClr val="FC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CA3030"/>
                </a:solidFill>
                <a:latin typeface="Aptos"/>
              </a:defRPr>
            </a:pPr>
            <a:r>
              <a:t>Kd RMSE 0.48754 prevents a coefficient-correct pass.</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results\io_buf_two_state_gate_model_2026-06-30\waveform_evidence_report\plots\directional_residual_vs_native_ibis\short_pulse_1ns_high_directional_residual_vs_native_ibis.png (cached data only)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Pad-level check against transistor io_buf.sp</a:t>
            </a:r>
          </a:p>
        </p:txBody>
      </p:sp>
      <p:sp>
        <p:nvSpPr>
          <p:cNvPr id="3" name="TextBox 2"/>
          <p:cNvSpPr txBox="1"/>
          <p:nvPr/>
        </p:nvSpPr>
        <p:spPr>
          <a:xfrm>
            <a:off x="566928" y="841248"/>
            <a:ext cx="5440680" cy="320040"/>
          </a:xfrm>
          <a:prstGeom prst="rect">
            <a:avLst/>
          </a:prstGeom>
          <a:noFill/>
        </p:spPr>
        <p:txBody>
          <a:bodyPr wrap="square" lIns="45720" rIns="45720" anchor="t">
            <a:spAutoFit/>
          </a:bodyPr>
          <a:lstStyle/>
          <a:p>
            <a:pPr algn="ctr">
              <a:defRPr sz="1800" b="1">
                <a:solidFill>
                  <a:srgbClr val="2B7A43"/>
                </a:solidFill>
                <a:latin typeface="Aptos"/>
              </a:defRPr>
            </a:pPr>
            <a:r>
              <a:t>2 ns short-low</a:t>
            </a:r>
          </a:p>
        </p:txBody>
      </p:sp>
      <p:sp>
        <p:nvSpPr>
          <p:cNvPr id="4" name="TextBox 3"/>
          <p:cNvSpPr txBox="1"/>
          <p:nvPr/>
        </p:nvSpPr>
        <p:spPr>
          <a:xfrm>
            <a:off x="6172200" y="841248"/>
            <a:ext cx="5440680" cy="320040"/>
          </a:xfrm>
          <a:prstGeom prst="rect">
            <a:avLst/>
          </a:prstGeom>
          <a:noFill/>
        </p:spPr>
        <p:txBody>
          <a:bodyPr wrap="square" lIns="45720" rIns="45720" anchor="t">
            <a:spAutoFit/>
          </a:bodyPr>
          <a:lstStyle/>
          <a:p>
            <a:pPr algn="ctr">
              <a:defRPr sz="1800" b="1">
                <a:solidFill>
                  <a:srgbClr val="CA3030"/>
                </a:solidFill>
                <a:latin typeface="Aptos"/>
              </a:defRPr>
            </a:pPr>
            <a:r>
              <a:t>1 ns short-high</a:t>
            </a:r>
          </a:p>
        </p:txBody>
      </p:sp>
      <p:sp>
        <p:nvSpPr>
          <p:cNvPr id="5" name="Rectangle 4"/>
          <p:cNvSpPr/>
          <p:nvPr/>
        </p:nvSpPr>
        <p:spPr>
          <a:xfrm>
            <a:off x="384048" y="2080260"/>
            <a:ext cx="5632703" cy="2286000"/>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hort_pulse_2ns_low_directional_residual_vs_hspice_sp.png"/>
          <p:cNvPicPr>
            <a:picLocks noChangeAspect="1"/>
          </p:cNvPicPr>
          <p:nvPr/>
        </p:nvPicPr>
        <p:blipFill>
          <a:blip r:embed="rId2"/>
          <a:stretch>
            <a:fillRect/>
          </a:stretch>
        </p:blipFill>
        <p:spPr>
          <a:xfrm>
            <a:off x="411480" y="2107692"/>
            <a:ext cx="5577840" cy="2231136"/>
          </a:xfrm>
          <a:prstGeom prst="rect">
            <a:avLst/>
          </a:prstGeom>
        </p:spPr>
      </p:pic>
      <p:sp>
        <p:nvSpPr>
          <p:cNvPr id="7" name="Rectangle 6"/>
          <p:cNvSpPr/>
          <p:nvPr/>
        </p:nvSpPr>
        <p:spPr>
          <a:xfrm>
            <a:off x="6117336" y="2080260"/>
            <a:ext cx="5632703" cy="2286000"/>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rt_pulse_1ns_high_directional_residual_vs_hspice_sp.png"/>
          <p:cNvPicPr>
            <a:picLocks noChangeAspect="1"/>
          </p:cNvPicPr>
          <p:nvPr/>
        </p:nvPicPr>
        <p:blipFill>
          <a:blip r:embed="rId3"/>
          <a:stretch>
            <a:fillRect/>
          </a:stretch>
        </p:blipFill>
        <p:spPr>
          <a:xfrm>
            <a:off x="6144768" y="2107692"/>
            <a:ext cx="5577840" cy="2231136"/>
          </a:xfrm>
          <a:prstGeom prst="rect">
            <a:avLst/>
          </a:prstGeom>
        </p:spPr>
      </p:pic>
      <p:sp>
        <p:nvSpPr>
          <p:cNvPr id="9" name="TextBox 8"/>
          <p:cNvSpPr txBox="1"/>
          <p:nvPr/>
        </p:nvSpPr>
        <p:spPr>
          <a:xfrm>
            <a:off x="685800" y="5413248"/>
            <a:ext cx="10972800" cy="320040"/>
          </a:xfrm>
          <a:prstGeom prst="rect">
            <a:avLst/>
          </a:prstGeom>
          <a:noFill/>
        </p:spPr>
        <p:txBody>
          <a:bodyPr wrap="square" lIns="45720" rIns="45720" anchor="t">
            <a:spAutoFit/>
          </a:bodyPr>
          <a:lstStyle/>
          <a:p>
            <a:pPr algn="ctr">
              <a:defRPr sz="1600" b="1">
                <a:solidFill>
                  <a:srgbClr val="666C68"/>
                </a:solidFill>
                <a:latin typeface="Aptos"/>
              </a:defRPr>
            </a:pPr>
            <a:r>
              <a:t>Transistor SPICE exposes pad voltage only - there is no transistor-level Ku/Kd trace.</a:t>
            </a:r>
          </a:p>
        </p:txBody>
      </p:sp>
      <p:sp>
        <p:nvSpPr>
          <p:cNvPr id="10" name="Rectangle 9"/>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Native IBIS is the coefficient-playback reference; io_buf.sp is an independent pad-level circuit reference.</a:t>
            </a:r>
          </a:p>
        </p:txBody>
      </p:sp>
      <p:sp>
        <p:nvSpPr>
          <p:cNvPr id="11" name="TextBox 10"/>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HSPICE transistor data; no simulations were rerun for this presentation.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Measured status: strongest structure, still an experimental model</a:t>
            </a:r>
          </a:p>
        </p:txBody>
      </p:sp>
      <p:sp>
        <p:nvSpPr>
          <p:cNvPr id="3" name="Rounded Rectangle 2"/>
          <p:cNvSpPr/>
          <p:nvPr/>
        </p:nvSpPr>
        <p:spPr>
          <a:xfrm>
            <a:off x="502920" y="1078992"/>
            <a:ext cx="269748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1152144"/>
            <a:ext cx="2478024" cy="256032"/>
          </a:xfrm>
          <a:prstGeom prst="rect">
            <a:avLst/>
          </a:prstGeom>
          <a:noFill/>
        </p:spPr>
        <p:txBody>
          <a:bodyPr wrap="square" lIns="45720" rIns="45720" anchor="t">
            <a:spAutoFit/>
          </a:bodyPr>
          <a:lstStyle/>
          <a:p>
            <a:pPr algn="l">
              <a:defRPr sz="1350" b="1">
                <a:solidFill>
                  <a:srgbClr val="666C68"/>
                </a:solidFill>
                <a:latin typeface="Aptos"/>
              </a:defRPr>
            </a:pPr>
            <a:r>
              <a:t>Offline reconstruction</a:t>
            </a:r>
          </a:p>
        </p:txBody>
      </p:sp>
      <p:sp>
        <p:nvSpPr>
          <p:cNvPr id="5" name="TextBox 4"/>
          <p:cNvSpPr txBox="1"/>
          <p:nvPr/>
        </p:nvSpPr>
        <p:spPr>
          <a:xfrm>
            <a:off x="612648" y="1408176"/>
            <a:ext cx="2478024" cy="475488"/>
          </a:xfrm>
          <a:prstGeom prst="rect">
            <a:avLst/>
          </a:prstGeom>
          <a:noFill/>
        </p:spPr>
        <p:txBody>
          <a:bodyPr wrap="square" lIns="45720" rIns="45720" anchor="t">
            <a:spAutoFit/>
          </a:bodyPr>
          <a:lstStyle/>
          <a:p>
            <a:pPr algn="l">
              <a:defRPr sz="1400" b="1">
                <a:solidFill>
                  <a:srgbClr val="191F1C"/>
                </a:solidFill>
                <a:latin typeface="Aptos"/>
              </a:defRPr>
            </a:pPr>
            <a:r>
              <a:t>RMSE 0.01994</a:t>
            </a:r>
            <a:br/>
            <a:r>
              <a:t>Max 0.04869</a:t>
            </a:r>
          </a:p>
        </p:txBody>
      </p:sp>
      <p:sp>
        <p:nvSpPr>
          <p:cNvPr id="6" name="TextBox 5"/>
          <p:cNvSpPr txBox="1"/>
          <p:nvPr/>
        </p:nvSpPr>
        <p:spPr>
          <a:xfrm>
            <a:off x="612648" y="1883664"/>
            <a:ext cx="2478024" cy="228600"/>
          </a:xfrm>
          <a:prstGeom prst="rect">
            <a:avLst/>
          </a:prstGeom>
          <a:noFill/>
        </p:spPr>
        <p:txBody>
          <a:bodyPr wrap="square" lIns="45720" rIns="45720" anchor="t">
            <a:spAutoFit/>
          </a:bodyPr>
          <a:lstStyle/>
          <a:p>
            <a:pPr algn="l">
              <a:defRPr sz="1250" b="1">
                <a:solidFill>
                  <a:srgbClr val="2B7A43"/>
                </a:solidFill>
                <a:latin typeface="Aptos"/>
              </a:defRPr>
            </a:pPr>
            <a:r>
              <a:t>PASS</a:t>
            </a:r>
          </a:p>
        </p:txBody>
      </p:sp>
      <p:sp>
        <p:nvSpPr>
          <p:cNvPr id="7" name="Rounded Rectangle 6"/>
          <p:cNvSpPr/>
          <p:nvPr/>
        </p:nvSpPr>
        <p:spPr>
          <a:xfrm>
            <a:off x="3401568" y="1078992"/>
            <a:ext cx="269748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11296" y="1152144"/>
            <a:ext cx="2478024" cy="256032"/>
          </a:xfrm>
          <a:prstGeom prst="rect">
            <a:avLst/>
          </a:prstGeom>
          <a:noFill/>
        </p:spPr>
        <p:txBody>
          <a:bodyPr wrap="square" lIns="45720" rIns="45720" anchor="t">
            <a:spAutoFit/>
          </a:bodyPr>
          <a:lstStyle/>
          <a:p>
            <a:pPr algn="l">
              <a:defRPr sz="1350" b="1">
                <a:solidFill>
                  <a:srgbClr val="666C68"/>
                </a:solidFill>
                <a:latin typeface="Aptos"/>
              </a:defRPr>
            </a:pPr>
            <a:r>
              <a:t>Normal long pulse</a:t>
            </a:r>
          </a:p>
        </p:txBody>
      </p:sp>
      <p:sp>
        <p:nvSpPr>
          <p:cNvPr id="9" name="TextBox 8"/>
          <p:cNvSpPr txBox="1"/>
          <p:nvPr/>
        </p:nvSpPr>
        <p:spPr>
          <a:xfrm>
            <a:off x="3511296" y="1408176"/>
            <a:ext cx="2478024" cy="475488"/>
          </a:xfrm>
          <a:prstGeom prst="rect">
            <a:avLst/>
          </a:prstGeom>
          <a:noFill/>
        </p:spPr>
        <p:txBody>
          <a:bodyPr wrap="square" lIns="45720" rIns="45720" anchor="t">
            <a:spAutoFit/>
          </a:bodyPr>
          <a:lstStyle/>
          <a:p>
            <a:pPr algn="l">
              <a:defRPr sz="1400" b="1">
                <a:solidFill>
                  <a:srgbClr val="191F1C"/>
                </a:solidFill>
                <a:latin typeface="Aptos"/>
              </a:defRPr>
            </a:pPr>
            <a:r>
              <a:t>Pad 18.739 mV</a:t>
            </a:r>
            <a:br/>
            <a:r>
              <a:t>Ku .01886 | Kd .01110</a:t>
            </a:r>
          </a:p>
        </p:txBody>
      </p:sp>
      <p:sp>
        <p:nvSpPr>
          <p:cNvPr id="10" name="TextBox 9"/>
          <p:cNvSpPr txBox="1"/>
          <p:nvPr/>
        </p:nvSpPr>
        <p:spPr>
          <a:xfrm>
            <a:off x="3511296" y="1883664"/>
            <a:ext cx="2478024" cy="228600"/>
          </a:xfrm>
          <a:prstGeom prst="rect">
            <a:avLst/>
          </a:prstGeom>
          <a:noFill/>
        </p:spPr>
        <p:txBody>
          <a:bodyPr wrap="square" lIns="45720" rIns="45720" anchor="t">
            <a:spAutoFit/>
          </a:bodyPr>
          <a:lstStyle/>
          <a:p>
            <a:pPr algn="l">
              <a:defRPr sz="1250" b="1">
                <a:solidFill>
                  <a:srgbClr val="DA8426"/>
                </a:solidFill>
                <a:latin typeface="Aptos"/>
              </a:defRPr>
            </a:pPr>
            <a:r>
              <a:t>WARN: legacy is closer</a:t>
            </a:r>
          </a:p>
        </p:txBody>
      </p:sp>
      <p:sp>
        <p:nvSpPr>
          <p:cNvPr id="11" name="Rounded Rectangle 10"/>
          <p:cNvSpPr/>
          <p:nvPr/>
        </p:nvSpPr>
        <p:spPr>
          <a:xfrm>
            <a:off x="6300216" y="1078992"/>
            <a:ext cx="269748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152144"/>
            <a:ext cx="2478024" cy="256032"/>
          </a:xfrm>
          <a:prstGeom prst="rect">
            <a:avLst/>
          </a:prstGeom>
          <a:noFill/>
        </p:spPr>
        <p:txBody>
          <a:bodyPr wrap="square" lIns="45720" rIns="45720" anchor="t">
            <a:spAutoFit/>
          </a:bodyPr>
          <a:lstStyle/>
          <a:p>
            <a:pPr algn="l">
              <a:defRPr sz="1350" b="1">
                <a:solidFill>
                  <a:srgbClr val="666C68"/>
                </a:solidFill>
                <a:latin typeface="Aptos"/>
              </a:defRPr>
            </a:pPr>
            <a:r>
              <a:t>2 ns short-low</a:t>
            </a:r>
          </a:p>
        </p:txBody>
      </p:sp>
      <p:sp>
        <p:nvSpPr>
          <p:cNvPr id="13" name="TextBox 12"/>
          <p:cNvSpPr txBox="1"/>
          <p:nvPr/>
        </p:nvSpPr>
        <p:spPr>
          <a:xfrm>
            <a:off x="6409944" y="1408176"/>
            <a:ext cx="2478024" cy="475488"/>
          </a:xfrm>
          <a:prstGeom prst="rect">
            <a:avLst/>
          </a:prstGeom>
          <a:noFill/>
        </p:spPr>
        <p:txBody>
          <a:bodyPr wrap="square" lIns="45720" rIns="45720" anchor="t">
            <a:spAutoFit/>
          </a:bodyPr>
          <a:lstStyle/>
          <a:p>
            <a:pPr algn="l">
              <a:defRPr sz="1400" b="1">
                <a:solidFill>
                  <a:srgbClr val="191F1C"/>
                </a:solidFill>
                <a:latin typeface="Aptos"/>
              </a:defRPr>
            </a:pPr>
            <a:r>
              <a:t>Pad 23.271 mV</a:t>
            </a:r>
            <a:br/>
            <a:r>
              <a:t>Ku .02141 | Kd .01319</a:t>
            </a:r>
          </a:p>
        </p:txBody>
      </p:sp>
      <p:sp>
        <p:nvSpPr>
          <p:cNvPr id="14" name="TextBox 13"/>
          <p:cNvSpPr txBox="1"/>
          <p:nvPr/>
        </p:nvSpPr>
        <p:spPr>
          <a:xfrm>
            <a:off x="6409944" y="1883664"/>
            <a:ext cx="2478024" cy="228600"/>
          </a:xfrm>
          <a:prstGeom prst="rect">
            <a:avLst/>
          </a:prstGeom>
          <a:noFill/>
        </p:spPr>
        <p:txBody>
          <a:bodyPr wrap="square" lIns="45720" rIns="45720" anchor="t">
            <a:spAutoFit/>
          </a:bodyPr>
          <a:lstStyle/>
          <a:p>
            <a:pPr algn="l">
              <a:defRPr sz="1250" b="1">
                <a:solidFill>
                  <a:srgbClr val="2B7A43"/>
                </a:solidFill>
                <a:latin typeface="Aptos"/>
              </a:defRPr>
            </a:pPr>
            <a:r>
              <a:t>GOOD</a:t>
            </a:r>
          </a:p>
        </p:txBody>
      </p:sp>
      <p:sp>
        <p:nvSpPr>
          <p:cNvPr id="15" name="Rounded Rectangle 14"/>
          <p:cNvSpPr/>
          <p:nvPr/>
        </p:nvSpPr>
        <p:spPr>
          <a:xfrm>
            <a:off x="9198864" y="1078992"/>
            <a:ext cx="2468880" cy="1143000"/>
          </a:xfrm>
          <a:prstGeom prst="roundRect">
            <a:avLst/>
          </a:prstGeom>
          <a:solidFill>
            <a:srgbClr val="FFFFFF"/>
          </a:solidFill>
          <a:ln w="1270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08592" y="1152144"/>
            <a:ext cx="2249424" cy="256032"/>
          </a:xfrm>
          <a:prstGeom prst="rect">
            <a:avLst/>
          </a:prstGeom>
          <a:noFill/>
        </p:spPr>
        <p:txBody>
          <a:bodyPr wrap="square" lIns="45720" rIns="45720" anchor="t">
            <a:spAutoFit/>
          </a:bodyPr>
          <a:lstStyle/>
          <a:p>
            <a:pPr algn="l">
              <a:defRPr sz="1350" b="1">
                <a:solidFill>
                  <a:srgbClr val="666C68"/>
                </a:solidFill>
                <a:latin typeface="Aptos"/>
              </a:defRPr>
            </a:pPr>
            <a:r>
              <a:t>1 ns short-high</a:t>
            </a:r>
          </a:p>
        </p:txBody>
      </p:sp>
      <p:sp>
        <p:nvSpPr>
          <p:cNvPr id="17" name="TextBox 16"/>
          <p:cNvSpPr txBox="1"/>
          <p:nvPr/>
        </p:nvSpPr>
        <p:spPr>
          <a:xfrm>
            <a:off x="9308592" y="1408176"/>
            <a:ext cx="2249424" cy="475488"/>
          </a:xfrm>
          <a:prstGeom prst="rect">
            <a:avLst/>
          </a:prstGeom>
          <a:noFill/>
        </p:spPr>
        <p:txBody>
          <a:bodyPr wrap="square" lIns="45720" rIns="45720" anchor="t">
            <a:spAutoFit/>
          </a:bodyPr>
          <a:lstStyle/>
          <a:p>
            <a:pPr algn="l">
              <a:defRPr sz="1300" b="1">
                <a:solidFill>
                  <a:srgbClr val="191F1C"/>
                </a:solidFill>
                <a:latin typeface="Aptos"/>
              </a:defRPr>
            </a:pPr>
            <a:r>
              <a:t>Pad 21.914 mV</a:t>
            </a:r>
            <a:br/>
            <a:r>
              <a:t>Ku .02161 | Kd .48754</a:t>
            </a:r>
          </a:p>
        </p:txBody>
      </p:sp>
      <p:sp>
        <p:nvSpPr>
          <p:cNvPr id="18" name="TextBox 17"/>
          <p:cNvSpPr txBox="1"/>
          <p:nvPr/>
        </p:nvSpPr>
        <p:spPr>
          <a:xfrm>
            <a:off x="9308592" y="1883664"/>
            <a:ext cx="2249424" cy="228600"/>
          </a:xfrm>
          <a:prstGeom prst="rect">
            <a:avLst/>
          </a:prstGeom>
          <a:noFill/>
        </p:spPr>
        <p:txBody>
          <a:bodyPr wrap="square" lIns="45720" rIns="45720" anchor="t">
            <a:spAutoFit/>
          </a:bodyPr>
          <a:lstStyle/>
          <a:p>
            <a:pPr algn="l">
              <a:defRPr sz="1250" b="1">
                <a:solidFill>
                  <a:srgbClr val="CA3030"/>
                </a:solidFill>
                <a:latin typeface="Aptos"/>
              </a:defRPr>
            </a:pPr>
            <a:r>
              <a:t>OPEN: Kd recovery</a:t>
            </a:r>
          </a:p>
        </p:txBody>
      </p:sp>
      <p:sp>
        <p:nvSpPr>
          <p:cNvPr id="19" name="TextBox 18"/>
          <p:cNvSpPr txBox="1"/>
          <p:nvPr/>
        </p:nvSpPr>
        <p:spPr>
          <a:xfrm>
            <a:off x="658368" y="2788920"/>
            <a:ext cx="3017520" cy="347472"/>
          </a:xfrm>
          <a:prstGeom prst="rect">
            <a:avLst/>
          </a:prstGeom>
          <a:noFill/>
        </p:spPr>
        <p:txBody>
          <a:bodyPr wrap="square" lIns="45720" rIns="45720" anchor="t">
            <a:spAutoFit/>
          </a:bodyPr>
          <a:lstStyle/>
          <a:p>
            <a:pPr algn="l">
              <a:defRPr sz="2000" b="1">
                <a:solidFill>
                  <a:srgbClr val="2B7A43"/>
                </a:solidFill>
                <a:latin typeface="Aptos"/>
              </a:defRPr>
            </a:pPr>
            <a:r>
              <a:t>What is now proven</a:t>
            </a:r>
          </a:p>
        </p:txBody>
      </p:sp>
      <p:sp>
        <p:nvSpPr>
          <p:cNvPr id="20" name="TextBox 19"/>
          <p:cNvSpPr txBox="1"/>
          <p:nvPr/>
        </p:nvSpPr>
        <p:spPr>
          <a:xfrm>
            <a:off x="694944" y="3182112"/>
            <a:ext cx="5257800" cy="192024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Two continuous states can reproduce complete-edge Ku/Kd when direction-specific maps are used.</a:t>
            </a:r>
          </a:p>
          <a:p>
            <a:pPr>
              <a:spcAft>
                <a:spcPts val="700"/>
              </a:spcAft>
              <a:defRPr sz="1600">
                <a:solidFill>
                  <a:srgbClr val="191F1C"/>
                </a:solidFill>
                <a:latin typeface="Aptos"/>
              </a:defRPr>
            </a:pPr>
            <a:r>
              <a:t>- The Kd rate residual restores the negative excursion that static maps miss.</a:t>
            </a:r>
          </a:p>
          <a:p>
            <a:pPr>
              <a:spcAft>
                <a:spcPts val="700"/>
              </a:spcAft>
              <a:defRPr sz="1600">
                <a:solidFill>
                  <a:srgbClr val="191F1C"/>
                </a:solidFill>
                <a:latin typeface="Aptos"/>
              </a:defRPr>
            </a:pPr>
            <a:r>
              <a:t>- Short-low behavior demonstrates coefficient-correct improvement in at least one interrupted quadrant.</a:t>
            </a:r>
          </a:p>
        </p:txBody>
      </p:sp>
      <p:sp>
        <p:nvSpPr>
          <p:cNvPr id="21" name="TextBox 20"/>
          <p:cNvSpPr txBox="1"/>
          <p:nvPr/>
        </p:nvSpPr>
        <p:spPr>
          <a:xfrm>
            <a:off x="6263640" y="2788920"/>
            <a:ext cx="3291840" cy="347472"/>
          </a:xfrm>
          <a:prstGeom prst="rect">
            <a:avLst/>
          </a:prstGeom>
          <a:noFill/>
        </p:spPr>
        <p:txBody>
          <a:bodyPr wrap="square" lIns="45720" rIns="45720" anchor="t">
            <a:spAutoFit/>
          </a:bodyPr>
          <a:lstStyle/>
          <a:p>
            <a:pPr algn="l">
              <a:defRPr sz="2000" b="1">
                <a:solidFill>
                  <a:srgbClr val="CA3030"/>
                </a:solidFill>
                <a:latin typeface="Aptos"/>
              </a:defRPr>
            </a:pPr>
            <a:r>
              <a:t>What is not yet proven</a:t>
            </a:r>
          </a:p>
        </p:txBody>
      </p:sp>
      <p:sp>
        <p:nvSpPr>
          <p:cNvPr id="22" name="TextBox 21"/>
          <p:cNvSpPr txBox="1"/>
          <p:nvPr/>
        </p:nvSpPr>
        <p:spPr>
          <a:xfrm>
            <a:off x="6291072" y="3182112"/>
            <a:ext cx="5166360" cy="192024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The full model is not a drop-in replacement for legacy pybis on normal edges.</a:t>
            </a:r>
          </a:p>
          <a:p>
            <a:pPr>
              <a:spcAft>
                <a:spcPts val="700"/>
              </a:spcAft>
              <a:defRPr sz="1600">
                <a:solidFill>
                  <a:srgbClr val="191F1C"/>
                </a:solidFill>
                <a:latin typeface="Aptos"/>
              </a:defRPr>
            </a:pPr>
            <a:r>
              <a:t>- Short-high Kd onset/hold/recovery is still wrong even when pad voltage looks small.</a:t>
            </a:r>
          </a:p>
          <a:p>
            <a:pPr>
              <a:spcAft>
                <a:spcPts val="700"/>
              </a:spcAft>
              <a:defRPr sz="1600">
                <a:solidFill>
                  <a:srgbClr val="191F1C"/>
                </a:solidFill>
                <a:latin typeface="Aptos"/>
              </a:defRPr>
            </a:pPr>
            <a:r>
              <a:t>- Native IBIS and transistor io_buf.sp differ, so coefficient agreement is playback agreement, not transistor truth.</a:t>
            </a:r>
          </a:p>
        </p:txBody>
      </p:sp>
      <p:sp>
        <p:nvSpPr>
          <p:cNvPr id="23" name="Rectangle 22"/>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Conclusion: two_state_directional_residual is the best structural method so far, not the production default.</a:t>
            </a:r>
          </a:p>
        </p:txBody>
      </p:sp>
      <p:sp>
        <p:nvSpPr>
          <p:cNvPr id="24" name="TextBox 23"/>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Metrics: results/io_buf_two_state_gate_model_2026-06-30/candidate_metrics.csv and README.md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Why the remaining short-high Kd problem is difficult</a:t>
            </a:r>
          </a:p>
        </p:txBody>
      </p:sp>
      <p:sp>
        <p:nvSpPr>
          <p:cNvPr id="3" name="Rounded Rectangle 2"/>
          <p:cNvSpPr/>
          <p:nvPr/>
        </p:nvSpPr>
        <p:spPr>
          <a:xfrm>
            <a:off x="640080" y="1207008"/>
            <a:ext cx="2240280" cy="9144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Static state shape</a:t>
            </a:r>
            <a:br/>
            <a:r>
              <a:t>mostly solved</a:t>
            </a:r>
          </a:p>
        </p:txBody>
      </p:sp>
      <p:cxnSp>
        <p:nvCxnSpPr>
          <p:cNvPr id="4" name="Connector 3"/>
          <p:cNvCxnSpPr/>
          <p:nvPr/>
        </p:nvCxnSpPr>
        <p:spPr>
          <a:xfrm>
            <a:off x="2880360" y="1664208"/>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657600" y="1207008"/>
            <a:ext cx="2560320" cy="91440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Recovery onset / hold</a:t>
            </a:r>
            <a:br/>
            <a:r>
              <a:t>still width-sensitive</a:t>
            </a:r>
          </a:p>
        </p:txBody>
      </p:sp>
      <p:cxnSp>
        <p:nvCxnSpPr>
          <p:cNvPr id="6" name="Connector 5"/>
          <p:cNvCxnSpPr/>
          <p:nvPr/>
        </p:nvCxnSpPr>
        <p:spPr>
          <a:xfrm>
            <a:off x="6217920" y="1664208"/>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995160" y="1207008"/>
            <a:ext cx="2788920" cy="91440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Present GDN@reverse</a:t>
            </a:r>
            <a:br/>
            <a:r>
              <a:t>does not encode enough history</a:t>
            </a:r>
          </a:p>
        </p:txBody>
      </p:sp>
      <p:cxnSp>
        <p:nvCxnSpPr>
          <p:cNvPr id="8" name="Connector 7"/>
          <p:cNvCxnSpPr/>
          <p:nvPr/>
        </p:nvCxnSpPr>
        <p:spPr>
          <a:xfrm>
            <a:off x="9784080" y="1664208"/>
            <a:ext cx="68580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0469880" y="1207008"/>
            <a:ext cx="1188720" cy="914400"/>
          </a:xfrm>
          <a:prstGeom prst="roundRect">
            <a:avLst/>
          </a:prstGeom>
          <a:solidFill>
            <a:srgbClr val="F2F3F2"/>
          </a:solidFill>
          <a:ln w="15875">
            <a:solidFill>
              <a:srgbClr val="666C6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Need richer</a:t>
            </a:r>
            <a:br/>
            <a:r>
              <a:t>causal state</a:t>
            </a:r>
          </a:p>
        </p:txBody>
      </p:sp>
      <p:sp>
        <p:nvSpPr>
          <p:cNvPr id="10" name="TextBox 9"/>
          <p:cNvSpPr txBox="1"/>
          <p:nvPr/>
        </p:nvSpPr>
        <p:spPr>
          <a:xfrm>
            <a:off x="658368" y="2788920"/>
            <a:ext cx="2926080" cy="347472"/>
          </a:xfrm>
          <a:prstGeom prst="rect">
            <a:avLst/>
          </a:prstGeom>
          <a:noFill/>
        </p:spPr>
        <p:txBody>
          <a:bodyPr wrap="square" lIns="45720" rIns="45720" anchor="t">
            <a:spAutoFit/>
          </a:bodyPr>
          <a:lstStyle/>
          <a:p>
            <a:pPr algn="l">
              <a:defRPr sz="2000" b="1">
                <a:solidFill>
                  <a:srgbClr val="2B7A43"/>
                </a:solidFill>
                <a:latin typeface="Aptos"/>
              </a:defRPr>
            </a:pPr>
            <a:r>
              <a:t>Evidence already collected</a:t>
            </a:r>
          </a:p>
        </p:txBody>
      </p:sp>
      <p:sp>
        <p:nvSpPr>
          <p:cNvPr id="11" name="TextBox 10"/>
          <p:cNvSpPr txBox="1"/>
          <p:nvPr/>
        </p:nvSpPr>
        <p:spPr>
          <a:xfrm>
            <a:off x="713232" y="3182112"/>
            <a:ext cx="5486400" cy="2057400"/>
          </a:xfrm>
          <a:prstGeom prst="rect">
            <a:avLst/>
          </a:prstGeom>
          <a:noFill/>
        </p:spPr>
        <p:txBody>
          <a:bodyPr wrap="square" lIns="73152" rIns="36576" tIns="36576" bIns="36576">
            <a:spAutoFit/>
          </a:bodyPr>
          <a:lstStyle/>
          <a:p>
            <a:pPr>
              <a:spcAft>
                <a:spcPts val="700"/>
              </a:spcAft>
              <a:defRPr sz="1550">
                <a:solidFill>
                  <a:srgbClr val="191F1C"/>
                </a:solidFill>
                <a:latin typeface="Aptos"/>
              </a:defRPr>
            </a:pPr>
            <a:r>
              <a:t>- Main-slope Kd tau changes only about 1.086x across widths: changing tau alone is not enough.</a:t>
            </a:r>
          </a:p>
          <a:p>
            <a:pPr>
              <a:spcAft>
                <a:spcPts val="700"/>
              </a:spcAft>
              <a:defRPr sz="1550">
                <a:solidFill>
                  <a:srgbClr val="191F1C"/>
                </a:solidFill>
                <a:latin typeface="Aptos"/>
              </a:defRPr>
            </a:pPr>
            <a:r>
              <a:t>- A fixed mean recovery delay helps some widths but is early or late for others.</a:t>
            </a:r>
          </a:p>
          <a:p>
            <a:pPr>
              <a:spcAft>
                <a:spcPts val="700"/>
              </a:spcAft>
              <a:defRPr sz="1550">
                <a:solidFill>
                  <a:srgbClr val="191F1C"/>
                </a:solidFill>
                <a:latin typeface="Aptos"/>
              </a:defRPr>
            </a:pPr>
            <a:r>
              <a:t>- GDN@reverse collapses 500 ps and 1 ns pulses to nearly the same state.</a:t>
            </a:r>
          </a:p>
          <a:p>
            <a:pPr>
              <a:spcAft>
                <a:spcPts val="700"/>
              </a:spcAft>
              <a:defRPr sz="1550">
                <a:solidFill>
                  <a:srgbClr val="191F1C"/>
                </a:solidFill>
                <a:latin typeface="Aptos"/>
              </a:defRPr>
            </a:pPr>
            <a:r>
              <a:t>- A simple command-age hold law failed the 1.5 ns held-out validation by 49.4 ps.</a:t>
            </a:r>
          </a:p>
        </p:txBody>
      </p:sp>
      <p:sp>
        <p:nvSpPr>
          <p:cNvPr id="12" name="TextBox 11"/>
          <p:cNvSpPr txBox="1"/>
          <p:nvPr/>
        </p:nvSpPr>
        <p:spPr>
          <a:xfrm>
            <a:off x="6565392" y="2788920"/>
            <a:ext cx="2926080" cy="347472"/>
          </a:xfrm>
          <a:prstGeom prst="rect">
            <a:avLst/>
          </a:prstGeom>
          <a:noFill/>
        </p:spPr>
        <p:txBody>
          <a:bodyPr wrap="square" lIns="45720" rIns="45720" anchor="t">
            <a:spAutoFit/>
          </a:bodyPr>
          <a:lstStyle/>
          <a:p>
            <a:pPr algn="l">
              <a:defRPr sz="2000" b="1">
                <a:solidFill>
                  <a:srgbClr val="CA3030"/>
                </a:solidFill>
                <a:latin typeface="Aptos"/>
              </a:defRPr>
            </a:pPr>
            <a:r>
              <a:t>Engineering implication</a:t>
            </a:r>
          </a:p>
        </p:txBody>
      </p:sp>
      <p:sp>
        <p:nvSpPr>
          <p:cNvPr id="13" name="Rounded Rectangle 12"/>
          <p:cNvSpPr/>
          <p:nvPr/>
        </p:nvSpPr>
        <p:spPr>
          <a:xfrm>
            <a:off x="6629400" y="3337560"/>
            <a:ext cx="4572000" cy="1234440"/>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The next state must track pending predriver history or recovery phase - not just present GDN voltage.</a:t>
            </a:r>
          </a:p>
        </p:txBody>
      </p:sp>
      <p:sp>
        <p:nvSpPr>
          <p:cNvPr id="14" name="Rounded Rectangle 13"/>
          <p:cNvSpPr/>
          <p:nvPr/>
        </p:nvSpPr>
        <p:spPr>
          <a:xfrm>
            <a:off x="6629400" y="4754880"/>
            <a:ext cx="4572000" cy="658368"/>
          </a:xfrm>
          <a:prstGeom prst="roundRect">
            <a:avLst/>
          </a:prstGeom>
          <a:solidFill>
            <a:srgbClr val="F1F8F2"/>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50" b="1">
                <a:solidFill>
                  <a:srgbClr val="191F1C"/>
                </a:solidFill>
                <a:latin typeface="Aptos"/>
              </a:defRPr>
            </a:pPr>
            <a:r>
              <a:t>Any new candidate must preserve long-pulse legacy behavior and pass Ku/Kd before pad voltage.</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current result identifies the missing state variable; it does not justify per-pulse tuning.</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Diagnostics: kd_recovery_diagnostics/effective_tau, gdn_hold_time, command_age_hold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Next steps toward a trustworthy default</a:t>
            </a:r>
          </a:p>
        </p:txBody>
      </p:sp>
      <p:sp>
        <p:nvSpPr>
          <p:cNvPr id="3" name="Oval 2"/>
          <p:cNvSpPr/>
          <p:nvPr/>
        </p:nvSpPr>
        <p:spPr>
          <a:xfrm>
            <a:off x="713232" y="987552"/>
            <a:ext cx="475488" cy="475488"/>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1</a:t>
            </a:r>
          </a:p>
        </p:txBody>
      </p:sp>
      <p:sp>
        <p:nvSpPr>
          <p:cNvPr id="4" name="TextBox 3"/>
          <p:cNvSpPr txBox="1"/>
          <p:nvPr/>
        </p:nvSpPr>
        <p:spPr>
          <a:xfrm>
            <a:off x="1389888" y="969264"/>
            <a:ext cx="3291840" cy="384048"/>
          </a:xfrm>
          <a:prstGeom prst="rect">
            <a:avLst/>
          </a:prstGeom>
          <a:noFill/>
        </p:spPr>
        <p:txBody>
          <a:bodyPr wrap="square" lIns="45720" rIns="45720" anchor="t">
            <a:spAutoFit/>
          </a:bodyPr>
          <a:lstStyle/>
          <a:p>
            <a:pPr algn="l">
              <a:defRPr sz="1650" b="1">
                <a:solidFill>
                  <a:srgbClr val="2B7A43"/>
                </a:solidFill>
                <a:latin typeface="Aptos"/>
              </a:defRPr>
            </a:pPr>
            <a:r>
              <a:t>Preserve normal edges</a:t>
            </a:r>
          </a:p>
        </p:txBody>
      </p:sp>
      <p:sp>
        <p:nvSpPr>
          <p:cNvPr id="5" name="TextBox 4"/>
          <p:cNvSpPr txBox="1"/>
          <p:nvPr/>
        </p:nvSpPr>
        <p:spPr>
          <a:xfrm>
            <a:off x="4864608" y="960120"/>
            <a:ext cx="6446520" cy="530352"/>
          </a:xfrm>
          <a:prstGeom prst="rect">
            <a:avLst/>
          </a:prstGeom>
          <a:noFill/>
        </p:spPr>
        <p:txBody>
          <a:bodyPr wrap="square" lIns="45720" rIns="45720" anchor="t">
            <a:spAutoFit/>
          </a:bodyPr>
          <a:lstStyle/>
          <a:p>
            <a:pPr algn="l">
              <a:defRPr sz="1520" b="0">
                <a:solidFill>
                  <a:srgbClr val="191F1C"/>
                </a:solidFill>
                <a:latin typeface="Aptos"/>
              </a:defRPr>
            </a:pPr>
            <a:r>
              <a:t>Use legacy-equivalent output outside a proven interrupted-transition window.</a:t>
            </a:r>
          </a:p>
        </p:txBody>
      </p:sp>
      <p:sp>
        <p:nvSpPr>
          <p:cNvPr id="6" name="Oval 5"/>
          <p:cNvSpPr/>
          <p:nvPr/>
        </p:nvSpPr>
        <p:spPr>
          <a:xfrm>
            <a:off x="713232" y="1947672"/>
            <a:ext cx="475488" cy="475488"/>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2</a:t>
            </a:r>
          </a:p>
        </p:txBody>
      </p:sp>
      <p:sp>
        <p:nvSpPr>
          <p:cNvPr id="7" name="TextBox 6"/>
          <p:cNvSpPr txBox="1"/>
          <p:nvPr/>
        </p:nvSpPr>
        <p:spPr>
          <a:xfrm>
            <a:off x="1389888" y="1929384"/>
            <a:ext cx="3291840" cy="384048"/>
          </a:xfrm>
          <a:prstGeom prst="rect">
            <a:avLst/>
          </a:prstGeom>
          <a:noFill/>
        </p:spPr>
        <p:txBody>
          <a:bodyPr wrap="square" lIns="45720" rIns="45720" anchor="t">
            <a:spAutoFit/>
          </a:bodyPr>
          <a:lstStyle/>
          <a:p>
            <a:pPr algn="l">
              <a:defRPr sz="1650" b="1">
                <a:solidFill>
                  <a:srgbClr val="2B7A43"/>
                </a:solidFill>
                <a:latin typeface="Aptos"/>
              </a:defRPr>
            </a:pPr>
            <a:r>
              <a:t>Add causal recovery memory</a:t>
            </a:r>
          </a:p>
        </p:txBody>
      </p:sp>
      <p:sp>
        <p:nvSpPr>
          <p:cNvPr id="8" name="TextBox 7"/>
          <p:cNvSpPr txBox="1"/>
          <p:nvPr/>
        </p:nvSpPr>
        <p:spPr>
          <a:xfrm>
            <a:off x="4864608" y="1920240"/>
            <a:ext cx="6446520" cy="530352"/>
          </a:xfrm>
          <a:prstGeom prst="rect">
            <a:avLst/>
          </a:prstGeom>
          <a:noFill/>
        </p:spPr>
        <p:txBody>
          <a:bodyPr wrap="square" lIns="45720" rIns="45720" anchor="t">
            <a:spAutoFit/>
          </a:bodyPr>
          <a:lstStyle/>
          <a:p>
            <a:pPr algn="l">
              <a:defRPr sz="1520" b="0">
                <a:solidFill>
                  <a:srgbClr val="191F1C"/>
                </a:solidFill>
                <a:latin typeface="Aptos"/>
              </a:defRPr>
            </a:pPr>
            <a:r>
              <a:t>Track pending pulldown-off/recovery phase separately from GDN amplitude.</a:t>
            </a:r>
          </a:p>
        </p:txBody>
      </p:sp>
      <p:sp>
        <p:nvSpPr>
          <p:cNvPr id="9" name="Oval 8"/>
          <p:cNvSpPr/>
          <p:nvPr/>
        </p:nvSpPr>
        <p:spPr>
          <a:xfrm>
            <a:off x="713232" y="2907791"/>
            <a:ext cx="475488" cy="475488"/>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3</a:t>
            </a:r>
          </a:p>
        </p:txBody>
      </p:sp>
      <p:sp>
        <p:nvSpPr>
          <p:cNvPr id="10" name="TextBox 9"/>
          <p:cNvSpPr txBox="1"/>
          <p:nvPr/>
        </p:nvSpPr>
        <p:spPr>
          <a:xfrm>
            <a:off x="1389888" y="2889503"/>
            <a:ext cx="3291840" cy="384048"/>
          </a:xfrm>
          <a:prstGeom prst="rect">
            <a:avLst/>
          </a:prstGeom>
          <a:noFill/>
        </p:spPr>
        <p:txBody>
          <a:bodyPr wrap="square" lIns="45720" rIns="45720" anchor="t">
            <a:spAutoFit/>
          </a:bodyPr>
          <a:lstStyle/>
          <a:p>
            <a:pPr algn="l">
              <a:defRPr sz="1650" b="1">
                <a:solidFill>
                  <a:srgbClr val="2B7A43"/>
                </a:solidFill>
                <a:latin typeface="Aptos"/>
              </a:defRPr>
            </a:pPr>
            <a:r>
              <a:t>Validate both directions</a:t>
            </a:r>
          </a:p>
        </p:txBody>
      </p:sp>
      <p:sp>
        <p:nvSpPr>
          <p:cNvPr id="11" name="TextBox 10"/>
          <p:cNvSpPr txBox="1"/>
          <p:nvPr/>
        </p:nvSpPr>
        <p:spPr>
          <a:xfrm>
            <a:off x="4864608" y="2880360"/>
            <a:ext cx="6446520" cy="530352"/>
          </a:xfrm>
          <a:prstGeom prst="rect">
            <a:avLst/>
          </a:prstGeom>
          <a:noFill/>
        </p:spPr>
        <p:txBody>
          <a:bodyPr wrap="square" lIns="45720" rIns="45720" anchor="t">
            <a:spAutoFit/>
          </a:bodyPr>
          <a:lstStyle/>
          <a:p>
            <a:pPr algn="l">
              <a:defRPr sz="1520" b="0">
                <a:solidFill>
                  <a:srgbClr val="191F1C"/>
                </a:solidFill>
                <a:latin typeface="Aptos"/>
              </a:defRPr>
            </a:pPr>
            <a:r>
              <a:t>Short-high and short-low widths, plus repeated toggles and load changes.</a:t>
            </a:r>
          </a:p>
        </p:txBody>
      </p:sp>
      <p:sp>
        <p:nvSpPr>
          <p:cNvPr id="12" name="Oval 11"/>
          <p:cNvSpPr/>
          <p:nvPr/>
        </p:nvSpPr>
        <p:spPr>
          <a:xfrm>
            <a:off x="713232" y="3867911"/>
            <a:ext cx="475488" cy="475488"/>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4</a:t>
            </a:r>
          </a:p>
        </p:txBody>
      </p:sp>
      <p:sp>
        <p:nvSpPr>
          <p:cNvPr id="13" name="TextBox 12"/>
          <p:cNvSpPr txBox="1"/>
          <p:nvPr/>
        </p:nvSpPr>
        <p:spPr>
          <a:xfrm>
            <a:off x="1389888" y="3849624"/>
            <a:ext cx="3291840" cy="384048"/>
          </a:xfrm>
          <a:prstGeom prst="rect">
            <a:avLst/>
          </a:prstGeom>
          <a:noFill/>
        </p:spPr>
        <p:txBody>
          <a:bodyPr wrap="square" lIns="45720" rIns="45720" anchor="t">
            <a:spAutoFit/>
          </a:bodyPr>
          <a:lstStyle/>
          <a:p>
            <a:pPr algn="l">
              <a:defRPr sz="1650" b="1">
                <a:solidFill>
                  <a:srgbClr val="2B7A43"/>
                </a:solidFill>
                <a:latin typeface="Aptos"/>
              </a:defRPr>
            </a:pPr>
            <a:r>
              <a:t>Keep coefficient-first gates</a:t>
            </a:r>
          </a:p>
        </p:txBody>
      </p:sp>
      <p:sp>
        <p:nvSpPr>
          <p:cNvPr id="14" name="TextBox 13"/>
          <p:cNvSpPr txBox="1"/>
          <p:nvPr/>
        </p:nvSpPr>
        <p:spPr>
          <a:xfrm>
            <a:off x="4864608" y="3840479"/>
            <a:ext cx="6446520" cy="530352"/>
          </a:xfrm>
          <a:prstGeom prst="rect">
            <a:avLst/>
          </a:prstGeom>
          <a:noFill/>
        </p:spPr>
        <p:txBody>
          <a:bodyPr wrap="square" lIns="45720" rIns="45720" anchor="t">
            <a:spAutoFit/>
          </a:bodyPr>
          <a:lstStyle/>
          <a:p>
            <a:pPr algn="l">
              <a:defRPr sz="1520" b="0">
                <a:solidFill>
                  <a:srgbClr val="191F1C"/>
                </a:solidFill>
                <a:latin typeface="Aptos"/>
              </a:defRPr>
            </a:pPr>
            <a:r>
              <a:t>Ku and Kd must improve together; pad-only agreement cannot pass.</a:t>
            </a:r>
          </a:p>
        </p:txBody>
      </p:sp>
      <p:sp>
        <p:nvSpPr>
          <p:cNvPr id="15" name="Oval 14"/>
          <p:cNvSpPr/>
          <p:nvPr/>
        </p:nvSpPr>
        <p:spPr>
          <a:xfrm>
            <a:off x="713232" y="4828031"/>
            <a:ext cx="475488" cy="475488"/>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Aptos"/>
              </a:defRPr>
            </a:pPr>
            <a:r>
              <a:t>5</a:t>
            </a:r>
          </a:p>
        </p:txBody>
      </p:sp>
      <p:sp>
        <p:nvSpPr>
          <p:cNvPr id="16" name="TextBox 15"/>
          <p:cNvSpPr txBox="1"/>
          <p:nvPr/>
        </p:nvSpPr>
        <p:spPr>
          <a:xfrm>
            <a:off x="1389888" y="4809744"/>
            <a:ext cx="3291840" cy="384048"/>
          </a:xfrm>
          <a:prstGeom prst="rect">
            <a:avLst/>
          </a:prstGeom>
          <a:noFill/>
        </p:spPr>
        <p:txBody>
          <a:bodyPr wrap="square" lIns="45720" rIns="45720" anchor="t">
            <a:spAutoFit/>
          </a:bodyPr>
          <a:lstStyle/>
          <a:p>
            <a:pPr algn="l">
              <a:defRPr sz="1650" b="1">
                <a:solidFill>
                  <a:srgbClr val="2B7A43"/>
                </a:solidFill>
                <a:latin typeface="Aptos"/>
              </a:defRPr>
            </a:pPr>
            <a:r>
              <a:t>Broaden model coverage</a:t>
            </a:r>
          </a:p>
        </p:txBody>
      </p:sp>
      <p:sp>
        <p:nvSpPr>
          <p:cNvPr id="17" name="TextBox 16"/>
          <p:cNvSpPr txBox="1"/>
          <p:nvPr/>
        </p:nvSpPr>
        <p:spPr>
          <a:xfrm>
            <a:off x="4864608" y="4800599"/>
            <a:ext cx="6446520" cy="530352"/>
          </a:xfrm>
          <a:prstGeom prst="rect">
            <a:avLst/>
          </a:prstGeom>
          <a:noFill/>
        </p:spPr>
        <p:txBody>
          <a:bodyPr wrap="square" lIns="45720" rIns="45720" anchor="t">
            <a:spAutoFit/>
          </a:bodyPr>
          <a:lstStyle/>
          <a:p>
            <a:pPr algn="l">
              <a:defRPr sz="1520" b="0">
                <a:solidFill>
                  <a:srgbClr val="191F1C"/>
                </a:solidFill>
                <a:latin typeface="Aptos"/>
              </a:defRPr>
            </a:pPr>
            <a:r>
              <a:t>Repeat on additional IBIS buffers before changing the pybis default.</a:t>
            </a:r>
          </a:p>
        </p:txBody>
      </p:sp>
      <p:sp>
        <p:nvSpPr>
          <p:cNvPr id="18" name="Rectangle 1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Keep the two-state directional architecture; improve only the missing recovery-memory mechanism.</a:t>
            </a:r>
          </a:p>
        </p:txBody>
      </p:sp>
      <p:sp>
        <p:nvSpPr>
          <p:cNvPr id="19" name="TextBox 1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Recommended direction based on cached June 30 - July 10 studies.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Takeaway</a:t>
            </a:r>
          </a:p>
        </p:txBody>
      </p:sp>
      <p:sp>
        <p:nvSpPr>
          <p:cNvPr id="3" name="Rounded Rectangle 2"/>
          <p:cNvSpPr/>
          <p:nvPr/>
        </p:nvSpPr>
        <p:spPr>
          <a:xfrm>
            <a:off x="749808" y="1143000"/>
            <a:ext cx="3246120" cy="56692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CA3030"/>
                </a:solidFill>
                <a:latin typeface="Aptos"/>
              </a:defRPr>
            </a:pPr>
            <a:r>
              <a:t>Problem</a:t>
            </a:r>
          </a:p>
        </p:txBody>
      </p:sp>
      <p:sp>
        <p:nvSpPr>
          <p:cNvPr id="4" name="TextBox 3"/>
          <p:cNvSpPr txBox="1"/>
          <p:nvPr/>
        </p:nvSpPr>
        <p:spPr>
          <a:xfrm>
            <a:off x="749808" y="1874519"/>
            <a:ext cx="3246120" cy="960120"/>
          </a:xfrm>
          <a:prstGeom prst="rect">
            <a:avLst/>
          </a:prstGeom>
          <a:noFill/>
        </p:spPr>
        <p:txBody>
          <a:bodyPr wrap="square" lIns="45720" rIns="45720" anchor="t">
            <a:spAutoFit/>
          </a:bodyPr>
          <a:lstStyle/>
          <a:p>
            <a:pPr algn="ctr">
              <a:defRPr sz="1800" b="0">
                <a:solidFill>
                  <a:srgbClr val="191F1C"/>
                </a:solidFill>
                <a:latin typeface="Aptos"/>
              </a:defRPr>
            </a:pPr>
            <a:r>
              <a:t>Legacy replay restarts from a settled assumption when a pulse reverses early.</a:t>
            </a:r>
          </a:p>
        </p:txBody>
      </p:sp>
      <p:sp>
        <p:nvSpPr>
          <p:cNvPr id="5" name="Rounded Rectangle 4"/>
          <p:cNvSpPr/>
          <p:nvPr/>
        </p:nvSpPr>
        <p:spPr>
          <a:xfrm>
            <a:off x="4480560" y="1143000"/>
            <a:ext cx="3246120" cy="56692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2B7A43"/>
                </a:solidFill>
                <a:latin typeface="Aptos"/>
              </a:defRPr>
            </a:pPr>
            <a:r>
              <a:t>Solution</a:t>
            </a:r>
          </a:p>
        </p:txBody>
      </p:sp>
      <p:sp>
        <p:nvSpPr>
          <p:cNvPr id="6" name="TextBox 5"/>
          <p:cNvSpPr txBox="1"/>
          <p:nvPr/>
        </p:nvSpPr>
        <p:spPr>
          <a:xfrm>
            <a:off x="4480560" y="1874519"/>
            <a:ext cx="3246120" cy="1143000"/>
          </a:xfrm>
          <a:prstGeom prst="rect">
            <a:avLst/>
          </a:prstGeom>
          <a:noFill/>
        </p:spPr>
        <p:txBody>
          <a:bodyPr wrap="square" lIns="45720" rIns="45720" anchor="t">
            <a:spAutoFit/>
          </a:bodyPr>
          <a:lstStyle/>
          <a:p>
            <a:pPr algn="ctr">
              <a:defRPr sz="1800" b="0">
                <a:solidFill>
                  <a:srgbClr val="191F1C"/>
                </a:solidFill>
                <a:latin typeface="Aptos"/>
              </a:defRPr>
            </a:pPr>
            <a:r>
              <a:t>Store continuous pullup/pulldown gate states, map by direction, and restore Kd dynamics with a rate residual.</a:t>
            </a:r>
          </a:p>
        </p:txBody>
      </p:sp>
      <p:sp>
        <p:nvSpPr>
          <p:cNvPr id="7" name="Rounded Rectangle 6"/>
          <p:cNvSpPr/>
          <p:nvPr/>
        </p:nvSpPr>
        <p:spPr>
          <a:xfrm>
            <a:off x="8211312" y="1143000"/>
            <a:ext cx="3246120" cy="566928"/>
          </a:xfrm>
          <a:prstGeom prst="roundRect">
            <a:avLst/>
          </a:prstGeom>
          <a:solidFill>
            <a:srgbClr val="FFF4E0"/>
          </a:solidFill>
          <a:ln w="15875">
            <a:solidFill>
              <a:srgbClr val="DA842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DA8426"/>
                </a:solidFill>
                <a:latin typeface="Aptos"/>
              </a:defRPr>
            </a:pPr>
            <a:r>
              <a:t>Current status</a:t>
            </a:r>
          </a:p>
        </p:txBody>
      </p:sp>
      <p:sp>
        <p:nvSpPr>
          <p:cNvPr id="8" name="TextBox 7"/>
          <p:cNvSpPr txBox="1"/>
          <p:nvPr/>
        </p:nvSpPr>
        <p:spPr>
          <a:xfrm>
            <a:off x="8211312" y="1874519"/>
            <a:ext cx="3246120" cy="960120"/>
          </a:xfrm>
          <a:prstGeom prst="rect">
            <a:avLst/>
          </a:prstGeom>
          <a:noFill/>
        </p:spPr>
        <p:txBody>
          <a:bodyPr wrap="square" lIns="45720" rIns="45720" anchor="t">
            <a:spAutoFit/>
          </a:bodyPr>
          <a:lstStyle/>
          <a:p>
            <a:pPr algn="ctr">
              <a:defRPr sz="1800" b="0">
                <a:solidFill>
                  <a:srgbClr val="191F1C"/>
                </a:solidFill>
                <a:latin typeface="Aptos"/>
              </a:defRPr>
            </a:pPr>
            <a:r>
              <a:t>Best structural method so far. Reconstruction passes; short-high Kd recovery remains open.</a:t>
            </a:r>
          </a:p>
        </p:txBody>
      </p:sp>
      <p:sp>
        <p:nvSpPr>
          <p:cNvPr id="9" name="Rounded Rectangle 8"/>
          <p:cNvSpPr/>
          <p:nvPr/>
        </p:nvSpPr>
        <p:spPr>
          <a:xfrm>
            <a:off x="1938528" y="3822191"/>
            <a:ext cx="8321040" cy="804672"/>
          </a:xfrm>
          <a:prstGeom prst="roundRect">
            <a:avLst/>
          </a:prstGeom>
          <a:solidFill>
            <a:srgbClr val="2B7A43"/>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2700" b="1">
                <a:solidFill>
                  <a:srgbClr val="FFFFFF"/>
                </a:solidFill>
                <a:latin typeface="Aptos"/>
              </a:defRPr>
            </a:pPr>
            <a:r>
              <a:t>two_state_directional_residual</a:t>
            </a:r>
          </a:p>
        </p:txBody>
      </p:sp>
      <p:sp>
        <p:nvSpPr>
          <p:cNvPr id="10" name="TextBox 9"/>
          <p:cNvSpPr txBox="1"/>
          <p:nvPr/>
        </p:nvSpPr>
        <p:spPr>
          <a:xfrm>
            <a:off x="1874519" y="4892040"/>
            <a:ext cx="8458200" cy="566928"/>
          </a:xfrm>
          <a:prstGeom prst="rect">
            <a:avLst/>
          </a:prstGeom>
          <a:noFill/>
        </p:spPr>
        <p:txBody>
          <a:bodyPr wrap="square" lIns="45720" rIns="45720" anchor="t">
            <a:spAutoFit/>
          </a:bodyPr>
          <a:lstStyle/>
          <a:p>
            <a:pPr algn="ctr">
              <a:defRPr sz="2000" b="1">
                <a:solidFill>
                  <a:srgbClr val="191F1C"/>
                </a:solidFill>
                <a:latin typeface="Aptos"/>
              </a:defRPr>
            </a:pPr>
            <a:r>
              <a:t>A credible architecture and a measured research result - not yet the production default.</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Questions</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Simon Hwang | UMR EMC Laboratory | 7/14/2026</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