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 of the stranded charge flips with the timestep, so it is an integration error. Any fix by tuning a coefficient is a coin flip, which is why the retuned version helped on some cases and not others.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of the generated subcircuit separates them. gate_state: CGUPCMD across RGUPCMD 1e15 with BGUPCMDON injecting a packet per edge. delay_cmd: BGUPCMD GUPCMD 0 V = V(PUCMDLVL). On the tail after the reversal gate_state sits at -0.144 and creeps back over ~3 ns; delay_cmd is at exactly 0. On this particular bench the stranded charge is negative and the command clamp removes it before it reaches Ku, so the two pads agree to 5 mV -- the pad consequence on the right is the case where the charge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case the pedestal goes from 97.9 mV to 5.2 mV against the transistor's 2.1 mV. Across all 29 matched stress cases RMSE goes from 108.6 to 92.2 mV, the only build that beats native IBIS. Caveat to state: delay_cmd has a 1.25 ns dead zone after a reversal where neither device is commanded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quotes 69-99 ps late where native is 5-26 ps early. That is not reproducible from the data on disk with a 50%-of-excursion metric. The stress matrix gives io_buf native +11..+18 against ours +27..+34; inv_chain native -6..-5 against ours +8..+12; ex2 both early with ours closer. The defect is real and device-dependent, but smaller and less one-sided than the plan states. It also grows as the pulse is truncated, on all nine buffer variants tested so far.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reproduces the shipped solve to 2.4e-08, so the method is exact, and in the quiet regions Ku is load-independent to four decimals -- the extraction really is a device property, not a fixture artifact.  Ku RMSE against the R-only baseline:  io_buf C 0.011 / L0.5 0.142 / L2 0.164 / L+C 0.159;  inv_chain C 0.007 / L0.5 0.004 / L2 0.007 / L+C 0.009;  ex2 C 0.028 / L0.5 0.008 / L2 0.022 / L+C 0.032.  Correction worth stating: the plan says added L and C are safe individually and the resonant combination is the problem. The measurement does not support that. On io_buf L alone is the worst case (0.164, peak 7.9) and L+C is no worse (0.159, peak 5.2); on the other two devices everything stays under 0.03. The real rule is that series inductance disturbs the solve, by an amount that depends on the buffer.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 and Kd here come from the transistor itself, by driving it into two fixtures and running the same two-equation solve the model uses. That is a ground-truth coefficient target, not native IBIS's opinion.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rules worth not re-learning: any bench for this model must start with a real edge, never a held level, because it initialises pulldown-on and latches state only on an edge. And ngspice must be converged before drawing any conclusion.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IBIS Simulation Short Pulse Handling</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Simon Hwang</a:t>
            </a:r>
          </a:p>
          <a:p>
            <a:pPr algn="ctr">
              <a:defRPr sz="1600">
                <a:solidFill>
                  <a:srgbClr val="000000"/>
                </a:solidFill>
                <a:latin typeface="Times New Roman"/>
              </a:defRPr>
            </a:pPr>
            <a:r>
              <a:t>Dr. Chulsoon Hwang</a:t>
            </a:r>
          </a:p>
          <a:p>
            <a:pPr algn="ctr">
              <a:defRPr sz="1600">
                <a:solidFill>
                  <a:srgbClr val="000000"/>
                </a:solidFill>
                <a:latin typeface="Times New Roman"/>
              </a:defRPr>
            </a:pPr>
            <a:r>
              <a:t>Dr. Zhiping Yang</a:t>
            </a:r>
          </a:p>
          <a:p>
            <a:pPr algn="ctr">
              <a:defRPr sz="1600">
                <a:solidFill>
                  <a:srgbClr val="000000"/>
                </a:solidFill>
                <a:latin typeface="Times New Roman"/>
              </a:defRPr>
            </a:pPr>
            <a:r>
              <a:t>9/4/2026</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Table of contents</a:t>
            </a:r>
          </a:p>
        </p:txBody>
      </p:sp>
      <p:sp>
        <p:nvSpPr>
          <p:cNvPr id="3" name="TextBox 2"/>
          <p:cNvSpPr txBox="1"/>
          <p:nvPr/>
        </p:nvSpPr>
        <p:spPr>
          <a:xfrm>
            <a:off x="640080" y="1371600"/>
            <a:ext cx="11064240" cy="34290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Issue recap</a:t>
            </a:r>
          </a:p>
          <a:p>
            <a:pPr>
              <a:spcAft>
                <a:spcPts val="300"/>
              </a:spcAft>
              <a:defRPr sz="1700">
                <a:solidFill>
                  <a:srgbClr val="191F1C"/>
                </a:solidFill>
                <a:latin typeface="Aptos"/>
              </a:defRPr>
            </a:pPr>
            <a:r>
              <a:t>•  Delaying the input command</a:t>
            </a:r>
          </a:p>
          <a:p>
            <a:pPr>
              <a:spcAft>
                <a:spcPts val="300"/>
              </a:spcAft>
              <a:defRPr sz="1700">
                <a:solidFill>
                  <a:srgbClr val="191F1C"/>
                </a:solidFill>
                <a:latin typeface="Aptos"/>
              </a:defRPr>
            </a:pPr>
            <a:r>
              <a:t>•  RLC fixture effects on V-t waveforms and Ku/Kd</a:t>
            </a:r>
          </a:p>
          <a:p>
            <a:pPr>
              <a:spcAft>
                <a:spcPts val="300"/>
              </a:spcAft>
              <a:defRPr sz="1700">
                <a:solidFill>
                  <a:srgbClr val="191F1C"/>
                </a:solidFill>
                <a:latin typeface="Aptos"/>
              </a:defRPr>
            </a:pPr>
            <a:r>
              <a:t>•  Pybis in HSPICE vs. NgSPICE</a:t>
            </a:r>
          </a:p>
          <a:p>
            <a:pPr>
              <a:spcAft>
                <a:spcPts val="300"/>
              </a:spcAft>
              <a:defRPr sz="1700">
                <a:solidFill>
                  <a:srgbClr val="191F1C"/>
                </a:solidFill>
                <a:latin typeface="Aptos"/>
              </a:defRPr>
            </a:pPr>
            <a:r>
              <a:t>•  More SPICE buffer mockups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Issue recap</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ISSUE RECAP</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A short pulse reverses before the pad has finished its transition.</a:t>
            </a:r>
          </a:p>
          <a:p>
            <a:pPr>
              <a:spcAft>
                <a:spcPts val="300"/>
              </a:spcAft>
              <a:defRPr sz="1700">
                <a:solidFill>
                  <a:srgbClr val="191F1C"/>
                </a:solidFill>
                <a:latin typeface="Aptos"/>
              </a:defRPr>
            </a:pPr>
            <a:r>
              <a:t>•  Both IBIS models under-shoot the peak the transistor reaches, and ours sits slightly high on the tail after the reversal.</a:t>
            </a:r>
          </a:p>
        </p:txBody>
      </p:sp>
      <p:sp>
        <p:nvSpPr>
          <p:cNvPr id="5" name="Rectangle 4"/>
          <p:cNvSpPr/>
          <p:nvPr/>
        </p:nvSpPr>
        <p:spPr>
          <a:xfrm>
            <a:off x="743653" y="1819656"/>
            <a:ext cx="10674213" cy="458114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cap_pad.png"/>
          <p:cNvPicPr>
            <a:picLocks noChangeAspect="1"/>
          </p:cNvPicPr>
          <p:nvPr/>
        </p:nvPicPr>
        <p:blipFill>
          <a:blip r:embed="rId2"/>
          <a:stretch>
            <a:fillRect/>
          </a:stretch>
        </p:blipFill>
        <p:spPr>
          <a:xfrm>
            <a:off x="771085" y="1847088"/>
            <a:ext cx="10619349" cy="45262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Issue recap — the coefficients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ISSUE RECAP</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Ku(t) and Kd(t) assume the transition starts from a settled state.</a:t>
            </a:r>
          </a:p>
          <a:p>
            <a:pPr>
              <a:spcAft>
                <a:spcPts val="300"/>
              </a:spcAft>
              <a:defRPr sz="1700">
                <a:solidFill>
                  <a:srgbClr val="191F1C"/>
                </a:solidFill>
                <a:latin typeface="Aptos"/>
              </a:defRPr>
            </a:pPr>
            <a:r>
              <a:t>•  When the reverse edge arrives first, they are still replayed from fully settled, and Ku does not return to zero.</a:t>
            </a:r>
          </a:p>
        </p:txBody>
      </p:sp>
      <p:sp>
        <p:nvSpPr>
          <p:cNvPr id="5" name="Rectangle 4"/>
          <p:cNvSpPr/>
          <p:nvPr/>
        </p:nvSpPr>
        <p:spPr>
          <a:xfrm>
            <a:off x="743653" y="1819656"/>
            <a:ext cx="10674213" cy="458114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cap_kukd.png"/>
          <p:cNvPicPr>
            <a:picLocks noChangeAspect="1"/>
          </p:cNvPicPr>
          <p:nvPr/>
        </p:nvPicPr>
        <p:blipFill>
          <a:blip r:embed="rId2"/>
          <a:stretch>
            <a:fillRect/>
          </a:stretch>
        </p:blipFill>
        <p:spPr>
          <a:xfrm>
            <a:off x="771085" y="1847088"/>
            <a:ext cx="10619349" cy="4526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The offset: charge stranded in the command capacitor</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DELAYING THE INPUT COMMAND</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GUPCMD is a capacitor across 1e15 ohm, charged once per input edge.</a:t>
            </a:r>
          </a:p>
          <a:p>
            <a:pPr>
              <a:spcAft>
                <a:spcPts val="300"/>
              </a:spcAft>
              <a:defRPr sz="1700">
                <a:solidFill>
                  <a:srgbClr val="191F1C"/>
                </a:solidFill>
                <a:latin typeface="Aptos"/>
              </a:defRPr>
            </a:pPr>
            <a:r>
              <a:t>•  A truncated pulse leaves charge in it with no resistive path out.</a:t>
            </a:r>
          </a:p>
        </p:txBody>
      </p:sp>
      <p:sp>
        <p:nvSpPr>
          <p:cNvPr id="5" name="Rectangle 4"/>
          <p:cNvSpPr/>
          <p:nvPr/>
        </p:nvSpPr>
        <p:spPr>
          <a:xfrm>
            <a:off x="743653" y="1819656"/>
            <a:ext cx="10674213" cy="458114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ffset_chain.png"/>
          <p:cNvPicPr>
            <a:picLocks noChangeAspect="1"/>
          </p:cNvPicPr>
          <p:nvPr/>
        </p:nvPicPr>
        <p:blipFill>
          <a:blip r:embed="rId2"/>
          <a:stretch>
            <a:fillRect/>
          </a:stretch>
        </p:blipFill>
        <p:spPr>
          <a:xfrm>
            <a:off x="771085" y="1847088"/>
            <a:ext cx="10619349" cy="4526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How delay_cmd works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DELAYING THE INPUT COMMAND</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gate-state: GUPCMD is a capacitor across 1e15 Ω, given a fixed packet of charge on each input edge — an integrator with no DC path.</a:t>
            </a:r>
          </a:p>
          <a:p>
            <a:pPr>
              <a:spcAft>
                <a:spcPts val="300"/>
              </a:spcAft>
              <a:defRPr sz="1700">
                <a:solidFill>
                  <a:srgbClr val="191F1C"/>
                </a:solidFill>
                <a:latin typeface="Aptos"/>
              </a:defRPr>
            </a:pPr>
            <a:r>
              <a:t>•  delay_cmd: GUPCMD is driven straight from the present input level.</a:t>
            </a:r>
          </a:p>
        </p:txBody>
      </p:sp>
      <p:sp>
        <p:nvSpPr>
          <p:cNvPr id="5" name="Rectangle 4"/>
          <p:cNvSpPr/>
          <p:nvPr/>
        </p:nvSpPr>
        <p:spPr>
          <a:xfrm>
            <a:off x="51374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mmand_node.png"/>
          <p:cNvPicPr>
            <a:picLocks noChangeAspect="1"/>
          </p:cNvPicPr>
          <p:nvPr/>
        </p:nvPicPr>
        <p:blipFill>
          <a:blip r:embed="rId2"/>
          <a:stretch>
            <a:fillRect/>
          </a:stretch>
        </p:blipFill>
        <p:spPr>
          <a:xfrm>
            <a:off x="541175" y="2084831"/>
            <a:ext cx="5318448" cy="4343400"/>
          </a:xfrm>
          <a:prstGeom prst="rect">
            <a:avLst/>
          </a:prstGeom>
        </p:spPr>
      </p:pic>
      <p:sp>
        <p:nvSpPr>
          <p:cNvPr id="7" name="Rectangle 6"/>
          <p:cNvSpPr/>
          <p:nvPr/>
        </p:nvSpPr>
        <p:spPr>
          <a:xfrm>
            <a:off x="627446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mand_pad.png"/>
          <p:cNvPicPr>
            <a:picLocks noChangeAspect="1"/>
          </p:cNvPicPr>
          <p:nvPr/>
        </p:nvPicPr>
        <p:blipFill>
          <a:blip r:embed="rId3"/>
          <a:stretch>
            <a:fillRect/>
          </a:stretch>
        </p:blipFill>
        <p:spPr>
          <a:xfrm>
            <a:off x="6301895" y="2084831"/>
            <a:ext cx="5318448" cy="4343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delay_cmd removes the offset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DELAYING THE INPUT COMMAND</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The command returns to exactly zero, so nothing is stranded.</a:t>
            </a:r>
          </a:p>
          <a:p>
            <a:pPr>
              <a:spcAft>
                <a:spcPts val="300"/>
              </a:spcAft>
              <a:defRPr sz="1700">
                <a:solidFill>
                  <a:srgbClr val="191F1C"/>
                </a:solidFill>
                <a:latin typeface="Aptos"/>
              </a:defRPr>
            </a:pPr>
            <a:r>
              <a:t>•  The pedestal goes from 97.9 mV to 5.2 mV, against the transistor's 2.1.</a:t>
            </a:r>
          </a:p>
        </p:txBody>
      </p:sp>
      <p:sp>
        <p:nvSpPr>
          <p:cNvPr id="5" name="Rectangle 4"/>
          <p:cNvSpPr/>
          <p:nvPr/>
        </p:nvSpPr>
        <p:spPr>
          <a:xfrm>
            <a:off x="743653" y="1819656"/>
            <a:ext cx="10674213" cy="458114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ffset_removed.png"/>
          <p:cNvPicPr>
            <a:picLocks noChangeAspect="1"/>
          </p:cNvPicPr>
          <p:nvPr/>
        </p:nvPicPr>
        <p:blipFill>
          <a:blip r:embed="rId2"/>
          <a:stretch>
            <a:fillRect/>
          </a:stretch>
        </p:blipFill>
        <p:spPr>
          <a:xfrm>
            <a:off x="771085" y="1847088"/>
            <a:ext cx="10619349" cy="45262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It does not fix the timing</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DELAYING THE INPUT COMMAND</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delay_cmd improved the timing on 0 of 19 stress cases — so the offset and the shift are two mechanisms, not one.</a:t>
            </a:r>
          </a:p>
          <a:p>
            <a:pPr>
              <a:spcAft>
                <a:spcPts val="300"/>
              </a:spcAft>
              <a:defRPr sz="1700">
                <a:solidFill>
                  <a:srgbClr val="191F1C"/>
                </a:solidFill>
                <a:latin typeface="Aptos"/>
              </a:defRPr>
            </a:pPr>
            <a:r>
              <a:t>•  Our 50% crossing still arrives after native's: io_buf +27..+34 ps against native's +11..+18.</a:t>
            </a:r>
          </a:p>
        </p:txBody>
      </p:sp>
      <p:sp>
        <p:nvSpPr>
          <p:cNvPr id="5" name="Rectangle 4"/>
          <p:cNvSpPr/>
          <p:nvPr/>
        </p:nvSpPr>
        <p:spPr>
          <a:xfrm>
            <a:off x="743653" y="1819656"/>
            <a:ext cx="10674213" cy="458114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iming_shift.png"/>
          <p:cNvPicPr>
            <a:picLocks noChangeAspect="1"/>
          </p:cNvPicPr>
          <p:nvPr/>
        </p:nvPicPr>
        <p:blipFill>
          <a:blip r:embed="rId2"/>
          <a:stretch>
            <a:fillRect/>
          </a:stretch>
        </p:blipFill>
        <p:spPr>
          <a:xfrm>
            <a:off x="771085" y="1847088"/>
            <a:ext cx="10619349" cy="45262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Is the difference the engine or the model?</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PYBIS IN HSPICE VS. NGSPICE</a:t>
            </a:r>
          </a:p>
        </p:txBody>
      </p:sp>
      <p:sp>
        <p:nvSpPr>
          <p:cNvPr id="4" name="TextBox 3"/>
          <p:cNvSpPr txBox="1"/>
          <p:nvPr/>
        </p:nvSpPr>
        <p:spPr>
          <a:xfrm>
            <a:off x="640080" y="1170432"/>
            <a:ext cx="11064240" cy="6858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Every native-vs-ours number changes two things at once. We wrote a translator so the same model runs in both simulators.</a:t>
            </a:r>
          </a:p>
        </p:txBody>
      </p:sp>
      <p:sp>
        <p:nvSpPr>
          <p:cNvPr id="5" name="TextBox 4"/>
          <p:cNvSpPr txBox="1"/>
          <p:nvPr/>
        </p:nvSpPr>
        <p:spPr>
          <a:xfrm>
            <a:off x="640080" y="2103120"/>
            <a:ext cx="10972800" cy="457200"/>
          </a:xfrm>
          <a:prstGeom prst="rect">
            <a:avLst/>
          </a:prstGeom>
          <a:noFill/>
        </p:spPr>
        <p:txBody>
          <a:bodyPr wrap="square" lIns="45720" rIns="45720" anchor="t">
            <a:spAutoFit/>
          </a:bodyPr>
          <a:lstStyle/>
          <a:p>
            <a:pPr algn="l">
              <a:defRPr sz="1700" b="0">
                <a:solidFill>
                  <a:srgbClr val="191F1C"/>
                </a:solidFill>
                <a:latin typeface="Aptos"/>
              </a:defRPr>
            </a:pPr>
            <a:r>
              <a:t>Falling 50% crossing:</a:t>
            </a:r>
          </a:p>
        </p:txBody>
      </p:sp>
      <p:sp>
        <p:nvSpPr>
          <p:cNvPr id="6" name="TextBox 5"/>
          <p:cNvSpPr txBox="1"/>
          <p:nvPr/>
        </p:nvSpPr>
        <p:spPr>
          <a:xfrm>
            <a:off x="640080" y="2651760"/>
            <a:ext cx="11064240" cy="20574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our model in ngspice     5.3371 ns</a:t>
            </a:r>
          </a:p>
          <a:p>
            <a:pPr>
              <a:spcAft>
                <a:spcPts val="300"/>
              </a:spcAft>
              <a:defRPr sz="1700">
                <a:solidFill>
                  <a:srgbClr val="191F1C"/>
                </a:solidFill>
                <a:latin typeface="Aptos"/>
              </a:defRPr>
            </a:pPr>
            <a:r>
              <a:t>•  our model in HSPICE      5.3375 ns     engine:  −0.5 ps</a:t>
            </a:r>
          </a:p>
          <a:p>
            <a:pPr>
              <a:spcAft>
                <a:spcPts val="300"/>
              </a:spcAft>
              <a:defRPr sz="1700">
                <a:solidFill>
                  <a:srgbClr val="191F1C"/>
                </a:solidFill>
                <a:latin typeface="Aptos"/>
              </a:defRPr>
            </a:pPr>
            <a:r>
              <a:t>•  native IBIS in HSPICE    5.3319 ns     model:   +5.6 ps</a:t>
            </a:r>
          </a:p>
        </p:txBody>
      </p:sp>
      <p:sp>
        <p:nvSpPr>
          <p:cNvPr id="7" name="TextBox 6"/>
          <p:cNvSpPr txBox="1"/>
          <p:nvPr/>
        </p:nvSpPr>
        <p:spPr>
          <a:xfrm>
            <a:off x="640080" y="4572000"/>
            <a:ext cx="10972800" cy="914400"/>
          </a:xfrm>
          <a:prstGeom prst="rect">
            <a:avLst/>
          </a:prstGeom>
          <a:noFill/>
        </p:spPr>
        <p:txBody>
          <a:bodyPr wrap="square" lIns="45720" rIns="45720" anchor="t">
            <a:spAutoFit/>
          </a:bodyPr>
          <a:lstStyle/>
          <a:p>
            <a:pPr algn="l">
              <a:defRPr sz="1700" b="0">
                <a:solidFill>
                  <a:srgbClr val="191F1C"/>
                </a:solidFill>
                <a:latin typeface="Aptos"/>
              </a:defRPr>
            </a:pPr>
            <a:r>
              <a:t>The engine is not the source — provided ngspice is converged. At a 1 ps step it was an aliasing outlier that doubled the apparent lag.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What fixtures do to the extracted Ku/Kd</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RLC FIXTURE EFFECTS</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Five fixtures, Ku re-solved on each. In the quiet regions all five agree to four decimals.</a:t>
            </a:r>
          </a:p>
          <a:p>
            <a:pPr>
              <a:spcAft>
                <a:spcPts val="300"/>
              </a:spcAft>
              <a:defRPr sz="1700">
                <a:solidFill>
                  <a:srgbClr val="191F1C"/>
                </a:solidFill>
                <a:latin typeface="Aptos"/>
              </a:defRPr>
            </a:pPr>
            <a:r>
              <a:t>•  Series inductance disturbs it, and only on io_buf.</a:t>
            </a:r>
          </a:p>
        </p:txBody>
      </p:sp>
      <p:sp>
        <p:nvSpPr>
          <p:cNvPr id="5" name="Rectangle 4"/>
          <p:cNvSpPr/>
          <p:nvPr/>
        </p:nvSpPr>
        <p:spPr>
          <a:xfrm>
            <a:off x="51374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xture_vt.png"/>
          <p:cNvPicPr>
            <a:picLocks noChangeAspect="1"/>
          </p:cNvPicPr>
          <p:nvPr/>
        </p:nvPicPr>
        <p:blipFill>
          <a:blip r:embed="rId2"/>
          <a:stretch>
            <a:fillRect/>
          </a:stretch>
        </p:blipFill>
        <p:spPr>
          <a:xfrm>
            <a:off x="541175" y="2084831"/>
            <a:ext cx="5318448" cy="4343400"/>
          </a:xfrm>
          <a:prstGeom prst="rect">
            <a:avLst/>
          </a:prstGeom>
        </p:spPr>
      </p:pic>
      <p:sp>
        <p:nvSpPr>
          <p:cNvPr id="7" name="Rectangle 6"/>
          <p:cNvSpPr/>
          <p:nvPr/>
        </p:nvSpPr>
        <p:spPr>
          <a:xfrm>
            <a:off x="627446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xture_ku.png"/>
          <p:cNvPicPr>
            <a:picLocks noChangeAspect="1"/>
          </p:cNvPicPr>
          <p:nvPr/>
        </p:nvPicPr>
        <p:blipFill>
          <a:blip r:embed="rId3"/>
          <a:stretch>
            <a:fillRect/>
          </a:stretch>
        </p:blipFill>
        <p:spPr>
          <a:xfrm>
            <a:off x="6301895" y="2084831"/>
            <a:ext cx="5318448" cy="4343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Nine new buffer variants, same stress axis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MORE SPICE BUFFER MOCKUPS</a:t>
            </a:r>
          </a:p>
        </p:txBody>
      </p:sp>
      <p:sp>
        <p:nvSpPr>
          <p:cNvPr id="4" name="TextBox 3"/>
          <p:cNvSpPr txBox="1"/>
          <p:nvPr/>
        </p:nvSpPr>
        <p:spPr>
          <a:xfrm>
            <a:off x="640080" y="1170432"/>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Slower predriver, halved output devices, skewed PMOS, open-drain.</a:t>
            </a:r>
          </a:p>
          <a:p>
            <a:pPr>
              <a:spcAft>
                <a:spcPts val="300"/>
              </a:spcAft>
              <a:defRPr sz="1700">
                <a:solidFill>
                  <a:srgbClr val="191F1C"/>
                </a:solidFill>
                <a:latin typeface="Aptos"/>
              </a:defRPr>
            </a:pPr>
            <a:r>
              <a:t>•  Characterised and stressed exactly like the three base buffers.</a:t>
            </a:r>
          </a:p>
        </p:txBody>
      </p:sp>
      <p:sp>
        <p:nvSpPr>
          <p:cNvPr id="5" name="Rectangle 4"/>
          <p:cNvSpPr/>
          <p:nvPr/>
        </p:nvSpPr>
        <p:spPr>
          <a:xfrm>
            <a:off x="51374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riant_pad.png"/>
          <p:cNvPicPr>
            <a:picLocks noChangeAspect="1"/>
          </p:cNvPicPr>
          <p:nvPr/>
        </p:nvPicPr>
        <p:blipFill>
          <a:blip r:embed="rId2"/>
          <a:stretch>
            <a:fillRect/>
          </a:stretch>
        </p:blipFill>
        <p:spPr>
          <a:xfrm>
            <a:off x="541175" y="2084831"/>
            <a:ext cx="5318448" cy="4343400"/>
          </a:xfrm>
          <a:prstGeom prst="rect">
            <a:avLst/>
          </a:prstGeom>
        </p:spPr>
      </p:pic>
      <p:sp>
        <p:nvSpPr>
          <p:cNvPr id="7" name="Rectangle 6"/>
          <p:cNvSpPr/>
          <p:nvPr/>
        </p:nvSpPr>
        <p:spPr>
          <a:xfrm>
            <a:off x="6274463" y="2057400"/>
            <a:ext cx="5373312" cy="439826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ariant_kukd.png"/>
          <p:cNvPicPr>
            <a:picLocks noChangeAspect="1"/>
          </p:cNvPicPr>
          <p:nvPr/>
        </p:nvPicPr>
        <p:blipFill>
          <a:blip r:embed="rId3"/>
          <a:stretch>
            <a:fillRect/>
          </a:stretch>
        </p:blipFill>
        <p:spPr>
          <a:xfrm>
            <a:off x="6301895" y="2084831"/>
            <a:ext cx="5318448" cy="4343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Where this leaves us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SUMMARY</a:t>
            </a:r>
          </a:p>
        </p:txBody>
      </p:sp>
      <p:sp>
        <p:nvSpPr>
          <p:cNvPr id="4" name="TextBox 3"/>
          <p:cNvSpPr txBox="1"/>
          <p:nvPr/>
        </p:nvSpPr>
        <p:spPr>
          <a:xfrm>
            <a:off x="640080" y="1188720"/>
            <a:ext cx="10972800" cy="457200"/>
          </a:xfrm>
          <a:prstGeom prst="rect">
            <a:avLst/>
          </a:prstGeom>
          <a:noFill/>
        </p:spPr>
        <p:txBody>
          <a:bodyPr wrap="square" lIns="45720" rIns="45720" anchor="t">
            <a:spAutoFit/>
          </a:bodyPr>
          <a:lstStyle/>
          <a:p>
            <a:pPr algn="l">
              <a:defRPr sz="1700" b="0">
                <a:solidFill>
                  <a:srgbClr val="191F1C"/>
                </a:solidFill>
                <a:latin typeface="Aptos"/>
              </a:defRPr>
            </a:pPr>
            <a:r>
              <a:t>Settled:</a:t>
            </a:r>
          </a:p>
        </p:txBody>
      </p:sp>
      <p:sp>
        <p:nvSpPr>
          <p:cNvPr id="5" name="TextBox 4"/>
          <p:cNvSpPr txBox="1"/>
          <p:nvPr/>
        </p:nvSpPr>
        <p:spPr>
          <a:xfrm>
            <a:off x="640080" y="1737360"/>
            <a:ext cx="11064240" cy="27432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C_comp is handled correctly</a:t>
            </a:r>
          </a:p>
          <a:p>
            <a:pPr>
              <a:spcAft>
                <a:spcPts val="300"/>
              </a:spcAft>
              <a:defRPr sz="1700">
                <a:solidFill>
                  <a:srgbClr val="191F1C"/>
                </a:solidFill>
                <a:latin typeface="Aptos"/>
              </a:defRPr>
            </a:pPr>
            <a:r>
              <a:t>•  the SPICE engine is not a confounder</a:t>
            </a:r>
          </a:p>
          <a:p>
            <a:pPr>
              <a:spcAft>
                <a:spcPts val="300"/>
              </a:spcAft>
              <a:defRPr sz="1700">
                <a:solidFill>
                  <a:srgbClr val="191F1C"/>
                </a:solidFill>
                <a:latin typeface="Aptos"/>
              </a:defRPr>
            </a:pPr>
            <a:r>
              <a:t>•  our model reproduces its own golden waveforms</a:t>
            </a:r>
          </a:p>
          <a:p>
            <a:pPr>
              <a:spcAft>
                <a:spcPts val="300"/>
              </a:spcAft>
              <a:defRPr sz="1700">
                <a:solidFill>
                  <a:srgbClr val="191F1C"/>
                </a:solidFill>
                <a:latin typeface="Aptos"/>
              </a:defRPr>
            </a:pPr>
            <a:r>
              <a:t>•  delay_cmd removes the settled offset</a:t>
            </a:r>
          </a:p>
        </p:txBody>
      </p:sp>
      <p:sp>
        <p:nvSpPr>
          <p:cNvPr id="6" name="TextBox 5"/>
          <p:cNvSpPr txBox="1"/>
          <p:nvPr/>
        </p:nvSpPr>
        <p:spPr>
          <a:xfrm>
            <a:off x="640080" y="3840480"/>
            <a:ext cx="10972800" cy="457200"/>
          </a:xfrm>
          <a:prstGeom prst="rect">
            <a:avLst/>
          </a:prstGeom>
          <a:noFill/>
        </p:spPr>
        <p:txBody>
          <a:bodyPr wrap="square" lIns="45720" rIns="45720" anchor="t">
            <a:spAutoFit/>
          </a:bodyPr>
          <a:lstStyle/>
          <a:p>
            <a:pPr algn="l">
              <a:defRPr sz="1700" b="0">
                <a:solidFill>
                  <a:srgbClr val="191F1C"/>
                </a:solidFill>
                <a:latin typeface="Aptos"/>
              </a:defRPr>
            </a:pPr>
            <a:r>
              <a:t>Open:</a:t>
            </a:r>
          </a:p>
        </p:txBody>
      </p:sp>
      <p:sp>
        <p:nvSpPr>
          <p:cNvPr id="7" name="TextBox 6"/>
          <p:cNvSpPr txBox="1"/>
          <p:nvPr/>
        </p:nvSpPr>
        <p:spPr>
          <a:xfrm>
            <a:off x="640080" y="4389120"/>
            <a:ext cx="11064240" cy="13716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the timing shift has no candidate mechanism, and grows with truncation</a:t>
            </a:r>
          </a:p>
          <a:p>
            <a:pPr>
              <a:spcAft>
                <a:spcPts val="300"/>
              </a:spcAft>
              <a:defRPr sz="1700">
                <a:solidFill>
                  <a:srgbClr val="191F1C"/>
                </a:solidFill>
                <a:latin typeface="Aptos"/>
              </a:defRPr>
            </a:pPr>
            <a:r>
              <a:t>•  the 1.25 max|Ku| cap needs replacing with a within-buffer outlier test</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