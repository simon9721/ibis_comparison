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Full-swing accuracy is close to as good as the format allows, so the effort belongs on truncated pulses.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separate defects. The offset is a settled-state Ku error, on the 90/60/50 targets only -- a ~6 ns tail that looks permanent on a 10 ns plot. The timing shift is the falling 50% crossing 69-99 ps late on every case, where native IBIS is 5-26 ps early.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quotes 69-99 ps late where native is 5-26 ps early. That is not reproducible from the data on disk with this metric -- what the stress matrix shows is about 15 ps later than native on io_buf and inv_chain, and on ex2 both are early with ours the closer. The defect is real and device-dependent, but smaller and less one-sided than the plan states.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of the generated subcircuit separates them. gate_state: CGUPCMD across RGUPCMD 1e15 with BGUPCMDON injecting a packet per edge. delay_cmd: BGUPCMD GUPCMD 0 V = V(PUCMDLVL). On the tail after the reversal gate_state sits at -0.144 and creeps back over ~3 ns; delay_cmd is at exactly 0. On this particular bench the stranded charge is negative and the command clamp removes it before it reaches Ku, so the two pads agree to 5 mV -- the pad consequence on the right is the case where the charge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case the pedestal goes from 97.9 mV to 5.2 mV against the transistor's 2.1 mV. Across all 29 matched stress cases RMSE goes from 108.6 to 92.2 mV, the only build that beats native IBIS. Caveat to state: delay_cmd has a 1.25 ns dead zone after a reversal where neither device is commanded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reproduces the shipped solve to 2.4e-08, so the method is exact, and in the quiet regions Ku is load-independent to four decimals -- the extraction really is a device property, not a fixture artifact.  Ku RMSE against the R-only baseline:  io_buf C 0.011 / L0.5 0.142 / L2 0.164 / L+C 0.159;  inv_chain C 0.007 / L0.5 0.004 / L2 0.007 / L+C 0.009;  ex2 C 0.028 / L0.5 0.008 / L2 0.022 / L+C 0.032.  Correction worth stating: the plan says added L and C are safe individually and the resonant combination is the problem. The measurement does not support that. On io_buf L alone is the worst case (0.164, peak 7.9) and L+C is no worse (0.159, peak 5.2); on the other two devices everything stays under 0.03. The real rule is that series inductance disturbs the solve, by an amount that depends on the buffer.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proposed the wrong cause first -- Miller feedthrough -- and built the nomiller variant to test it. It came back identical to the control. Those caps are 20.5 fF against C_comp's 5 pF, 0.41%, 250x too small, which is arithmetic I should have done before building the variant.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 and Kd here come from the transistor itself, by driving it into two fixtures and running the same two-equation solve the model uses. That is a ground-truth coefficient target, not native IBIS's opinion.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worth not re-learning: any bench for this model must start with a real edge, never a held level, because it initialises pulldown-on and latches state only on an edge. And ngspice must be converged before drawing any 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Getting our IBIS model closer to the transistor</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IBIS buffer modelling — status</a:t>
            </a:r>
          </a:p>
          <a:p>
            <a:pPr algn="ctr">
              <a:defRPr sz="1600">
                <a:solidFill>
                  <a:srgbClr val="000000"/>
                </a:solidFill>
                <a:latin typeface="Times New Roman"/>
              </a:defRPr>
            </a:pPr>
            <a:r>
              <a:t>4 September 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we are comparing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170432"/>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HSPICE transistor — ground truth</a:t>
            </a:r>
          </a:p>
          <a:p>
            <a:pPr>
              <a:spcAft>
                <a:spcPts val="300"/>
              </a:spcAft>
              <a:defRPr sz="1700">
                <a:solidFill>
                  <a:srgbClr val="191F1C"/>
                </a:solidFill>
                <a:latin typeface="Aptos"/>
              </a:defRPr>
            </a:pPr>
            <a:r>
              <a:t>•  HSPICE native IBIS — the bar to beat, not the target</a:t>
            </a:r>
          </a:p>
          <a:p>
            <a:pPr>
              <a:spcAft>
                <a:spcPts val="300"/>
              </a:spcAft>
              <a:defRPr sz="1700">
                <a:solidFill>
                  <a:srgbClr val="191F1C"/>
                </a:solidFill>
                <a:latin typeface="Aptos"/>
              </a:defRPr>
            </a:pPr>
            <a:r>
              <a:t>•  Our IBIS model in ngspice — measured against the transistor</a:t>
            </a:r>
          </a:p>
        </p:txBody>
      </p:sp>
      <p:sp>
        <p:nvSpPr>
          <p:cNvPr id="5" name="TextBox 4"/>
          <p:cNvSpPr txBox="1"/>
          <p:nvPr/>
        </p:nvSpPr>
        <p:spPr>
          <a:xfrm>
            <a:off x="640080" y="265176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 on io_buf at full swing, later than the transistor:</a:t>
            </a:r>
          </a:p>
        </p:txBody>
      </p:sp>
      <p:sp>
        <p:nvSpPr>
          <p:cNvPr id="6" name="TextBox 5"/>
          <p:cNvSpPr txBox="1"/>
          <p:nvPr/>
        </p:nvSpPr>
        <p:spPr>
          <a:xfrm>
            <a:off x="640080" y="320040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native IBIS          +34.6 ps</a:t>
            </a:r>
          </a:p>
          <a:p>
            <a:pPr>
              <a:spcAft>
                <a:spcPts val="300"/>
              </a:spcAft>
              <a:defRPr sz="1700">
                <a:solidFill>
                  <a:srgbClr val="191F1C"/>
                </a:solidFill>
                <a:latin typeface="Aptos"/>
              </a:defRPr>
            </a:pPr>
            <a:r>
              <a:t>•  our model, stock     +38.4 ps</a:t>
            </a:r>
          </a:p>
          <a:p>
            <a:pPr>
              <a:spcAft>
                <a:spcPts val="300"/>
              </a:spcAft>
              <a:defRPr sz="1700">
                <a:solidFill>
                  <a:srgbClr val="191F1C"/>
                </a:solidFill>
                <a:latin typeface="Aptos"/>
              </a:defRPr>
            </a:pPr>
            <a:r>
              <a:t>•  our model, gate-state  +43.5 ps</a:t>
            </a:r>
          </a:p>
        </p:txBody>
      </p:sp>
      <p:sp>
        <p:nvSpPr>
          <p:cNvPr id="7" name="TextBox 6"/>
          <p:cNvSpPr txBox="1"/>
          <p:nvPr/>
        </p:nvSpPr>
        <p:spPr>
          <a:xfrm>
            <a:off x="640080" y="5029200"/>
            <a:ext cx="10972800" cy="731520"/>
          </a:xfrm>
          <a:prstGeom prst="rect">
            <a:avLst/>
          </a:prstGeom>
          <a:noFill/>
        </p:spPr>
        <p:txBody>
          <a:bodyPr wrap="square" lIns="45720" rIns="45720" anchor="t">
            <a:spAutoFit/>
          </a:bodyPr>
          <a:lstStyle/>
          <a:p>
            <a:pPr algn="l">
              <a:defRPr sz="1700" b="0">
                <a:solidFill>
                  <a:srgbClr val="191F1C"/>
                </a:solidFill>
                <a:latin typeface="Aptos"/>
              </a:defRPr>
            </a:pPr>
            <a:r>
              <a:t>So the IBIS format itself costs about 35 ps, which native pays too. Our command layer costs about 5 ps on top.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At full swing all three agree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WHERE WE ARE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three curves sit on top of each other through the transition.</a:t>
            </a:r>
          </a:p>
          <a:p>
            <a:pPr>
              <a:spcAft>
                <a:spcPts val="300"/>
              </a:spcAft>
              <a:defRPr sz="1700">
                <a:solidFill>
                  <a:srgbClr val="191F1C"/>
                </a:solidFill>
                <a:latin typeface="Aptos"/>
              </a:defRPr>
            </a:pPr>
            <a:r>
              <a:t>•  What is left on the falling edge is the format's ~35 ps, not our layer.</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ean_edge.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Defect 1: the pad does not settle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input reverses before the pad finishes its transition.</a:t>
            </a:r>
          </a:p>
          <a:p>
            <a:pPr>
              <a:spcAft>
                <a:spcPts val="300"/>
              </a:spcAft>
              <a:defRPr sz="1700">
                <a:solidFill>
                  <a:srgbClr val="191F1C"/>
                </a:solidFill>
                <a:latin typeface="Aptos"/>
              </a:defRPr>
            </a:pPr>
            <a:r>
              <a:t>•  Left: our pad comes back up where the transistor does not. Right: Ku stays part-on instead of returning to zero.</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ress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tress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Defect 2: our crossing is late</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separate defect: the 50% crossing arrives later than native IBIS.</a:t>
            </a:r>
          </a:p>
          <a:p>
            <a:pPr>
              <a:spcAft>
                <a:spcPts val="300"/>
              </a:spcAft>
              <a:defRPr sz="1700">
                <a:solidFill>
                  <a:srgbClr val="191F1C"/>
                </a:solidFill>
                <a:latin typeface="Aptos"/>
              </a:defRPr>
            </a:pPr>
            <a:r>
              <a:t>•  Over the five stress cases per device — io_buf native +11..+18 ps, ours +27..+34;  inv_chain native −6..−5, ours +8..+12;  ex2 both early.</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ing_shift.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offset: charge stranded in the command capacitor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GUPCMD is a capacitor across 1e15 ohm, charged once per input edge.</a:t>
            </a:r>
          </a:p>
          <a:p>
            <a:pPr>
              <a:spcAft>
                <a:spcPts val="300"/>
              </a:spcAft>
              <a:defRPr sz="1700">
                <a:solidFill>
                  <a:srgbClr val="191F1C"/>
                </a:solidFill>
                <a:latin typeface="Aptos"/>
              </a:defRPr>
            </a:pPr>
            <a:r>
              <a:t>•  A truncated pulse leaves charge in it with no resistive path out.</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chain.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How delay_cmd works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gate-state: GUPCMD is a capacitor across 1e15 Ω, given a fixed packet of charge on each input edge — an integrator with no DC path.</a:t>
            </a:r>
          </a:p>
          <a:p>
            <a:pPr>
              <a:spcAft>
                <a:spcPts val="300"/>
              </a:spcAft>
              <a:defRPr sz="1700">
                <a:solidFill>
                  <a:srgbClr val="191F1C"/>
                </a:solidFill>
                <a:latin typeface="Aptos"/>
              </a:defRPr>
            </a:pPr>
            <a:r>
              <a:t>•  delay_cmd: GUPCMD is driven straight from the present input level.</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mand_node.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mand_pa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the offset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command returns to exactly zero, so nothing is stranded.</a:t>
            </a:r>
          </a:p>
          <a:p>
            <a:pPr>
              <a:spcAft>
                <a:spcPts val="300"/>
              </a:spcAft>
              <a:defRPr sz="1700">
                <a:solidFill>
                  <a:srgbClr val="191F1C"/>
                </a:solidFill>
                <a:latin typeface="Aptos"/>
              </a:defRPr>
            </a:pPr>
            <a:r>
              <a:t>•  The pedestal goes from 97.9 mV to 5.2 mV, against the transistor's 2.1.</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remove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THE TWO DEFECTS</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If the offset and the timing shift were one mechanism, delay_cmd would fix both. Its amplitude had been measured; its timing never had.</a:t>
            </a:r>
          </a:p>
        </p:txBody>
      </p:sp>
      <p:sp>
        <p:nvSpPr>
          <p:cNvPr id="5" name="TextBox 4"/>
          <p:cNvSpPr txBox="1"/>
          <p:nvPr/>
        </p:nvSpPr>
        <p:spPr>
          <a:xfrm>
            <a:off x="640080" y="2194560"/>
            <a:ext cx="10972800" cy="457200"/>
          </a:xfrm>
          <a:prstGeom prst="rect">
            <a:avLst/>
          </a:prstGeom>
          <a:noFill/>
        </p:spPr>
        <p:txBody>
          <a:bodyPr wrap="square" lIns="45720" rIns="45720" anchor="t">
            <a:spAutoFit/>
          </a:bodyPr>
          <a:lstStyle/>
          <a:p>
            <a:pPr algn="l">
              <a:defRPr sz="1700" b="0">
                <a:solidFill>
                  <a:srgbClr val="191F1C"/>
                </a:solidFill>
                <a:latin typeface="Aptos"/>
              </a:defRPr>
            </a:pPr>
            <a:r>
              <a:t>We measured it:</a:t>
            </a:r>
          </a:p>
        </p:txBody>
      </p:sp>
      <p:sp>
        <p:nvSpPr>
          <p:cNvPr id="6" name="TextBox 5"/>
          <p:cNvSpPr txBox="1"/>
          <p:nvPr/>
        </p:nvSpPr>
        <p:spPr>
          <a:xfrm>
            <a:off x="640080" y="274320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delay_cmd improved the timing on 0 of 19 stress cases</a:t>
            </a:r>
          </a:p>
          <a:p>
            <a:pPr>
              <a:spcAft>
                <a:spcPts val="300"/>
              </a:spcAft>
              <a:defRPr sz="1700">
                <a:solidFill>
                  <a:srgbClr val="191F1C"/>
                </a:solidFill>
                <a:latin typeface="Aptos"/>
              </a:defRPr>
            </a:pPr>
            <a:r>
              <a:t>•  the shift persists once the stranded charge is gone</a:t>
            </a:r>
          </a:p>
          <a:p>
            <a:pPr>
              <a:spcAft>
                <a:spcPts val="300"/>
              </a:spcAft>
              <a:defRPr sz="1700">
                <a:solidFill>
                  <a:srgbClr val="191F1C"/>
                </a:solidFill>
                <a:latin typeface="Aptos"/>
              </a:defRPr>
            </a:pPr>
            <a:r>
              <a:t>•  they are two defects, not one</a:t>
            </a:r>
          </a:p>
        </p:txBody>
      </p:sp>
      <p:sp>
        <p:nvSpPr>
          <p:cNvPr id="7" name="TextBox 6"/>
          <p:cNvSpPr txBox="1"/>
          <p:nvPr/>
        </p:nvSpPr>
        <p:spPr>
          <a:xfrm>
            <a:off x="640080" y="466344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offset has a fix. The timing shift has no candidate mechanism yet, and it grows as the pulse is truncated — on all nine buffer variants tested so far.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core reconstruction is sound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golden-waveform test replays a model's own V-T tables into the fixture that produced them — no transistor, no native IBIS, no engine confound.</a:t>
            </a:r>
          </a:p>
          <a:p>
            <a:pPr>
              <a:spcAft>
                <a:spcPts val="300"/>
              </a:spcAft>
              <a:defRPr sz="1700">
                <a:solidFill>
                  <a:srgbClr val="191F1C"/>
                </a:solidFill>
                <a:latin typeface="Aptos"/>
              </a:defRPr>
            </a:pPr>
            <a:r>
              <a:t>•  We had never done this before. It is now the standing health check.</a:t>
            </a:r>
          </a:p>
        </p:txBody>
      </p:sp>
      <p:sp>
        <p:nvSpPr>
          <p:cNvPr id="5" name="TextBox 4"/>
          <p:cNvSpPr txBox="1"/>
          <p:nvPr/>
        </p:nvSpPr>
        <p:spPr>
          <a:xfrm>
            <a:off x="640080" y="283464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Our model against its own golden waveforms, three buffers, both edges, both fixtures:</a:t>
            </a:r>
          </a:p>
        </p:txBody>
      </p:sp>
      <p:sp>
        <p:nvSpPr>
          <p:cNvPr id="6" name="TextBox 5"/>
          <p:cNvSpPr txBox="1"/>
          <p:nvPr/>
        </p:nvSpPr>
        <p:spPr>
          <a:xfrm>
            <a:off x="640080" y="338328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figure of merit   0.03 – 0.41 %</a:t>
            </a:r>
          </a:p>
          <a:p>
            <a:pPr>
              <a:spcAft>
                <a:spcPts val="300"/>
              </a:spcAft>
              <a:defRPr sz="1700">
                <a:solidFill>
                  <a:srgbClr val="191F1C"/>
                </a:solidFill>
                <a:latin typeface="Aptos"/>
              </a:defRPr>
            </a:pPr>
            <a:r>
              <a:t>•  timing shift      +4 to +8 ps</a:t>
            </a:r>
          </a:p>
        </p:txBody>
      </p:sp>
      <p:sp>
        <p:nvSpPr>
          <p:cNvPr id="7" name="TextBox 6"/>
          <p:cNvSpPr txBox="1"/>
          <p:nvPr/>
        </p:nvSpPr>
        <p:spPr>
          <a:xfrm>
            <a:off x="640080" y="4572000"/>
            <a:ext cx="10972800" cy="731520"/>
          </a:xfrm>
          <a:prstGeom prst="rect">
            <a:avLst/>
          </a:prstGeom>
          <a:noFill/>
        </p:spPr>
        <p:txBody>
          <a:bodyPr wrap="square" lIns="45720" rIns="45720" anchor="t">
            <a:spAutoFit/>
          </a:bodyPr>
          <a:lstStyle/>
          <a:p>
            <a:pPr algn="l">
              <a:defRPr sz="1700" b="0">
                <a:solidFill>
                  <a:srgbClr val="191F1C"/>
                </a:solidFill>
                <a:latin typeface="Aptos"/>
              </a:defRPr>
            </a:pPr>
            <a:r>
              <a:t>So whatever is wrong under stress, it is not the I-V × Ku(t) reconstruction.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C_comp is handled correctly</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CONFIDENCE</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Nominal C_comp beats zero on all 12 tables, and the margin scales with the die capacitance.</a:t>
            </a:r>
          </a:p>
        </p:txBody>
      </p:sp>
      <p:sp>
        <p:nvSpPr>
          <p:cNvPr id="5" name="TextBox 4"/>
          <p:cNvSpPr txBox="1"/>
          <p:nvPr/>
        </p:nvSpPr>
        <p:spPr>
          <a:xfrm>
            <a:off x="640080" y="20116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50% crossing shift against the transistor, with C_comp at nominal and set to zero:</a:t>
            </a:r>
          </a:p>
        </p:txBody>
      </p:sp>
      <p:sp>
        <p:nvSpPr>
          <p:cNvPr id="6" name="TextBox 5"/>
          <p:cNvSpPr txBox="1"/>
          <p:nvPr/>
        </p:nvSpPr>
        <p:spPr>
          <a:xfrm>
            <a:off x="640080" y="256032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50 Ω, 0 pF     +6.7 ps        −277.8 ps</a:t>
            </a:r>
          </a:p>
          <a:p>
            <a:pPr>
              <a:spcAft>
                <a:spcPts val="300"/>
              </a:spcAft>
              <a:defRPr sz="1700">
                <a:solidFill>
                  <a:srgbClr val="191F1C"/>
                </a:solidFill>
                <a:latin typeface="Aptos"/>
              </a:defRPr>
            </a:pPr>
            <a:r>
              <a:t>•  500 Ω, 2 pF    −0.2 ps          −0.9 ps</a:t>
            </a:r>
          </a:p>
          <a:p>
            <a:pPr>
              <a:spcAft>
                <a:spcPts val="300"/>
              </a:spcAft>
              <a:defRPr sz="1700">
                <a:solidFill>
                  <a:srgbClr val="191F1C"/>
                </a:solidFill>
                <a:latin typeface="Aptos"/>
              </a:defRPr>
            </a:pPr>
            <a:r>
              <a:t>•  1 kΩ, 5 pF     −1.3 ps          −1.1 ps</a:t>
            </a:r>
          </a:p>
        </p:txBody>
      </p:sp>
      <p:sp>
        <p:nvSpPr>
          <p:cNvPr id="7" name="TextBox 6"/>
          <p:cNvSpPr txBox="1"/>
          <p:nvPr/>
        </p:nvSpPr>
        <p:spPr>
          <a:xfrm>
            <a:off x="640080" y="4480560"/>
            <a:ext cx="10972800" cy="1005840"/>
          </a:xfrm>
          <a:prstGeom prst="rect">
            <a:avLst/>
          </a:prstGeom>
          <a:noFill/>
        </p:spPr>
        <p:txBody>
          <a:bodyPr wrap="square" lIns="45720" rIns="45720" anchor="t">
            <a:spAutoFit/>
          </a:bodyPr>
          <a:lstStyle/>
          <a:p>
            <a:pPr algn="l">
              <a:defRPr sz="1700" b="0">
                <a:solidFill>
                  <a:srgbClr val="191F1C"/>
                </a:solidFill>
                <a:latin typeface="Aptos"/>
              </a:defRPr>
            </a:pPr>
            <a:r>
              <a:t>I had this backwards at first. I misapplied the book's double-counting diagnostic and reported that our model over-applies C_comp; the golden-waveform test overturned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the difference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Every native-vs-ours number changes two things at once. We wrote a translator so the same model runs in both simulators.</a:t>
            </a:r>
          </a:p>
        </p:txBody>
      </p:sp>
      <p:sp>
        <p:nvSpPr>
          <p:cNvPr id="5" name="TextBox 4"/>
          <p:cNvSpPr txBox="1"/>
          <p:nvPr/>
        </p:nvSpPr>
        <p:spPr>
          <a:xfrm>
            <a:off x="640080" y="21031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a:t>
            </a:r>
          </a:p>
        </p:txBody>
      </p:sp>
      <p:sp>
        <p:nvSpPr>
          <p:cNvPr id="6" name="TextBox 5"/>
          <p:cNvSpPr txBox="1"/>
          <p:nvPr/>
        </p:nvSpPr>
        <p:spPr>
          <a:xfrm>
            <a:off x="640080" y="265176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our model in ngspice     5.3371 ns</a:t>
            </a:r>
          </a:p>
          <a:p>
            <a:pPr>
              <a:spcAft>
                <a:spcPts val="300"/>
              </a:spcAft>
              <a:defRPr sz="1700">
                <a:solidFill>
                  <a:srgbClr val="191F1C"/>
                </a:solidFill>
                <a:latin typeface="Aptos"/>
              </a:defRPr>
            </a:pPr>
            <a:r>
              <a:t>•  our model in HSPICE      5.3375 ns     engine:  −0.5 ps</a:t>
            </a:r>
          </a:p>
          <a:p>
            <a:pPr>
              <a:spcAft>
                <a:spcPts val="300"/>
              </a:spcAft>
              <a:defRPr sz="1700">
                <a:solidFill>
                  <a:srgbClr val="191F1C"/>
                </a:solidFill>
                <a:latin typeface="Aptos"/>
              </a:defRPr>
            </a:pPr>
            <a:r>
              <a:t>•  native IBIS in HSPICE    5.3319 ns     model:   +5.6 ps</a:t>
            </a:r>
          </a:p>
        </p:txBody>
      </p:sp>
      <p:sp>
        <p:nvSpPr>
          <p:cNvPr id="7" name="TextBox 6"/>
          <p:cNvSpPr txBox="1"/>
          <p:nvPr/>
        </p:nvSpPr>
        <p:spPr>
          <a:xfrm>
            <a:off x="640080" y="45720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 provided ngspice is converged. At a 1 ps step it was an aliasing outlier that doubled the apparent lag.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METHOD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Ku re-solved on five characterisation fixtures against the R-only baseline. Through the transition all five sit on top of each other, and in the quiet regions they agree to four decimals.</a:t>
            </a:r>
          </a:p>
          <a:p>
            <a:pPr>
              <a:spcAft>
                <a:spcPts val="300"/>
              </a:spcAft>
              <a:defRPr sz="1700">
                <a:solidFill>
                  <a:srgbClr val="191F1C"/>
                </a:solidFill>
                <a:latin typeface="Aptos"/>
              </a:defRPr>
            </a:pPr>
            <a:r>
              <a:t>•  Series inductance is what disturbs it, and only on io_buf: Ku RMSE 0.14–0.16 with excursions to 7.9, against ≤0.03 on inv_chain and ex2.</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xture_vt.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xture_ku.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1.25 max|Ku| cap rejects good models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ex2 variants, across all seven characterisation edge rates:</a:t>
            </a:r>
          </a:p>
        </p:txBody>
      </p:sp>
      <p:sp>
        <p:nvSpPr>
          <p:cNvPr id="5" name="TextBox 4"/>
          <p:cNvSpPr txBox="1"/>
          <p:nvPr/>
        </p:nvSpPr>
        <p:spPr>
          <a:xfrm>
            <a:off x="640080" y="1737360"/>
            <a:ext cx="11064240" cy="34290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slowpre   predriver halved      328 ps      1.047</a:t>
            </a:r>
          </a:p>
          <a:p>
            <a:pPr>
              <a:spcAft>
                <a:spcPts val="300"/>
              </a:spcAft>
              <a:defRPr sz="1700">
                <a:solidFill>
                  <a:srgbClr val="191F1C"/>
                </a:solidFill>
                <a:latin typeface="Aptos"/>
              </a:defRPr>
            </a:pPr>
            <a:r>
              <a:t>•  base      control               200 ps      1.283</a:t>
            </a:r>
          </a:p>
          <a:p>
            <a:pPr>
              <a:spcAft>
                <a:spcPts val="300"/>
              </a:spcAft>
              <a:defRPr sz="1700">
                <a:solidFill>
                  <a:srgbClr val="191F1C"/>
                </a:solidFill>
                <a:latin typeface="Aptos"/>
              </a:defRPr>
            </a:pPr>
            <a:r>
              <a:t>•  nomiller  Miller caps removed   208 ps      1.299</a:t>
            </a:r>
          </a:p>
          <a:p>
            <a:pPr>
              <a:spcAft>
                <a:spcPts val="300"/>
              </a:spcAft>
              <a:defRPr sz="1700">
                <a:solidFill>
                  <a:srgbClr val="191F1C"/>
                </a:solidFill>
                <a:latin typeface="Aptos"/>
              </a:defRPr>
            </a:pPr>
            <a:r>
              <a:t>•  skewp     output PMOS halved    160 ps      1.589</a:t>
            </a:r>
          </a:p>
          <a:p>
            <a:pPr>
              <a:spcAft>
                <a:spcPts val="300"/>
              </a:spcAft>
              <a:defRPr sz="1700">
                <a:solidFill>
                  <a:srgbClr val="191F1C"/>
                </a:solidFill>
                <a:latin typeface="Aptos"/>
              </a:defRPr>
            </a:pPr>
            <a:r>
              <a:t>•  weak      both devices halved   152 ps      1.779</a:t>
            </a:r>
          </a:p>
        </p:txBody>
      </p:sp>
      <p:sp>
        <p:nvSpPr>
          <p:cNvPr id="6" name="TextBox 5"/>
          <p:cNvSpPr txBox="1"/>
          <p:nvPr/>
        </p:nvSpPr>
        <p:spPr>
          <a:xfrm>
            <a:off x="640080" y="4480560"/>
            <a:ext cx="10972800" cy="1463040"/>
          </a:xfrm>
          <a:prstGeom prst="rect">
            <a:avLst/>
          </a:prstGeom>
          <a:noFill/>
        </p:spPr>
        <p:txBody>
          <a:bodyPr wrap="square" lIns="45720" rIns="45720" anchor="t">
            <a:spAutoFit/>
          </a:bodyPr>
          <a:lstStyle/>
          <a:p>
            <a:pPr algn="l">
              <a:defRPr sz="1700" b="0">
                <a:solidFill>
                  <a:srgbClr val="191F1C"/>
                </a:solidFill>
                <a:latin typeface="Aptos"/>
              </a:defRPr>
            </a:pPr>
            <a:r>
              <a:t>It follows C_comp × dV/dt against the device drive. For ex2 that is 82 mA of displacement current against a ~51 mA drive — it exceeds the device, so the solve has to push Ku above 1.</a:t>
            </a:r>
            <a:br/>
            <a:r>
              <a:t>Healthy baselines differ per silicon: inv_chain 1.03, io_buf 1.18, ex2 1.28. No absolute number works; it should be a within-buffer outlier test.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Nine new buffer variants, same stress axis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WHAT SHOULD CHANGE</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Slower predriver, halved output devices, skewed PMOS, open-drain.</a:t>
            </a:r>
          </a:p>
          <a:p>
            <a:pPr>
              <a:spcAft>
                <a:spcPts val="300"/>
              </a:spcAft>
              <a:defRPr sz="1700">
                <a:solidFill>
                  <a:srgbClr val="191F1C"/>
                </a:solidFill>
                <a:latin typeface="Aptos"/>
              </a:defRPr>
            </a:pPr>
            <a:r>
              <a:t>•  Characterised and stressed exactly like the three base buffers.</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riant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ariant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Settled:</a:t>
            </a:r>
          </a:p>
        </p:txBody>
      </p:sp>
      <p:sp>
        <p:nvSpPr>
          <p:cNvPr id="5" name="TextBox 4"/>
          <p:cNvSpPr txBox="1"/>
          <p:nvPr/>
        </p:nvSpPr>
        <p:spPr>
          <a:xfrm>
            <a:off x="640080" y="1737360"/>
            <a:ext cx="11064240" cy="27432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C_comp is handled correctly</a:t>
            </a:r>
          </a:p>
          <a:p>
            <a:pPr>
              <a:spcAft>
                <a:spcPts val="300"/>
              </a:spcAft>
              <a:defRPr sz="1700">
                <a:solidFill>
                  <a:srgbClr val="191F1C"/>
                </a:solidFill>
                <a:latin typeface="Aptos"/>
              </a:defRPr>
            </a:pPr>
            <a:r>
              <a:t>•  the SPICE engine is not a confounder</a:t>
            </a:r>
          </a:p>
          <a:p>
            <a:pPr>
              <a:spcAft>
                <a:spcPts val="300"/>
              </a:spcAft>
              <a:defRPr sz="1700">
                <a:solidFill>
                  <a:srgbClr val="191F1C"/>
                </a:solidFill>
                <a:latin typeface="Aptos"/>
              </a:defRPr>
            </a:pPr>
            <a:r>
              <a:t>•  our model reproduces its own golden waveforms</a:t>
            </a:r>
          </a:p>
          <a:p>
            <a:pPr>
              <a:spcAft>
                <a:spcPts val="300"/>
              </a:spcAft>
              <a:defRPr sz="1700">
                <a:solidFill>
                  <a:srgbClr val="191F1C"/>
                </a:solidFill>
                <a:latin typeface="Aptos"/>
              </a:defRPr>
            </a:pPr>
            <a:r>
              <a:t>•  delay_cmd removes the settled offset</a:t>
            </a:r>
          </a:p>
        </p:txBody>
      </p:sp>
      <p:sp>
        <p:nvSpPr>
          <p:cNvPr id="6" name="TextBox 5"/>
          <p:cNvSpPr txBox="1"/>
          <p:nvPr/>
        </p:nvSpPr>
        <p:spPr>
          <a:xfrm>
            <a:off x="640080" y="38404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Open:</a:t>
            </a:r>
          </a:p>
        </p:txBody>
      </p:sp>
      <p:sp>
        <p:nvSpPr>
          <p:cNvPr id="7" name="TextBox 6"/>
          <p:cNvSpPr txBox="1"/>
          <p:nvPr/>
        </p:nvSpPr>
        <p:spPr>
          <a:xfrm>
            <a:off x="640080" y="438912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timing shift has no candidate mechanism, and grows with truncation</a:t>
            </a:r>
          </a:p>
          <a:p>
            <a:pPr>
              <a:spcAft>
                <a:spcPts val="300"/>
              </a:spcAft>
              <a:defRPr sz="1700">
                <a:solidFill>
                  <a:srgbClr val="191F1C"/>
                </a:solidFill>
                <a:latin typeface="Aptos"/>
              </a:defRPr>
            </a:pPr>
            <a:r>
              <a:t>•  the 1.25 max|Ku| cap needs replacing with a within-buffer outlier test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