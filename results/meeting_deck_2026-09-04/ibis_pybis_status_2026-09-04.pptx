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revisionInfo.xml" ContentType="application/vnd.ms-powerpoint.revisioninfo+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60" r:id="rId1"/>
  </p:sldMasterIdLst>
  <p:notesMasterIdLst>
    <p:notesMasterId r:id="rId5"/>
  </p:notesMasterIdLst>
  <p:sldIdLst>
    <p:sldId id="256" r:id="rId2"/>
    <p:sldId id="257" r:id="rId4"/>
    <p:sldId id="258" r:id="rId3"/>
    <p:sldId id="259" r:id="rId11"/>
    <p:sldId id="260" r:id="rId12"/>
    <p:sldId id="261" r:id="rId13"/>
    <p:sldId id="262" r:id="rId14"/>
    <p:sldId id="263" r:id="rId15"/>
    <p:sldId id="264" r:id="rId16"/>
    <p:sldId id="265" r:id="rId17"/>
    <p:sldId id="266" r:id="rId18"/>
    <p:sldId id="267" r:id="rId19"/>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FFFFB8"/>
    <a:srgbClr val="FBFB00"/>
    <a:srgbClr val="FFFF29"/>
    <a:srgbClr val="C321CF"/>
    <a:srgbClr val="C52BA8"/>
    <a:srgbClr val="99CCFF"/>
    <a:srgbClr val="6699FF"/>
    <a:srgbClr val="FFCC99"/>
    <a:srgbClr val="33CCFF"/>
    <a:srgbClr val="00FFFF"/>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37CE76EB-5733-E639-DFBE-C032C02CA049}" v="311" dt="2026-07-10T21:33:20.263"/>
    <p1510:client id="{4B2B0703-2C84-945A-F101-9A0363D83DEB}" v="2" dt="2026-07-10T16:42:58.352"/>
  </p1510:revLst>
</p1510:revInfo>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073A0DAA-6AF3-43AB-8588-CEC1D06C72B9}" styleName="Medium Style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dk1">
              <a:tint val="20000"/>
            </a:schemeClr>
          </a:solidFill>
        </a:fill>
      </a:tcStyle>
    </a:wholeTbl>
    <a:band1H>
      <a:tcStyle>
        <a:tcBdr/>
        <a:fill>
          <a:solidFill>
            <a:schemeClr val="dk1">
              <a:tint val="40000"/>
            </a:schemeClr>
          </a:solidFill>
        </a:fill>
      </a:tcStyle>
    </a:band1H>
    <a:band2H>
      <a:tcStyle>
        <a:tcBdr/>
      </a:tcStyle>
    </a:band2H>
    <a:band1V>
      <a:tcStyle>
        <a:tcBdr/>
        <a:fill>
          <a:solidFill>
            <a:schemeClr val="dk1">
              <a:tint val="40000"/>
            </a:schemeClr>
          </a:solidFill>
        </a:fill>
      </a:tcStyle>
    </a:band1V>
    <a:band2V>
      <a:tcStyle>
        <a:tcBdr/>
      </a:tcStyle>
    </a:band2V>
    <a:lastCol>
      <a:tcTxStyle b="on">
        <a:fontRef idx="minor">
          <a:prstClr val="black"/>
        </a:fontRef>
        <a:schemeClr val="lt1"/>
      </a:tcTxStyle>
      <a:tcStyle>
        <a:tcBdr/>
        <a:fill>
          <a:solidFill>
            <a:schemeClr val="dk1"/>
          </a:solidFill>
        </a:fill>
      </a:tcStyle>
    </a:lastCol>
    <a:firstCol>
      <a:tcTxStyle b="on">
        <a:fontRef idx="minor">
          <a:prstClr val="black"/>
        </a:fontRef>
        <a:schemeClr val="lt1"/>
      </a:tcTxStyle>
      <a:tcStyle>
        <a:tcBdr/>
        <a:fill>
          <a:solidFill>
            <a:schemeClr val="dk1"/>
          </a:solidFill>
        </a:fill>
      </a:tcStyle>
    </a:firstCol>
    <a:lastRow>
      <a:tcTxStyle b="on">
        <a:fontRef idx="minor">
          <a:prstClr val="black"/>
        </a:fontRef>
        <a:schemeClr val="lt1"/>
      </a:tcTxStyle>
      <a:tcStyle>
        <a:tcBdr>
          <a:top>
            <a:ln w="38100" cmpd="sng">
              <a:solidFill>
                <a:schemeClr val="lt1"/>
              </a:solidFill>
            </a:ln>
          </a:top>
        </a:tcBdr>
        <a:fill>
          <a:solidFill>
            <a:schemeClr val="dk1"/>
          </a:solidFill>
        </a:fill>
      </a:tcStyle>
    </a:lastRow>
    <a:firstRow>
      <a:tcTxStyle b="on">
        <a:fontRef idx="minor">
          <a:prstClr val="black"/>
        </a:fontRef>
        <a:schemeClr val="lt1"/>
      </a:tcTxStyle>
      <a:tcStyle>
        <a:tcBdr>
          <a:bottom>
            <a:ln w="38100" cmpd="sng">
              <a:solidFill>
                <a:schemeClr val="lt1"/>
              </a:solidFill>
            </a:ln>
          </a:bottom>
        </a:tcBdr>
        <a:fill>
          <a:solidFill>
            <a:schemeClr val="dk1"/>
          </a:solidFill>
        </a:fill>
      </a:tcStyle>
    </a:firstRow>
  </a:tblStyle>
  <a:tblStyle styleId="{5940675A-B579-460E-94D1-54222C63F5DA}" styleName="No Style, Table Grid">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tblStyle>
</a:tblStyleLst>
</file>

<file path=ppt/viewProps.xml><?xml version="1.0" encoding="utf-8"?>
<p:viewPr xmlns:a="http://schemas.openxmlformats.org/drawingml/2006/main" xmlns:r="http://schemas.openxmlformats.org/officeDocument/2006/relationships" xmlns:p="http://schemas.openxmlformats.org/presentationml/2006/main">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3.xml"/><Relationship Id="rId4" Type="http://schemas.openxmlformats.org/officeDocument/2006/relationships/slide" Target="slides/slide2.xml"/><Relationship Id="rId5" Type="http://schemas.openxmlformats.org/officeDocument/2006/relationships/notesMaster" Target="notesMasters/notesMaster1.xml"/><Relationship Id="rId6" Type="http://schemas.openxmlformats.org/officeDocument/2006/relationships/presProps" Target="presProps.xml"/><Relationship Id="rId7" Type="http://schemas.openxmlformats.org/officeDocument/2006/relationships/viewProps" Target="viewProps.xml"/><Relationship Id="rId8" Type="http://schemas.openxmlformats.org/officeDocument/2006/relationships/theme" Target="theme/theme1.xml"/><Relationship Id="rId9" Type="http://schemas.openxmlformats.org/officeDocument/2006/relationships/tableStyles" Target="tableStyles.xml"/><Relationship Id="rId10" Type="http://schemas.microsoft.com/office/2015/10/relationships/revisionInfo" Target="revisionInfo.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E4FF5152-AD57-4057-A738-BC536A645BFF}" type="datetimeFigureOut">
              <a:rPr lang="en-US" smtClean="0"/>
              <a:t>7/14/2026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3DFBD6F9-9B61-4F1F-A828-501CEB5BCFB1}" type="slidenum">
              <a:rPr lang="en-US" smtClean="0"/>
              <a:t>‹#›</a:t>
            </a:fld>
            <a:endParaRPr lang="en-US"/>
          </a:p>
        </p:txBody>
      </p:sp>
    </p:spTree>
    <p:extLst>
      <p:ext uri="{BB962C8B-B14F-4D97-AF65-F5344CB8AC3E}">
        <p14:creationId xmlns:p14="http://schemas.microsoft.com/office/powerpoint/2010/main" val="650944490"/>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1"/>
          <p:cNvSpPr>
            <a:spLocks noGrp="1" noRot="1" noChangeAspect="1"/>
          </p:cNvSpPr>
          <p:nvPr>
            <p:ph type="sldImg"/>
          </p:nvPr>
        </p:nvSpPr>
        <p:spPr/>
      </p:sp>
      <p:sp>
        <p:nvSpPr>
          <p:cNvPr id="3" name="슬라이드 노트 개체 틀 2"/>
          <p:cNvSpPr>
            <a:spLocks noGrp="1"/>
          </p:cNvSpPr>
          <p:nvPr>
            <p:ph type="body" idx="1"/>
          </p:nvPr>
        </p:nvSpPr>
        <p:spPr/>
        <p:txBody>
          <a:bodyPr/>
          <a:lstStyle/>
          <a:p>
            <a:endParaRPr lang="ko-KR" altLang="en-US"/>
          </a:p>
        </p:txBody>
      </p:sp>
      <p:sp>
        <p:nvSpPr>
          <p:cNvPr id="4" name="슬라이드 번호 개체 틀 3"/>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E012E5D0-9393-4591-81EA-D49C04BB4842}" type="slidenum">
              <a:rPr kumimoji="0" lang="ko-KR" altLang="en-US" sz="1200" b="0" i="0" u="none" strike="noStrike" kern="1200" cap="none" spc="0" normalizeH="0" baseline="0" noProof="0" smtClean="0">
                <a:ln>
                  <a:noFill/>
                </a:ln>
                <a:solidFill>
                  <a:prstClr val="black"/>
                </a:solidFill>
                <a:effectLst/>
                <a:uLnTx/>
                <a:uFillTx/>
                <a:latin typeface="맑은 고딕" panose="02110004020202020204"/>
                <a:ea typeface="맑은 고딕" panose="020B0503020000020004" pitchFamily="34" charset="-127"/>
                <a:cs typeface="+mn-cs"/>
              </a:rPr>
              <a:pPr marL="0" marR="0" lvl="0" indent="0" algn="r" defTabSz="914400" rtl="0" eaLnBrk="1" fontAlgn="auto" latinLnBrk="0" hangingPunct="1">
                <a:lnSpc>
                  <a:spcPct val="100000"/>
                </a:lnSpc>
                <a:spcBef>
                  <a:spcPts val="0"/>
                </a:spcBef>
                <a:spcAft>
                  <a:spcPts val="0"/>
                </a:spcAft>
                <a:buClrTx/>
                <a:buSzTx/>
                <a:buFontTx/>
                <a:buNone/>
                <a:tabLst/>
                <a:defRPr/>
              </a:pPr>
              <a:t>1</a:t>
            </a:fld>
            <a:endParaRPr kumimoji="0" lang="ko-KR" altLang="en-US" sz="1200" b="0" i="0" u="none" strike="noStrike" kern="1200" cap="none" spc="0" normalizeH="0" baseline="0" noProof="0">
              <a:ln>
                <a:noFill/>
              </a:ln>
              <a:solidFill>
                <a:prstClr val="black"/>
              </a:solidFill>
              <a:effectLst/>
              <a:uLnTx/>
              <a:uFillTx/>
              <a:latin typeface="맑은 고딕" panose="02110004020202020204"/>
              <a:ea typeface="맑은 고딕" panose="020B0503020000020004" pitchFamily="34" charset="-127"/>
              <a:cs typeface="+mn-cs"/>
            </a:endParaRPr>
          </a:p>
        </p:txBody>
      </p:sp>
    </p:spTree>
    <p:extLst>
      <p:ext uri="{BB962C8B-B14F-4D97-AF65-F5344CB8AC3E}">
        <p14:creationId xmlns:p14="http://schemas.microsoft.com/office/powerpoint/2010/main" val="1119779915"/>
      </p:ext>
    </p:extLst>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sign of the stranded charge flips with the timestep, so it is an integration error. Any fix by tuning a coefficient is a coin flip, which is why the retuned version helped on some cases and not others.</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One line of the generated subcircuit separates them. gate_state: CGUPCMD across RGUPCMD 1e15 with BGUPCMDON injecting a packet per edge. delay_cmd: BGUPCMD GUPCMD 0 V = V(PUCMDLVL). On the tail after the reversal gate_state sits at -0.144 and creeps back over ~3 ns; delay_cmd is at exactly 0. On this particular bench the stranded charge is negative and the command clamp removes it before it reaches Ku, so the two pads agree to 5 mV -- the pad consequence on the right is the case where the charge is positive.</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On this case the pedestal goes from 97.9 mV to 5.2 mV against the transistor's 2.1 mV. Across all 29 matched stress cases RMSE goes from 108.6 to 92.2 mV, the only build that beats native IBIS. Caveat to state: delay_cmd has a 1.25 ns dead zone after a reversal where neither device is commanded on.</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plan quotes 69-99 ps late where native is 5-26 ps early. That is not reproducible from the data on disk with a 50%-of-excursion metric. The stress matrix gives io_buf native +11..+18 against ours +27..+34; inv_chain native -6..-5 against ours +8..+12; ex2 both early with ours closer. The defect is real and device-dependent, but smaller and less one-sided than the plan states. It also grows as the pulse is truncated, on all nine buffer variants tested so far.</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control reproduces the shipped solve to 2.4e-08, so the method is exact, and in the quiet regions Ku is load-independent to four decimals -- the extraction really is a device property, not a fixture artifact.  Ku RMSE against the R-only baseline:  io_buf C 0.011 / L0.5 0.142 / L2 0.164 / L+C 0.159;  inv_chain C 0.007 / L0.5 0.004 / L2 0.007 / L+C 0.009;  ex2 C 0.028 / L0.5 0.008 / L2 0.022 / L+C 0.032.  Correction worth stating: the plan says added L and C are safe individually and the resonant combination is the problem. The measurement does not support that. On io_buf L alone is the worst case (0.164, peak 7.9) and L+C is no worse (0.159, peak 5.2); on the other two devices everything stays under 0.03. The real rule is that series inductance disturbs the solve, by an amount that depends on the buffer.</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Ku and Kd here come from the transistor itself, by driving it into two fixtures and running the same two-equation solve the model uses. That is a ground-truth coefficient target, not native IBIS's opinion.</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Two rules worth not re-learning: any bench for this model must start with a real edge, never a held level, because it initialises pulldown-on and latches state only on an edge. And ngspice must be converged before drawing any conclusion.</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2.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p:spTree>
      <p:nvGrpSpPr>
        <p:cNvPr id="1" name=""/>
        <p:cNvGrpSpPr/>
        <p:nvPr/>
      </p:nvGrpSpPr>
      <p:grpSpPr>
        <a:xfrm>
          <a:off x="0" y="0"/>
          <a:ext cx="0" cy="0"/>
          <a:chOff x="0" y="0"/>
          <a:chExt cx="0" cy="0"/>
        </a:xfrm>
      </p:grpSpPr>
      <p:pic>
        <p:nvPicPr>
          <p:cNvPr id="4" name="Picture 18" descr="new_logo_final"/>
          <p:cNvPicPr>
            <a:picLocks noChangeAspect="1" noChangeArrowheads="1"/>
          </p:cNvPicPr>
          <p:nvPr/>
        </p:nvPicPr>
        <p:blipFill>
          <a:blip r:embed="rId2" cstate="print">
            <a:lum bright="70000" contrast="-70000"/>
            <a:extLst>
              <a:ext uri="{28A0092B-C50C-407E-A947-70E740481C1C}">
                <a14:useLocalDpi xmlns:a14="http://schemas.microsoft.com/office/drawing/2010/main" val="0"/>
              </a:ext>
            </a:extLst>
          </a:blip>
          <a:srcRect/>
          <a:stretch>
            <a:fillRect/>
          </a:stretch>
        </p:blipFill>
        <p:spPr bwMode="auto">
          <a:xfrm>
            <a:off x="0" y="4572000"/>
            <a:ext cx="3048000" cy="2286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5" name="Picture 17" descr="new_logo_final"/>
          <p:cNvPicPr>
            <a:picLocks noChangeAspect="1" noChangeArrowheads="1"/>
          </p:cNvPicPr>
          <p:nvPr/>
        </p:nvPicPr>
        <p:blipFill>
          <a:blip r:embed="rId2" cstate="print">
            <a:lum bright="70000" contrast="-70000"/>
            <a:extLst>
              <a:ext uri="{28A0092B-C50C-407E-A947-70E740481C1C}">
                <a14:useLocalDpi xmlns:a14="http://schemas.microsoft.com/office/drawing/2010/main" val="0"/>
              </a:ext>
            </a:extLst>
          </a:blip>
          <a:srcRect/>
          <a:stretch>
            <a:fillRect/>
          </a:stretch>
        </p:blipFill>
        <p:spPr bwMode="auto">
          <a:xfrm>
            <a:off x="0" y="2286000"/>
            <a:ext cx="3048000" cy="2286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6" name="Picture 16" descr="new_logo_final"/>
          <p:cNvPicPr>
            <a:picLocks noChangeAspect="1" noChangeArrowheads="1"/>
          </p:cNvPicPr>
          <p:nvPr/>
        </p:nvPicPr>
        <p:blipFill>
          <a:blip r:embed="rId3" cstate="print">
            <a:lum bright="70000" contrast="-70000"/>
            <a:extLst>
              <a:ext uri="{28A0092B-C50C-407E-A947-70E740481C1C}">
                <a14:useLocalDpi xmlns:a14="http://schemas.microsoft.com/office/drawing/2010/main" val="0"/>
              </a:ext>
            </a:extLst>
          </a:blip>
          <a:srcRect/>
          <a:stretch>
            <a:fillRect/>
          </a:stretch>
        </p:blipFill>
        <p:spPr bwMode="auto">
          <a:xfrm>
            <a:off x="0" y="0"/>
            <a:ext cx="3048000" cy="2286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7" name="Rectangle 11"/>
          <p:cNvSpPr>
            <a:spLocks noChangeArrowheads="1"/>
          </p:cNvSpPr>
          <p:nvPr/>
        </p:nvSpPr>
        <p:spPr bwMode="auto">
          <a:xfrm>
            <a:off x="609600" y="2971800"/>
            <a:ext cx="10871200" cy="152400"/>
          </a:xfrm>
          <a:prstGeom prst="rect">
            <a:avLst/>
          </a:prstGeom>
          <a:gradFill rotWithShape="1">
            <a:gsLst>
              <a:gs pos="0">
                <a:srgbClr val="287F3D"/>
              </a:gs>
              <a:gs pos="100000">
                <a:schemeClr val="bg1"/>
              </a:gs>
            </a:gsLst>
            <a:lin ang="0" scaled="1"/>
          </a:gradFill>
          <a:ln>
            <a:noFill/>
          </a:ln>
          <a:extLst>
            <a:ext uri="{91240B29-F687-4F45-9708-019B960494DF}">
              <a14:hiddenLine xmlns:a14="http://schemas.microsoft.com/office/drawing/2010/main" w="9525">
                <a:solidFill>
                  <a:srgbClr val="000000"/>
                </a:solidFill>
                <a:miter lim="800000"/>
                <a:headEnd/>
                <a:tailEnd/>
              </a14:hiddenLine>
            </a:ext>
          </a:extLst>
        </p:spPr>
        <p:txBody>
          <a:bodyPr wrap="none" anchor="ctr"/>
          <a:lstStyle/>
          <a:p>
            <a:endParaRPr lang="en-US" sz="1350">
              <a:solidFill>
                <a:srgbClr val="000000"/>
              </a:solidFill>
            </a:endParaRPr>
          </a:p>
        </p:txBody>
      </p:sp>
      <p:sp>
        <p:nvSpPr>
          <p:cNvPr id="33794" name="Rectangle 2"/>
          <p:cNvSpPr>
            <a:spLocks noGrp="1" noChangeArrowheads="1"/>
          </p:cNvSpPr>
          <p:nvPr>
            <p:ph type="ctrTitle"/>
          </p:nvPr>
        </p:nvSpPr>
        <p:spPr>
          <a:xfrm>
            <a:off x="914400" y="1057275"/>
            <a:ext cx="10363200" cy="1828800"/>
          </a:xfrm>
        </p:spPr>
        <p:txBody>
          <a:bodyPr anchor="ctr"/>
          <a:lstStyle>
            <a:lvl1pPr algn="ctr">
              <a:defRPr sz="4400"/>
            </a:lvl1pPr>
          </a:lstStyle>
          <a:p>
            <a:r>
              <a:rPr lang="ko-KR" altLang="en-US"/>
              <a:t>마스터 제목 스타일 편집</a:t>
            </a:r>
            <a:endParaRPr lang="en-US" altLang="zh-CN"/>
          </a:p>
        </p:txBody>
      </p:sp>
      <p:sp>
        <p:nvSpPr>
          <p:cNvPr id="33795" name="Rectangle 3"/>
          <p:cNvSpPr>
            <a:spLocks noGrp="1" noChangeArrowheads="1"/>
          </p:cNvSpPr>
          <p:nvPr>
            <p:ph type="subTitle" idx="1"/>
          </p:nvPr>
        </p:nvSpPr>
        <p:spPr>
          <a:xfrm>
            <a:off x="1828800" y="3657600"/>
            <a:ext cx="8534400" cy="1981200"/>
          </a:xfrm>
        </p:spPr>
        <p:txBody>
          <a:bodyPr/>
          <a:lstStyle>
            <a:lvl1pPr marL="0" indent="0" algn="ctr">
              <a:buFont typeface="Times New Roman" pitchFamily="18" charset="0"/>
              <a:buNone/>
              <a:defRPr sz="2800"/>
            </a:lvl1pPr>
          </a:lstStyle>
          <a:p>
            <a:r>
              <a:rPr lang="ko-KR" altLang="en-US"/>
              <a:t>클릭하여 마스터 부제목 스타일 편집</a:t>
            </a:r>
            <a:endParaRPr lang="en-US" altLang="zh-CN"/>
          </a:p>
        </p:txBody>
      </p:sp>
      <p:sp>
        <p:nvSpPr>
          <p:cNvPr id="2" name="Oval 1">
            <a:extLst>
              <a:ext uri="{FF2B5EF4-FFF2-40B4-BE49-F238E27FC236}">
                <a16:creationId xmlns:a16="http://schemas.microsoft.com/office/drawing/2014/main" id="{1185D946-0A64-0C7F-AA63-488808319B35}"/>
              </a:ext>
            </a:extLst>
          </p:cNvPr>
          <p:cNvSpPr/>
          <p:nvPr/>
        </p:nvSpPr>
        <p:spPr>
          <a:xfrm>
            <a:off x="11381117" y="6288658"/>
            <a:ext cx="684363" cy="483079"/>
          </a:xfrm>
          <a:prstGeom prst="ellipse">
            <a:avLst/>
          </a:prstGeom>
          <a:solidFill>
            <a:schemeClr val="bg1"/>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sz="1800"/>
          </a:p>
        </p:txBody>
      </p:sp>
    </p:spTree>
    <p:extLst>
      <p:ext uri="{BB962C8B-B14F-4D97-AF65-F5344CB8AC3E}">
        <p14:creationId xmlns:p14="http://schemas.microsoft.com/office/powerpoint/2010/main" val="420371682"/>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content_1">
    <p:spTree>
      <p:nvGrpSpPr>
        <p:cNvPr id="1" name=""/>
        <p:cNvGrpSpPr/>
        <p:nvPr/>
      </p:nvGrpSpPr>
      <p:grpSpPr>
        <a:xfrm>
          <a:off x="0" y="0"/>
          <a:ext cx="0" cy="0"/>
          <a:chOff x="0" y="0"/>
          <a:chExt cx="0" cy="0"/>
        </a:xfrm>
      </p:grpSpPr>
      <p:sp>
        <p:nvSpPr>
          <p:cNvPr id="2" name="Title 1"/>
          <p:cNvSpPr>
            <a:spLocks noGrp="1"/>
          </p:cNvSpPr>
          <p:nvPr>
            <p:ph type="title"/>
          </p:nvPr>
        </p:nvSpPr>
        <p:spPr>
          <a:xfrm>
            <a:off x="304800" y="0"/>
            <a:ext cx="11277600" cy="762000"/>
          </a:xfrm>
        </p:spPr>
        <p:txBody>
          <a:bodyPr anchor="ctr"/>
          <a:lstStyle>
            <a:lvl1pPr>
              <a:defRPr sz="3200"/>
            </a:lvl1pPr>
          </a:lstStyle>
          <a:p>
            <a:r>
              <a:rPr lang="ko-KR" altLang="en-US"/>
              <a:t>마스터 제목 스타일 편집</a:t>
            </a:r>
            <a:endParaRPr lang="en-US"/>
          </a:p>
        </p:txBody>
      </p:sp>
      <p:sp>
        <p:nvSpPr>
          <p:cNvPr id="4" name="Content Placeholder 2">
            <a:extLst>
              <a:ext uri="{FF2B5EF4-FFF2-40B4-BE49-F238E27FC236}">
                <a16:creationId xmlns:a16="http://schemas.microsoft.com/office/drawing/2014/main" id="{38C6936E-D099-1BE8-8BB3-AAFCF768FD35}"/>
              </a:ext>
            </a:extLst>
          </p:cNvPr>
          <p:cNvSpPr>
            <a:spLocks noGrp="1"/>
          </p:cNvSpPr>
          <p:nvPr>
            <p:ph idx="10"/>
          </p:nvPr>
        </p:nvSpPr>
        <p:spPr>
          <a:xfrm>
            <a:off x="304800" y="1038225"/>
            <a:ext cx="11277600" cy="5438775"/>
          </a:xfrm>
        </p:spPr>
        <p:txBody>
          <a:bodyPr/>
          <a:lstStyle>
            <a:lvl1pPr marL="432000" indent="-432000">
              <a:spcBef>
                <a:spcPts val="0"/>
              </a:spcBef>
              <a:spcAft>
                <a:spcPts val="600"/>
              </a:spcAft>
              <a:buClrTx/>
              <a:buSzPct val="100000"/>
              <a:buFont typeface="Wingdings" panose="05000000000000000000" pitchFamily="2" charset="2"/>
              <a:buChar char="v"/>
              <a:defRPr sz="2400"/>
            </a:lvl1pPr>
            <a:lvl2pPr marL="720000" indent="-252000">
              <a:spcBef>
                <a:spcPts val="0"/>
              </a:spcBef>
              <a:spcAft>
                <a:spcPts val="600"/>
              </a:spcAft>
              <a:buClrTx/>
              <a:buSzPct val="100000"/>
              <a:buFont typeface="Wingdings" panose="05000000000000000000" pitchFamily="2" charset="2"/>
              <a:buChar char="§"/>
              <a:defRPr lang="ko-KR" altLang="en-US" sz="2000" dirty="0" smtClean="0">
                <a:solidFill>
                  <a:schemeClr val="tx1"/>
                </a:solidFill>
                <a:latin typeface="+mn-lt"/>
                <a:cs typeface="+mn-cs"/>
              </a:defRPr>
            </a:lvl2pPr>
            <a:lvl3pPr marL="1080000" indent="-324000">
              <a:spcAft>
                <a:spcPts val="600"/>
              </a:spcAft>
              <a:buClrTx/>
              <a:buSzPct val="100000"/>
              <a:buFont typeface="Arial" panose="020B0604020202020204" pitchFamily="34" charset="0"/>
              <a:buChar char="•"/>
              <a:defRPr sz="1800"/>
            </a:lvl3pPr>
            <a:lvl4pPr marL="1200150" indent="-171450">
              <a:buClrTx/>
              <a:buFont typeface="Arial" panose="020B0604020202020204" pitchFamily="34" charset="0"/>
              <a:buChar char="•"/>
              <a:defRPr sz="1200"/>
            </a:lvl4pPr>
            <a:lvl5pPr marL="1543050" indent="-171450">
              <a:buClrTx/>
              <a:buFont typeface="Courier New" panose="02070309020205020404" pitchFamily="49" charset="0"/>
              <a:buChar char="o"/>
              <a:defRPr sz="1050"/>
            </a:lvl5pPr>
          </a:lstStyle>
          <a:p>
            <a:pPr lvl="0"/>
            <a:r>
              <a:rPr lang="ko-KR" altLang="en-US"/>
              <a:t>마스터 텍스트 스타일을 편집하려면 클릭</a:t>
            </a:r>
          </a:p>
          <a:p>
            <a:pPr lvl="1"/>
            <a:r>
              <a:rPr lang="ko-KR" altLang="en-US"/>
              <a:t>두 번째 수준</a:t>
            </a:r>
            <a:endParaRPr lang="en-US" altLang="ko-KR"/>
          </a:p>
          <a:p>
            <a:pPr lvl="2"/>
            <a:r>
              <a:rPr lang="ko-KR" altLang="en-US"/>
              <a:t>세 번째 수준</a:t>
            </a:r>
          </a:p>
        </p:txBody>
      </p:sp>
    </p:spTree>
    <p:extLst>
      <p:ext uri="{BB962C8B-B14F-4D97-AF65-F5344CB8AC3E}">
        <p14:creationId xmlns:p14="http://schemas.microsoft.com/office/powerpoint/2010/main" val="1122010209"/>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t_2">
    <p:spTree>
      <p:nvGrpSpPr>
        <p:cNvPr id="1" name=""/>
        <p:cNvGrpSpPr/>
        <p:nvPr/>
      </p:nvGrpSpPr>
      <p:grpSpPr>
        <a:xfrm>
          <a:off x="0" y="0"/>
          <a:ext cx="0" cy="0"/>
          <a:chOff x="0" y="0"/>
          <a:chExt cx="0" cy="0"/>
        </a:xfrm>
      </p:grpSpPr>
      <p:sp>
        <p:nvSpPr>
          <p:cNvPr id="2" name="Title 1"/>
          <p:cNvSpPr>
            <a:spLocks noGrp="1"/>
          </p:cNvSpPr>
          <p:nvPr>
            <p:ph type="title"/>
          </p:nvPr>
        </p:nvSpPr>
        <p:spPr>
          <a:xfrm>
            <a:off x="304800" y="0"/>
            <a:ext cx="11277600" cy="762000"/>
          </a:xfrm>
        </p:spPr>
        <p:txBody>
          <a:bodyPr anchor="ctr"/>
          <a:lstStyle>
            <a:lvl1pPr>
              <a:defRPr sz="3200"/>
            </a:lvl1pPr>
          </a:lstStyle>
          <a:p>
            <a:r>
              <a:rPr lang="ko-KR" altLang="en-US"/>
              <a:t>마스터 제목 스타일 편집</a:t>
            </a:r>
            <a:endParaRPr lang="en-US"/>
          </a:p>
        </p:txBody>
      </p:sp>
      <p:sp>
        <p:nvSpPr>
          <p:cNvPr id="6" name="Content Placeholder 2">
            <a:extLst>
              <a:ext uri="{FF2B5EF4-FFF2-40B4-BE49-F238E27FC236}">
                <a16:creationId xmlns:a16="http://schemas.microsoft.com/office/drawing/2014/main" id="{AAA6B0B8-599D-92DF-18BE-0154789C5094}"/>
              </a:ext>
            </a:extLst>
          </p:cNvPr>
          <p:cNvSpPr>
            <a:spLocks noGrp="1"/>
          </p:cNvSpPr>
          <p:nvPr>
            <p:ph idx="1"/>
          </p:nvPr>
        </p:nvSpPr>
        <p:spPr>
          <a:xfrm>
            <a:off x="304800" y="5279366"/>
            <a:ext cx="11277600" cy="1197634"/>
          </a:xfrm>
        </p:spPr>
        <p:txBody>
          <a:bodyPr/>
          <a:lstStyle>
            <a:lvl1pPr marL="432000" indent="-432000">
              <a:spcBef>
                <a:spcPts val="0"/>
              </a:spcBef>
              <a:spcAft>
                <a:spcPts val="600"/>
              </a:spcAft>
              <a:buClrTx/>
              <a:buSzPct val="100000"/>
              <a:buFont typeface="Wingdings" panose="05000000000000000000" pitchFamily="2" charset="2"/>
              <a:buChar char="v"/>
              <a:defRPr sz="2400"/>
            </a:lvl1pPr>
            <a:lvl2pPr marL="720000" indent="-252000">
              <a:spcBef>
                <a:spcPts val="0"/>
              </a:spcBef>
              <a:spcAft>
                <a:spcPts val="600"/>
              </a:spcAft>
              <a:buClrTx/>
              <a:buSzPct val="100000"/>
              <a:buFont typeface="Wingdings" panose="05000000000000000000" pitchFamily="2" charset="2"/>
              <a:buChar char="§"/>
              <a:defRPr lang="ko-KR" altLang="en-US" sz="2000" dirty="0" smtClean="0">
                <a:solidFill>
                  <a:schemeClr val="tx1"/>
                </a:solidFill>
                <a:latin typeface="+mn-lt"/>
                <a:cs typeface="+mn-cs"/>
              </a:defRPr>
            </a:lvl2pPr>
            <a:lvl3pPr marL="1080000" indent="-324000">
              <a:spcAft>
                <a:spcPts val="600"/>
              </a:spcAft>
              <a:buClrTx/>
              <a:buSzPct val="100000"/>
              <a:buFont typeface="Arial" panose="020B0604020202020204" pitchFamily="34" charset="0"/>
              <a:buChar char="•"/>
              <a:defRPr sz="1800"/>
            </a:lvl3pPr>
            <a:lvl4pPr marL="1200150" indent="-171450">
              <a:buClrTx/>
              <a:buFont typeface="Arial" panose="020B0604020202020204" pitchFamily="34" charset="0"/>
              <a:buChar char="•"/>
              <a:defRPr sz="1200"/>
            </a:lvl4pPr>
            <a:lvl5pPr marL="1543050" indent="-171450">
              <a:buClrTx/>
              <a:buFont typeface="Courier New" panose="02070309020205020404" pitchFamily="49" charset="0"/>
              <a:buChar char="o"/>
              <a:defRPr sz="1050"/>
            </a:lvl5pPr>
          </a:lstStyle>
          <a:p>
            <a:pPr lvl="0"/>
            <a:r>
              <a:rPr lang="ko-KR" altLang="en-US"/>
              <a:t>마스터 텍스트 스타일을 편집하려면 클릭</a:t>
            </a:r>
          </a:p>
          <a:p>
            <a:pPr lvl="1"/>
            <a:r>
              <a:rPr lang="ko-KR" altLang="en-US"/>
              <a:t>두 번째 수준</a:t>
            </a:r>
            <a:endParaRPr lang="en-US" altLang="ko-KR"/>
          </a:p>
          <a:p>
            <a:pPr lvl="2"/>
            <a:r>
              <a:rPr lang="ko-KR" altLang="en-US"/>
              <a:t>세 번째 수준</a:t>
            </a:r>
          </a:p>
        </p:txBody>
      </p:sp>
    </p:spTree>
    <p:extLst>
      <p:ext uri="{BB962C8B-B14F-4D97-AF65-F5344CB8AC3E}">
        <p14:creationId xmlns:p14="http://schemas.microsoft.com/office/powerpoint/2010/main" val="3049719762"/>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1_content_2">
    <p:spTree>
      <p:nvGrpSpPr>
        <p:cNvPr id="1" name=""/>
        <p:cNvGrpSpPr/>
        <p:nvPr/>
      </p:nvGrpSpPr>
      <p:grpSpPr>
        <a:xfrm>
          <a:off x="0" y="0"/>
          <a:ext cx="0" cy="0"/>
          <a:chOff x="0" y="0"/>
          <a:chExt cx="0" cy="0"/>
        </a:xfrm>
      </p:grpSpPr>
      <p:sp>
        <p:nvSpPr>
          <p:cNvPr id="2" name="Title 1"/>
          <p:cNvSpPr>
            <a:spLocks noGrp="1"/>
          </p:cNvSpPr>
          <p:nvPr>
            <p:ph type="title"/>
          </p:nvPr>
        </p:nvSpPr>
        <p:spPr>
          <a:xfrm>
            <a:off x="304800" y="0"/>
            <a:ext cx="11277600" cy="762000"/>
          </a:xfrm>
        </p:spPr>
        <p:txBody>
          <a:bodyPr anchor="ctr"/>
          <a:lstStyle>
            <a:lvl1pPr>
              <a:defRPr sz="3200"/>
            </a:lvl1pPr>
          </a:lstStyle>
          <a:p>
            <a:r>
              <a:rPr lang="ko-KR" altLang="en-US"/>
              <a:t>마스터 제목 스타일 편집</a:t>
            </a:r>
            <a:endParaRPr lang="en-US"/>
          </a:p>
        </p:txBody>
      </p:sp>
      <p:sp>
        <p:nvSpPr>
          <p:cNvPr id="6" name="Content Placeholder 2">
            <a:extLst>
              <a:ext uri="{FF2B5EF4-FFF2-40B4-BE49-F238E27FC236}">
                <a16:creationId xmlns:a16="http://schemas.microsoft.com/office/drawing/2014/main" id="{AAA6B0B8-599D-92DF-18BE-0154789C5094}"/>
              </a:ext>
            </a:extLst>
          </p:cNvPr>
          <p:cNvSpPr>
            <a:spLocks noGrp="1"/>
          </p:cNvSpPr>
          <p:nvPr>
            <p:ph idx="1" hasCustomPrompt="1"/>
          </p:nvPr>
        </p:nvSpPr>
        <p:spPr>
          <a:xfrm>
            <a:off x="304800" y="5279366"/>
            <a:ext cx="11277600" cy="1197634"/>
          </a:xfrm>
        </p:spPr>
        <p:txBody>
          <a:bodyPr/>
          <a:lstStyle>
            <a:lvl1pPr marL="432000" indent="-432000">
              <a:spcBef>
                <a:spcPts val="0"/>
              </a:spcBef>
              <a:spcAft>
                <a:spcPts val="600"/>
              </a:spcAft>
              <a:buClrTx/>
              <a:buSzPct val="100000"/>
              <a:buFont typeface="Wingdings" panose="05000000000000000000" pitchFamily="2" charset="2"/>
              <a:buChar char="§"/>
              <a:defRPr sz="2000"/>
            </a:lvl1pPr>
            <a:lvl2pPr marL="720000" indent="-252000">
              <a:spcBef>
                <a:spcPts val="0"/>
              </a:spcBef>
              <a:spcAft>
                <a:spcPts val="600"/>
              </a:spcAft>
              <a:buClrTx/>
              <a:buSzPct val="100000"/>
              <a:buFont typeface="Arial" panose="020B0604020202020204" pitchFamily="34" charset="0"/>
              <a:buChar char="•"/>
              <a:defRPr lang="ko-KR" altLang="en-US" sz="1800" dirty="0" smtClean="0">
                <a:solidFill>
                  <a:schemeClr val="tx1"/>
                </a:solidFill>
                <a:latin typeface="+mn-lt"/>
                <a:cs typeface="+mn-cs"/>
              </a:defRPr>
            </a:lvl2pPr>
            <a:lvl3pPr marL="1080000" indent="-324000">
              <a:spcAft>
                <a:spcPts val="600"/>
              </a:spcAft>
              <a:buClrTx/>
              <a:buSzPct val="100000"/>
              <a:buFont typeface="Arial" panose="020B0604020202020204" pitchFamily="34" charset="0"/>
              <a:buChar char="•"/>
              <a:defRPr sz="1800"/>
            </a:lvl3pPr>
            <a:lvl4pPr marL="1200150" indent="-171450">
              <a:buClrTx/>
              <a:buFont typeface="Arial" panose="020B0604020202020204" pitchFamily="34" charset="0"/>
              <a:buChar char="•"/>
              <a:defRPr sz="1200"/>
            </a:lvl4pPr>
            <a:lvl5pPr marL="1543050" indent="-171450">
              <a:buClrTx/>
              <a:buFont typeface="Courier New" panose="02070309020205020404" pitchFamily="49" charset="0"/>
              <a:buChar char="o"/>
              <a:defRPr sz="1050"/>
            </a:lvl5pPr>
          </a:lstStyle>
          <a:p>
            <a:pPr lvl="0"/>
            <a:r>
              <a:rPr lang="ko-KR" altLang="en-US"/>
              <a:t>두 번째 수준</a:t>
            </a:r>
            <a:endParaRPr lang="en-US" altLang="ko-KR"/>
          </a:p>
          <a:p>
            <a:pPr lvl="1"/>
            <a:r>
              <a:rPr lang="ko-KR" altLang="en-US"/>
              <a:t>세 번째 수준</a:t>
            </a:r>
          </a:p>
        </p:txBody>
      </p:sp>
      <p:sp>
        <p:nvSpPr>
          <p:cNvPr id="3" name="Content Placeholder 2">
            <a:extLst>
              <a:ext uri="{FF2B5EF4-FFF2-40B4-BE49-F238E27FC236}">
                <a16:creationId xmlns:a16="http://schemas.microsoft.com/office/drawing/2014/main" id="{7287424F-3297-D95B-C851-77D5FA265A69}"/>
              </a:ext>
            </a:extLst>
          </p:cNvPr>
          <p:cNvSpPr>
            <a:spLocks noGrp="1"/>
          </p:cNvSpPr>
          <p:nvPr>
            <p:ph idx="10"/>
          </p:nvPr>
        </p:nvSpPr>
        <p:spPr>
          <a:xfrm>
            <a:off x="304800" y="964541"/>
            <a:ext cx="11277600" cy="445159"/>
          </a:xfrm>
        </p:spPr>
        <p:txBody>
          <a:bodyPr/>
          <a:lstStyle>
            <a:lvl1pPr marL="432000" indent="-432000">
              <a:spcBef>
                <a:spcPts val="0"/>
              </a:spcBef>
              <a:spcAft>
                <a:spcPts val="600"/>
              </a:spcAft>
              <a:buClrTx/>
              <a:buSzPct val="100000"/>
              <a:buFont typeface="Wingdings" panose="05000000000000000000" pitchFamily="2" charset="2"/>
              <a:buChar char="v"/>
              <a:defRPr sz="2400"/>
            </a:lvl1pPr>
            <a:lvl2pPr marL="720000" indent="-252000">
              <a:spcBef>
                <a:spcPts val="0"/>
              </a:spcBef>
              <a:spcAft>
                <a:spcPts val="600"/>
              </a:spcAft>
              <a:buClrTx/>
              <a:buSzPct val="100000"/>
              <a:buFont typeface="Wingdings" panose="05000000000000000000" pitchFamily="2" charset="2"/>
              <a:buChar char="§"/>
              <a:defRPr lang="ko-KR" altLang="en-US" sz="2000" dirty="0" smtClean="0">
                <a:solidFill>
                  <a:schemeClr val="tx1"/>
                </a:solidFill>
                <a:latin typeface="+mn-lt"/>
                <a:cs typeface="+mn-cs"/>
              </a:defRPr>
            </a:lvl2pPr>
            <a:lvl3pPr marL="1080000" indent="-324000">
              <a:spcAft>
                <a:spcPts val="600"/>
              </a:spcAft>
              <a:buClrTx/>
              <a:buSzPct val="100000"/>
              <a:buFont typeface="Arial" panose="020B0604020202020204" pitchFamily="34" charset="0"/>
              <a:buChar char="•"/>
              <a:defRPr sz="1800"/>
            </a:lvl3pPr>
            <a:lvl4pPr marL="1200150" indent="-171450">
              <a:buClrTx/>
              <a:buFont typeface="Arial" panose="020B0604020202020204" pitchFamily="34" charset="0"/>
              <a:buChar char="•"/>
              <a:defRPr sz="1200"/>
            </a:lvl4pPr>
            <a:lvl5pPr marL="1543050" indent="-171450">
              <a:buClrTx/>
              <a:buFont typeface="Courier New" panose="02070309020205020404" pitchFamily="49" charset="0"/>
              <a:buChar char="o"/>
              <a:defRPr sz="1050"/>
            </a:lvl5pPr>
          </a:lstStyle>
          <a:p>
            <a:pPr lvl="0"/>
            <a:r>
              <a:rPr lang="ko-KR" altLang="en-US"/>
              <a:t>마스터 텍스트 스타일을 편집하려면 클릭</a:t>
            </a:r>
          </a:p>
        </p:txBody>
      </p:sp>
    </p:spTree>
    <p:extLst>
      <p:ext uri="{BB962C8B-B14F-4D97-AF65-F5344CB8AC3E}">
        <p14:creationId xmlns:p14="http://schemas.microsoft.com/office/powerpoint/2010/main" val="1270269992"/>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itleOnly" preserve="1">
  <p:cSld name="content_4">
    <p:spTree>
      <p:nvGrpSpPr>
        <p:cNvPr id="1" name=""/>
        <p:cNvGrpSpPr/>
        <p:nvPr/>
      </p:nvGrpSpPr>
      <p:grpSpPr>
        <a:xfrm>
          <a:off x="0" y="0"/>
          <a:ext cx="0" cy="0"/>
          <a:chOff x="0" y="0"/>
          <a:chExt cx="0" cy="0"/>
        </a:xfrm>
      </p:grpSpPr>
      <p:sp>
        <p:nvSpPr>
          <p:cNvPr id="2" name="Title 1"/>
          <p:cNvSpPr>
            <a:spLocks noGrp="1"/>
          </p:cNvSpPr>
          <p:nvPr>
            <p:ph type="title"/>
          </p:nvPr>
        </p:nvSpPr>
        <p:spPr>
          <a:xfrm>
            <a:off x="310551" y="0"/>
            <a:ext cx="11024559" cy="762000"/>
          </a:xfrm>
        </p:spPr>
        <p:txBody>
          <a:bodyPr/>
          <a:lstStyle>
            <a:lvl1pPr>
              <a:defRPr sz="3200"/>
            </a:lvl1pPr>
          </a:lstStyle>
          <a:p>
            <a:r>
              <a:rPr lang="ko-KR" altLang="en-US"/>
              <a:t>마스터 제목 스타일 편집</a:t>
            </a:r>
            <a:endParaRPr lang="en-US"/>
          </a:p>
        </p:txBody>
      </p:sp>
    </p:spTree>
    <p:extLst>
      <p:ext uri="{BB962C8B-B14F-4D97-AF65-F5344CB8AC3E}">
        <p14:creationId xmlns:p14="http://schemas.microsoft.com/office/powerpoint/2010/main" val="3227596663"/>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p:cSld name="1_content_4">
    <p:spTree>
      <p:nvGrpSpPr>
        <p:cNvPr id="1" name=""/>
        <p:cNvGrpSpPr/>
        <p:nvPr/>
      </p:nvGrpSpPr>
      <p:grpSpPr>
        <a:xfrm>
          <a:off x="0" y="0"/>
          <a:ext cx="0" cy="0"/>
          <a:chOff x="0" y="0"/>
          <a:chExt cx="0" cy="0"/>
        </a:xfrm>
      </p:grpSpPr>
      <p:sp>
        <p:nvSpPr>
          <p:cNvPr id="5" name="Content Placeholder 4">
            <a:extLst>
              <a:ext uri="{FF2B5EF4-FFF2-40B4-BE49-F238E27FC236}">
                <a16:creationId xmlns:a16="http://schemas.microsoft.com/office/drawing/2014/main" id="{6A3150C2-20D0-A45F-5462-61690D256719}"/>
              </a:ext>
            </a:extLst>
          </p:cNvPr>
          <p:cNvSpPr>
            <a:spLocks noGrp="1"/>
          </p:cNvSpPr>
          <p:nvPr>
            <p:ph sz="quarter" idx="10"/>
          </p:nvPr>
        </p:nvSpPr>
        <p:spPr>
          <a:xfrm>
            <a:off x="3551239" y="4124506"/>
            <a:ext cx="5089525" cy="507881"/>
          </a:xfrm>
        </p:spPr>
        <p:txBody>
          <a:bodyPr/>
          <a:lstStyle>
            <a:lvl1pPr marL="0" indent="0" algn="ctr">
              <a:buNone/>
              <a:defRPr sz="2100"/>
            </a:lvl1pPr>
          </a:lstStyle>
          <a:p>
            <a:pPr lvl="0"/>
            <a:r>
              <a:rPr lang="ko-KR" altLang="en-US"/>
              <a:t>마스터 텍스트 스타일을 편집하려면 클릭</a:t>
            </a:r>
          </a:p>
        </p:txBody>
      </p:sp>
      <p:sp>
        <p:nvSpPr>
          <p:cNvPr id="6" name="TextBox 5">
            <a:extLst>
              <a:ext uri="{FF2B5EF4-FFF2-40B4-BE49-F238E27FC236}">
                <a16:creationId xmlns:a16="http://schemas.microsoft.com/office/drawing/2014/main" id="{D28ADDEF-87C0-B90A-6505-6A3A384B7EE8}"/>
              </a:ext>
            </a:extLst>
          </p:cNvPr>
          <p:cNvSpPr txBox="1"/>
          <p:nvPr/>
        </p:nvSpPr>
        <p:spPr>
          <a:xfrm>
            <a:off x="3623209" y="2313750"/>
            <a:ext cx="4945585" cy="1419619"/>
          </a:xfrm>
          <a:prstGeom prst="rect">
            <a:avLst/>
          </a:prstGeom>
          <a:noFill/>
        </p:spPr>
        <p:txBody>
          <a:bodyPr wrap="none" rtlCol="0" anchor="ctr">
            <a:spAutoFit/>
          </a:bodyPr>
          <a:lstStyle/>
          <a:p>
            <a:pPr algn="ctr"/>
            <a:r>
              <a:rPr lang="en-US" altLang="zh-CN" sz="8625"/>
              <a:t>Thank you</a:t>
            </a:r>
            <a:endParaRPr lang="ko-KR" altLang="en-US" sz="8625"/>
          </a:p>
        </p:txBody>
      </p:sp>
    </p:spTree>
    <p:extLst>
      <p:ext uri="{BB962C8B-B14F-4D97-AF65-F5344CB8AC3E}">
        <p14:creationId xmlns:p14="http://schemas.microsoft.com/office/powerpoint/2010/main" val="1941934631"/>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reserve="1">
  <p:cSld>
    <p:bg>
      <p:bgPr>
        <a:solidFill>
          <a:schemeClr val="bg1"/>
        </a:solidFill>
        <a:effectLst/>
      </p:bgPr>
    </p:bg>
    <p:spTree>
      <p:nvGrpSpPr>
        <p:cNvPr id="1" name=""/>
        <p:cNvGrpSpPr/>
        <p:nvPr/>
      </p:nvGrpSpPr>
      <p:grpSpPr>
        <a:xfrm>
          <a:off x="0" y="0"/>
          <a:ext cx="0" cy="0"/>
          <a:chOff x="0" y="0"/>
          <a:chExt cx="0" cy="0"/>
        </a:xfrm>
      </p:grpSpPr>
      <p:sp>
        <p:nvSpPr>
          <p:cNvPr id="1026" name="Rectangle 2"/>
          <p:cNvSpPr>
            <a:spLocks noGrp="1" noChangeArrowheads="1"/>
          </p:cNvSpPr>
          <p:nvPr>
            <p:ph type="title"/>
          </p:nvPr>
        </p:nvSpPr>
        <p:spPr bwMode="auto">
          <a:xfrm>
            <a:off x="304800" y="0"/>
            <a:ext cx="11277600" cy="762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ctr" anchorCtr="0" compatLnSpc="1">
            <a:prstTxWarp prst="textNoShape">
              <a:avLst/>
            </a:prstTxWarp>
          </a:bodyPr>
          <a:lstStyle/>
          <a:p>
            <a:pPr lvl="0"/>
            <a:r>
              <a:rPr lang="ko-KR" altLang="en-US"/>
              <a:t>마스터 제목 스타일 편집</a:t>
            </a:r>
            <a:endParaRPr lang="en-US" altLang="zh-CN"/>
          </a:p>
        </p:txBody>
      </p:sp>
      <p:sp>
        <p:nvSpPr>
          <p:cNvPr id="1027" name="Rectangle 3"/>
          <p:cNvSpPr>
            <a:spLocks noGrp="1" noChangeArrowheads="1"/>
          </p:cNvSpPr>
          <p:nvPr>
            <p:ph type="body" idx="1"/>
          </p:nvPr>
        </p:nvSpPr>
        <p:spPr bwMode="auto">
          <a:xfrm>
            <a:off x="304800" y="914400"/>
            <a:ext cx="11277600" cy="55626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prstTxWarp prst="textNoShape">
              <a:avLst/>
            </a:prstTxWarp>
          </a:bodyPr>
          <a:lstStyle/>
          <a:p>
            <a:pPr lvl="0"/>
            <a:r>
              <a:rPr lang="en-US" altLang="zh-CN"/>
              <a:t>Click to edit Master text styles</a:t>
            </a:r>
          </a:p>
          <a:p>
            <a:pPr lvl="1"/>
            <a:r>
              <a:rPr lang="en-US" altLang="zh-CN"/>
              <a:t>Second level</a:t>
            </a:r>
          </a:p>
          <a:p>
            <a:pPr lvl="2"/>
            <a:r>
              <a:rPr lang="en-US" altLang="zh-CN"/>
              <a:t>Third level</a:t>
            </a:r>
          </a:p>
        </p:txBody>
      </p:sp>
      <p:sp>
        <p:nvSpPr>
          <p:cNvPr id="32773" name="Rectangle 5"/>
          <p:cNvSpPr>
            <a:spLocks noGrp="1" noChangeArrowheads="1"/>
          </p:cNvSpPr>
          <p:nvPr>
            <p:ph type="ftr" sz="quarter" idx="3"/>
          </p:nvPr>
        </p:nvSpPr>
        <p:spPr bwMode="auto">
          <a:xfrm>
            <a:off x="4165600" y="6248400"/>
            <a:ext cx="3860800" cy="457200"/>
          </a:xfrm>
          <a:prstGeom prst="rect">
            <a:avLst/>
          </a:prstGeom>
          <a:noFill/>
          <a:ln w="9525">
            <a:noFill/>
            <a:miter lim="800000"/>
            <a:headEnd/>
            <a:tailEnd/>
          </a:ln>
          <a:effectLst/>
        </p:spPr>
        <p:txBody>
          <a:bodyPr vert="horz" wrap="square" lIns="91440" tIns="45720" rIns="91440" bIns="45720" numCol="1" anchor="t" anchorCtr="0" compatLnSpc="1">
            <a:prstTxWarp prst="textNoShape">
              <a:avLst/>
            </a:prstTxWarp>
          </a:bodyPr>
          <a:lstStyle>
            <a:lvl1pPr algn="ctr">
              <a:defRPr sz="750">
                <a:latin typeface="Verdana" pitchFamily="34" charset="0"/>
                <a:ea typeface="宋体" pitchFamily="2" charset="-122"/>
              </a:defRPr>
            </a:lvl1pPr>
          </a:lstStyle>
          <a:p>
            <a:endParaRPr lang="ko-KR" altLang="en-US"/>
          </a:p>
        </p:txBody>
      </p:sp>
      <p:sp>
        <p:nvSpPr>
          <p:cNvPr id="1030" name="Rectangle 12"/>
          <p:cNvSpPr>
            <a:spLocks noChangeArrowheads="1"/>
          </p:cNvSpPr>
          <p:nvPr/>
        </p:nvSpPr>
        <p:spPr bwMode="auto">
          <a:xfrm>
            <a:off x="304800" y="762000"/>
            <a:ext cx="10058400" cy="152400"/>
          </a:xfrm>
          <a:prstGeom prst="rect">
            <a:avLst/>
          </a:prstGeom>
          <a:gradFill rotWithShape="0">
            <a:gsLst>
              <a:gs pos="0">
                <a:srgbClr val="297F3D">
                  <a:alpha val="99001"/>
                </a:srgbClr>
              </a:gs>
              <a:gs pos="100000">
                <a:srgbClr val="FFFFFF"/>
              </a:gs>
            </a:gsLst>
            <a:lin ang="0" scaled="1"/>
          </a:gradFill>
          <a:ln>
            <a:noFill/>
          </a:ln>
          <a:extLst>
            <a:ext uri="{91240B29-F687-4F45-9708-019B960494DF}">
              <a14:hiddenLine xmlns:a14="http://schemas.microsoft.com/office/drawing/2010/main" w="9525">
                <a:solidFill>
                  <a:srgbClr val="000000"/>
                </a:solidFill>
                <a:miter lim="800000"/>
                <a:headEnd/>
                <a:tailEnd/>
              </a14:hiddenLine>
            </a:ext>
          </a:extLst>
        </p:spPr>
        <p:txBody>
          <a:bodyPr wrap="none" anchor="ctr"/>
          <a:lstStyle/>
          <a:p>
            <a:endParaRPr lang="en-US" sz="1350">
              <a:solidFill>
                <a:srgbClr val="000000"/>
              </a:solidFill>
            </a:endParaRPr>
          </a:p>
        </p:txBody>
      </p:sp>
      <p:sp>
        <p:nvSpPr>
          <p:cNvPr id="3" name="TextBox 2">
            <a:extLst>
              <a:ext uri="{FF2B5EF4-FFF2-40B4-BE49-F238E27FC236}">
                <a16:creationId xmlns:a16="http://schemas.microsoft.com/office/drawing/2014/main" id="{047E8E0A-D232-4C57-7AD9-EBC41A1AA7E2}"/>
              </a:ext>
            </a:extLst>
          </p:cNvPr>
          <p:cNvSpPr txBox="1"/>
          <p:nvPr/>
        </p:nvSpPr>
        <p:spPr>
          <a:xfrm>
            <a:off x="11582400" y="6373649"/>
            <a:ext cx="386644" cy="300082"/>
          </a:xfrm>
          <a:prstGeom prst="rect">
            <a:avLst/>
          </a:prstGeom>
          <a:noFill/>
        </p:spPr>
        <p:txBody>
          <a:bodyPr wrap="none" rtlCol="0">
            <a:spAutoFit/>
          </a:bodyPr>
          <a:lstStyle/>
          <a:p>
            <a:fld id="{B6F15528-21DE-4FAA-801E-634DDDAF4B2B}" type="slidenum">
              <a:rPr lang="en-US" altLang="ko-KR" sz="1350" smtClean="0">
                <a:solidFill>
                  <a:srgbClr val="000000"/>
                </a:solidFill>
              </a:rPr>
              <a:pPr/>
              <a:t>‹#›</a:t>
            </a:fld>
            <a:endParaRPr lang="ko-KR" altLang="en-US" sz="1350"/>
          </a:p>
        </p:txBody>
      </p:sp>
    </p:spTree>
    <p:extLst>
      <p:ext uri="{BB962C8B-B14F-4D97-AF65-F5344CB8AC3E}">
        <p14:creationId xmlns:p14="http://schemas.microsoft.com/office/powerpoint/2010/main" val="631496177"/>
      </p:ext>
    </p:extLst>
  </p:cSld>
  <p:clrMap bg1="lt1" tx1="dk1" bg2="lt2" tx2="dk2" accent1="accent1" accent2="accent2" accent3="accent3" accent4="accent4" accent5="accent5" accent6="accent6" hlink="hlink" folHlink="folHlink"/>
  <p:sldLayoutIdLst>
    <p:sldLayoutId id="2147483661" r:id="rId1"/>
    <p:sldLayoutId id="2147483662" r:id="rId2"/>
    <p:sldLayoutId id="2147483663" r:id="rId3"/>
    <p:sldLayoutId id="2147483664" r:id="rId4"/>
    <p:sldLayoutId id="2147483665" r:id="rId5"/>
    <p:sldLayoutId id="2147483666" r:id="rId6"/>
  </p:sldLayoutIdLst>
  <p:txStyles>
    <p:titleStyle>
      <a:lvl1pPr algn="l" rtl="0" eaLnBrk="1" fontAlgn="base" latinLnBrk="1" hangingPunct="1">
        <a:spcBef>
          <a:spcPct val="0"/>
        </a:spcBef>
        <a:spcAft>
          <a:spcPct val="0"/>
        </a:spcAft>
        <a:defRPr sz="2800">
          <a:solidFill>
            <a:schemeClr val="tx1"/>
          </a:solidFill>
          <a:latin typeface="+mj-lt"/>
          <a:ea typeface="+mj-ea"/>
          <a:cs typeface="+mj-cs"/>
        </a:defRPr>
      </a:lvl1pPr>
      <a:lvl2pPr algn="l" rtl="0" eaLnBrk="1" fontAlgn="base" latinLnBrk="1" hangingPunct="1">
        <a:spcBef>
          <a:spcPct val="0"/>
        </a:spcBef>
        <a:spcAft>
          <a:spcPct val="0"/>
        </a:spcAft>
        <a:defRPr sz="2400">
          <a:solidFill>
            <a:schemeClr val="tx1"/>
          </a:solidFill>
          <a:latin typeface="Times New Roman" pitchFamily="18" charset="0"/>
          <a:cs typeface="Arial" charset="0"/>
        </a:defRPr>
      </a:lvl2pPr>
      <a:lvl3pPr algn="l" rtl="0" eaLnBrk="1" fontAlgn="base" latinLnBrk="1" hangingPunct="1">
        <a:spcBef>
          <a:spcPct val="0"/>
        </a:spcBef>
        <a:spcAft>
          <a:spcPct val="0"/>
        </a:spcAft>
        <a:defRPr sz="2400">
          <a:solidFill>
            <a:schemeClr val="tx1"/>
          </a:solidFill>
          <a:latin typeface="Times New Roman" pitchFamily="18" charset="0"/>
          <a:cs typeface="Arial" charset="0"/>
        </a:defRPr>
      </a:lvl3pPr>
      <a:lvl4pPr algn="l" rtl="0" eaLnBrk="1" fontAlgn="base" latinLnBrk="1" hangingPunct="1">
        <a:spcBef>
          <a:spcPct val="0"/>
        </a:spcBef>
        <a:spcAft>
          <a:spcPct val="0"/>
        </a:spcAft>
        <a:defRPr sz="2400">
          <a:solidFill>
            <a:schemeClr val="tx1"/>
          </a:solidFill>
          <a:latin typeface="Times New Roman" pitchFamily="18" charset="0"/>
          <a:cs typeface="Arial" charset="0"/>
        </a:defRPr>
      </a:lvl4pPr>
      <a:lvl5pPr algn="l" rtl="0" eaLnBrk="1" fontAlgn="base" latinLnBrk="1" hangingPunct="1">
        <a:spcBef>
          <a:spcPct val="0"/>
        </a:spcBef>
        <a:spcAft>
          <a:spcPct val="0"/>
        </a:spcAft>
        <a:defRPr sz="2400">
          <a:solidFill>
            <a:schemeClr val="tx1"/>
          </a:solidFill>
          <a:latin typeface="Times New Roman" pitchFamily="18" charset="0"/>
          <a:cs typeface="Arial" charset="0"/>
        </a:defRPr>
      </a:lvl5pPr>
      <a:lvl6pPr marL="342900" algn="l" rtl="0" eaLnBrk="1" fontAlgn="base" latinLnBrk="1" hangingPunct="1">
        <a:spcBef>
          <a:spcPct val="0"/>
        </a:spcBef>
        <a:spcAft>
          <a:spcPct val="0"/>
        </a:spcAft>
        <a:defRPr sz="2400">
          <a:solidFill>
            <a:schemeClr val="tx1"/>
          </a:solidFill>
          <a:latin typeface="Times New Roman" pitchFamily="18" charset="0"/>
          <a:cs typeface="Arial" charset="0"/>
        </a:defRPr>
      </a:lvl6pPr>
      <a:lvl7pPr marL="685800" algn="l" rtl="0" eaLnBrk="1" fontAlgn="base" latinLnBrk="1" hangingPunct="1">
        <a:spcBef>
          <a:spcPct val="0"/>
        </a:spcBef>
        <a:spcAft>
          <a:spcPct val="0"/>
        </a:spcAft>
        <a:defRPr sz="2400">
          <a:solidFill>
            <a:schemeClr val="tx1"/>
          </a:solidFill>
          <a:latin typeface="Times New Roman" pitchFamily="18" charset="0"/>
          <a:cs typeface="Arial" charset="0"/>
        </a:defRPr>
      </a:lvl7pPr>
      <a:lvl8pPr marL="1028700" algn="l" rtl="0" eaLnBrk="1" fontAlgn="base" latinLnBrk="1" hangingPunct="1">
        <a:spcBef>
          <a:spcPct val="0"/>
        </a:spcBef>
        <a:spcAft>
          <a:spcPct val="0"/>
        </a:spcAft>
        <a:defRPr sz="2400">
          <a:solidFill>
            <a:schemeClr val="tx1"/>
          </a:solidFill>
          <a:latin typeface="Times New Roman" pitchFamily="18" charset="0"/>
          <a:cs typeface="Arial" charset="0"/>
        </a:defRPr>
      </a:lvl8pPr>
      <a:lvl9pPr marL="1371600" algn="l" rtl="0" eaLnBrk="1" fontAlgn="base" latinLnBrk="1" hangingPunct="1">
        <a:spcBef>
          <a:spcPct val="0"/>
        </a:spcBef>
        <a:spcAft>
          <a:spcPct val="0"/>
        </a:spcAft>
        <a:defRPr sz="2400">
          <a:solidFill>
            <a:schemeClr val="tx1"/>
          </a:solidFill>
          <a:latin typeface="Times New Roman" pitchFamily="18" charset="0"/>
          <a:cs typeface="Arial" charset="0"/>
        </a:defRPr>
      </a:lvl9pPr>
    </p:titleStyle>
    <p:bodyStyle>
      <a:lvl1pPr marL="257175" indent="-257175" algn="l" rtl="0" eaLnBrk="1" fontAlgn="base" latinLnBrk="1" hangingPunct="1">
        <a:spcBef>
          <a:spcPts val="0"/>
        </a:spcBef>
        <a:spcAft>
          <a:spcPts val="450"/>
        </a:spcAft>
        <a:buClr>
          <a:schemeClr val="tx1"/>
        </a:buClr>
        <a:buSzPct val="75000"/>
        <a:buFont typeface="Times New Roman" pitchFamily="18" charset="0"/>
        <a:buChar char="●"/>
        <a:defRPr sz="1800">
          <a:solidFill>
            <a:schemeClr val="tx1"/>
          </a:solidFill>
          <a:latin typeface="+mn-lt"/>
          <a:ea typeface="+mn-ea"/>
          <a:cs typeface="+mn-cs"/>
        </a:defRPr>
      </a:lvl1pPr>
      <a:lvl2pPr marL="480060" indent="-205740" algn="l" rtl="0" eaLnBrk="1" fontAlgn="base" latinLnBrk="1" hangingPunct="1">
        <a:spcBef>
          <a:spcPts val="0"/>
        </a:spcBef>
        <a:spcAft>
          <a:spcPts val="450"/>
        </a:spcAft>
        <a:buClrTx/>
        <a:buSzPct val="75000"/>
        <a:buFont typeface="Arial" charset="0"/>
        <a:buChar char="–"/>
        <a:defRPr lang="en-US" altLang="zh-CN" sz="1650" dirty="0" smtClean="0">
          <a:solidFill>
            <a:schemeClr val="tx1"/>
          </a:solidFill>
          <a:latin typeface="+mn-lt"/>
          <a:cs typeface="+mn-cs"/>
        </a:defRPr>
      </a:lvl2pPr>
      <a:lvl3pPr marL="754380" indent="-205740" algn="l" rtl="0" eaLnBrk="1" fontAlgn="base" latinLnBrk="1" hangingPunct="1">
        <a:spcBef>
          <a:spcPts val="0"/>
        </a:spcBef>
        <a:spcAft>
          <a:spcPts val="450"/>
        </a:spcAft>
        <a:buClrTx/>
        <a:buSzPct val="65000"/>
        <a:buFont typeface="Wingdings" pitchFamily="2" charset="2"/>
        <a:buChar char="§"/>
        <a:defRPr lang="en-US" altLang="zh-CN" sz="1500" dirty="0">
          <a:solidFill>
            <a:schemeClr val="tx1"/>
          </a:solidFill>
          <a:latin typeface="+mn-lt"/>
          <a:cs typeface="+mn-cs"/>
        </a:defRPr>
      </a:lvl3pPr>
      <a:lvl4pPr marL="1200150" indent="-171450" algn="l" rtl="0" eaLnBrk="1" fontAlgn="base" latinLnBrk="1" hangingPunct="1">
        <a:spcBef>
          <a:spcPct val="20000"/>
        </a:spcBef>
        <a:spcAft>
          <a:spcPct val="0"/>
        </a:spcAft>
        <a:buClr>
          <a:schemeClr val="bg2"/>
        </a:buClr>
        <a:buFont typeface="Arial" panose="020B0604020202020204" pitchFamily="34" charset="0"/>
        <a:buChar char="•"/>
        <a:defRPr sz="1200">
          <a:solidFill>
            <a:schemeClr val="tx1"/>
          </a:solidFill>
          <a:latin typeface="+mn-lt"/>
          <a:cs typeface="+mn-cs"/>
        </a:defRPr>
      </a:lvl4pPr>
      <a:lvl5pPr marL="1543050" indent="-171450" algn="l" rtl="0" eaLnBrk="1" fontAlgn="base" latinLnBrk="1" hangingPunct="1">
        <a:spcBef>
          <a:spcPct val="20000"/>
        </a:spcBef>
        <a:spcAft>
          <a:spcPct val="0"/>
        </a:spcAft>
        <a:buClr>
          <a:schemeClr val="tx2"/>
        </a:buClr>
        <a:buSzPct val="80000"/>
        <a:buFont typeface="Wingdings" pitchFamily="2" charset="2"/>
        <a:buChar char="§"/>
        <a:defRPr sz="1350">
          <a:solidFill>
            <a:schemeClr val="tx1"/>
          </a:solidFill>
          <a:latin typeface="+mn-lt"/>
          <a:cs typeface="+mn-cs"/>
        </a:defRPr>
      </a:lvl5pPr>
      <a:lvl6pPr marL="1885950" indent="-171450" algn="l" rtl="0" eaLnBrk="1" fontAlgn="base" latinLnBrk="1" hangingPunct="1">
        <a:spcBef>
          <a:spcPct val="20000"/>
        </a:spcBef>
        <a:spcAft>
          <a:spcPct val="0"/>
        </a:spcAft>
        <a:buClr>
          <a:schemeClr val="tx2"/>
        </a:buClr>
        <a:buSzPct val="80000"/>
        <a:buFont typeface="Wingdings" pitchFamily="2" charset="2"/>
        <a:buChar char="§"/>
        <a:defRPr>
          <a:solidFill>
            <a:schemeClr val="tx1"/>
          </a:solidFill>
          <a:latin typeface="+mn-lt"/>
          <a:cs typeface="+mn-cs"/>
        </a:defRPr>
      </a:lvl6pPr>
      <a:lvl7pPr marL="2228850" indent="-171450" algn="l" rtl="0" eaLnBrk="1" fontAlgn="base" latinLnBrk="1" hangingPunct="1">
        <a:spcBef>
          <a:spcPct val="20000"/>
        </a:spcBef>
        <a:spcAft>
          <a:spcPct val="0"/>
        </a:spcAft>
        <a:buClr>
          <a:schemeClr val="tx2"/>
        </a:buClr>
        <a:buSzPct val="80000"/>
        <a:buFont typeface="Wingdings" pitchFamily="2" charset="2"/>
        <a:buChar char="§"/>
        <a:defRPr>
          <a:solidFill>
            <a:schemeClr val="tx1"/>
          </a:solidFill>
          <a:latin typeface="+mn-lt"/>
          <a:cs typeface="+mn-cs"/>
        </a:defRPr>
      </a:lvl7pPr>
      <a:lvl8pPr marL="2571750" indent="-171450" algn="l" rtl="0" eaLnBrk="1" fontAlgn="base" latinLnBrk="1" hangingPunct="1">
        <a:spcBef>
          <a:spcPct val="20000"/>
        </a:spcBef>
        <a:spcAft>
          <a:spcPct val="0"/>
        </a:spcAft>
        <a:buClr>
          <a:schemeClr val="tx2"/>
        </a:buClr>
        <a:buSzPct val="80000"/>
        <a:buFont typeface="Wingdings" pitchFamily="2" charset="2"/>
        <a:buChar char="§"/>
        <a:defRPr>
          <a:solidFill>
            <a:schemeClr val="tx1"/>
          </a:solidFill>
          <a:latin typeface="+mn-lt"/>
          <a:cs typeface="+mn-cs"/>
        </a:defRPr>
      </a:lvl8pPr>
      <a:lvl9pPr marL="2914650" indent="-171450" algn="l" rtl="0" eaLnBrk="1" fontAlgn="base" latinLnBrk="1" hangingPunct="1">
        <a:spcBef>
          <a:spcPct val="20000"/>
        </a:spcBef>
        <a:spcAft>
          <a:spcPct val="0"/>
        </a:spcAft>
        <a:buClr>
          <a:schemeClr val="tx2"/>
        </a:buClr>
        <a:buSzPct val="80000"/>
        <a:buFont typeface="Wingdings" pitchFamily="2" charset="2"/>
        <a:buChar char="§"/>
        <a:defRPr>
          <a:solidFill>
            <a:schemeClr val="tx1"/>
          </a:solidFill>
          <a:latin typeface="+mn-lt"/>
          <a:cs typeface="+mn-cs"/>
        </a:defRPr>
      </a:lvl9pPr>
    </p:bodyStyle>
    <p:otherStyle>
      <a:defPPr>
        <a:defRPr lang="en-US"/>
      </a:defPPr>
      <a:lvl1pPr marL="0" algn="l" defTabSz="685800" rtl="0" eaLnBrk="1" latinLnBrk="1" hangingPunct="1">
        <a:defRPr sz="1350" kern="1200">
          <a:solidFill>
            <a:schemeClr val="tx1"/>
          </a:solidFill>
          <a:latin typeface="+mn-lt"/>
          <a:ea typeface="+mn-ea"/>
          <a:cs typeface="+mn-cs"/>
        </a:defRPr>
      </a:lvl1pPr>
      <a:lvl2pPr marL="342900" algn="l" defTabSz="685800" rtl="0" eaLnBrk="1" latinLnBrk="1" hangingPunct="1">
        <a:defRPr sz="1350" kern="1200">
          <a:solidFill>
            <a:schemeClr val="tx1"/>
          </a:solidFill>
          <a:latin typeface="+mn-lt"/>
          <a:ea typeface="+mn-ea"/>
          <a:cs typeface="+mn-cs"/>
        </a:defRPr>
      </a:lvl2pPr>
      <a:lvl3pPr marL="685800" algn="l" defTabSz="685800" rtl="0" eaLnBrk="1" latinLnBrk="1" hangingPunct="1">
        <a:defRPr sz="1350" kern="1200">
          <a:solidFill>
            <a:schemeClr val="tx1"/>
          </a:solidFill>
          <a:latin typeface="+mn-lt"/>
          <a:ea typeface="+mn-ea"/>
          <a:cs typeface="+mn-cs"/>
        </a:defRPr>
      </a:lvl3pPr>
      <a:lvl4pPr marL="1028700" algn="l" defTabSz="685800" rtl="0" eaLnBrk="1" latinLnBrk="1" hangingPunct="1">
        <a:defRPr sz="1350" kern="1200">
          <a:solidFill>
            <a:schemeClr val="tx1"/>
          </a:solidFill>
          <a:latin typeface="+mn-lt"/>
          <a:ea typeface="+mn-ea"/>
          <a:cs typeface="+mn-cs"/>
        </a:defRPr>
      </a:lvl4pPr>
      <a:lvl5pPr marL="1371600" algn="l" defTabSz="685800" rtl="0" eaLnBrk="1" latinLnBrk="1" hangingPunct="1">
        <a:defRPr sz="1350" kern="1200">
          <a:solidFill>
            <a:schemeClr val="tx1"/>
          </a:solidFill>
          <a:latin typeface="+mn-lt"/>
          <a:ea typeface="+mn-ea"/>
          <a:cs typeface="+mn-cs"/>
        </a:defRPr>
      </a:lvl5pPr>
      <a:lvl6pPr marL="1714500" algn="l" defTabSz="685800" rtl="0" eaLnBrk="1" latinLnBrk="1" hangingPunct="1">
        <a:defRPr sz="1350" kern="1200">
          <a:solidFill>
            <a:schemeClr val="tx1"/>
          </a:solidFill>
          <a:latin typeface="+mn-lt"/>
          <a:ea typeface="+mn-ea"/>
          <a:cs typeface="+mn-cs"/>
        </a:defRPr>
      </a:lvl6pPr>
      <a:lvl7pPr marL="2057400" algn="l" defTabSz="685800" rtl="0" eaLnBrk="1" latinLnBrk="1" hangingPunct="1">
        <a:defRPr sz="1350" kern="1200">
          <a:solidFill>
            <a:schemeClr val="tx1"/>
          </a:solidFill>
          <a:latin typeface="+mn-lt"/>
          <a:ea typeface="+mn-ea"/>
          <a:cs typeface="+mn-cs"/>
        </a:defRPr>
      </a:lvl7pPr>
      <a:lvl8pPr marL="2400300" algn="l" defTabSz="685800" rtl="0" eaLnBrk="1" latinLnBrk="1" hangingPunct="1">
        <a:defRPr sz="1350" kern="1200">
          <a:solidFill>
            <a:schemeClr val="tx1"/>
          </a:solidFill>
          <a:latin typeface="+mn-lt"/>
          <a:ea typeface="+mn-ea"/>
          <a:cs typeface="+mn-cs"/>
        </a:defRPr>
      </a:lvl8pPr>
      <a:lvl9pPr marL="2743200" algn="l" defTabSz="685800" rtl="0" eaLnBrk="1" latinLnBrk="1" hangingPunct="1">
        <a:defRPr sz="1350" kern="1200">
          <a:solidFill>
            <a:schemeClr val="tx1"/>
          </a:solidFill>
          <a:latin typeface="+mn-lt"/>
          <a:ea typeface="+mn-ea"/>
          <a:cs typeface="+mn-cs"/>
        </a:defRPr>
      </a:lvl9pPr>
    </p:otherStyle>
  </p:txStyles>
  <p:extLst>
    <p:ext uri="{27BBF7A9-308A-43DC-89C8-2F10F3537804}">
      <p15:sldGuideLst xmlns:p15="http://schemas.microsoft.com/office/powerpoint/2012/main">
        <p15:guide id="1" orient="horz" pos="2160">
          <p15:clr>
            <a:srgbClr val="F26B43"/>
          </p15:clr>
        </p15:guide>
        <p15:guide id="2" pos="3840">
          <p15:clr>
            <a:srgbClr val="F26B43"/>
          </p15:clr>
        </p15:guide>
      </p15:sldGuideLst>
    </p:ext>
  </p:extLst>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image" Target="../media/image3.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image" Target="../media/image4.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image" Target="../media/image5.png"/><Relationship Id="rId3" Type="http://schemas.openxmlformats.org/officeDocument/2006/relationships/notesSlide" Target="../notesSlides/notesSlide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image" Target="../media/image6.png"/><Relationship Id="rId3" Type="http://schemas.openxmlformats.org/officeDocument/2006/relationships/image" Target="../media/image7.png"/><Relationship Id="rId4" Type="http://schemas.openxmlformats.org/officeDocument/2006/relationships/notesSlide" Target="../notesSlides/notesSlide3.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image" Target="../media/image8.png"/><Relationship Id="rId3" Type="http://schemas.openxmlformats.org/officeDocument/2006/relationships/notesSlide" Target="../notesSlides/notesSlide4.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image" Target="../media/image9.png"/><Relationship Id="rId3" Type="http://schemas.openxmlformats.org/officeDocument/2006/relationships/notesSlide" Target="../notesSlides/notesSlide5.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image" Target="../media/image10.png"/><Relationship Id="rId3" Type="http://schemas.openxmlformats.org/officeDocument/2006/relationships/image" Target="../media/image11.png"/><Relationship Id="rId4" Type="http://schemas.openxmlformats.org/officeDocument/2006/relationships/notesSlide" Target="../notesSlides/notesSlide6.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notesSlide" Target="../notesSlides/notesSlide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8.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C161CA2A-44B7-9F04-6068-47D43FF3DC60}"/>
              </a:ext>
            </a:extLst>
          </p:cNvPr>
          <p:cNvSpPr>
            <a:spLocks noGrp="1"/>
          </p:cNvSpPr>
          <p:nvPr>
            <p:ph type="ctrTitle"/>
          </p:nvPr>
        </p:nvSpPr>
        <p:spPr>
          <a:xfrm>
            <a:off x="1118507" y="1016453"/>
            <a:ext cx="10882993" cy="1828800"/>
          </a:xfrm>
        </p:spPr>
        <p:txBody>
          <a:bodyPr/>
          <a:lstStyle/>
          <a:p>
            <a:pPr>
              <a:defRPr sz="3500" b="1">
                <a:solidFill>
                  <a:srgbClr val="000000"/>
                </a:solidFill>
                <a:latin typeface="Times New Roman"/>
              </a:defRPr>
            </a:pPr>
            <a:r>
              <a:t>IBIS Simulation Short Pulse Handling</a:t>
            </a:r>
          </a:p>
        </p:txBody>
      </p:sp>
      <p:sp>
        <p:nvSpPr>
          <p:cNvPr id="3" name="부제목 2">
            <a:extLst>
              <a:ext uri="{FF2B5EF4-FFF2-40B4-BE49-F238E27FC236}">
                <a16:creationId xmlns:a16="http://schemas.microsoft.com/office/drawing/2014/main" id="{D62CACD7-6A52-C28F-D2D0-4E8721229DAB}"/>
              </a:ext>
            </a:extLst>
          </p:cNvPr>
          <p:cNvSpPr>
            <a:spLocks noGrp="1"/>
          </p:cNvSpPr>
          <p:nvPr>
            <p:ph type="subTitle" idx="1"/>
          </p:nvPr>
        </p:nvSpPr>
        <p:spPr>
          <a:xfrm>
            <a:off x="1828800" y="5294671"/>
            <a:ext cx="8534400" cy="1563329"/>
          </a:xfrm>
        </p:spPr>
        <p:txBody>
          <a:bodyPr/>
          <a:lstStyle/>
          <a:p>
            <a:pPr algn="ctr">
              <a:defRPr sz="1600">
                <a:solidFill>
                  <a:srgbClr val="000000"/>
                </a:solidFill>
                <a:latin typeface="Times New Roman"/>
              </a:defRPr>
            </a:pPr>
            <a:r>
              <a:t>Simon Hwang</a:t>
            </a:r>
          </a:p>
          <a:p>
            <a:pPr algn="ctr">
              <a:defRPr sz="1600">
                <a:solidFill>
                  <a:srgbClr val="000000"/>
                </a:solidFill>
                <a:latin typeface="Times New Roman"/>
              </a:defRPr>
            </a:pPr>
            <a:r>
              <a:t>Dr. Chulsoon Hwang</a:t>
            </a:r>
          </a:p>
          <a:p>
            <a:pPr algn="ctr">
              <a:defRPr sz="1600">
                <a:solidFill>
                  <a:srgbClr val="000000"/>
                </a:solidFill>
                <a:latin typeface="Times New Roman"/>
              </a:defRPr>
            </a:pPr>
            <a:r>
              <a:t>Dr. Zhiping Yang</a:t>
            </a:r>
          </a:p>
          <a:p>
            <a:pPr algn="ctr">
              <a:defRPr sz="1600">
                <a:solidFill>
                  <a:srgbClr val="000000"/>
                </a:solidFill>
                <a:latin typeface="Times New Roman"/>
              </a:defRPr>
            </a:pPr>
            <a:r>
              <a:t>9/4/2026</a:t>
            </a:r>
          </a:p>
        </p:txBody>
      </p:sp>
    </p:spTree>
    <p:extLst>
      <p:ext uri="{BB962C8B-B14F-4D97-AF65-F5344CB8AC3E}">
        <p14:creationId xmlns:p14="http://schemas.microsoft.com/office/powerpoint/2010/main" val="66142218"/>
      </p:ext>
    </p:extLst>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algn="l">
              <a:defRPr sz="2700" b="0">
                <a:solidFill>
                  <a:srgbClr val="000000"/>
                </a:solidFill>
                <a:latin typeface="Times New Roman"/>
              </a:defRPr>
            </a:pPr>
            <a:r>
              <a:t>Table of contents</a:t>
            </a:r>
          </a:p>
        </p:txBody>
      </p:sp>
      <p:sp>
        <p:nvSpPr>
          <p:cNvPr id="3" name="TextBox 2"/>
          <p:cNvSpPr txBox="1"/>
          <p:nvPr/>
        </p:nvSpPr>
        <p:spPr>
          <a:xfrm>
            <a:off x="640080" y="1371600"/>
            <a:ext cx="11064240" cy="3429000"/>
          </a:xfrm>
          <a:prstGeom prst="rect">
            <a:avLst/>
          </a:prstGeom>
          <a:noFill/>
        </p:spPr>
        <p:txBody>
          <a:bodyPr wrap="square" lIns="73152" rIns="36576" tIns="36576" bIns="36576">
            <a:spAutoFit/>
          </a:bodyPr>
          <a:lstStyle/>
          <a:p>
            <a:pPr>
              <a:spcAft>
                <a:spcPts val="300"/>
              </a:spcAft>
              <a:defRPr sz="1700">
                <a:solidFill>
                  <a:srgbClr val="191F1C"/>
                </a:solidFill>
                <a:latin typeface="Aptos"/>
              </a:defRPr>
            </a:pPr>
            <a:r>
              <a:t>•  Issue recap</a:t>
            </a:r>
          </a:p>
          <a:p>
            <a:pPr>
              <a:spcAft>
                <a:spcPts val="300"/>
              </a:spcAft>
              <a:defRPr sz="1700">
                <a:solidFill>
                  <a:srgbClr val="191F1C"/>
                </a:solidFill>
                <a:latin typeface="Aptos"/>
              </a:defRPr>
            </a:pPr>
            <a:r>
              <a:t>•  Delaying the input command</a:t>
            </a:r>
          </a:p>
          <a:p>
            <a:pPr>
              <a:spcAft>
                <a:spcPts val="300"/>
              </a:spcAft>
              <a:defRPr sz="1700">
                <a:solidFill>
                  <a:srgbClr val="191F1C"/>
                </a:solidFill>
                <a:latin typeface="Aptos"/>
              </a:defRPr>
            </a:pPr>
            <a:r>
              <a:t>•  RLC fixture effects on V-t waveforms and Ku/Kd</a:t>
            </a:r>
          </a:p>
          <a:p>
            <a:pPr>
              <a:spcAft>
                <a:spcPts val="300"/>
              </a:spcAft>
              <a:defRPr sz="1700">
                <a:solidFill>
                  <a:srgbClr val="191F1C"/>
                </a:solidFill>
                <a:latin typeface="Aptos"/>
              </a:defRPr>
            </a:pPr>
            <a:r>
              <a:t>•  Pybis in HSPICE vs. NgSPICE</a:t>
            </a:r>
          </a:p>
          <a:p>
            <a:pPr>
              <a:spcAft>
                <a:spcPts val="300"/>
              </a:spcAft>
              <a:defRPr sz="1700">
                <a:solidFill>
                  <a:srgbClr val="191F1C"/>
                </a:solidFill>
                <a:latin typeface="Aptos"/>
              </a:defRPr>
            </a:pPr>
            <a:r>
              <a:t>•  More SPICE buffer mockups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algn="l">
              <a:defRPr sz="2700" b="0">
                <a:solidFill>
                  <a:srgbClr val="000000"/>
                </a:solidFill>
                <a:latin typeface="Times New Roman"/>
              </a:defRPr>
            </a:pPr>
            <a:r>
              <a:t>Issue recap</a:t>
            </a:r>
          </a:p>
        </p:txBody>
      </p:sp>
      <p:sp>
        <p:nvSpPr>
          <p:cNvPr id="3" name="TextBox 2"/>
          <p:cNvSpPr txBox="1"/>
          <p:nvPr/>
        </p:nvSpPr>
        <p:spPr>
          <a:xfrm>
            <a:off x="9372600" y="109728"/>
            <a:ext cx="2148840" cy="228600"/>
          </a:xfrm>
          <a:prstGeom prst="rect">
            <a:avLst/>
          </a:prstGeom>
          <a:noFill/>
        </p:spPr>
        <p:txBody>
          <a:bodyPr wrap="square" lIns="45720" rIns="45720" anchor="t">
            <a:spAutoFit/>
          </a:bodyPr>
          <a:lstStyle/>
          <a:p>
            <a:pPr algn="r">
              <a:defRPr sz="950" b="1">
                <a:solidFill>
                  <a:srgbClr val="666C68"/>
                </a:solidFill>
                <a:latin typeface="Aptos"/>
              </a:defRPr>
            </a:pPr>
            <a:r>
              <a:t>ISSUE RECAP</a:t>
            </a:r>
          </a:p>
        </p:txBody>
      </p:sp>
      <p:sp>
        <p:nvSpPr>
          <p:cNvPr id="4" name="TextBox 3"/>
          <p:cNvSpPr txBox="1"/>
          <p:nvPr/>
        </p:nvSpPr>
        <p:spPr>
          <a:xfrm>
            <a:off x="640080" y="1170432"/>
            <a:ext cx="11064240" cy="1371600"/>
          </a:xfrm>
          <a:prstGeom prst="rect">
            <a:avLst/>
          </a:prstGeom>
          <a:noFill/>
        </p:spPr>
        <p:txBody>
          <a:bodyPr wrap="square" lIns="73152" rIns="36576" tIns="36576" bIns="36576">
            <a:spAutoFit/>
          </a:bodyPr>
          <a:lstStyle/>
          <a:p>
            <a:pPr>
              <a:spcAft>
                <a:spcPts val="300"/>
              </a:spcAft>
              <a:defRPr sz="1700">
                <a:solidFill>
                  <a:srgbClr val="191F1C"/>
                </a:solidFill>
                <a:latin typeface="Aptos"/>
              </a:defRPr>
            </a:pPr>
            <a:r>
              <a:t>•  A short pulse reverses before the pad has finished its transition.</a:t>
            </a:r>
          </a:p>
          <a:p>
            <a:pPr>
              <a:spcAft>
                <a:spcPts val="300"/>
              </a:spcAft>
              <a:defRPr sz="1700">
                <a:solidFill>
                  <a:srgbClr val="191F1C"/>
                </a:solidFill>
                <a:latin typeface="Aptos"/>
              </a:defRPr>
            </a:pPr>
            <a:r>
              <a:t>•  Both IBIS models under-shoot the peak the transistor reaches, and ours sits slightly high on the tail after the reversal.</a:t>
            </a:r>
          </a:p>
        </p:txBody>
      </p:sp>
      <p:sp>
        <p:nvSpPr>
          <p:cNvPr id="5" name="Rectangle 4"/>
          <p:cNvSpPr/>
          <p:nvPr/>
        </p:nvSpPr>
        <p:spPr>
          <a:xfrm>
            <a:off x="743653" y="1819656"/>
            <a:ext cx="10674213" cy="4581144"/>
          </a:xfrm>
          <a:prstGeom prst="rect">
            <a:avLst/>
          </a:prstGeom>
          <a:solidFill>
            <a:srgbClr val="FFFFFF"/>
          </a:solidFill>
          <a:ln w="10160">
            <a:solidFill>
              <a:srgbClr val="CBD0C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recap_pad.png"/>
          <p:cNvPicPr>
            <a:picLocks noChangeAspect="1"/>
          </p:cNvPicPr>
          <p:nvPr/>
        </p:nvPicPr>
        <p:blipFill>
          <a:blip r:embed="rId2"/>
          <a:stretch>
            <a:fillRect/>
          </a:stretch>
        </p:blipFill>
        <p:spPr>
          <a:xfrm>
            <a:off x="771085" y="1847088"/>
            <a:ext cx="10619349" cy="4526280"/>
          </a:xfrm>
          <a:prstGeom prst="rect">
            <a:avLst/>
          </a:prstGeom>
        </p:spPr>
      </p:pic>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algn="l">
              <a:defRPr sz="2700" b="0">
                <a:solidFill>
                  <a:srgbClr val="000000"/>
                </a:solidFill>
                <a:latin typeface="Times New Roman"/>
              </a:defRPr>
            </a:pPr>
            <a:r>
              <a:t>Issue recap — the coefficients</a:t>
            </a:r>
          </a:p>
        </p:txBody>
      </p:sp>
      <p:sp>
        <p:nvSpPr>
          <p:cNvPr id="3" name="TextBox 2"/>
          <p:cNvSpPr txBox="1"/>
          <p:nvPr/>
        </p:nvSpPr>
        <p:spPr>
          <a:xfrm>
            <a:off x="9372600" y="109728"/>
            <a:ext cx="2148840" cy="228600"/>
          </a:xfrm>
          <a:prstGeom prst="rect">
            <a:avLst/>
          </a:prstGeom>
          <a:noFill/>
        </p:spPr>
        <p:txBody>
          <a:bodyPr wrap="square" lIns="45720" rIns="45720" anchor="t">
            <a:spAutoFit/>
          </a:bodyPr>
          <a:lstStyle/>
          <a:p>
            <a:pPr algn="r">
              <a:defRPr sz="950" b="1">
                <a:solidFill>
                  <a:srgbClr val="666C68"/>
                </a:solidFill>
                <a:latin typeface="Aptos"/>
              </a:defRPr>
            </a:pPr>
            <a:r>
              <a:t>ISSUE RECAP</a:t>
            </a:r>
          </a:p>
        </p:txBody>
      </p:sp>
      <p:sp>
        <p:nvSpPr>
          <p:cNvPr id="4" name="TextBox 3"/>
          <p:cNvSpPr txBox="1"/>
          <p:nvPr/>
        </p:nvSpPr>
        <p:spPr>
          <a:xfrm>
            <a:off x="640080" y="1170432"/>
            <a:ext cx="11064240" cy="1371600"/>
          </a:xfrm>
          <a:prstGeom prst="rect">
            <a:avLst/>
          </a:prstGeom>
          <a:noFill/>
        </p:spPr>
        <p:txBody>
          <a:bodyPr wrap="square" lIns="73152" rIns="36576" tIns="36576" bIns="36576">
            <a:spAutoFit/>
          </a:bodyPr>
          <a:lstStyle/>
          <a:p>
            <a:pPr>
              <a:spcAft>
                <a:spcPts val="300"/>
              </a:spcAft>
              <a:defRPr sz="1700">
                <a:solidFill>
                  <a:srgbClr val="191F1C"/>
                </a:solidFill>
                <a:latin typeface="Aptos"/>
              </a:defRPr>
            </a:pPr>
            <a:r>
              <a:t>•  Ku(t) and Kd(t) assume the transition starts from a settled state.</a:t>
            </a:r>
          </a:p>
          <a:p>
            <a:pPr>
              <a:spcAft>
                <a:spcPts val="300"/>
              </a:spcAft>
              <a:defRPr sz="1700">
                <a:solidFill>
                  <a:srgbClr val="191F1C"/>
                </a:solidFill>
                <a:latin typeface="Aptos"/>
              </a:defRPr>
            </a:pPr>
            <a:r>
              <a:t>•  When the reverse edge arrives first, they are still replayed from fully settled, and Ku does not return to zero.</a:t>
            </a:r>
          </a:p>
        </p:txBody>
      </p:sp>
      <p:sp>
        <p:nvSpPr>
          <p:cNvPr id="5" name="Rectangle 4"/>
          <p:cNvSpPr/>
          <p:nvPr/>
        </p:nvSpPr>
        <p:spPr>
          <a:xfrm>
            <a:off x="743653" y="1819656"/>
            <a:ext cx="10674213" cy="4581144"/>
          </a:xfrm>
          <a:prstGeom prst="rect">
            <a:avLst/>
          </a:prstGeom>
          <a:solidFill>
            <a:srgbClr val="FFFFFF"/>
          </a:solidFill>
          <a:ln w="10160">
            <a:solidFill>
              <a:srgbClr val="CBD0C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recap_kukd.png"/>
          <p:cNvPicPr>
            <a:picLocks noChangeAspect="1"/>
          </p:cNvPicPr>
          <p:nvPr/>
        </p:nvPicPr>
        <p:blipFill>
          <a:blip r:embed="rId2"/>
          <a:stretch>
            <a:fillRect/>
          </a:stretch>
        </p:blipFill>
        <p:spPr>
          <a:xfrm>
            <a:off x="771085" y="1847088"/>
            <a:ext cx="10619349" cy="4526280"/>
          </a:xfrm>
          <a:prstGeom prst="rect">
            <a:avLst/>
          </a:prstGeom>
        </p:spPr>
      </p:pic>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algn="l">
              <a:defRPr sz="2700" b="0">
                <a:solidFill>
                  <a:srgbClr val="000000"/>
                </a:solidFill>
                <a:latin typeface="Times New Roman"/>
              </a:defRPr>
            </a:pPr>
            <a:r>
              <a:t>The offset: charge stranded in the command capacitor</a:t>
            </a:r>
          </a:p>
        </p:txBody>
      </p:sp>
      <p:sp>
        <p:nvSpPr>
          <p:cNvPr id="3" name="TextBox 2"/>
          <p:cNvSpPr txBox="1"/>
          <p:nvPr/>
        </p:nvSpPr>
        <p:spPr>
          <a:xfrm>
            <a:off x="9372600" y="109728"/>
            <a:ext cx="2148840" cy="228600"/>
          </a:xfrm>
          <a:prstGeom prst="rect">
            <a:avLst/>
          </a:prstGeom>
          <a:noFill/>
        </p:spPr>
        <p:txBody>
          <a:bodyPr wrap="square" lIns="45720" rIns="45720" anchor="t">
            <a:spAutoFit/>
          </a:bodyPr>
          <a:lstStyle/>
          <a:p>
            <a:pPr algn="r">
              <a:defRPr sz="950" b="1">
                <a:solidFill>
                  <a:srgbClr val="666C68"/>
                </a:solidFill>
                <a:latin typeface="Aptos"/>
              </a:defRPr>
            </a:pPr>
            <a:r>
              <a:t>DELAYING THE INPUT COMMAND</a:t>
            </a:r>
          </a:p>
        </p:txBody>
      </p:sp>
      <p:sp>
        <p:nvSpPr>
          <p:cNvPr id="4" name="TextBox 3"/>
          <p:cNvSpPr txBox="1"/>
          <p:nvPr/>
        </p:nvSpPr>
        <p:spPr>
          <a:xfrm>
            <a:off x="640080" y="1170432"/>
            <a:ext cx="11064240" cy="1371600"/>
          </a:xfrm>
          <a:prstGeom prst="rect">
            <a:avLst/>
          </a:prstGeom>
          <a:noFill/>
        </p:spPr>
        <p:txBody>
          <a:bodyPr wrap="square" lIns="73152" rIns="36576" tIns="36576" bIns="36576">
            <a:spAutoFit/>
          </a:bodyPr>
          <a:lstStyle/>
          <a:p>
            <a:pPr>
              <a:spcAft>
                <a:spcPts val="300"/>
              </a:spcAft>
              <a:defRPr sz="1700">
                <a:solidFill>
                  <a:srgbClr val="191F1C"/>
                </a:solidFill>
                <a:latin typeface="Aptos"/>
              </a:defRPr>
            </a:pPr>
            <a:r>
              <a:t>•  GUPCMD is a capacitor across 1e15 ohm, charged once per input edge.</a:t>
            </a:r>
          </a:p>
          <a:p>
            <a:pPr>
              <a:spcAft>
                <a:spcPts val="300"/>
              </a:spcAft>
              <a:defRPr sz="1700">
                <a:solidFill>
                  <a:srgbClr val="191F1C"/>
                </a:solidFill>
                <a:latin typeface="Aptos"/>
              </a:defRPr>
            </a:pPr>
            <a:r>
              <a:t>•  A truncated pulse leaves charge in it with no resistive path out.</a:t>
            </a:r>
          </a:p>
        </p:txBody>
      </p:sp>
      <p:sp>
        <p:nvSpPr>
          <p:cNvPr id="5" name="Rectangle 4"/>
          <p:cNvSpPr/>
          <p:nvPr/>
        </p:nvSpPr>
        <p:spPr>
          <a:xfrm>
            <a:off x="743653" y="1819656"/>
            <a:ext cx="10674213" cy="4581144"/>
          </a:xfrm>
          <a:prstGeom prst="rect">
            <a:avLst/>
          </a:prstGeom>
          <a:solidFill>
            <a:srgbClr val="FFFFFF"/>
          </a:solidFill>
          <a:ln w="10160">
            <a:solidFill>
              <a:srgbClr val="CBD0C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offset_chain.png"/>
          <p:cNvPicPr>
            <a:picLocks noChangeAspect="1"/>
          </p:cNvPicPr>
          <p:nvPr/>
        </p:nvPicPr>
        <p:blipFill>
          <a:blip r:embed="rId2"/>
          <a:stretch>
            <a:fillRect/>
          </a:stretch>
        </p:blipFill>
        <p:spPr>
          <a:xfrm>
            <a:off x="771085" y="1847088"/>
            <a:ext cx="10619349" cy="4526280"/>
          </a:xfrm>
          <a:prstGeom prst="rect">
            <a:avLst/>
          </a:prstGeom>
        </p:spPr>
      </p:pic>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algn="l">
              <a:defRPr sz="2700" b="0">
                <a:solidFill>
                  <a:srgbClr val="000000"/>
                </a:solidFill>
                <a:latin typeface="Times New Roman"/>
              </a:defRPr>
            </a:pPr>
            <a:r>
              <a:t>How delay_cmd works</a:t>
            </a:r>
          </a:p>
        </p:txBody>
      </p:sp>
      <p:sp>
        <p:nvSpPr>
          <p:cNvPr id="3" name="TextBox 2"/>
          <p:cNvSpPr txBox="1"/>
          <p:nvPr/>
        </p:nvSpPr>
        <p:spPr>
          <a:xfrm>
            <a:off x="9372600" y="109728"/>
            <a:ext cx="2148840" cy="228600"/>
          </a:xfrm>
          <a:prstGeom prst="rect">
            <a:avLst/>
          </a:prstGeom>
          <a:noFill/>
        </p:spPr>
        <p:txBody>
          <a:bodyPr wrap="square" lIns="45720" rIns="45720" anchor="t">
            <a:spAutoFit/>
          </a:bodyPr>
          <a:lstStyle/>
          <a:p>
            <a:pPr algn="r">
              <a:defRPr sz="950" b="1">
                <a:solidFill>
                  <a:srgbClr val="666C68"/>
                </a:solidFill>
                <a:latin typeface="Aptos"/>
              </a:defRPr>
            </a:pPr>
            <a:r>
              <a:t>DELAYING THE INPUT COMMAND</a:t>
            </a:r>
          </a:p>
        </p:txBody>
      </p:sp>
      <p:sp>
        <p:nvSpPr>
          <p:cNvPr id="4" name="TextBox 3"/>
          <p:cNvSpPr txBox="1"/>
          <p:nvPr/>
        </p:nvSpPr>
        <p:spPr>
          <a:xfrm>
            <a:off x="640080" y="1170432"/>
            <a:ext cx="11064240" cy="1371600"/>
          </a:xfrm>
          <a:prstGeom prst="rect">
            <a:avLst/>
          </a:prstGeom>
          <a:noFill/>
        </p:spPr>
        <p:txBody>
          <a:bodyPr wrap="square" lIns="73152" rIns="36576" tIns="36576" bIns="36576">
            <a:spAutoFit/>
          </a:bodyPr>
          <a:lstStyle/>
          <a:p>
            <a:pPr>
              <a:spcAft>
                <a:spcPts val="300"/>
              </a:spcAft>
              <a:defRPr sz="1700">
                <a:solidFill>
                  <a:srgbClr val="191F1C"/>
                </a:solidFill>
                <a:latin typeface="Aptos"/>
              </a:defRPr>
            </a:pPr>
            <a:r>
              <a:t>•  gate-state: GUPCMD is a capacitor across 1e15 Ω, given a fixed packet of charge on each input edge — an integrator with no DC path.</a:t>
            </a:r>
          </a:p>
          <a:p>
            <a:pPr>
              <a:spcAft>
                <a:spcPts val="300"/>
              </a:spcAft>
              <a:defRPr sz="1700">
                <a:solidFill>
                  <a:srgbClr val="191F1C"/>
                </a:solidFill>
                <a:latin typeface="Aptos"/>
              </a:defRPr>
            </a:pPr>
            <a:r>
              <a:t>•  delay_cmd: GUPCMD is driven straight from the present input level.</a:t>
            </a:r>
          </a:p>
        </p:txBody>
      </p:sp>
      <p:sp>
        <p:nvSpPr>
          <p:cNvPr id="5" name="Rectangle 4"/>
          <p:cNvSpPr/>
          <p:nvPr/>
        </p:nvSpPr>
        <p:spPr>
          <a:xfrm>
            <a:off x="513743" y="2057400"/>
            <a:ext cx="5373312" cy="4398264"/>
          </a:xfrm>
          <a:prstGeom prst="rect">
            <a:avLst/>
          </a:prstGeom>
          <a:solidFill>
            <a:srgbClr val="FFFFFF"/>
          </a:solidFill>
          <a:ln w="10160">
            <a:solidFill>
              <a:srgbClr val="CBD0C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command_node.png"/>
          <p:cNvPicPr>
            <a:picLocks noChangeAspect="1"/>
          </p:cNvPicPr>
          <p:nvPr/>
        </p:nvPicPr>
        <p:blipFill>
          <a:blip r:embed="rId2"/>
          <a:stretch>
            <a:fillRect/>
          </a:stretch>
        </p:blipFill>
        <p:spPr>
          <a:xfrm>
            <a:off x="541175" y="2084831"/>
            <a:ext cx="5318448" cy="4343400"/>
          </a:xfrm>
          <a:prstGeom prst="rect">
            <a:avLst/>
          </a:prstGeom>
        </p:spPr>
      </p:pic>
      <p:sp>
        <p:nvSpPr>
          <p:cNvPr id="7" name="Rectangle 6"/>
          <p:cNvSpPr/>
          <p:nvPr/>
        </p:nvSpPr>
        <p:spPr>
          <a:xfrm>
            <a:off x="6274463" y="2057400"/>
            <a:ext cx="5373312" cy="4398264"/>
          </a:xfrm>
          <a:prstGeom prst="rect">
            <a:avLst/>
          </a:prstGeom>
          <a:solidFill>
            <a:srgbClr val="FFFFFF"/>
          </a:solidFill>
          <a:ln w="10160">
            <a:solidFill>
              <a:srgbClr val="CBD0C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8" name="Picture 7" descr="command_pad.png"/>
          <p:cNvPicPr>
            <a:picLocks noChangeAspect="1"/>
          </p:cNvPicPr>
          <p:nvPr/>
        </p:nvPicPr>
        <p:blipFill>
          <a:blip r:embed="rId3"/>
          <a:stretch>
            <a:fillRect/>
          </a:stretch>
        </p:blipFill>
        <p:spPr>
          <a:xfrm>
            <a:off x="6301895" y="2084831"/>
            <a:ext cx="5318448" cy="4343400"/>
          </a:xfrm>
          <a:prstGeom prst="rect">
            <a:avLst/>
          </a:prstGeom>
        </p:spPr>
      </p:pic>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algn="l">
              <a:defRPr sz="2700" b="0">
                <a:solidFill>
                  <a:srgbClr val="000000"/>
                </a:solidFill>
                <a:latin typeface="Times New Roman"/>
              </a:defRPr>
            </a:pPr>
            <a:r>
              <a:t>delay_cmd removes the offset</a:t>
            </a:r>
          </a:p>
        </p:txBody>
      </p:sp>
      <p:sp>
        <p:nvSpPr>
          <p:cNvPr id="3" name="TextBox 2"/>
          <p:cNvSpPr txBox="1"/>
          <p:nvPr/>
        </p:nvSpPr>
        <p:spPr>
          <a:xfrm>
            <a:off x="9372600" y="109728"/>
            <a:ext cx="2148840" cy="228600"/>
          </a:xfrm>
          <a:prstGeom prst="rect">
            <a:avLst/>
          </a:prstGeom>
          <a:noFill/>
        </p:spPr>
        <p:txBody>
          <a:bodyPr wrap="square" lIns="45720" rIns="45720" anchor="t">
            <a:spAutoFit/>
          </a:bodyPr>
          <a:lstStyle/>
          <a:p>
            <a:pPr algn="r">
              <a:defRPr sz="950" b="1">
                <a:solidFill>
                  <a:srgbClr val="666C68"/>
                </a:solidFill>
                <a:latin typeface="Aptos"/>
              </a:defRPr>
            </a:pPr>
            <a:r>
              <a:t>DELAYING THE INPUT COMMAND</a:t>
            </a:r>
          </a:p>
        </p:txBody>
      </p:sp>
      <p:sp>
        <p:nvSpPr>
          <p:cNvPr id="4" name="TextBox 3"/>
          <p:cNvSpPr txBox="1"/>
          <p:nvPr/>
        </p:nvSpPr>
        <p:spPr>
          <a:xfrm>
            <a:off x="640080" y="1170432"/>
            <a:ext cx="11064240" cy="1371600"/>
          </a:xfrm>
          <a:prstGeom prst="rect">
            <a:avLst/>
          </a:prstGeom>
          <a:noFill/>
        </p:spPr>
        <p:txBody>
          <a:bodyPr wrap="square" lIns="73152" rIns="36576" tIns="36576" bIns="36576">
            <a:spAutoFit/>
          </a:bodyPr>
          <a:lstStyle/>
          <a:p>
            <a:pPr>
              <a:spcAft>
                <a:spcPts val="300"/>
              </a:spcAft>
              <a:defRPr sz="1700">
                <a:solidFill>
                  <a:srgbClr val="191F1C"/>
                </a:solidFill>
                <a:latin typeface="Aptos"/>
              </a:defRPr>
            </a:pPr>
            <a:r>
              <a:t>•  The command returns to exactly zero, so nothing is stranded.</a:t>
            </a:r>
          </a:p>
          <a:p>
            <a:pPr>
              <a:spcAft>
                <a:spcPts val="300"/>
              </a:spcAft>
              <a:defRPr sz="1700">
                <a:solidFill>
                  <a:srgbClr val="191F1C"/>
                </a:solidFill>
                <a:latin typeface="Aptos"/>
              </a:defRPr>
            </a:pPr>
            <a:r>
              <a:t>•  The pedestal goes from 97.9 mV to 5.2 mV, against the transistor's 2.1.</a:t>
            </a:r>
          </a:p>
        </p:txBody>
      </p:sp>
      <p:sp>
        <p:nvSpPr>
          <p:cNvPr id="5" name="Rectangle 4"/>
          <p:cNvSpPr/>
          <p:nvPr/>
        </p:nvSpPr>
        <p:spPr>
          <a:xfrm>
            <a:off x="743653" y="1819656"/>
            <a:ext cx="10674213" cy="4581144"/>
          </a:xfrm>
          <a:prstGeom prst="rect">
            <a:avLst/>
          </a:prstGeom>
          <a:solidFill>
            <a:srgbClr val="FFFFFF"/>
          </a:solidFill>
          <a:ln w="10160">
            <a:solidFill>
              <a:srgbClr val="CBD0C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offset_removed.png"/>
          <p:cNvPicPr>
            <a:picLocks noChangeAspect="1"/>
          </p:cNvPicPr>
          <p:nvPr/>
        </p:nvPicPr>
        <p:blipFill>
          <a:blip r:embed="rId2"/>
          <a:stretch>
            <a:fillRect/>
          </a:stretch>
        </p:blipFill>
        <p:spPr>
          <a:xfrm>
            <a:off x="771085" y="1847088"/>
            <a:ext cx="10619349" cy="4526280"/>
          </a:xfrm>
          <a:prstGeom prst="rect">
            <a:avLst/>
          </a:prstGeom>
        </p:spPr>
      </p:pic>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algn="l">
              <a:defRPr sz="2700" b="0">
                <a:solidFill>
                  <a:srgbClr val="000000"/>
                </a:solidFill>
                <a:latin typeface="Times New Roman"/>
              </a:defRPr>
            </a:pPr>
            <a:r>
              <a:t>It does not fix the timing</a:t>
            </a:r>
          </a:p>
        </p:txBody>
      </p:sp>
      <p:sp>
        <p:nvSpPr>
          <p:cNvPr id="3" name="TextBox 2"/>
          <p:cNvSpPr txBox="1"/>
          <p:nvPr/>
        </p:nvSpPr>
        <p:spPr>
          <a:xfrm>
            <a:off x="9372600" y="109728"/>
            <a:ext cx="2148840" cy="228600"/>
          </a:xfrm>
          <a:prstGeom prst="rect">
            <a:avLst/>
          </a:prstGeom>
          <a:noFill/>
        </p:spPr>
        <p:txBody>
          <a:bodyPr wrap="square" lIns="45720" rIns="45720" anchor="t">
            <a:spAutoFit/>
          </a:bodyPr>
          <a:lstStyle/>
          <a:p>
            <a:pPr algn="r">
              <a:defRPr sz="950" b="1">
                <a:solidFill>
                  <a:srgbClr val="666C68"/>
                </a:solidFill>
                <a:latin typeface="Aptos"/>
              </a:defRPr>
            </a:pPr>
            <a:r>
              <a:t>DELAYING THE INPUT COMMAND</a:t>
            </a:r>
          </a:p>
        </p:txBody>
      </p:sp>
      <p:sp>
        <p:nvSpPr>
          <p:cNvPr id="4" name="TextBox 3"/>
          <p:cNvSpPr txBox="1"/>
          <p:nvPr/>
        </p:nvSpPr>
        <p:spPr>
          <a:xfrm>
            <a:off x="640080" y="1170432"/>
            <a:ext cx="11064240" cy="1371600"/>
          </a:xfrm>
          <a:prstGeom prst="rect">
            <a:avLst/>
          </a:prstGeom>
          <a:noFill/>
        </p:spPr>
        <p:txBody>
          <a:bodyPr wrap="square" lIns="73152" rIns="36576" tIns="36576" bIns="36576">
            <a:spAutoFit/>
          </a:bodyPr>
          <a:lstStyle/>
          <a:p>
            <a:pPr>
              <a:spcAft>
                <a:spcPts val="300"/>
              </a:spcAft>
              <a:defRPr sz="1700">
                <a:solidFill>
                  <a:srgbClr val="191F1C"/>
                </a:solidFill>
                <a:latin typeface="Aptos"/>
              </a:defRPr>
            </a:pPr>
            <a:r>
              <a:t>•  delay_cmd improved the timing on 0 of 19 stress cases — so the offset and the shift are two mechanisms, not one.</a:t>
            </a:r>
          </a:p>
          <a:p>
            <a:pPr>
              <a:spcAft>
                <a:spcPts val="300"/>
              </a:spcAft>
              <a:defRPr sz="1700">
                <a:solidFill>
                  <a:srgbClr val="191F1C"/>
                </a:solidFill>
                <a:latin typeface="Aptos"/>
              </a:defRPr>
            </a:pPr>
            <a:r>
              <a:t>•  Our 50% crossing still arrives after native's: io_buf +27..+34 ps against native's +11..+18.</a:t>
            </a:r>
          </a:p>
        </p:txBody>
      </p:sp>
      <p:sp>
        <p:nvSpPr>
          <p:cNvPr id="5" name="Rectangle 4"/>
          <p:cNvSpPr/>
          <p:nvPr/>
        </p:nvSpPr>
        <p:spPr>
          <a:xfrm>
            <a:off x="743653" y="1819656"/>
            <a:ext cx="10674213" cy="4581144"/>
          </a:xfrm>
          <a:prstGeom prst="rect">
            <a:avLst/>
          </a:prstGeom>
          <a:solidFill>
            <a:srgbClr val="FFFFFF"/>
          </a:solidFill>
          <a:ln w="10160">
            <a:solidFill>
              <a:srgbClr val="CBD0C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timing_shift.png"/>
          <p:cNvPicPr>
            <a:picLocks noChangeAspect="1"/>
          </p:cNvPicPr>
          <p:nvPr/>
        </p:nvPicPr>
        <p:blipFill>
          <a:blip r:embed="rId2"/>
          <a:stretch>
            <a:fillRect/>
          </a:stretch>
        </p:blipFill>
        <p:spPr>
          <a:xfrm>
            <a:off x="771085" y="1847088"/>
            <a:ext cx="10619349" cy="4526280"/>
          </a:xfrm>
          <a:prstGeom prst="rect">
            <a:avLst/>
          </a:prstGeom>
        </p:spPr>
      </p:pic>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algn="l">
              <a:defRPr sz="2700" b="0">
                <a:solidFill>
                  <a:srgbClr val="000000"/>
                </a:solidFill>
                <a:latin typeface="Times New Roman"/>
              </a:defRPr>
            </a:pPr>
            <a:r>
              <a:t>Is the difference the engine or the model?</a:t>
            </a:r>
          </a:p>
        </p:txBody>
      </p:sp>
      <p:sp>
        <p:nvSpPr>
          <p:cNvPr id="3" name="TextBox 2"/>
          <p:cNvSpPr txBox="1"/>
          <p:nvPr/>
        </p:nvSpPr>
        <p:spPr>
          <a:xfrm>
            <a:off x="9372600" y="109728"/>
            <a:ext cx="2148840" cy="228600"/>
          </a:xfrm>
          <a:prstGeom prst="rect">
            <a:avLst/>
          </a:prstGeom>
          <a:noFill/>
        </p:spPr>
        <p:txBody>
          <a:bodyPr wrap="square" lIns="45720" rIns="45720" anchor="t">
            <a:spAutoFit/>
          </a:bodyPr>
          <a:lstStyle/>
          <a:p>
            <a:pPr algn="r">
              <a:defRPr sz="950" b="1">
                <a:solidFill>
                  <a:srgbClr val="666C68"/>
                </a:solidFill>
                <a:latin typeface="Aptos"/>
              </a:defRPr>
            </a:pPr>
            <a:r>
              <a:t>PYBIS IN HSPICE VS. NGSPICE</a:t>
            </a:r>
          </a:p>
        </p:txBody>
      </p:sp>
      <p:sp>
        <p:nvSpPr>
          <p:cNvPr id="4" name="TextBox 3"/>
          <p:cNvSpPr txBox="1"/>
          <p:nvPr/>
        </p:nvSpPr>
        <p:spPr>
          <a:xfrm>
            <a:off x="640080" y="1170432"/>
            <a:ext cx="11064240" cy="685800"/>
          </a:xfrm>
          <a:prstGeom prst="rect">
            <a:avLst/>
          </a:prstGeom>
          <a:noFill/>
        </p:spPr>
        <p:txBody>
          <a:bodyPr wrap="square" lIns="73152" rIns="36576" tIns="36576" bIns="36576">
            <a:spAutoFit/>
          </a:bodyPr>
          <a:lstStyle/>
          <a:p>
            <a:pPr>
              <a:spcAft>
                <a:spcPts val="300"/>
              </a:spcAft>
              <a:defRPr sz="1700">
                <a:solidFill>
                  <a:srgbClr val="191F1C"/>
                </a:solidFill>
                <a:latin typeface="Aptos"/>
              </a:defRPr>
            </a:pPr>
            <a:r>
              <a:t>•  Every native-vs-ours number changes two things at once. We wrote a translator so the same model runs in both simulators.</a:t>
            </a:r>
          </a:p>
        </p:txBody>
      </p:sp>
      <p:sp>
        <p:nvSpPr>
          <p:cNvPr id="5" name="TextBox 4"/>
          <p:cNvSpPr txBox="1"/>
          <p:nvPr/>
        </p:nvSpPr>
        <p:spPr>
          <a:xfrm>
            <a:off x="640080" y="2103120"/>
            <a:ext cx="10972800" cy="457200"/>
          </a:xfrm>
          <a:prstGeom prst="rect">
            <a:avLst/>
          </a:prstGeom>
          <a:noFill/>
        </p:spPr>
        <p:txBody>
          <a:bodyPr wrap="square" lIns="45720" rIns="45720" anchor="t">
            <a:spAutoFit/>
          </a:bodyPr>
          <a:lstStyle/>
          <a:p>
            <a:pPr algn="l">
              <a:defRPr sz="1700" b="0">
                <a:solidFill>
                  <a:srgbClr val="191F1C"/>
                </a:solidFill>
                <a:latin typeface="Aptos"/>
              </a:defRPr>
            </a:pPr>
            <a:r>
              <a:t>Falling 50% crossing:</a:t>
            </a:r>
          </a:p>
        </p:txBody>
      </p:sp>
      <p:sp>
        <p:nvSpPr>
          <p:cNvPr id="6" name="TextBox 5"/>
          <p:cNvSpPr txBox="1"/>
          <p:nvPr/>
        </p:nvSpPr>
        <p:spPr>
          <a:xfrm>
            <a:off x="640080" y="2651760"/>
            <a:ext cx="11064240" cy="2057400"/>
          </a:xfrm>
          <a:prstGeom prst="rect">
            <a:avLst/>
          </a:prstGeom>
          <a:noFill/>
        </p:spPr>
        <p:txBody>
          <a:bodyPr wrap="square" lIns="73152" rIns="36576" tIns="36576" bIns="36576">
            <a:spAutoFit/>
          </a:bodyPr>
          <a:lstStyle/>
          <a:p>
            <a:pPr>
              <a:spcAft>
                <a:spcPts val="300"/>
              </a:spcAft>
              <a:defRPr sz="1700">
                <a:solidFill>
                  <a:srgbClr val="191F1C"/>
                </a:solidFill>
                <a:latin typeface="Aptos"/>
              </a:defRPr>
            </a:pPr>
            <a:r>
              <a:t>•  our model in ngspice     5.3371 ns</a:t>
            </a:r>
          </a:p>
          <a:p>
            <a:pPr>
              <a:spcAft>
                <a:spcPts val="300"/>
              </a:spcAft>
              <a:defRPr sz="1700">
                <a:solidFill>
                  <a:srgbClr val="191F1C"/>
                </a:solidFill>
                <a:latin typeface="Aptos"/>
              </a:defRPr>
            </a:pPr>
            <a:r>
              <a:t>•  our model in HSPICE      5.3375 ns     engine:  −0.5 ps</a:t>
            </a:r>
          </a:p>
          <a:p>
            <a:pPr>
              <a:spcAft>
                <a:spcPts val="300"/>
              </a:spcAft>
              <a:defRPr sz="1700">
                <a:solidFill>
                  <a:srgbClr val="191F1C"/>
                </a:solidFill>
                <a:latin typeface="Aptos"/>
              </a:defRPr>
            </a:pPr>
            <a:r>
              <a:t>•  native IBIS in HSPICE    5.3319 ns     model:   +5.6 ps</a:t>
            </a:r>
          </a:p>
        </p:txBody>
      </p:sp>
      <p:sp>
        <p:nvSpPr>
          <p:cNvPr id="7" name="TextBox 6"/>
          <p:cNvSpPr txBox="1"/>
          <p:nvPr/>
        </p:nvSpPr>
        <p:spPr>
          <a:xfrm>
            <a:off x="640080" y="4572000"/>
            <a:ext cx="10972800" cy="914400"/>
          </a:xfrm>
          <a:prstGeom prst="rect">
            <a:avLst/>
          </a:prstGeom>
          <a:noFill/>
        </p:spPr>
        <p:txBody>
          <a:bodyPr wrap="square" lIns="45720" rIns="45720" anchor="t">
            <a:spAutoFit/>
          </a:bodyPr>
          <a:lstStyle/>
          <a:p>
            <a:pPr algn="l">
              <a:defRPr sz="1700" b="0">
                <a:solidFill>
                  <a:srgbClr val="191F1C"/>
                </a:solidFill>
                <a:latin typeface="Aptos"/>
              </a:defRPr>
            </a:pPr>
            <a:r>
              <a:t>The engine is not the source — provided ngspice is converged. At a 1 ps step it was an aliasing outlier that doubled the apparent lag.</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algn="l">
              <a:defRPr sz="2700" b="0">
                <a:solidFill>
                  <a:srgbClr val="000000"/>
                </a:solidFill>
                <a:latin typeface="Times New Roman"/>
              </a:defRPr>
            </a:pPr>
            <a:r>
              <a:t>What fixtures do to the extracted Ku/Kd</a:t>
            </a:r>
          </a:p>
        </p:txBody>
      </p:sp>
      <p:sp>
        <p:nvSpPr>
          <p:cNvPr id="3" name="TextBox 2"/>
          <p:cNvSpPr txBox="1"/>
          <p:nvPr/>
        </p:nvSpPr>
        <p:spPr>
          <a:xfrm>
            <a:off x="9372600" y="109728"/>
            <a:ext cx="2148840" cy="228600"/>
          </a:xfrm>
          <a:prstGeom prst="rect">
            <a:avLst/>
          </a:prstGeom>
          <a:noFill/>
        </p:spPr>
        <p:txBody>
          <a:bodyPr wrap="square" lIns="45720" rIns="45720" anchor="t">
            <a:spAutoFit/>
          </a:bodyPr>
          <a:lstStyle/>
          <a:p>
            <a:pPr algn="r">
              <a:defRPr sz="950" b="1">
                <a:solidFill>
                  <a:srgbClr val="666C68"/>
                </a:solidFill>
                <a:latin typeface="Aptos"/>
              </a:defRPr>
            </a:pPr>
            <a:r>
              <a:t>RLC FIXTURE EFFECTS</a:t>
            </a:r>
          </a:p>
        </p:txBody>
      </p:sp>
      <p:sp>
        <p:nvSpPr>
          <p:cNvPr id="4" name="TextBox 3"/>
          <p:cNvSpPr txBox="1"/>
          <p:nvPr/>
        </p:nvSpPr>
        <p:spPr>
          <a:xfrm>
            <a:off x="640080" y="1170432"/>
            <a:ext cx="11064240" cy="1371600"/>
          </a:xfrm>
          <a:prstGeom prst="rect">
            <a:avLst/>
          </a:prstGeom>
          <a:noFill/>
        </p:spPr>
        <p:txBody>
          <a:bodyPr wrap="square" lIns="73152" rIns="36576" tIns="36576" bIns="36576">
            <a:spAutoFit/>
          </a:bodyPr>
          <a:lstStyle/>
          <a:p>
            <a:pPr>
              <a:spcAft>
                <a:spcPts val="300"/>
              </a:spcAft>
              <a:defRPr sz="1700">
                <a:solidFill>
                  <a:srgbClr val="191F1C"/>
                </a:solidFill>
                <a:latin typeface="Aptos"/>
              </a:defRPr>
            </a:pPr>
            <a:r>
              <a:t>•  Five fixtures, Ku re-solved on each. In the quiet regions all five agree to four decimals.</a:t>
            </a:r>
          </a:p>
          <a:p>
            <a:pPr>
              <a:spcAft>
                <a:spcPts val="300"/>
              </a:spcAft>
              <a:defRPr sz="1700">
                <a:solidFill>
                  <a:srgbClr val="191F1C"/>
                </a:solidFill>
                <a:latin typeface="Aptos"/>
              </a:defRPr>
            </a:pPr>
            <a:r>
              <a:t>•  Series inductance disturbs it, and only on io_buf.</a:t>
            </a:r>
          </a:p>
        </p:txBody>
      </p:sp>
      <p:sp>
        <p:nvSpPr>
          <p:cNvPr id="5" name="Rectangle 4"/>
          <p:cNvSpPr/>
          <p:nvPr/>
        </p:nvSpPr>
        <p:spPr>
          <a:xfrm>
            <a:off x="513743" y="2057400"/>
            <a:ext cx="5373312" cy="4398264"/>
          </a:xfrm>
          <a:prstGeom prst="rect">
            <a:avLst/>
          </a:prstGeom>
          <a:solidFill>
            <a:srgbClr val="FFFFFF"/>
          </a:solidFill>
          <a:ln w="10160">
            <a:solidFill>
              <a:srgbClr val="CBD0C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fixture_vt.png"/>
          <p:cNvPicPr>
            <a:picLocks noChangeAspect="1"/>
          </p:cNvPicPr>
          <p:nvPr/>
        </p:nvPicPr>
        <p:blipFill>
          <a:blip r:embed="rId2"/>
          <a:stretch>
            <a:fillRect/>
          </a:stretch>
        </p:blipFill>
        <p:spPr>
          <a:xfrm>
            <a:off x="541175" y="2084831"/>
            <a:ext cx="5318448" cy="4343400"/>
          </a:xfrm>
          <a:prstGeom prst="rect">
            <a:avLst/>
          </a:prstGeom>
        </p:spPr>
      </p:pic>
      <p:sp>
        <p:nvSpPr>
          <p:cNvPr id="7" name="Rectangle 6"/>
          <p:cNvSpPr/>
          <p:nvPr/>
        </p:nvSpPr>
        <p:spPr>
          <a:xfrm>
            <a:off x="6274463" y="2057400"/>
            <a:ext cx="5373312" cy="4398264"/>
          </a:xfrm>
          <a:prstGeom prst="rect">
            <a:avLst/>
          </a:prstGeom>
          <a:solidFill>
            <a:srgbClr val="FFFFFF"/>
          </a:solidFill>
          <a:ln w="10160">
            <a:solidFill>
              <a:srgbClr val="CBD0C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8" name="Picture 7" descr="fixture_ku.png"/>
          <p:cNvPicPr>
            <a:picLocks noChangeAspect="1"/>
          </p:cNvPicPr>
          <p:nvPr/>
        </p:nvPicPr>
        <p:blipFill>
          <a:blip r:embed="rId3"/>
          <a:stretch>
            <a:fillRect/>
          </a:stretch>
        </p:blipFill>
        <p:spPr>
          <a:xfrm>
            <a:off x="6301895" y="2084831"/>
            <a:ext cx="5318448" cy="4343400"/>
          </a:xfrm>
          <a:prstGeom prst="rect">
            <a:avLst/>
          </a:prstGeom>
        </p:spPr>
      </p:pic>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algn="l">
              <a:defRPr sz="2700" b="0">
                <a:solidFill>
                  <a:srgbClr val="000000"/>
                </a:solidFill>
                <a:latin typeface="Times New Roman"/>
              </a:defRPr>
            </a:pPr>
            <a:r>
              <a:t>Nine new buffer variants, same stress axis</a:t>
            </a:r>
          </a:p>
        </p:txBody>
      </p:sp>
      <p:sp>
        <p:nvSpPr>
          <p:cNvPr id="3" name="TextBox 2"/>
          <p:cNvSpPr txBox="1"/>
          <p:nvPr/>
        </p:nvSpPr>
        <p:spPr>
          <a:xfrm>
            <a:off x="9372600" y="109728"/>
            <a:ext cx="2148840" cy="228600"/>
          </a:xfrm>
          <a:prstGeom prst="rect">
            <a:avLst/>
          </a:prstGeom>
          <a:noFill/>
        </p:spPr>
        <p:txBody>
          <a:bodyPr wrap="square" lIns="45720" rIns="45720" anchor="t">
            <a:spAutoFit/>
          </a:bodyPr>
          <a:lstStyle/>
          <a:p>
            <a:pPr algn="r">
              <a:defRPr sz="950" b="1">
                <a:solidFill>
                  <a:srgbClr val="666C68"/>
                </a:solidFill>
                <a:latin typeface="Aptos"/>
              </a:defRPr>
            </a:pPr>
            <a:r>
              <a:t>MORE SPICE BUFFER MOCKUPS</a:t>
            </a:r>
          </a:p>
        </p:txBody>
      </p:sp>
      <p:sp>
        <p:nvSpPr>
          <p:cNvPr id="4" name="TextBox 3"/>
          <p:cNvSpPr txBox="1"/>
          <p:nvPr/>
        </p:nvSpPr>
        <p:spPr>
          <a:xfrm>
            <a:off x="640080" y="1170432"/>
            <a:ext cx="11064240" cy="1371600"/>
          </a:xfrm>
          <a:prstGeom prst="rect">
            <a:avLst/>
          </a:prstGeom>
          <a:noFill/>
        </p:spPr>
        <p:txBody>
          <a:bodyPr wrap="square" lIns="73152" rIns="36576" tIns="36576" bIns="36576">
            <a:spAutoFit/>
          </a:bodyPr>
          <a:lstStyle/>
          <a:p>
            <a:pPr>
              <a:spcAft>
                <a:spcPts val="300"/>
              </a:spcAft>
              <a:defRPr sz="1700">
                <a:solidFill>
                  <a:srgbClr val="191F1C"/>
                </a:solidFill>
                <a:latin typeface="Aptos"/>
              </a:defRPr>
            </a:pPr>
            <a:r>
              <a:t>•  Slower predriver, halved output devices, skewed PMOS, open-drain.</a:t>
            </a:r>
          </a:p>
          <a:p>
            <a:pPr>
              <a:spcAft>
                <a:spcPts val="300"/>
              </a:spcAft>
              <a:defRPr sz="1700">
                <a:solidFill>
                  <a:srgbClr val="191F1C"/>
                </a:solidFill>
                <a:latin typeface="Aptos"/>
              </a:defRPr>
            </a:pPr>
            <a:r>
              <a:t>•  Characterised and stressed exactly like the three base buffers.</a:t>
            </a:r>
          </a:p>
        </p:txBody>
      </p:sp>
      <p:sp>
        <p:nvSpPr>
          <p:cNvPr id="5" name="Rectangle 4"/>
          <p:cNvSpPr/>
          <p:nvPr/>
        </p:nvSpPr>
        <p:spPr>
          <a:xfrm>
            <a:off x="513743" y="2057400"/>
            <a:ext cx="5373312" cy="4398264"/>
          </a:xfrm>
          <a:prstGeom prst="rect">
            <a:avLst/>
          </a:prstGeom>
          <a:solidFill>
            <a:srgbClr val="FFFFFF"/>
          </a:solidFill>
          <a:ln w="10160">
            <a:solidFill>
              <a:srgbClr val="CBD0C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variant_pad.png"/>
          <p:cNvPicPr>
            <a:picLocks noChangeAspect="1"/>
          </p:cNvPicPr>
          <p:nvPr/>
        </p:nvPicPr>
        <p:blipFill>
          <a:blip r:embed="rId2"/>
          <a:stretch>
            <a:fillRect/>
          </a:stretch>
        </p:blipFill>
        <p:spPr>
          <a:xfrm>
            <a:off x="541175" y="2084831"/>
            <a:ext cx="5318448" cy="4343400"/>
          </a:xfrm>
          <a:prstGeom prst="rect">
            <a:avLst/>
          </a:prstGeom>
        </p:spPr>
      </p:pic>
      <p:sp>
        <p:nvSpPr>
          <p:cNvPr id="7" name="Rectangle 6"/>
          <p:cNvSpPr/>
          <p:nvPr/>
        </p:nvSpPr>
        <p:spPr>
          <a:xfrm>
            <a:off x="6274463" y="2057400"/>
            <a:ext cx="5373312" cy="4398264"/>
          </a:xfrm>
          <a:prstGeom prst="rect">
            <a:avLst/>
          </a:prstGeom>
          <a:solidFill>
            <a:srgbClr val="FFFFFF"/>
          </a:solidFill>
          <a:ln w="10160">
            <a:solidFill>
              <a:srgbClr val="CBD0C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8" name="Picture 7" descr="variant_kukd.png"/>
          <p:cNvPicPr>
            <a:picLocks noChangeAspect="1"/>
          </p:cNvPicPr>
          <p:nvPr/>
        </p:nvPicPr>
        <p:blipFill>
          <a:blip r:embed="rId3"/>
          <a:stretch>
            <a:fillRect/>
          </a:stretch>
        </p:blipFill>
        <p:spPr>
          <a:xfrm>
            <a:off x="6301895" y="2084831"/>
            <a:ext cx="5318448" cy="4343400"/>
          </a:xfrm>
          <a:prstGeom prst="rect">
            <a:avLst/>
          </a:prstGeom>
        </p:spPr>
      </p:pic>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algn="l">
              <a:defRPr sz="2700" b="0">
                <a:solidFill>
                  <a:srgbClr val="000000"/>
                </a:solidFill>
                <a:latin typeface="Times New Roman"/>
              </a:defRPr>
            </a:pPr>
            <a:r>
              <a:t>Where this leaves us</a:t>
            </a:r>
          </a:p>
        </p:txBody>
      </p:sp>
      <p:sp>
        <p:nvSpPr>
          <p:cNvPr id="3" name="TextBox 2"/>
          <p:cNvSpPr txBox="1"/>
          <p:nvPr/>
        </p:nvSpPr>
        <p:spPr>
          <a:xfrm>
            <a:off x="9372600" y="109728"/>
            <a:ext cx="2148840" cy="228600"/>
          </a:xfrm>
          <a:prstGeom prst="rect">
            <a:avLst/>
          </a:prstGeom>
          <a:noFill/>
        </p:spPr>
        <p:txBody>
          <a:bodyPr wrap="square" lIns="45720" rIns="45720" anchor="t">
            <a:spAutoFit/>
          </a:bodyPr>
          <a:lstStyle/>
          <a:p>
            <a:pPr algn="r">
              <a:defRPr sz="950" b="1">
                <a:solidFill>
                  <a:srgbClr val="666C68"/>
                </a:solidFill>
                <a:latin typeface="Aptos"/>
              </a:defRPr>
            </a:pPr>
            <a:r>
              <a:t>SUMMARY</a:t>
            </a:r>
          </a:p>
        </p:txBody>
      </p:sp>
      <p:sp>
        <p:nvSpPr>
          <p:cNvPr id="4" name="TextBox 3"/>
          <p:cNvSpPr txBox="1"/>
          <p:nvPr/>
        </p:nvSpPr>
        <p:spPr>
          <a:xfrm>
            <a:off x="640080" y="1188720"/>
            <a:ext cx="10972800" cy="457200"/>
          </a:xfrm>
          <a:prstGeom prst="rect">
            <a:avLst/>
          </a:prstGeom>
          <a:noFill/>
        </p:spPr>
        <p:txBody>
          <a:bodyPr wrap="square" lIns="45720" rIns="45720" anchor="t">
            <a:spAutoFit/>
          </a:bodyPr>
          <a:lstStyle/>
          <a:p>
            <a:pPr algn="l">
              <a:defRPr sz="1700" b="0">
                <a:solidFill>
                  <a:srgbClr val="191F1C"/>
                </a:solidFill>
                <a:latin typeface="Aptos"/>
              </a:defRPr>
            </a:pPr>
            <a:r>
              <a:t>Settled:</a:t>
            </a:r>
          </a:p>
        </p:txBody>
      </p:sp>
      <p:sp>
        <p:nvSpPr>
          <p:cNvPr id="5" name="TextBox 4"/>
          <p:cNvSpPr txBox="1"/>
          <p:nvPr/>
        </p:nvSpPr>
        <p:spPr>
          <a:xfrm>
            <a:off x="640080" y="1737360"/>
            <a:ext cx="11064240" cy="2743200"/>
          </a:xfrm>
          <a:prstGeom prst="rect">
            <a:avLst/>
          </a:prstGeom>
          <a:noFill/>
        </p:spPr>
        <p:txBody>
          <a:bodyPr wrap="square" lIns="73152" rIns="36576" tIns="36576" bIns="36576">
            <a:spAutoFit/>
          </a:bodyPr>
          <a:lstStyle/>
          <a:p>
            <a:pPr>
              <a:spcAft>
                <a:spcPts val="300"/>
              </a:spcAft>
              <a:defRPr sz="1700">
                <a:solidFill>
                  <a:srgbClr val="191F1C"/>
                </a:solidFill>
                <a:latin typeface="Aptos"/>
              </a:defRPr>
            </a:pPr>
            <a:r>
              <a:t>•  C_comp is handled correctly</a:t>
            </a:r>
          </a:p>
          <a:p>
            <a:pPr>
              <a:spcAft>
                <a:spcPts val="300"/>
              </a:spcAft>
              <a:defRPr sz="1700">
                <a:solidFill>
                  <a:srgbClr val="191F1C"/>
                </a:solidFill>
                <a:latin typeface="Aptos"/>
              </a:defRPr>
            </a:pPr>
            <a:r>
              <a:t>•  the SPICE engine is not a confounder</a:t>
            </a:r>
          </a:p>
          <a:p>
            <a:pPr>
              <a:spcAft>
                <a:spcPts val="300"/>
              </a:spcAft>
              <a:defRPr sz="1700">
                <a:solidFill>
                  <a:srgbClr val="191F1C"/>
                </a:solidFill>
                <a:latin typeface="Aptos"/>
              </a:defRPr>
            </a:pPr>
            <a:r>
              <a:t>•  our model reproduces its own golden waveforms</a:t>
            </a:r>
          </a:p>
          <a:p>
            <a:pPr>
              <a:spcAft>
                <a:spcPts val="300"/>
              </a:spcAft>
              <a:defRPr sz="1700">
                <a:solidFill>
                  <a:srgbClr val="191F1C"/>
                </a:solidFill>
                <a:latin typeface="Aptos"/>
              </a:defRPr>
            </a:pPr>
            <a:r>
              <a:t>•  delay_cmd removes the settled offset</a:t>
            </a:r>
          </a:p>
        </p:txBody>
      </p:sp>
      <p:sp>
        <p:nvSpPr>
          <p:cNvPr id="6" name="TextBox 5"/>
          <p:cNvSpPr txBox="1"/>
          <p:nvPr/>
        </p:nvSpPr>
        <p:spPr>
          <a:xfrm>
            <a:off x="640080" y="3840480"/>
            <a:ext cx="10972800" cy="457200"/>
          </a:xfrm>
          <a:prstGeom prst="rect">
            <a:avLst/>
          </a:prstGeom>
          <a:noFill/>
        </p:spPr>
        <p:txBody>
          <a:bodyPr wrap="square" lIns="45720" rIns="45720" anchor="t">
            <a:spAutoFit/>
          </a:bodyPr>
          <a:lstStyle/>
          <a:p>
            <a:pPr algn="l">
              <a:defRPr sz="1700" b="0">
                <a:solidFill>
                  <a:srgbClr val="191F1C"/>
                </a:solidFill>
                <a:latin typeface="Aptos"/>
              </a:defRPr>
            </a:pPr>
            <a:r>
              <a:t>Open:</a:t>
            </a:r>
          </a:p>
        </p:txBody>
      </p:sp>
      <p:sp>
        <p:nvSpPr>
          <p:cNvPr id="7" name="TextBox 6"/>
          <p:cNvSpPr txBox="1"/>
          <p:nvPr/>
        </p:nvSpPr>
        <p:spPr>
          <a:xfrm>
            <a:off x="640080" y="4389120"/>
            <a:ext cx="11064240" cy="1371600"/>
          </a:xfrm>
          <a:prstGeom prst="rect">
            <a:avLst/>
          </a:prstGeom>
          <a:noFill/>
        </p:spPr>
        <p:txBody>
          <a:bodyPr wrap="square" lIns="73152" rIns="36576" tIns="36576" bIns="36576">
            <a:spAutoFit/>
          </a:bodyPr>
          <a:lstStyle/>
          <a:p>
            <a:pPr>
              <a:spcAft>
                <a:spcPts val="300"/>
              </a:spcAft>
              <a:defRPr sz="1700">
                <a:solidFill>
                  <a:srgbClr val="191F1C"/>
                </a:solidFill>
                <a:latin typeface="Aptos"/>
              </a:defRPr>
            </a:pPr>
            <a:r>
              <a:t>•  the timing shift has no candidate mechanism, and grows with truncation</a:t>
            </a:r>
          </a:p>
          <a:p>
            <a:pPr>
              <a:spcAft>
                <a:spcPts val="300"/>
              </a:spcAft>
              <a:defRPr sz="1700">
                <a:solidFill>
                  <a:srgbClr val="191F1C"/>
                </a:solidFill>
                <a:latin typeface="Aptos"/>
              </a:defRPr>
            </a:pPr>
            <a:r>
              <a:t>•  the 1.25 max|Ku| cap needs replacing with a within-buffer outlier test</a:t>
            </a:r>
          </a:p>
        </p:txBody>
      </p:sp>
    </p:spTree>
  </p:cSld>
  <p:clrMapOvr>
    <a:masterClrMapping/>
  </p:clrMapOvr>
</p:sld>
</file>

<file path=ppt/theme/theme1.xml><?xml version="1.0" encoding="utf-8"?>
<a:theme xmlns:a="http://schemas.openxmlformats.org/drawingml/2006/main" name="1_MST_EMC_lab_theme">
  <a:themeElements>
    <a:clrScheme name="Level 8">
      <a:dk1>
        <a:srgbClr val="000000"/>
      </a:dk1>
      <a:lt1>
        <a:srgbClr val="FFFFFF"/>
      </a:lt1>
      <a:dk2>
        <a:srgbClr val="999900"/>
      </a:dk2>
      <a:lt2>
        <a:srgbClr val="666600"/>
      </a:lt2>
      <a:accent1>
        <a:srgbClr val="99CC00"/>
      </a:accent1>
      <a:accent2>
        <a:srgbClr val="CCCC66"/>
      </a:accent2>
      <a:accent3>
        <a:srgbClr val="FFFFFF"/>
      </a:accent3>
      <a:accent4>
        <a:srgbClr val="000000"/>
      </a:accent4>
      <a:accent5>
        <a:srgbClr val="CAE2AA"/>
      </a:accent5>
      <a:accent6>
        <a:srgbClr val="B9B95C"/>
      </a:accent6>
      <a:hlink>
        <a:srgbClr val="FFCC00"/>
      </a:hlink>
      <a:folHlink>
        <a:srgbClr val="CC9900"/>
      </a:folHlink>
    </a:clrScheme>
    <a:fontScheme name="Level">
      <a:majorFont>
        <a:latin typeface="Times New Roman"/>
        <a:ea typeface=""/>
        <a:cs typeface="Arial"/>
      </a:majorFont>
      <a:minorFont>
        <a:latin typeface="Times New Roman"/>
        <a:ea typeface=""/>
        <a:cs typeface="Arial"/>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solidFill>
          <a:schemeClr val="bg1"/>
        </a:solidFill>
        <a:ln w="12700">
          <a:solidFill>
            <a:schemeClr val="tx1"/>
          </a:solidFill>
        </a:ln>
      </a:spPr>
      <a:bodyPr rtlCol="0" anchor="ctr"/>
      <a:lstStyle>
        <a:defPPr algn="ctr">
          <a:defRPr dirty="0">
            <a:solidFill>
              <a:schemeClr val="tx1"/>
            </a:solidFill>
          </a:defRPr>
        </a:defPPr>
      </a:lstStyle>
      <a:style>
        <a:lnRef idx="2">
          <a:schemeClr val="accent1">
            <a:shade val="50000"/>
          </a:schemeClr>
        </a:lnRef>
        <a:fillRef idx="1">
          <a:schemeClr val="accent1"/>
        </a:fillRef>
        <a:effectRef idx="0">
          <a:schemeClr val="accent1"/>
        </a:effectRef>
        <a:fontRef idx="minor">
          <a:schemeClr val="lt1"/>
        </a:fontRef>
      </a:style>
    </a:spDef>
    <a:lnDef>
      <a:spPr>
        <a:ln w="19050">
          <a:solidFill>
            <a:schemeClr val="tx1"/>
          </a:solidFill>
        </a:ln>
      </a:spPr>
      <a:bodyPr/>
      <a:lstStyle/>
      <a:style>
        <a:lnRef idx="1">
          <a:schemeClr val="accent1"/>
        </a:lnRef>
        <a:fillRef idx="0">
          <a:schemeClr val="accent1"/>
        </a:fillRef>
        <a:effectRef idx="0">
          <a:schemeClr val="accent1"/>
        </a:effectRef>
        <a:fontRef idx="minor">
          <a:schemeClr val="tx1"/>
        </a:fontRef>
      </a:style>
    </a:lnDef>
  </a:objectDefaults>
  <a:extraClrSchemeLst>
    <a:extraClrScheme>
      <a:clrScheme name="Level 1">
        <a:dk1>
          <a:srgbClr val="006699"/>
        </a:dk1>
        <a:lt1>
          <a:srgbClr val="FFFFFF"/>
        </a:lt1>
        <a:dk2>
          <a:srgbClr val="000000"/>
        </a:dk2>
        <a:lt2>
          <a:srgbClr val="99FF99"/>
        </a:lt2>
        <a:accent1>
          <a:srgbClr val="00CC99"/>
        </a:accent1>
        <a:accent2>
          <a:srgbClr val="009999"/>
        </a:accent2>
        <a:accent3>
          <a:srgbClr val="AAAAAA"/>
        </a:accent3>
        <a:accent4>
          <a:srgbClr val="DADADA"/>
        </a:accent4>
        <a:accent5>
          <a:srgbClr val="AAE2CA"/>
        </a:accent5>
        <a:accent6>
          <a:srgbClr val="008A8A"/>
        </a:accent6>
        <a:hlink>
          <a:srgbClr val="0066FF"/>
        </a:hlink>
        <a:folHlink>
          <a:srgbClr val="989CBA"/>
        </a:folHlink>
      </a:clrScheme>
      <a:clrMap bg1="dk2" tx1="lt1" bg2="dk1" tx2="lt2" accent1="accent1" accent2="accent2" accent3="accent3" accent4="accent4" accent5="accent5" accent6="accent6" hlink="hlink" folHlink="folHlink"/>
    </a:extraClrScheme>
    <a:extraClrScheme>
      <a:clrScheme name="Level 2">
        <a:dk1>
          <a:srgbClr val="808000"/>
        </a:dk1>
        <a:lt1>
          <a:srgbClr val="FFFFFF"/>
        </a:lt1>
        <a:dk2>
          <a:srgbClr val="5C271E"/>
        </a:dk2>
        <a:lt2>
          <a:srgbClr val="FFDD89"/>
        </a:lt2>
        <a:accent1>
          <a:srgbClr val="CC6600"/>
        </a:accent1>
        <a:accent2>
          <a:srgbClr val="CC9900"/>
        </a:accent2>
        <a:accent3>
          <a:srgbClr val="B5ACAB"/>
        </a:accent3>
        <a:accent4>
          <a:srgbClr val="DADADA"/>
        </a:accent4>
        <a:accent5>
          <a:srgbClr val="E2B8AA"/>
        </a:accent5>
        <a:accent6>
          <a:srgbClr val="B98A00"/>
        </a:accent6>
        <a:hlink>
          <a:srgbClr val="669900"/>
        </a:hlink>
        <a:folHlink>
          <a:srgbClr val="A3A274"/>
        </a:folHlink>
      </a:clrScheme>
      <a:clrMap bg1="dk2" tx1="lt1" bg2="dk1" tx2="lt2" accent1="accent1" accent2="accent2" accent3="accent3" accent4="accent4" accent5="accent5" accent6="accent6" hlink="hlink" folHlink="folHlink"/>
    </a:extraClrScheme>
    <a:extraClrScheme>
      <a:clrScheme name="Level 3">
        <a:dk1>
          <a:srgbClr val="763B00"/>
        </a:dk1>
        <a:lt1>
          <a:srgbClr val="FFFFFF"/>
        </a:lt1>
        <a:dk2>
          <a:srgbClr val="330000"/>
        </a:dk2>
        <a:lt2>
          <a:srgbClr val="CC9900"/>
        </a:lt2>
        <a:accent1>
          <a:srgbClr val="FFCC00"/>
        </a:accent1>
        <a:accent2>
          <a:srgbClr val="CC3300"/>
        </a:accent2>
        <a:accent3>
          <a:srgbClr val="ADAAAA"/>
        </a:accent3>
        <a:accent4>
          <a:srgbClr val="DADADA"/>
        </a:accent4>
        <a:accent5>
          <a:srgbClr val="FFE2AA"/>
        </a:accent5>
        <a:accent6>
          <a:srgbClr val="B92D00"/>
        </a:accent6>
        <a:hlink>
          <a:srgbClr val="666699"/>
        </a:hlink>
        <a:folHlink>
          <a:srgbClr val="999966"/>
        </a:folHlink>
      </a:clrScheme>
      <a:clrMap bg1="dk2" tx1="lt1" bg2="dk1" tx2="lt2" accent1="accent1" accent2="accent2" accent3="accent3" accent4="accent4" accent5="accent5" accent6="accent6" hlink="hlink" folHlink="folHlink"/>
    </a:extraClrScheme>
    <a:extraClrScheme>
      <a:clrScheme name="Level 4">
        <a:dk1>
          <a:srgbClr val="6D3696"/>
        </a:dk1>
        <a:lt1>
          <a:srgbClr val="FFFFFF"/>
        </a:lt1>
        <a:dk2>
          <a:srgbClr val="51255D"/>
        </a:dk2>
        <a:lt2>
          <a:srgbClr val="FFFFCC"/>
        </a:lt2>
        <a:accent1>
          <a:srgbClr val="666699"/>
        </a:accent1>
        <a:accent2>
          <a:srgbClr val="800080"/>
        </a:accent2>
        <a:accent3>
          <a:srgbClr val="B3ACB6"/>
        </a:accent3>
        <a:accent4>
          <a:srgbClr val="DADADA"/>
        </a:accent4>
        <a:accent5>
          <a:srgbClr val="B8B8CA"/>
        </a:accent5>
        <a:accent6>
          <a:srgbClr val="730073"/>
        </a:accent6>
        <a:hlink>
          <a:srgbClr val="CCCC00"/>
        </a:hlink>
        <a:folHlink>
          <a:srgbClr val="A3A274"/>
        </a:folHlink>
      </a:clrScheme>
      <a:clrMap bg1="dk2" tx1="lt1" bg2="dk1" tx2="lt2" accent1="accent1" accent2="accent2" accent3="accent3" accent4="accent4" accent5="accent5" accent6="accent6" hlink="hlink" folHlink="folHlink"/>
    </a:extraClrScheme>
    <a:extraClrScheme>
      <a:clrScheme name="Level 5">
        <a:dk1>
          <a:srgbClr val="CC6600"/>
        </a:dk1>
        <a:lt1>
          <a:srgbClr val="FFFFFF"/>
        </a:lt1>
        <a:dk2>
          <a:srgbClr val="4A553B"/>
        </a:dk2>
        <a:lt2>
          <a:srgbClr val="FFBF1F"/>
        </a:lt2>
        <a:accent1>
          <a:srgbClr val="FFCC00"/>
        </a:accent1>
        <a:accent2>
          <a:srgbClr val="CC9900"/>
        </a:accent2>
        <a:accent3>
          <a:srgbClr val="B1B4AF"/>
        </a:accent3>
        <a:accent4>
          <a:srgbClr val="DADADA"/>
        </a:accent4>
        <a:accent5>
          <a:srgbClr val="FFE2AA"/>
        </a:accent5>
        <a:accent6>
          <a:srgbClr val="B98A00"/>
        </a:accent6>
        <a:hlink>
          <a:srgbClr val="669900"/>
        </a:hlink>
        <a:folHlink>
          <a:srgbClr val="A3A274"/>
        </a:folHlink>
      </a:clrScheme>
      <a:clrMap bg1="dk2" tx1="lt1" bg2="dk1" tx2="lt2" accent1="accent1" accent2="accent2" accent3="accent3" accent4="accent4" accent5="accent5" accent6="accent6" hlink="hlink" folHlink="folHlink"/>
    </a:extraClrScheme>
    <a:extraClrScheme>
      <a:clrScheme name="Level 6">
        <a:dk1>
          <a:srgbClr val="000000"/>
        </a:dk1>
        <a:lt1>
          <a:srgbClr val="FFFFFF"/>
        </a:lt1>
        <a:dk2>
          <a:srgbClr val="666699"/>
        </a:dk2>
        <a:lt2>
          <a:srgbClr val="FFCC00"/>
        </a:lt2>
        <a:accent1>
          <a:srgbClr val="FF9900"/>
        </a:accent1>
        <a:accent2>
          <a:srgbClr val="FF0000"/>
        </a:accent2>
        <a:accent3>
          <a:srgbClr val="FFFFFF"/>
        </a:accent3>
        <a:accent4>
          <a:srgbClr val="000000"/>
        </a:accent4>
        <a:accent5>
          <a:srgbClr val="FFCAAA"/>
        </a:accent5>
        <a:accent6>
          <a:srgbClr val="E70000"/>
        </a:accent6>
        <a:hlink>
          <a:srgbClr val="666699"/>
        </a:hlink>
        <a:folHlink>
          <a:srgbClr val="999966"/>
        </a:folHlink>
      </a:clrScheme>
      <a:clrMap bg1="lt1" tx1="dk1" bg2="lt2" tx2="dk2" accent1="accent1" accent2="accent2" accent3="accent3" accent4="accent4" accent5="accent5" accent6="accent6" hlink="hlink" folHlink="folHlink"/>
    </a:extraClrScheme>
    <a:extraClrScheme>
      <a:clrScheme name="Level 7">
        <a:dk1>
          <a:srgbClr val="000000"/>
        </a:dk1>
        <a:lt1>
          <a:srgbClr val="FFFFFF"/>
        </a:lt1>
        <a:dk2>
          <a:srgbClr val="CC3300"/>
        </a:dk2>
        <a:lt2>
          <a:srgbClr val="663300"/>
        </a:lt2>
        <a:accent1>
          <a:srgbClr val="FFCC00"/>
        </a:accent1>
        <a:accent2>
          <a:srgbClr val="CC6600"/>
        </a:accent2>
        <a:accent3>
          <a:srgbClr val="FFFFFF"/>
        </a:accent3>
        <a:accent4>
          <a:srgbClr val="000000"/>
        </a:accent4>
        <a:accent5>
          <a:srgbClr val="FFE2AA"/>
        </a:accent5>
        <a:accent6>
          <a:srgbClr val="B95C00"/>
        </a:accent6>
        <a:hlink>
          <a:srgbClr val="CC9900"/>
        </a:hlink>
        <a:folHlink>
          <a:srgbClr val="996633"/>
        </a:folHlink>
      </a:clrScheme>
      <a:clrMap bg1="lt1" tx1="dk1" bg2="lt2" tx2="dk2" accent1="accent1" accent2="accent2" accent3="accent3" accent4="accent4" accent5="accent5" accent6="accent6" hlink="hlink" folHlink="folHlink"/>
    </a:extraClrScheme>
    <a:extraClrScheme>
      <a:clrScheme name="Level 8">
        <a:dk1>
          <a:srgbClr val="000000"/>
        </a:dk1>
        <a:lt1>
          <a:srgbClr val="FFFFFF"/>
        </a:lt1>
        <a:dk2>
          <a:srgbClr val="999900"/>
        </a:dk2>
        <a:lt2>
          <a:srgbClr val="666600"/>
        </a:lt2>
        <a:accent1>
          <a:srgbClr val="99CC00"/>
        </a:accent1>
        <a:accent2>
          <a:srgbClr val="CCCC66"/>
        </a:accent2>
        <a:accent3>
          <a:srgbClr val="FFFFFF"/>
        </a:accent3>
        <a:accent4>
          <a:srgbClr val="000000"/>
        </a:accent4>
        <a:accent5>
          <a:srgbClr val="CAE2AA"/>
        </a:accent5>
        <a:accent6>
          <a:srgbClr val="B9B95C"/>
        </a:accent6>
        <a:hlink>
          <a:srgbClr val="FFCC00"/>
        </a:hlink>
        <a:folHlink>
          <a:srgbClr val="CC9900"/>
        </a:folHlink>
      </a:clrScheme>
      <a:clrMap bg1="lt1" tx1="dk1" bg2="lt2" tx2="dk2" accent1="accent1" accent2="accent2" accent3="accent3" accent4="accent4" accent5="accent5" accent6="accent6" hlink="hlink" folHlink="folHlink"/>
    </a:extraClrScheme>
  </a:extraClrSchemeLst>
  <a:extLst>
    <a:ext uri="{05A4C25C-085E-4340-85A3-A5531E510DB2}">
      <thm15:themeFamily xmlns:thm15="http://schemas.microsoft.com/office/thememl/2012/main" name="MST_EMC_lab_theme" id="{F84A9E38-8E53-459B-962B-D11E178A4856}" vid="{AF41A44A-DCC1-4496-8938-47400BABA385}"/>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Application>Microsoft Office PowerPoint</Application>
  <PresentationFormat>Widescreen</PresentationFormat>
  <Slides>3</Slides>
  <Notes>1</Notes>
  <HiddenSlides>0</HiddenSlides>
  <ScaleCrop>false</ScaleCrop>
  <HeadingPairs>
    <vt:vector size="4" baseType="variant">
      <vt:variant>
        <vt:lpstr>Theme</vt:lpstr>
      </vt:variant>
      <vt:variant>
        <vt:i4>1</vt:i4>
      </vt:variant>
      <vt:variant>
        <vt:lpstr>Slide Titles</vt:lpstr>
      </vt:variant>
      <vt:variant>
        <vt:i4>3</vt:i4>
      </vt:variant>
    </vt:vector>
  </HeadingPairs>
  <TitlesOfParts>
    <vt:vector size="4" baseType="lpstr">
      <vt:lpstr>1_MST_EMC_lab_theme</vt:lpstr>
      <vt:lpstr>IBIS Simulation in Ngspice</vt:lpstr>
      <vt:lpstr>"Replay Problem" for Short Pulse</vt:lpstr>
      <vt:lpstr>Why "Value-matched" Method Fails</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Lee, Seonghi</dc:creator>
  <cp:revision>53</cp:revision>
  <dcterms:created xsi:type="dcterms:W3CDTF">2025-07-07T19:11:35Z</dcterms:created>
  <dcterms:modified xsi:type="dcterms:W3CDTF">2026-07-14T07:11:59Z</dcterms:modified>
</cp:coreProperties>
</file>