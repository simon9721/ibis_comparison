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4"/>
    <p:sldId id="258" r:id="rId3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B8"/>
    <a:srgbClr val="FBFB00"/>
    <a:srgbClr val="FFFF29"/>
    <a:srgbClr val="C321CF"/>
    <a:srgbClr val="C52BA8"/>
    <a:srgbClr val="99CCFF"/>
    <a:srgbClr val="6699FF"/>
    <a:srgbClr val="FFCC99"/>
    <a:srgbClr val="33CC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CE76EB-5733-E639-DFBE-C032C02CA049}" v="311" dt="2026-07-10T21:33:20.263"/>
    <p1510:client id="{4B2B0703-2C84-945A-F101-9A0363D83DEB}" v="2" dt="2026-07-10T16:42:58.3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5/10/relationships/revisionInfo" Target="revisionInfo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FF5152-AD57-4057-A738-BC536A645BFF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BD6F9-9B61-4F1F-A828-501CEB5BC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44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012E5D0-9393-4591-81EA-D49C04BB4842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9779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this. It reframes the goal: full-swing accuracy is close to as good as the format allows, so effort belongs on truncated pulses.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that remains on the falling edge is the ~35 ps the format costs. It is not something our command layer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bullet matters: it is an integration error, so any fix by tuning a coefficient is a coin flip.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buffer variants later confirmed this: the shift grows on 9 of 9, and full swing and stress carry opposite signs, so neither number is a proxy for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8" descr="new_logo_final"/>
          <p:cNvPicPr>
            <a:picLocks noChangeAspect="1" noChangeArrowheads="1"/>
          </p:cNvPicPr>
          <p:nvPr/>
        </p:nvPicPr>
        <p:blipFill>
          <a:blip r:embed="rId2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2000"/>
            <a:ext cx="30480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7" descr="new_logo_final"/>
          <p:cNvPicPr>
            <a:picLocks noChangeAspect="1" noChangeArrowheads="1"/>
          </p:cNvPicPr>
          <p:nvPr/>
        </p:nvPicPr>
        <p:blipFill>
          <a:blip r:embed="rId2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6000"/>
            <a:ext cx="30480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6" descr="new_logo_final"/>
          <p:cNvPicPr>
            <a:picLocks noChangeAspect="1" noChangeArrowheads="1"/>
          </p:cNvPicPr>
          <p:nvPr/>
        </p:nvPicPr>
        <p:blipFill>
          <a:blip r:embed="rId3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80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11"/>
          <p:cNvSpPr>
            <a:spLocks noChangeArrowheads="1"/>
          </p:cNvSpPr>
          <p:nvPr/>
        </p:nvSpPr>
        <p:spPr bwMode="auto">
          <a:xfrm>
            <a:off x="609600" y="2971800"/>
            <a:ext cx="10871200" cy="152400"/>
          </a:xfrm>
          <a:prstGeom prst="rect">
            <a:avLst/>
          </a:prstGeom>
          <a:gradFill rotWithShape="1">
            <a:gsLst>
              <a:gs pos="0">
                <a:srgbClr val="287F3D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>
              <a:solidFill>
                <a:srgbClr val="000000"/>
              </a:solidFill>
            </a:endParaRPr>
          </a:p>
        </p:txBody>
      </p:sp>
      <p:sp>
        <p:nvSpPr>
          <p:cNvPr id="337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057275"/>
            <a:ext cx="10363200" cy="1828800"/>
          </a:xfrm>
        </p:spPr>
        <p:txBody>
          <a:bodyPr anchor="ctr"/>
          <a:lstStyle>
            <a:lvl1pPr algn="ctr">
              <a:defRPr sz="4400"/>
            </a:lvl1pPr>
          </a:lstStyle>
          <a:p>
            <a:r>
              <a:rPr lang="ko-KR" altLang="en-US"/>
              <a:t>마스터 제목 스타일 편집</a:t>
            </a:r>
            <a:endParaRPr lang="en-US" altLang="zh-CN"/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657600"/>
            <a:ext cx="8534400" cy="1981200"/>
          </a:xfrm>
        </p:spPr>
        <p:txBody>
          <a:bodyPr/>
          <a:lstStyle>
            <a:lvl1pPr marL="0" indent="0" algn="ctr">
              <a:buFont typeface="Times New Roman" pitchFamily="18" charset="0"/>
              <a:buNone/>
              <a:defRPr sz="2800"/>
            </a:lvl1pPr>
          </a:lstStyle>
          <a:p>
            <a:r>
              <a:rPr lang="ko-KR" altLang="en-US"/>
              <a:t>클릭하여 마스터 부제목 스타일 편집</a:t>
            </a:r>
            <a:endParaRPr lang="en-US" altLang="zh-CN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185D946-0A64-0C7F-AA63-488808319B35}"/>
              </a:ext>
            </a:extLst>
          </p:cNvPr>
          <p:cNvSpPr/>
          <p:nvPr/>
        </p:nvSpPr>
        <p:spPr>
          <a:xfrm>
            <a:off x="11381117" y="6288658"/>
            <a:ext cx="684363" cy="483079"/>
          </a:xfrm>
          <a:prstGeom prst="ellipse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420371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0"/>
            <a:ext cx="11277600" cy="76200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C6936E-D099-1BE8-8BB3-AAFCF768FD3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4800" y="1038225"/>
            <a:ext cx="11277600" cy="5438775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v"/>
              <a:defRPr sz="24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lang="ko-KR" altLang="en-US" sz="20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  <a:endParaRPr lang="en-US" altLang="ko-KR"/>
          </a:p>
          <a:p>
            <a:pPr lvl="2"/>
            <a:r>
              <a:rPr lang="ko-KR" altLang="en-US"/>
              <a:t>세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122010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0"/>
            <a:ext cx="11277600" cy="76200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A6B0B8-599D-92DF-18BE-0154789C5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79366"/>
            <a:ext cx="11277600" cy="1197634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v"/>
              <a:defRPr sz="24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lang="ko-KR" altLang="en-US" sz="20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  <a:endParaRPr lang="en-US" altLang="ko-KR"/>
          </a:p>
          <a:p>
            <a:pPr lvl="2"/>
            <a:r>
              <a:rPr lang="ko-KR" altLang="en-US"/>
              <a:t>세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049719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0"/>
            <a:ext cx="11277600" cy="76200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A6B0B8-599D-92DF-18BE-0154789C50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04800" y="5279366"/>
            <a:ext cx="11277600" cy="1197634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sz="20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ko-KR" altLang="en-US" sz="18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두 번째 수준</a:t>
            </a:r>
            <a:endParaRPr lang="en-US" altLang="ko-KR"/>
          </a:p>
          <a:p>
            <a:pPr lvl="1"/>
            <a:r>
              <a:rPr lang="ko-KR" altLang="en-US"/>
              <a:t>세 번째 수준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7424F-3297-D95B-C851-77D5FA265A6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4800" y="964541"/>
            <a:ext cx="11277600" cy="445159"/>
          </a:xfrm>
        </p:spPr>
        <p:txBody>
          <a:bodyPr/>
          <a:lstStyle>
            <a:lvl1pPr marL="432000" indent="-43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v"/>
              <a:defRPr sz="2400"/>
            </a:lvl1pPr>
            <a:lvl2pPr marL="720000" indent="-252000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§"/>
              <a:defRPr lang="ko-KR" altLang="en-US" sz="200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 marL="1080000" indent="-324000"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sz="1800"/>
            </a:lvl3pPr>
            <a:lvl4pPr marL="1200150" indent="-171450">
              <a:buClrTx/>
              <a:buFont typeface="Arial" panose="020B0604020202020204" pitchFamily="34" charset="0"/>
              <a:buChar char="•"/>
              <a:defRPr sz="1200"/>
            </a:lvl4pPr>
            <a:lvl5pPr marL="1543050" indent="-171450">
              <a:buClrTx/>
              <a:buFont typeface="Courier New" panose="02070309020205020404" pitchFamily="49" charset="0"/>
              <a:buChar char="o"/>
              <a:defRPr sz="105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270269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ontent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551" y="0"/>
            <a:ext cx="11024559" cy="762000"/>
          </a:xfrm>
        </p:spPr>
        <p:txBody>
          <a:bodyPr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96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3150C2-20D0-A45F-5462-61690D2567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551239" y="4124506"/>
            <a:ext cx="5089525" cy="507881"/>
          </a:xfrm>
        </p:spPr>
        <p:txBody>
          <a:bodyPr/>
          <a:lstStyle>
            <a:lvl1pPr marL="0" indent="0" algn="ctr">
              <a:buNone/>
              <a:defRPr sz="21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8ADDEF-87C0-B90A-6505-6A3A384B7EE8}"/>
              </a:ext>
            </a:extLst>
          </p:cNvPr>
          <p:cNvSpPr txBox="1"/>
          <p:nvPr/>
        </p:nvSpPr>
        <p:spPr>
          <a:xfrm>
            <a:off x="3623209" y="2313750"/>
            <a:ext cx="4945585" cy="141961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zh-CN" sz="8625"/>
              <a:t>Thank you</a:t>
            </a:r>
            <a:endParaRPr lang="ko-KR" altLang="en-US" sz="8625"/>
          </a:p>
        </p:txBody>
      </p:sp>
    </p:spTree>
    <p:extLst>
      <p:ext uri="{BB962C8B-B14F-4D97-AF65-F5344CB8AC3E}">
        <p14:creationId xmlns:p14="http://schemas.microsoft.com/office/powerpoint/2010/main" val="19419346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0"/>
            <a:ext cx="112776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  <a:endParaRPr lang="en-US" altLang="zh-CN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914400"/>
            <a:ext cx="11277600" cy="556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</p:txBody>
      </p:sp>
      <p:sp>
        <p:nvSpPr>
          <p:cNvPr id="327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750">
                <a:latin typeface="Verdana" pitchFamily="34" charset="0"/>
                <a:ea typeface="宋体" pitchFamily="2" charset="-122"/>
              </a:defRPr>
            </a:lvl1pPr>
          </a:lstStyle>
          <a:p>
            <a:endParaRPr lang="ko-KR" altLang="en-US"/>
          </a:p>
        </p:txBody>
      </p:sp>
      <p:sp>
        <p:nvSpPr>
          <p:cNvPr id="1030" name="Rectangle 12"/>
          <p:cNvSpPr>
            <a:spLocks noChangeArrowheads="1"/>
          </p:cNvSpPr>
          <p:nvPr/>
        </p:nvSpPr>
        <p:spPr bwMode="auto">
          <a:xfrm>
            <a:off x="304800" y="762000"/>
            <a:ext cx="10058400" cy="152400"/>
          </a:xfrm>
          <a:prstGeom prst="rect">
            <a:avLst/>
          </a:prstGeom>
          <a:gradFill rotWithShape="0">
            <a:gsLst>
              <a:gs pos="0">
                <a:srgbClr val="297F3D">
                  <a:alpha val="99001"/>
                </a:srgbClr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7E8E0A-D232-4C57-7AD9-EBC41A1AA7E2}"/>
              </a:ext>
            </a:extLst>
          </p:cNvPr>
          <p:cNvSpPr txBox="1"/>
          <p:nvPr/>
        </p:nvSpPr>
        <p:spPr>
          <a:xfrm>
            <a:off x="11582400" y="6373649"/>
            <a:ext cx="38664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B6F15528-21DE-4FAA-801E-634DDDAF4B2B}" type="slidenum">
              <a:rPr lang="en-US" altLang="ko-KR" sz="1350" smtClean="0">
                <a:solidFill>
                  <a:srgbClr val="000000"/>
                </a:solidFill>
              </a:rPr>
              <a:pPr/>
              <a:t>‹#›</a:t>
            </a:fld>
            <a:endParaRPr lang="ko-KR" altLang="en-US" sz="1350"/>
          </a:p>
        </p:txBody>
      </p:sp>
    </p:spTree>
    <p:extLst>
      <p:ext uri="{BB962C8B-B14F-4D97-AF65-F5344CB8AC3E}">
        <p14:creationId xmlns:p14="http://schemas.microsoft.com/office/powerpoint/2010/main" val="631496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5pPr>
      <a:lvl6pPr marL="3429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6pPr>
      <a:lvl7pPr marL="6858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7pPr>
      <a:lvl8pPr marL="10287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8pPr>
      <a:lvl9pPr marL="1371600" algn="l" rtl="0" eaLnBrk="1" fontAlgn="base" latinLnBrk="1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Times New Roman" pitchFamily="18" charset="0"/>
          <a:cs typeface="Arial" charset="0"/>
        </a:defRPr>
      </a:lvl9pPr>
    </p:titleStyle>
    <p:bodyStyle>
      <a:lvl1pPr marL="257175" indent="-257175" algn="l" rtl="0" eaLnBrk="1" fontAlgn="base" latinLnBrk="1" hangingPunct="1">
        <a:spcBef>
          <a:spcPts val="0"/>
        </a:spcBef>
        <a:spcAft>
          <a:spcPts val="450"/>
        </a:spcAft>
        <a:buClr>
          <a:schemeClr val="tx1"/>
        </a:buClr>
        <a:buSzPct val="75000"/>
        <a:buFont typeface="Times New Roman" pitchFamily="18" charset="0"/>
        <a:buChar char="●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205740" algn="l" rtl="0" eaLnBrk="1" fontAlgn="base" latinLnBrk="1" hangingPunct="1">
        <a:spcBef>
          <a:spcPts val="0"/>
        </a:spcBef>
        <a:spcAft>
          <a:spcPts val="450"/>
        </a:spcAft>
        <a:buClrTx/>
        <a:buSzPct val="75000"/>
        <a:buFont typeface="Arial" charset="0"/>
        <a:buChar char="–"/>
        <a:defRPr lang="en-US" altLang="zh-CN" sz="1650" dirty="0" smtClean="0">
          <a:solidFill>
            <a:schemeClr val="tx1"/>
          </a:solidFill>
          <a:latin typeface="+mn-lt"/>
          <a:cs typeface="+mn-cs"/>
        </a:defRPr>
      </a:lvl2pPr>
      <a:lvl3pPr marL="754380" indent="-205740" algn="l" rtl="0" eaLnBrk="1" fontAlgn="base" latinLnBrk="1" hangingPunct="1">
        <a:spcBef>
          <a:spcPts val="0"/>
        </a:spcBef>
        <a:spcAft>
          <a:spcPts val="450"/>
        </a:spcAft>
        <a:buClrTx/>
        <a:buSzPct val="65000"/>
        <a:buFont typeface="Wingdings" pitchFamily="2" charset="2"/>
        <a:buChar char="§"/>
        <a:defRPr lang="en-US" altLang="zh-CN" sz="1500" dirty="0">
          <a:solidFill>
            <a:schemeClr val="tx1"/>
          </a:solidFill>
          <a:latin typeface="+mn-lt"/>
          <a:cs typeface="+mn-cs"/>
        </a:defRPr>
      </a:lvl3pPr>
      <a:lvl4pPr marL="12001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bg2"/>
        </a:buClr>
        <a:buFont typeface="Arial" panose="020B0604020202020204" pitchFamily="34" charset="0"/>
        <a:buChar char="•"/>
        <a:defRPr sz="1200">
          <a:solidFill>
            <a:schemeClr val="tx1"/>
          </a:solidFill>
          <a:latin typeface="+mn-lt"/>
          <a:cs typeface="+mn-cs"/>
        </a:defRPr>
      </a:lvl4pPr>
      <a:lvl5pPr marL="15430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 sz="1350">
          <a:solidFill>
            <a:schemeClr val="tx1"/>
          </a:solidFill>
          <a:latin typeface="+mn-lt"/>
          <a:cs typeface="+mn-cs"/>
        </a:defRPr>
      </a:lvl5pPr>
      <a:lvl6pPr marL="18859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2288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25717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2914650" indent="-171450" algn="l" rtl="0" eaLnBrk="1" fontAlgn="base" latinLnBrk="1" hangingPunct="1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61CA2A-44B7-9F04-6068-47D43FF3D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8507" y="1016453"/>
            <a:ext cx="10882993" cy="1828800"/>
          </a:xfrm>
        </p:spPr>
        <p:txBody>
          <a:bodyPr/>
          <a:lstStyle/>
          <a:p>
            <a:pPr>
              <a:defRPr sz="3500" b="1">
                <a:solidFill>
                  <a:srgbClr val="000000"/>
                </a:solidFill>
                <a:latin typeface="Times New Roman"/>
              </a:defRPr>
            </a:pPr>
            <a:r>
              <a:t>Getting pybis closer to the transistor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2CACD7-6A52-C28F-D2D0-4E8721229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5294671"/>
            <a:ext cx="8534400" cy="1563329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IBIS buffer modelling — status</a:t>
            </a:r>
          </a:p>
          <a:p>
            <a:pPr algn="ctr"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4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661422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What we are actually trying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237744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The transistor netlist in HSPICE is ground truth. Native IBIS is the bar to beat, not the target.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Everything below is measured against the transistor, never against native IBIS.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Two things are in play at once in any comparison — the IBIS implementation and the SPICE engine. We separated them (slide 10).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280160"/>
            <a:ext cx="5029200" cy="2011680"/>
          </a:xfrm>
          <a:prstGeom prst="roundRect">
            <a:avLst/>
          </a:prstGeom>
          <a:solidFill>
            <a:srgbClr val="F6F8F7"/>
          </a:solidFill>
          <a:ln w="12700">
            <a:solidFill>
              <a:srgbClr val="A4A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8872" rIns="73152" tIns="91440" bIns="73152"/>
          <a:lstStyle/>
          <a:p>
            <a:pPr algn="ctr">
              <a:defRPr sz="1200">
                <a:solidFill>
                  <a:srgbClr val="1E3027"/>
                </a:solidFill>
                <a:latin typeface="Consolas"/>
              </a:defRPr>
            </a:pPr>
            <a:r>
              <a:t>falling 50% crossing vs transistor, io_buf full swing</a:t>
            </a:r>
            <a:br/>
            <a:br/>
            <a:r>
              <a:t>  native IBIS            +34.6 ps</a:t>
            </a:r>
            <a:br/>
            <a:r>
              <a:t>  pybis InputDriven      +38.4 ps</a:t>
            </a:r>
            <a:br/>
            <a:r>
              <a:t>  pybis gate-state       +43.5 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3474720"/>
            <a:ext cx="50292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191F1C"/>
                </a:solidFill>
                <a:latin typeface="Aptos"/>
              </a:defRPr>
            </a:pPr>
            <a:r>
              <a:t>On a clean edge about 80% of the distance to the transistor is the IBIS format itself — native pays it too. Our command layer costs roughly 5 ps on top.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062472"/>
            <a:ext cx="11109960" cy="393192"/>
          </a:xfrm>
          <a:prstGeom prst="rect">
            <a:avLst/>
          </a:prstGeom>
          <a:solidFill>
            <a:srgbClr val="F1F8F2"/>
          </a:solidFill>
          <a:ln>
            <a:solidFill>
              <a:srgbClr val="F1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B7A43"/>
                </a:solidFill>
                <a:latin typeface="Aptos"/>
              </a:defRPr>
            </a:pPr>
            <a:r>
              <a:t>We are already near the format's floor on clean edges. The distance worth attacking is under stress.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On a clean edge, all three agree closely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io_buf, full swing into 50 Ω and 2 pF. Native IBIS and stock pybis sit almost on top of each other; both are slightly late on the falling edge against the transistor.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720647" y="2761488"/>
            <a:ext cx="4811665" cy="302666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ect_b_full_s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079" y="2788920"/>
            <a:ext cx="4756801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47104"/>
            <a:ext cx="107899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750" b="0">
                <a:solidFill>
                  <a:srgbClr val="666C68"/>
                </a:solidFill>
                <a:latin typeface="Aptos"/>
              </a:defRPr>
            </a:pPr>
            <a:r>
              <a:t>results/defect_b_full_swing_2026-09-03/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Under stress there are two separate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THE TWO DEFECTS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Stress here means a truncated pulse — the input reverses before the pad finishes its transition. Targets are 90/80/70/60/50% of the transistor's settled swing.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72800" cy="2377440"/>
          </a:xfrm>
          <a:prstGeom prst="roundRect">
            <a:avLst/>
          </a:prstGeom>
          <a:solidFill>
            <a:srgbClr val="F6F8F7"/>
          </a:solidFill>
          <a:ln w="12700">
            <a:solidFill>
              <a:srgbClr val="A4A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8872" rIns="73152" tIns="91440" bIns="73152"/>
          <a:lstStyle/>
          <a:p>
            <a:pPr algn="ctr">
              <a:defRPr sz="1300">
                <a:solidFill>
                  <a:srgbClr val="1E3027"/>
                </a:solidFill>
                <a:latin typeface="Consolas"/>
              </a:defRPr>
            </a:pPr>
            <a:r>
              <a:t>The offset          a settled-state Ku error, on 90/60/50 only.</a:t>
            </a:r>
            <a:br/>
            <a:r>
              <a:t>                    Not a true DC offset -- a ~6 ns tail that</a:t>
            </a:r>
            <a:br/>
            <a:r>
              <a:t>                    looks permanent on a 10 ns plot.</a:t>
            </a:r>
            <a:br/>
            <a:br/>
            <a:r>
              <a:t>The timing shift    falling 50% crossing 69-99 ps late vs the</a:t>
            </a:r>
            <a:br/>
            <a:r>
              <a:t>                    transistor, on every case, where native</a:t>
            </a:r>
            <a:br/>
            <a:r>
              <a:t>                    IBIS is 5-26 ps *early*.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They were assumed to be one mechanism, because truncation triggers both. We tested that, and they are not — see slide 7.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062472"/>
            <a:ext cx="11109960" cy="393192"/>
          </a:xfrm>
          <a:prstGeom prst="rect">
            <a:avLst/>
          </a:prstGeom>
          <a:solidFill>
            <a:srgbClr val="F1F8F2"/>
          </a:solidFill>
          <a:ln>
            <a:solidFill>
              <a:srgbClr val="F1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B7A43"/>
                </a:solidFill>
                <a:latin typeface="Aptos"/>
              </a:defRPr>
            </a:pPr>
            <a:r>
              <a:t>One is an amplitude error that decays; the other is a timing error that does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The offset: a command capacitor with no DC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THE TWO DEFECTS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6400800" cy="31089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GUPCMD is a capacitor across 1e15 Ω, charged by a fixed packet on each input edge.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A truncated pulse strands charge in it, and there is no resistive path to remove that charge.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The stranded charge maps through the gate state into Ku, and Ku into the pad — that is the chain on the right.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The sign of the stranded charge flips with the timestep, which is why tuning it looked like it worked and then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41800" y="1024127"/>
            <a:ext cx="4335918" cy="476402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offset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232" y="1051560"/>
            <a:ext cx="4281054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47104"/>
            <a:ext cx="107899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750" b="0">
                <a:solidFill>
                  <a:srgbClr val="666C68"/>
                </a:solidFill>
                <a:latin typeface="Aptos"/>
              </a:defRPr>
            </a:pPr>
            <a:r>
              <a:t>results/settled_offset_diagnosis_2026-08-27/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delay_cmd removes the offset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THE TWO DEFECTS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6400800" cy="12801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delay_cmd is level-driven: the command is a function of the current input level, not of accumulated edge history.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So it returns to exactly zero and strands nothing.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6400800" cy="2743200"/>
          </a:xfrm>
          <a:prstGeom prst="roundRect">
            <a:avLst/>
          </a:prstGeom>
          <a:solidFill>
            <a:srgbClr val="F6F8F7"/>
          </a:solidFill>
          <a:ln w="12700">
            <a:solidFill>
              <a:srgbClr val="A4A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8872" rIns="73152" tIns="91440" bIns="73152"/>
          <a:lstStyle/>
          <a:p>
            <a:pPr algn="ctr">
              <a:defRPr sz="1250">
                <a:solidFill>
                  <a:srgbClr val="1E3027"/>
                </a:solidFill>
                <a:latin typeface="Consolas"/>
              </a:defRPr>
            </a:pPr>
            <a:r>
              <a:t>settled pad offset at reversal</a:t>
            </a:r>
            <a:br/>
            <a:br/>
            <a:r>
              <a:t>  gate-state (as shipped)   63.9 mV</a:t>
            </a:r>
            <a:br/>
            <a:r>
              <a:t>  delay_cmd                  3.7 mV</a:t>
            </a:r>
            <a:br/>
            <a:r>
              <a:t>  transistor                 7.5 mV</a:t>
            </a:r>
            <a:br/>
            <a:r>
              <a:t>  native IBIS                6.4 mV</a:t>
            </a:r>
            <a:br/>
            <a:br/>
            <a:r>
              <a:t>across all 29 matched stress cases</a:t>
            </a:r>
            <a:br/>
            <a:r>
              <a:t>  RMSE  108.6 mV -&gt; 92.2 mV</a:t>
            </a:r>
            <a:br/>
            <a:r>
              <a:t>  the only build that beats native IBIS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41800" y="1024127"/>
            <a:ext cx="4335918" cy="476402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offset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232" y="1051560"/>
            <a:ext cx="4281054" cy="4709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6062472"/>
            <a:ext cx="11109960" cy="393192"/>
          </a:xfrm>
          <a:prstGeom prst="rect">
            <a:avLst/>
          </a:prstGeom>
          <a:solidFill>
            <a:srgbClr val="F1F8F2"/>
          </a:solidFill>
          <a:ln>
            <a:solidFill>
              <a:srgbClr val="F1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B7A43"/>
                </a:solidFill>
                <a:latin typeface="Aptos"/>
              </a:defRPr>
            </a:pPr>
            <a:r>
              <a:t>Level-driven commands fix the offset. This part is settled.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But it does not fix the timing — they are two mechanisms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THE TWO DEFECTS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The open question in the plan was whether the offset and the timing shift were one mechanism showing up twice. If they were, delay_cmd would already fix both. Its amplitude had been measured; its timing never had.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0972800" cy="1737360"/>
          </a:xfrm>
          <a:prstGeom prst="roundRect">
            <a:avLst/>
          </a:prstGeom>
          <a:solidFill>
            <a:srgbClr val="F6F8F7"/>
          </a:solidFill>
          <a:ln w="12700">
            <a:solidFill>
              <a:srgbClr val="A4A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8872" rIns="73152" tIns="91440" bIns="73152"/>
          <a:lstStyle/>
          <a:p>
            <a:pPr algn="ctr">
              <a:defRPr sz="1300">
                <a:solidFill>
                  <a:srgbClr val="1E3027"/>
                </a:solidFill>
                <a:latin typeface="Consolas"/>
              </a:defRPr>
            </a:pPr>
            <a:r>
              <a:t>We measured it.  delay_cmd improved the timing on 0 of 19 stress cases.</a:t>
            </a:r>
            <a:br/>
            <a:br/>
            <a:r>
              <a:t>  -&gt; the shift persists when the stranded charge is gone</a:t>
            </a:r>
            <a:br/>
            <a:r>
              <a:t>  -&gt; they are genuinely two defects, not one</a:t>
            </a:r>
            <a:br/>
            <a:r>
              <a:t>  -&gt; the offset has a fix; the timing shift has no candidate mechanism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191F1C"/>
                </a:solidFill>
                <a:latin typeface="Aptos"/>
              </a:defRPr>
            </a:pPr>
            <a:r>
              <a:t>Worth stating plainly: delay_cmd also has a known 1.25 ns dead zone after a reversal where neither device is commanded on, which is why predriver_cmd was previously preferred.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062472"/>
            <a:ext cx="11109960" cy="393192"/>
          </a:xfrm>
          <a:prstGeom prst="rect">
            <a:avLst/>
          </a:prstGeom>
          <a:solidFill>
            <a:srgbClr val="F1F8F2"/>
          </a:solidFill>
          <a:ln>
            <a:solidFill>
              <a:srgbClr val="F1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B7A43"/>
                </a:solidFill>
                <a:latin typeface="Aptos"/>
              </a:defRPr>
            </a:pPr>
            <a:r>
              <a:t>A cheap experiment closed a question that had been open for weeks — with the less convenient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The timing shift grows as the pulse is truncated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THE TWO DEFECTS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Measured against the transistor across the depth family. The shift is not a fixed penalty — it grows as the pulse gets shorter, on every buffer we have tried.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09056" y="2761488"/>
            <a:ext cx="5434846" cy="302666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ming_shift_v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488" y="2788920"/>
            <a:ext cx="5379982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47104"/>
            <a:ext cx="107899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750" b="0">
                <a:solidFill>
                  <a:srgbClr val="666C68"/>
                </a:solidFill>
                <a:latin typeface="Aptos"/>
              </a:defRPr>
            </a:pPr>
            <a:r>
              <a:t>results/timing_shift_decomposition_2026-09-03/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The core reconstruction is sound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31089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A golden-waveform test replays a model's own V-T tables into the fixture that produced them.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It is self-contained — no transistor, no native IBIS, no engine confound. We had never done this before.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pybis reproduces all three buffers' own golden waveforms: figure of merit 0.03–0.41%, shift +4 to +8 ps.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It is now the standing health check, and it settled the C_comp question.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93587" y="1024127"/>
            <a:ext cx="4232344" cy="476402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lden_waveform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1019" y="1051560"/>
            <a:ext cx="4177480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6062472"/>
            <a:ext cx="11109960" cy="393192"/>
          </a:xfrm>
          <a:prstGeom prst="rect">
            <a:avLst/>
          </a:prstGeom>
          <a:solidFill>
            <a:srgbClr val="F1F8F2"/>
          </a:solidFill>
          <a:ln>
            <a:solidFill>
              <a:srgbClr val="F1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B7A43"/>
                </a:solidFill>
                <a:latin typeface="Aptos"/>
              </a:defRPr>
            </a:pPr>
            <a:r>
              <a:t>Whatever is wrong under stress, it is not the I-V × Ku(t) reconstruction itself.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C_comp is handled correctly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Nominal C_comp beats zero on all 12 tables, and the margin scales with the die capacitance — ex2 at 5 pF needs a −124 to −178 ps correction without it. I had this backwards at first: I misapplied the book's double-counting diagnostic and reported that pybis over-applies C_comp. The golden-waveform test overturned that.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51780" y="2761488"/>
            <a:ext cx="5749398" cy="3026664"/>
          </a:xfrm>
          <a:prstGeom prst="rect">
            <a:avLst/>
          </a:prstGeom>
          <a:solidFill>
            <a:srgbClr val="FFFFFF"/>
          </a:solidFill>
          <a:ln w="10160">
            <a:solidFill>
              <a:srgbClr val="CBD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comp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212" y="2788920"/>
            <a:ext cx="5694534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47104"/>
            <a:ext cx="107899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750" b="0">
                <a:solidFill>
                  <a:srgbClr val="666C68"/>
                </a:solidFill>
                <a:latin typeface="Aptos"/>
              </a:defRPr>
            </a:pPr>
            <a:r>
              <a:t>results/pybis_ccomp_converged_2026-09-03/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Is it the engine or the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Every native-IBIS-vs-pybis number changes two things at once: the IBIS implementation and the SPICE engine. We wrote a translator so the same pybis model runs in both.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72800" cy="1645920"/>
          </a:xfrm>
          <a:prstGeom prst="roundRect">
            <a:avLst/>
          </a:prstGeom>
          <a:solidFill>
            <a:srgbClr val="F6F8F7"/>
          </a:solidFill>
          <a:ln w="12700">
            <a:solidFill>
              <a:srgbClr val="A4A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8872" rIns="73152" tIns="91440" bIns="73152"/>
          <a:lstStyle/>
          <a:p>
            <a:pPr algn="ctr">
              <a:defRPr sz="1250">
                <a:solidFill>
                  <a:srgbClr val="1E3027"/>
                </a:solidFill>
                <a:latin typeface="Consolas"/>
              </a:defRPr>
            </a:pPr>
            <a:r>
              <a:t>                              50% crossing</a:t>
            </a:r>
            <a:br/>
            <a:br/>
            <a:r>
              <a:t>  pybis model in ngspice          5.3371 ns</a:t>
            </a:r>
            <a:br/>
            <a:r>
              <a:t>  pybis model in HSPICE           5.3375 ns      engine:  -0.5 ps rising, -0.0 falling</a:t>
            </a:r>
            <a:br/>
            <a:r>
              <a:t>  native IBIS in HSPICE           5.3319 ns      model:   +5.6 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12801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The engine is not the source of the difference — provided ngspice is run converged.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That proviso is real: at a 1 ps step ngspice was an aliasing outlier that doubled the apparent lag and inflated a whole validation sweep.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6547104"/>
            <a:ext cx="107899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750" b="0">
                <a:solidFill>
                  <a:srgbClr val="666C68"/>
                </a:solidFill>
                <a:latin typeface="Aptos"/>
              </a:defRPr>
            </a:pPr>
            <a:r>
              <a:t>results/pybis_engine_model_decoupling_2026-09-03/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What fixtures do to the extracted Ku/Kd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1945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The control reproduces the shipped solve to 2.4e−08, so the method is exact.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In quiet regions Ku is load-independent to four decimals — the extraction is a device property, not a fixture artifact.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A resonant R+L+C fixture corrupts Ku for 1.14 ns, reaching 0.26 of error.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191F1C"/>
                </a:solidFill>
                <a:latin typeface="Aptos"/>
              </a:defRPr>
            </a:pPr>
            <a:r>
              <a:t>Practical conclusion: added L and C are safe individually. The resonant combination has to be avoided when characterising.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062472"/>
            <a:ext cx="11109960" cy="393192"/>
          </a:xfrm>
          <a:prstGeom prst="rect">
            <a:avLst/>
          </a:prstGeom>
          <a:solidFill>
            <a:srgbClr val="F1F8F2"/>
          </a:solidFill>
          <a:ln>
            <a:solidFill>
              <a:srgbClr val="F1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B7A43"/>
                </a:solidFill>
                <a:latin typeface="Aptos"/>
              </a:defRPr>
            </a:pPr>
            <a:r>
              <a:t>The two-fixture extraction is trustworthy — as long as the fixture is not resonant.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The 1.25 max|Ku| cap rejects good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WHAT SHOULD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6949440" cy="2468880"/>
          </a:xfrm>
          <a:prstGeom prst="roundRect">
            <a:avLst/>
          </a:prstGeom>
          <a:solidFill>
            <a:srgbClr val="F6F8F7"/>
          </a:solidFill>
          <a:ln w="12700">
            <a:solidFill>
              <a:srgbClr val="A4A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8872" rIns="73152" tIns="91440" bIns="73152"/>
          <a:lstStyle/>
          <a:p>
            <a:pPr algn="ctr">
              <a:defRPr sz="1200">
                <a:solidFill>
                  <a:srgbClr val="1E3027"/>
                </a:solidFill>
                <a:latin typeface="Consolas"/>
              </a:defRPr>
            </a:pPr>
            <a:r>
              <a:t>ex2 variants, all seven edge rates</a:t>
            </a:r>
            <a:br/>
            <a:br/>
            <a:r>
              <a:t>  variant                          output edge   max|Ku|</a:t>
            </a:r>
            <a:br/>
            <a:r>
              <a:t>  slowpre  (predriver halved)         328 ps      1.047</a:t>
            </a:r>
            <a:br/>
            <a:r>
              <a:t>  base     (control)                  200 ps      1.283</a:t>
            </a:r>
            <a:br/>
            <a:r>
              <a:t>  nomiller (Miller caps removed)      208 ps      1.299</a:t>
            </a:r>
            <a:br/>
            <a:r>
              <a:t>  skewp    (output PMOS halved)       160 ps      1.589</a:t>
            </a:r>
            <a:br/>
            <a:r>
              <a:t>  weak     (both output devices /2)   152 ps      1.779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188720"/>
            <a:ext cx="3931920" cy="274320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Monotonic in C_comp × dV/dt against the device drive.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For ex2: 5 pF × 3.3 V / 200 ps = 82 mA of displacement current against a ~51 mA drive. It exceeds the device, so the solve must push Ku above 1.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Healthy baselines differ per silicon — inv_chain 1.03, io_buf 1.18, ex2 1.28 — so no absolute number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191F1C"/>
                </a:solidFill>
                <a:latin typeface="Aptos"/>
              </a:defRPr>
            </a:pPr>
            <a:r>
              <a:t>I proposed the wrong cause first: gate-to-drain (Miller) feedthrough. The nomiller variant came back identical to the control. Those caps are 20.5 fF against C_comp's 5 pF — 0.41%, 250× too small — which is arithmetic I should have done before building the variant. The null result still helps: it rules out the small capacitor and points at C_comp.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062472"/>
            <a:ext cx="11109960" cy="393192"/>
          </a:xfrm>
          <a:prstGeom prst="rect">
            <a:avLst/>
          </a:prstGeom>
          <a:solidFill>
            <a:srgbClr val="F1F8F2"/>
          </a:solidFill>
          <a:ln>
            <a:solidFill>
              <a:srgbClr val="F1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B7A43"/>
                </a:solidFill>
                <a:latin typeface="Aptos"/>
              </a:defRPr>
            </a:pPr>
            <a:r>
              <a:t>A high max|Ku| is a real signature of a large die capacitance driven fast. The cap should be a within-buffer outlier test.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New buffers, and what they are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WHAT SHOULD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292608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We built nine variants of inv_chain and ex2 in HSPICE using the real transistor library — slower predriver, halved output devices, skewed PMOS, Miller caps removed, plus an open-drain build.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The point is to test whether what we learned on three buffers holds across different silicon, rather than being a property of one netlist.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Each one goes through the same s2ibispy characterisation and the same stress axis, so the comparison is like for 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81928" y="1564455"/>
            <a:ext cx="5541264" cy="3546209"/>
          </a:xfrm>
          <a:prstGeom prst="rect">
            <a:avLst/>
          </a:prstGeom>
          <a:solidFill>
            <a:srgbClr val="FFFFFF"/>
          </a:solidFill>
          <a:ln w="10160">
            <a:solidFill>
              <a:srgbClr val="CBD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uk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887"/>
            <a:ext cx="5486400" cy="34913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389120"/>
            <a:ext cx="548640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191F1C"/>
                </a:solidFill>
                <a:latin typeface="Aptos"/>
              </a:defRPr>
            </a:pPr>
            <a:r>
              <a:t>Ku and Kd for one stressed case. The coefficients show things the pad trace hides — here the gate-state build starts moving before the transistor does.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700" b="0">
                <a:solidFill>
                  <a:srgbClr val="000000"/>
                </a:solidFill>
                <a:latin typeface="Times New Roman"/>
              </a:defRPr>
            </a:pPr>
            <a: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109728"/>
            <a:ext cx="2148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50" b="1">
                <a:solidFill>
                  <a:srgbClr val="666C68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329184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Settled — C_comp is handled correctly; the engine is not a confounder; pybis reproduces its own golden waveforms; the offset has a working fix in delay_cmd.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Open — the timing shift has no candidate mechanism, and it grows with truncation on every buffer tried.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Open — the 1.25 max|Ku| cap needs replacing with a within-buffer outlier test before it rejects more good models.</a:t>
            </a:r>
          </a:p>
          <a:p>
            <a:pPr>
              <a:spcAft>
                <a:spcPts val="700"/>
              </a:spcAft>
              <a:defRPr sz="1700">
                <a:solidFill>
                  <a:srgbClr val="191F1C"/>
                </a:solidFill>
                <a:latin typeface="Aptos"/>
              </a:defRPr>
            </a:pPr>
            <a:r>
              <a:t>- Running now — the same stress axis applied to all nine variants, with Ku/Kd solved from the transistor for each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191F1C"/>
                </a:solidFill>
                <a:latin typeface="Aptos"/>
              </a:defRPr>
            </a:pPr>
            <a:r>
              <a:t>Two rules that cost us real time, worth not re-learning: any bench for this model must start with a real edge and never a held level, because it initialises pulldown-on and latches state only on an edge. And ngspice must be converged before any conclusion is drawn from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MST_EMC_lab_theme">
  <a:themeElements>
    <a:clrScheme name="Level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Level">
      <a:majorFont>
        <a:latin typeface="Times New Roman"/>
        <a:ea typeface=""/>
        <a:cs typeface="Arial"/>
      </a:majorFont>
      <a:minorFont>
        <a:latin typeface="Times New Roman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Level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vel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vel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vel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ST_EMC_lab_theme" id="{F84A9E38-8E53-459B-962B-D11E178A4856}" vid="{AF41A44A-DCC1-4496-8938-47400BABA3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1_MST_EMC_lab_theme</vt:lpstr>
      <vt:lpstr>IBIS Simulation in Ngspice</vt:lpstr>
      <vt:lpstr>"Replay Problem" for Short Pulse</vt:lpstr>
      <vt:lpstr>Why "Value-matched" Method Fails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Lee, Seonghi</dc:creator>
  <cp:revision>53</cp:revision>
  <dcterms:created xsi:type="dcterms:W3CDTF">2025-07-07T19:11:35Z</dcterms:created>
  <dcterms:modified xsi:type="dcterms:W3CDTF">2026-07-14T07:11:59Z</dcterms:modified>
</cp:coreProperties>
</file>