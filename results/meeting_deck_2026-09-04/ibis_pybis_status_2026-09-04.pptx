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
  </p:notesMasterIdLst>
  <p:sldIdLst>
    <p:sldId id="256" r:id="rId2"/>
    <p:sldId id="257" r:id="rId4"/>
    <p:sldId id="258" r:id="rId3"/>
    <p:sldId id="259" r:id="rId11"/>
    <p:sldId id="260" r:id="rId12"/>
    <p:sldId id="261" r:id="rId13"/>
    <p:sldId id="262" r:id="rId14"/>
    <p:sldId id="263" r:id="rId15"/>
    <p:sldId id="264" r:id="rId16"/>
    <p:sldId id="265" r:id="rId17"/>
    <p:sldId id="266" r:id="rId18"/>
    <p:sldId id="267"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B8"/>
    <a:srgbClr val="FBFB00"/>
    <a:srgbClr val="FFFF29"/>
    <a:srgbClr val="C321CF"/>
    <a:srgbClr val="C52BA8"/>
    <a:srgbClr val="99CCFF"/>
    <a:srgbClr val="6699FF"/>
    <a:srgbClr val="FFCC99"/>
    <a:srgbClr val="33CCFF"/>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7CE76EB-5733-E639-DFBE-C032C02CA049}" v="311" dt="2026-07-10T21:33:20.263"/>
    <p1510:client id="{4B2B0703-2C84-945A-F101-9A0363D83DEB}" v="2" dt="2026-07-10T16:42:58.35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microsoft.com/office/2015/10/relationships/revisionInfo" Target="revisionInfo.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FF5152-AD57-4057-A738-BC536A645BFF}" type="datetimeFigureOut">
              <a:rPr lang="en-US" smtClean="0"/>
              <a:t>7/14/2026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BD6F9-9B61-4F1F-A828-501CEB5BCFB1}" type="slidenum">
              <a:rPr lang="en-US" smtClean="0"/>
              <a:t>‹#›</a:t>
            </a:fld>
            <a:endParaRPr lang="en-US"/>
          </a:p>
        </p:txBody>
      </p:sp>
    </p:spTree>
    <p:extLst>
      <p:ext uri="{BB962C8B-B14F-4D97-AF65-F5344CB8AC3E}">
        <p14:creationId xmlns:p14="http://schemas.microsoft.com/office/powerpoint/2010/main" val="65094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012E5D0-9393-4591-81EA-D49C04BB4842}"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34" charset="-127"/>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34" charset="-127"/>
              <a:cs typeface="+mn-cs"/>
            </a:endParaRPr>
          </a:p>
        </p:txBody>
      </p:sp>
    </p:spTree>
    <p:extLst>
      <p:ext uri="{BB962C8B-B14F-4D97-AF65-F5344CB8AC3E}">
        <p14:creationId xmlns:p14="http://schemas.microsoft.com/office/powerpoint/2010/main" val="1119779915"/>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 of the stranded charge flips with the timestep, so it is an integration error. Any fix by tuning a coefficient is a coin flip, which is why the retuned version helped on some cases and not others.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of the generated subcircuit separates them. gate_state: CGUPCMD across RGUPCMD 1e15 with BGUPCMDON injecting a packet per edge. delay_cmd: BGUPCMD GUPCMD 0 V = V(PUCMDLVL). On the tail after the reversal gate_state sits at -0.144 and creeps back over ~3 ns; delay_cmd is at exactly 0. On this particular bench the stranded charge is negative and the command clamp removes it before it reaches Ku, so the two pads agree to 5 mV -- the pad consequence on the right is the case where the charge is positive.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case the pedestal goes from 97.9 mV to 5.2 mV against the transistor's 2.1 mV. Across all 29 matched stress cases RMSE goes from 108.6 to 92.2 mV, the only build that beats native IBIS. Caveat to state: delay_cmd has a 1.25 ns dead zone after a reversal where neither device is commanded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 quotes 69-99 ps late where native is 5-26 ps early. That is not reproducible from the data on disk with a 50%-of-excursion metric. The stress matrix gives io_buf native +11..+18 against ours +27..+34; inv_chain native -6..-5 against ours +8..+12; ex2 both early with ours closer. The defect is real and device-dependent, but smaller and less one-sided than the plan states. It also grows as the pulse is truncated, on all nine buffer variants tested so far.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control reproduces the shipped solve to 2.4e-08, so the method is exact, and in the quiet regions Ku is load-independent to four decimals -- the extraction really is a device property, not a fixture artifact.  Ku RMSE against the R-only baseline:  io_buf C 0.011 / L0.5 0.142 / L2 0.164 / L+C 0.159;  inv_chain C 0.007 / L0.5 0.004 / L2 0.007 / L+C 0.009;  ex2 C 0.028 / L0.5 0.008 / L2 0.022 / L+C 0.032.  Correction worth stating: the plan says added L and C are safe individually and the resonant combination is the problem. The measurement does not support that. On io_buf L alone is the worst case (0.164, peak 7.9) and L+C is no worse (0.159, peak 5.2); on the other two devices everything stays under 0.03. The real rule is that series inductance disturbs the solve, by an amount that depends on the buffer.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 and Kd here come from the transistor itself, by driving it into two fixtures and running the same two-equation solve the model uses. That is a ground-truth coefficient target, not native IBIS's opinion.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rules worth not re-learning: any bench for this model must start with a real edge, never a held level, because it initialises pulldown-on and latches state only on an edge. And ngspice must be converged before drawing any conclusion.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4" name="Picture 18"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4572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7"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2286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6" descr="new_logo_final"/>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0" y="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11"/>
          <p:cNvSpPr>
            <a:spLocks noChangeArrowheads="1"/>
          </p:cNvSpPr>
          <p:nvPr/>
        </p:nvSpPr>
        <p:spPr bwMode="auto">
          <a:xfrm>
            <a:off x="609600" y="2971800"/>
            <a:ext cx="10871200" cy="152400"/>
          </a:xfrm>
          <a:prstGeom prst="rect">
            <a:avLst/>
          </a:prstGeom>
          <a:gradFill rotWithShape="1">
            <a:gsLst>
              <a:gs pos="0">
                <a:srgbClr val="287F3D"/>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3794" name="Rectangle 2"/>
          <p:cNvSpPr>
            <a:spLocks noGrp="1" noChangeArrowheads="1"/>
          </p:cNvSpPr>
          <p:nvPr>
            <p:ph type="ctrTitle"/>
          </p:nvPr>
        </p:nvSpPr>
        <p:spPr>
          <a:xfrm>
            <a:off x="914400" y="1057275"/>
            <a:ext cx="10363200" cy="1828800"/>
          </a:xfrm>
        </p:spPr>
        <p:txBody>
          <a:bodyPr anchor="ctr"/>
          <a:lstStyle>
            <a:lvl1pPr algn="ctr">
              <a:defRPr sz="4400"/>
            </a:lvl1pPr>
          </a:lstStyle>
          <a:p>
            <a:r>
              <a:rPr lang="ko-KR" altLang="en-US"/>
              <a:t>마스터 제목 스타일 편집</a:t>
            </a:r>
            <a:endParaRPr lang="en-US" altLang="zh-CN"/>
          </a:p>
        </p:txBody>
      </p:sp>
      <p:sp>
        <p:nvSpPr>
          <p:cNvPr id="33795" name="Rectangle 3"/>
          <p:cNvSpPr>
            <a:spLocks noGrp="1" noChangeArrowheads="1"/>
          </p:cNvSpPr>
          <p:nvPr>
            <p:ph type="subTitle" idx="1"/>
          </p:nvPr>
        </p:nvSpPr>
        <p:spPr>
          <a:xfrm>
            <a:off x="1828800" y="3657600"/>
            <a:ext cx="8534400" cy="1981200"/>
          </a:xfrm>
        </p:spPr>
        <p:txBody>
          <a:bodyPr/>
          <a:lstStyle>
            <a:lvl1pPr marL="0" indent="0" algn="ctr">
              <a:buFont typeface="Times New Roman" pitchFamily="18" charset="0"/>
              <a:buNone/>
              <a:defRPr sz="2800"/>
            </a:lvl1pPr>
          </a:lstStyle>
          <a:p>
            <a:r>
              <a:rPr lang="ko-KR" altLang="en-US"/>
              <a:t>클릭하여 마스터 부제목 스타일 편집</a:t>
            </a:r>
            <a:endParaRPr lang="en-US" altLang="zh-CN"/>
          </a:p>
        </p:txBody>
      </p:sp>
      <p:sp>
        <p:nvSpPr>
          <p:cNvPr id="2" name="Oval 1">
            <a:extLst>
              <a:ext uri="{FF2B5EF4-FFF2-40B4-BE49-F238E27FC236}">
                <a16:creationId xmlns:a16="http://schemas.microsoft.com/office/drawing/2014/main" id="{1185D946-0A64-0C7F-AA63-488808319B35}"/>
              </a:ext>
            </a:extLst>
          </p:cNvPr>
          <p:cNvSpPr/>
          <p:nvPr/>
        </p:nvSpPr>
        <p:spPr>
          <a:xfrm>
            <a:off x="11381117" y="6288658"/>
            <a:ext cx="684363" cy="483079"/>
          </a:xfrm>
          <a:prstGeom prst="ellipse">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800"/>
          </a:p>
        </p:txBody>
      </p:sp>
    </p:spTree>
    <p:extLst>
      <p:ext uri="{BB962C8B-B14F-4D97-AF65-F5344CB8AC3E}">
        <p14:creationId xmlns:p14="http://schemas.microsoft.com/office/powerpoint/2010/main" val="420371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_1">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4" name="Content Placeholder 2">
            <a:extLst>
              <a:ext uri="{FF2B5EF4-FFF2-40B4-BE49-F238E27FC236}">
                <a16:creationId xmlns:a16="http://schemas.microsoft.com/office/drawing/2014/main" id="{38C6936E-D099-1BE8-8BB3-AAFCF768FD35}"/>
              </a:ext>
            </a:extLst>
          </p:cNvPr>
          <p:cNvSpPr>
            <a:spLocks noGrp="1"/>
          </p:cNvSpPr>
          <p:nvPr>
            <p:ph idx="10"/>
          </p:nvPr>
        </p:nvSpPr>
        <p:spPr>
          <a:xfrm>
            <a:off x="304800" y="1038225"/>
            <a:ext cx="11277600" cy="5438775"/>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11220102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3049719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hasCustomPrompt="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
              <a:defRPr sz="2000"/>
            </a:lvl1pPr>
            <a:lvl2pPr marL="720000" indent="-252000">
              <a:spcBef>
                <a:spcPts val="0"/>
              </a:spcBef>
              <a:spcAft>
                <a:spcPts val="600"/>
              </a:spcAft>
              <a:buClrTx/>
              <a:buSzPct val="100000"/>
              <a:buFont typeface="Arial" panose="020B0604020202020204" pitchFamily="34" charset="0"/>
              <a:buChar char="•"/>
              <a:defRPr lang="ko-KR" altLang="en-US" sz="18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두 번째 수준</a:t>
            </a:r>
            <a:endParaRPr lang="en-US" altLang="ko-KR"/>
          </a:p>
          <a:p>
            <a:pPr lvl="1"/>
            <a:r>
              <a:rPr lang="ko-KR" altLang="en-US"/>
              <a:t>세 번째 수준</a:t>
            </a:r>
          </a:p>
        </p:txBody>
      </p:sp>
      <p:sp>
        <p:nvSpPr>
          <p:cNvPr id="3" name="Content Placeholder 2">
            <a:extLst>
              <a:ext uri="{FF2B5EF4-FFF2-40B4-BE49-F238E27FC236}">
                <a16:creationId xmlns:a16="http://schemas.microsoft.com/office/drawing/2014/main" id="{7287424F-3297-D95B-C851-77D5FA265A69}"/>
              </a:ext>
            </a:extLst>
          </p:cNvPr>
          <p:cNvSpPr>
            <a:spLocks noGrp="1"/>
          </p:cNvSpPr>
          <p:nvPr>
            <p:ph idx="10"/>
          </p:nvPr>
        </p:nvSpPr>
        <p:spPr>
          <a:xfrm>
            <a:off x="304800" y="964541"/>
            <a:ext cx="11277600" cy="445159"/>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p:txBody>
      </p:sp>
    </p:spTree>
    <p:extLst>
      <p:ext uri="{BB962C8B-B14F-4D97-AF65-F5344CB8AC3E}">
        <p14:creationId xmlns:p14="http://schemas.microsoft.com/office/powerpoint/2010/main" val="1270269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content_4">
    <p:spTree>
      <p:nvGrpSpPr>
        <p:cNvPr id="1" name=""/>
        <p:cNvGrpSpPr/>
        <p:nvPr/>
      </p:nvGrpSpPr>
      <p:grpSpPr>
        <a:xfrm>
          <a:off x="0" y="0"/>
          <a:ext cx="0" cy="0"/>
          <a:chOff x="0" y="0"/>
          <a:chExt cx="0" cy="0"/>
        </a:xfrm>
      </p:grpSpPr>
      <p:sp>
        <p:nvSpPr>
          <p:cNvPr id="2" name="Title 1"/>
          <p:cNvSpPr>
            <a:spLocks noGrp="1"/>
          </p:cNvSpPr>
          <p:nvPr>
            <p:ph type="title"/>
          </p:nvPr>
        </p:nvSpPr>
        <p:spPr>
          <a:xfrm>
            <a:off x="310551" y="0"/>
            <a:ext cx="11024559" cy="762000"/>
          </a:xfrm>
        </p:spPr>
        <p:txBody>
          <a:bodyPr/>
          <a:lstStyle>
            <a:lvl1pPr>
              <a:defRPr sz="3200"/>
            </a:lvl1pPr>
          </a:lstStyle>
          <a:p>
            <a:r>
              <a:rPr lang="ko-KR" altLang="en-US"/>
              <a:t>마스터 제목 스타일 편집</a:t>
            </a:r>
            <a:endParaRPr lang="en-US"/>
          </a:p>
        </p:txBody>
      </p:sp>
    </p:spTree>
    <p:extLst>
      <p:ext uri="{BB962C8B-B14F-4D97-AF65-F5344CB8AC3E}">
        <p14:creationId xmlns:p14="http://schemas.microsoft.com/office/powerpoint/2010/main" val="3227596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4">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A3150C2-20D0-A45F-5462-61690D256719}"/>
              </a:ext>
            </a:extLst>
          </p:cNvPr>
          <p:cNvSpPr>
            <a:spLocks noGrp="1"/>
          </p:cNvSpPr>
          <p:nvPr>
            <p:ph sz="quarter" idx="10"/>
          </p:nvPr>
        </p:nvSpPr>
        <p:spPr>
          <a:xfrm>
            <a:off x="3551239" y="4124506"/>
            <a:ext cx="5089525" cy="507881"/>
          </a:xfrm>
        </p:spPr>
        <p:txBody>
          <a:bodyPr/>
          <a:lstStyle>
            <a:lvl1pPr marL="0" indent="0" algn="ctr">
              <a:buNone/>
              <a:defRPr sz="2100"/>
            </a:lvl1pPr>
          </a:lstStyle>
          <a:p>
            <a:pPr lvl="0"/>
            <a:r>
              <a:rPr lang="ko-KR" altLang="en-US"/>
              <a:t>마스터 텍스트 스타일을 편집하려면 클릭</a:t>
            </a:r>
          </a:p>
        </p:txBody>
      </p:sp>
      <p:sp>
        <p:nvSpPr>
          <p:cNvPr id="6" name="TextBox 5">
            <a:extLst>
              <a:ext uri="{FF2B5EF4-FFF2-40B4-BE49-F238E27FC236}">
                <a16:creationId xmlns:a16="http://schemas.microsoft.com/office/drawing/2014/main" id="{D28ADDEF-87C0-B90A-6505-6A3A384B7EE8}"/>
              </a:ext>
            </a:extLst>
          </p:cNvPr>
          <p:cNvSpPr txBox="1"/>
          <p:nvPr/>
        </p:nvSpPr>
        <p:spPr>
          <a:xfrm>
            <a:off x="3623209" y="2313750"/>
            <a:ext cx="4945585" cy="1419619"/>
          </a:xfrm>
          <a:prstGeom prst="rect">
            <a:avLst/>
          </a:prstGeom>
          <a:noFill/>
        </p:spPr>
        <p:txBody>
          <a:bodyPr wrap="none" rtlCol="0" anchor="ctr">
            <a:spAutoFit/>
          </a:bodyPr>
          <a:lstStyle/>
          <a:p>
            <a:pPr algn="ctr"/>
            <a:r>
              <a:rPr lang="en-US" altLang="zh-CN" sz="8625"/>
              <a:t>Thank you</a:t>
            </a:r>
            <a:endParaRPr lang="ko-KR" altLang="en-US" sz="8625"/>
          </a:p>
        </p:txBody>
      </p:sp>
    </p:spTree>
    <p:extLst>
      <p:ext uri="{BB962C8B-B14F-4D97-AF65-F5344CB8AC3E}">
        <p14:creationId xmlns:p14="http://schemas.microsoft.com/office/powerpoint/2010/main" val="19419346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0"/>
            <a:ext cx="112776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endParaRPr lang="en-US" altLang="zh-CN"/>
          </a:p>
        </p:txBody>
      </p:sp>
      <p:sp>
        <p:nvSpPr>
          <p:cNvPr id="1027" name="Rectangle 3"/>
          <p:cNvSpPr>
            <a:spLocks noGrp="1" noChangeArrowheads="1"/>
          </p:cNvSpPr>
          <p:nvPr>
            <p:ph type="body" idx="1"/>
          </p:nvPr>
        </p:nvSpPr>
        <p:spPr bwMode="auto">
          <a:xfrm>
            <a:off x="304800" y="914400"/>
            <a:ext cx="11277600" cy="556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p:txBody>
      </p:sp>
      <p:sp>
        <p:nvSpPr>
          <p:cNvPr id="327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750">
                <a:latin typeface="Verdana" pitchFamily="34" charset="0"/>
                <a:ea typeface="宋体" pitchFamily="2" charset="-122"/>
              </a:defRPr>
            </a:lvl1pPr>
          </a:lstStyle>
          <a:p>
            <a:endParaRPr lang="ko-KR" altLang="en-US"/>
          </a:p>
        </p:txBody>
      </p:sp>
      <p:sp>
        <p:nvSpPr>
          <p:cNvPr id="1030" name="Rectangle 12"/>
          <p:cNvSpPr>
            <a:spLocks noChangeArrowheads="1"/>
          </p:cNvSpPr>
          <p:nvPr/>
        </p:nvSpPr>
        <p:spPr bwMode="auto">
          <a:xfrm>
            <a:off x="304800" y="762000"/>
            <a:ext cx="10058400" cy="152400"/>
          </a:xfrm>
          <a:prstGeom prst="rect">
            <a:avLst/>
          </a:prstGeom>
          <a:gradFill rotWithShape="0">
            <a:gsLst>
              <a:gs pos="0">
                <a:srgbClr val="297F3D">
                  <a:alpha val="99001"/>
                </a:srgbClr>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 name="TextBox 2">
            <a:extLst>
              <a:ext uri="{FF2B5EF4-FFF2-40B4-BE49-F238E27FC236}">
                <a16:creationId xmlns:a16="http://schemas.microsoft.com/office/drawing/2014/main" id="{047E8E0A-D232-4C57-7AD9-EBC41A1AA7E2}"/>
              </a:ext>
            </a:extLst>
          </p:cNvPr>
          <p:cNvSpPr txBox="1"/>
          <p:nvPr/>
        </p:nvSpPr>
        <p:spPr>
          <a:xfrm>
            <a:off x="11582400" y="6373649"/>
            <a:ext cx="386644" cy="300082"/>
          </a:xfrm>
          <a:prstGeom prst="rect">
            <a:avLst/>
          </a:prstGeom>
          <a:noFill/>
        </p:spPr>
        <p:txBody>
          <a:bodyPr wrap="none" rtlCol="0">
            <a:spAutoFit/>
          </a:bodyPr>
          <a:lstStyle/>
          <a:p>
            <a:fld id="{B6F15528-21DE-4FAA-801E-634DDDAF4B2B}" type="slidenum">
              <a:rPr lang="en-US" altLang="ko-KR" sz="1350" smtClean="0">
                <a:solidFill>
                  <a:srgbClr val="000000"/>
                </a:solidFill>
              </a:rPr>
              <a:pPr/>
              <a:t>‹#›</a:t>
            </a:fld>
            <a:endParaRPr lang="ko-KR" altLang="en-US" sz="1350"/>
          </a:p>
        </p:txBody>
      </p:sp>
    </p:spTree>
    <p:extLst>
      <p:ext uri="{BB962C8B-B14F-4D97-AF65-F5344CB8AC3E}">
        <p14:creationId xmlns:p14="http://schemas.microsoft.com/office/powerpoint/2010/main" val="6314961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latinLnBrk="1" hangingPunct="1">
        <a:spcBef>
          <a:spcPct val="0"/>
        </a:spcBef>
        <a:spcAft>
          <a:spcPct val="0"/>
        </a:spcAft>
        <a:defRPr sz="2800">
          <a:solidFill>
            <a:schemeClr val="tx1"/>
          </a:solidFill>
          <a:latin typeface="+mj-lt"/>
          <a:ea typeface="+mj-ea"/>
          <a:cs typeface="+mj-cs"/>
        </a:defRPr>
      </a:lvl1pPr>
      <a:lvl2pPr algn="l" rtl="0" eaLnBrk="1" fontAlgn="base" latinLnBrk="1" hangingPunct="1">
        <a:spcBef>
          <a:spcPct val="0"/>
        </a:spcBef>
        <a:spcAft>
          <a:spcPct val="0"/>
        </a:spcAft>
        <a:defRPr sz="2400">
          <a:solidFill>
            <a:schemeClr val="tx1"/>
          </a:solidFill>
          <a:latin typeface="Times New Roman" pitchFamily="18" charset="0"/>
          <a:cs typeface="Arial" charset="0"/>
        </a:defRPr>
      </a:lvl2pPr>
      <a:lvl3pPr algn="l" rtl="0" eaLnBrk="1" fontAlgn="base" latinLnBrk="1" hangingPunct="1">
        <a:spcBef>
          <a:spcPct val="0"/>
        </a:spcBef>
        <a:spcAft>
          <a:spcPct val="0"/>
        </a:spcAft>
        <a:defRPr sz="2400">
          <a:solidFill>
            <a:schemeClr val="tx1"/>
          </a:solidFill>
          <a:latin typeface="Times New Roman" pitchFamily="18" charset="0"/>
          <a:cs typeface="Arial" charset="0"/>
        </a:defRPr>
      </a:lvl3pPr>
      <a:lvl4pPr algn="l" rtl="0" eaLnBrk="1" fontAlgn="base" latinLnBrk="1" hangingPunct="1">
        <a:spcBef>
          <a:spcPct val="0"/>
        </a:spcBef>
        <a:spcAft>
          <a:spcPct val="0"/>
        </a:spcAft>
        <a:defRPr sz="2400">
          <a:solidFill>
            <a:schemeClr val="tx1"/>
          </a:solidFill>
          <a:latin typeface="Times New Roman" pitchFamily="18" charset="0"/>
          <a:cs typeface="Arial" charset="0"/>
        </a:defRPr>
      </a:lvl4pPr>
      <a:lvl5pPr algn="l" rtl="0" eaLnBrk="1" fontAlgn="base" latinLnBrk="1" hangingPunct="1">
        <a:spcBef>
          <a:spcPct val="0"/>
        </a:spcBef>
        <a:spcAft>
          <a:spcPct val="0"/>
        </a:spcAft>
        <a:defRPr sz="2400">
          <a:solidFill>
            <a:schemeClr val="tx1"/>
          </a:solidFill>
          <a:latin typeface="Times New Roman" pitchFamily="18" charset="0"/>
          <a:cs typeface="Arial" charset="0"/>
        </a:defRPr>
      </a:lvl5pPr>
      <a:lvl6pPr marL="342900" algn="l" rtl="0" eaLnBrk="1" fontAlgn="base" latinLnBrk="1" hangingPunct="1">
        <a:spcBef>
          <a:spcPct val="0"/>
        </a:spcBef>
        <a:spcAft>
          <a:spcPct val="0"/>
        </a:spcAft>
        <a:defRPr sz="2400">
          <a:solidFill>
            <a:schemeClr val="tx1"/>
          </a:solidFill>
          <a:latin typeface="Times New Roman" pitchFamily="18" charset="0"/>
          <a:cs typeface="Arial" charset="0"/>
        </a:defRPr>
      </a:lvl6pPr>
      <a:lvl7pPr marL="685800" algn="l" rtl="0" eaLnBrk="1" fontAlgn="base" latinLnBrk="1" hangingPunct="1">
        <a:spcBef>
          <a:spcPct val="0"/>
        </a:spcBef>
        <a:spcAft>
          <a:spcPct val="0"/>
        </a:spcAft>
        <a:defRPr sz="2400">
          <a:solidFill>
            <a:schemeClr val="tx1"/>
          </a:solidFill>
          <a:latin typeface="Times New Roman" pitchFamily="18" charset="0"/>
          <a:cs typeface="Arial" charset="0"/>
        </a:defRPr>
      </a:lvl7pPr>
      <a:lvl8pPr marL="1028700" algn="l" rtl="0" eaLnBrk="1" fontAlgn="base" latinLnBrk="1" hangingPunct="1">
        <a:spcBef>
          <a:spcPct val="0"/>
        </a:spcBef>
        <a:spcAft>
          <a:spcPct val="0"/>
        </a:spcAft>
        <a:defRPr sz="2400">
          <a:solidFill>
            <a:schemeClr val="tx1"/>
          </a:solidFill>
          <a:latin typeface="Times New Roman" pitchFamily="18" charset="0"/>
          <a:cs typeface="Arial" charset="0"/>
        </a:defRPr>
      </a:lvl8pPr>
      <a:lvl9pPr marL="1371600" algn="l" rtl="0" eaLnBrk="1" fontAlgn="base" latinLnBrk="1" hangingPunct="1">
        <a:spcBef>
          <a:spcPct val="0"/>
        </a:spcBef>
        <a:spcAft>
          <a:spcPct val="0"/>
        </a:spcAft>
        <a:defRPr sz="2400">
          <a:solidFill>
            <a:schemeClr val="tx1"/>
          </a:solidFill>
          <a:latin typeface="Times New Roman" pitchFamily="18" charset="0"/>
          <a:cs typeface="Arial" charset="0"/>
        </a:defRPr>
      </a:lvl9pPr>
    </p:titleStyle>
    <p:bodyStyle>
      <a:lvl1pPr marL="257175" indent="-257175" algn="l" rtl="0" eaLnBrk="1" fontAlgn="base" latinLnBrk="1" hangingPunct="1">
        <a:spcBef>
          <a:spcPts val="0"/>
        </a:spcBef>
        <a:spcAft>
          <a:spcPts val="450"/>
        </a:spcAft>
        <a:buClr>
          <a:schemeClr val="tx1"/>
        </a:buClr>
        <a:buSzPct val="75000"/>
        <a:buFont typeface="Times New Roman" pitchFamily="18" charset="0"/>
        <a:buChar char="●"/>
        <a:defRPr sz="1800">
          <a:solidFill>
            <a:schemeClr val="tx1"/>
          </a:solidFill>
          <a:latin typeface="+mn-lt"/>
          <a:ea typeface="+mn-ea"/>
          <a:cs typeface="+mn-cs"/>
        </a:defRPr>
      </a:lvl1pPr>
      <a:lvl2pPr marL="480060" indent="-205740" algn="l" rtl="0" eaLnBrk="1" fontAlgn="base" latinLnBrk="1" hangingPunct="1">
        <a:spcBef>
          <a:spcPts val="0"/>
        </a:spcBef>
        <a:spcAft>
          <a:spcPts val="450"/>
        </a:spcAft>
        <a:buClrTx/>
        <a:buSzPct val="75000"/>
        <a:buFont typeface="Arial" charset="0"/>
        <a:buChar char="–"/>
        <a:defRPr lang="en-US" altLang="zh-CN" sz="1650" dirty="0" smtClean="0">
          <a:solidFill>
            <a:schemeClr val="tx1"/>
          </a:solidFill>
          <a:latin typeface="+mn-lt"/>
          <a:cs typeface="+mn-cs"/>
        </a:defRPr>
      </a:lvl2pPr>
      <a:lvl3pPr marL="754380" indent="-205740" algn="l" rtl="0" eaLnBrk="1" fontAlgn="base" latinLnBrk="1" hangingPunct="1">
        <a:spcBef>
          <a:spcPts val="0"/>
        </a:spcBef>
        <a:spcAft>
          <a:spcPts val="450"/>
        </a:spcAft>
        <a:buClrTx/>
        <a:buSzPct val="65000"/>
        <a:buFont typeface="Wingdings" pitchFamily="2" charset="2"/>
        <a:buChar char="§"/>
        <a:defRPr lang="en-US" altLang="zh-CN" sz="1500" dirty="0">
          <a:solidFill>
            <a:schemeClr val="tx1"/>
          </a:solidFill>
          <a:latin typeface="+mn-lt"/>
          <a:cs typeface="+mn-cs"/>
        </a:defRPr>
      </a:lvl3pPr>
      <a:lvl4pPr marL="1200150" indent="-171450" algn="l" rtl="0" eaLnBrk="1" fontAlgn="base" latinLnBrk="1" hangingPunct="1">
        <a:spcBef>
          <a:spcPct val="20000"/>
        </a:spcBef>
        <a:spcAft>
          <a:spcPct val="0"/>
        </a:spcAft>
        <a:buClr>
          <a:schemeClr val="bg2"/>
        </a:buClr>
        <a:buFont typeface="Arial" panose="020B0604020202020204" pitchFamily="34" charset="0"/>
        <a:buChar char="•"/>
        <a:defRPr sz="1200">
          <a:solidFill>
            <a:schemeClr val="tx1"/>
          </a:solidFill>
          <a:latin typeface="+mn-lt"/>
          <a:cs typeface="+mn-cs"/>
        </a:defRPr>
      </a:lvl4pPr>
      <a:lvl5pPr marL="1543050" indent="-171450" algn="l" rtl="0" eaLnBrk="1" fontAlgn="base" latinLnBrk="1" hangingPunct="1">
        <a:spcBef>
          <a:spcPct val="20000"/>
        </a:spcBef>
        <a:spcAft>
          <a:spcPct val="0"/>
        </a:spcAft>
        <a:buClr>
          <a:schemeClr val="tx2"/>
        </a:buClr>
        <a:buSzPct val="80000"/>
        <a:buFont typeface="Wingdings" pitchFamily="2" charset="2"/>
        <a:buChar char="§"/>
        <a:defRPr sz="1350">
          <a:solidFill>
            <a:schemeClr val="tx1"/>
          </a:solidFill>
          <a:latin typeface="+mn-lt"/>
          <a:cs typeface="+mn-cs"/>
        </a:defRPr>
      </a:lvl5pPr>
      <a:lvl6pPr marL="18859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2288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25717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29146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161CA2A-44B7-9F04-6068-47D43FF3DC60}"/>
              </a:ext>
            </a:extLst>
          </p:cNvPr>
          <p:cNvSpPr>
            <a:spLocks noGrp="1"/>
          </p:cNvSpPr>
          <p:nvPr>
            <p:ph type="ctrTitle"/>
          </p:nvPr>
        </p:nvSpPr>
        <p:spPr>
          <a:xfrm>
            <a:off x="1118507" y="1016453"/>
            <a:ext cx="10882993" cy="1828800"/>
          </a:xfrm>
        </p:spPr>
        <p:txBody>
          <a:bodyPr/>
          <a:lstStyle/>
          <a:p>
            <a:pPr>
              <a:defRPr sz="3500" b="1">
                <a:solidFill>
                  <a:srgbClr val="000000"/>
                </a:solidFill>
                <a:latin typeface="Times New Roman"/>
              </a:defRPr>
            </a:pPr>
            <a:r>
              <a:t>IBIS Simulation Short Pulse Handling</a:t>
            </a:r>
          </a:p>
        </p:txBody>
      </p:sp>
      <p:sp>
        <p:nvSpPr>
          <p:cNvPr id="3" name="부제목 2">
            <a:extLst>
              <a:ext uri="{FF2B5EF4-FFF2-40B4-BE49-F238E27FC236}">
                <a16:creationId xmlns:a16="http://schemas.microsoft.com/office/drawing/2014/main" id="{D62CACD7-6A52-C28F-D2D0-4E8721229DAB}"/>
              </a:ext>
            </a:extLst>
          </p:cNvPr>
          <p:cNvSpPr>
            <a:spLocks noGrp="1"/>
          </p:cNvSpPr>
          <p:nvPr>
            <p:ph type="subTitle" idx="1"/>
          </p:nvPr>
        </p:nvSpPr>
        <p:spPr>
          <a:xfrm>
            <a:off x="1828800" y="5294671"/>
            <a:ext cx="8534400" cy="1563329"/>
          </a:xfrm>
        </p:spPr>
        <p:txBody>
          <a:bodyPr/>
          <a:lstStyle/>
          <a:p>
            <a:pPr algn="ctr">
              <a:defRPr sz="1600">
                <a:solidFill>
                  <a:srgbClr val="000000"/>
                </a:solidFill>
                <a:latin typeface="Times New Roman"/>
              </a:defRPr>
            </a:pPr>
            <a:r>
              <a:t>Simon Hwang</a:t>
            </a:r>
          </a:p>
          <a:p>
            <a:pPr algn="ctr">
              <a:defRPr sz="1600">
                <a:solidFill>
                  <a:srgbClr val="000000"/>
                </a:solidFill>
                <a:latin typeface="Times New Roman"/>
              </a:defRPr>
            </a:pPr>
            <a:r>
              <a:t>Dr. Chulsoon Hwang</a:t>
            </a:r>
          </a:p>
          <a:p>
            <a:pPr algn="ctr">
              <a:defRPr sz="1600">
                <a:solidFill>
                  <a:srgbClr val="000000"/>
                </a:solidFill>
                <a:latin typeface="Times New Roman"/>
              </a:defRPr>
            </a:pPr>
            <a:r>
              <a:t>Dr. Zhiping Yang</a:t>
            </a:r>
          </a:p>
          <a:p>
            <a:pPr algn="ctr">
              <a:defRPr sz="1600">
                <a:solidFill>
                  <a:srgbClr val="000000"/>
                </a:solidFill>
                <a:latin typeface="Times New Roman"/>
              </a:defRPr>
            </a:pPr>
            <a:r>
              <a:t>9/4/2026</a:t>
            </a:r>
          </a:p>
        </p:txBody>
      </p:sp>
    </p:spTree>
    <p:extLst>
      <p:ext uri="{BB962C8B-B14F-4D97-AF65-F5344CB8AC3E}">
        <p14:creationId xmlns:p14="http://schemas.microsoft.com/office/powerpoint/2010/main" val="66142218"/>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Table of contents</a:t>
            </a:r>
          </a:p>
        </p:txBody>
      </p:sp>
      <p:sp>
        <p:nvSpPr>
          <p:cNvPr id="3" name="TextBox 2"/>
          <p:cNvSpPr txBox="1"/>
          <p:nvPr/>
        </p:nvSpPr>
        <p:spPr>
          <a:xfrm>
            <a:off x="640080" y="1371600"/>
            <a:ext cx="11064240" cy="34290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Issue recap</a:t>
            </a:r>
          </a:p>
          <a:p>
            <a:pPr>
              <a:spcAft>
                <a:spcPts val="300"/>
              </a:spcAft>
              <a:defRPr sz="1700">
                <a:solidFill>
                  <a:srgbClr val="191F1C"/>
                </a:solidFill>
                <a:latin typeface="Aptos"/>
              </a:defRPr>
            </a:pPr>
            <a:r>
              <a:t>•  Delaying the input command</a:t>
            </a:r>
          </a:p>
          <a:p>
            <a:pPr>
              <a:spcAft>
                <a:spcPts val="300"/>
              </a:spcAft>
              <a:defRPr sz="1700">
                <a:solidFill>
                  <a:srgbClr val="191F1C"/>
                </a:solidFill>
                <a:latin typeface="Aptos"/>
              </a:defRPr>
            </a:pPr>
            <a:r>
              <a:t>•  RLC fixture effects on V-t waveforms and Ku/Kd</a:t>
            </a:r>
          </a:p>
          <a:p>
            <a:pPr>
              <a:spcAft>
                <a:spcPts val="300"/>
              </a:spcAft>
              <a:defRPr sz="1700">
                <a:solidFill>
                  <a:srgbClr val="191F1C"/>
                </a:solidFill>
                <a:latin typeface="Aptos"/>
              </a:defRPr>
            </a:pPr>
            <a:r>
              <a:t>•  Pybis in HSPICE vs. NgSPICE</a:t>
            </a:r>
          </a:p>
          <a:p>
            <a:pPr>
              <a:spcAft>
                <a:spcPts val="300"/>
              </a:spcAft>
              <a:defRPr sz="1700">
                <a:solidFill>
                  <a:srgbClr val="191F1C"/>
                </a:solidFill>
                <a:latin typeface="Aptos"/>
              </a:defRPr>
            </a:pPr>
            <a:r>
              <a:t>•  More SPICE buffer mockups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Issue recap</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ISSUE RECAP</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A short pulse reverses before the pad has finished its transition.</a:t>
            </a:r>
          </a:p>
          <a:p>
            <a:pPr>
              <a:spcAft>
                <a:spcPts val="300"/>
              </a:spcAft>
              <a:defRPr sz="1700">
                <a:solidFill>
                  <a:srgbClr val="191F1C"/>
                </a:solidFill>
                <a:latin typeface="Aptos"/>
              </a:defRPr>
            </a:pPr>
            <a:r>
              <a:t>•  Through the edge all three agree. Our pad stays high afterwards.</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cap_pad.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Issue recap — the coefficients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ISSUE RECAP</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Ku(t) and Kd(t) assume the transition starts from a settled state.</a:t>
            </a:r>
          </a:p>
          <a:p>
            <a:pPr>
              <a:spcAft>
                <a:spcPts val="300"/>
              </a:spcAft>
              <a:defRPr sz="1700">
                <a:solidFill>
                  <a:srgbClr val="191F1C"/>
                </a:solidFill>
                <a:latin typeface="Aptos"/>
              </a:defRPr>
            </a:pPr>
            <a:r>
              <a:t>•  When the reverse edge arrives first, they are still replayed from fully settled, and Ku does not return to zero.</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cap_kukd.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The offset: charge stranded in the command capacitor</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DELAYING THE INPUT COMMAND</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GUPCMD is a capacitor across 1e15 ohm, charged once per input edge.</a:t>
            </a:r>
          </a:p>
          <a:p>
            <a:pPr>
              <a:spcAft>
                <a:spcPts val="300"/>
              </a:spcAft>
              <a:defRPr sz="1700">
                <a:solidFill>
                  <a:srgbClr val="191F1C"/>
                </a:solidFill>
                <a:latin typeface="Aptos"/>
              </a:defRPr>
            </a:pPr>
            <a:r>
              <a:t>•  A truncated pulse leaves charge in it with no resistive path out.</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ffset_chain.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How delay_cmd works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DELAYING THE INPUT COMMAND</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gate-state: GUPCMD is a capacitor across 1e15 Ω, given a fixed packet of charge on each input edge — an integrator with no DC path.</a:t>
            </a:r>
          </a:p>
          <a:p>
            <a:pPr>
              <a:spcAft>
                <a:spcPts val="300"/>
              </a:spcAft>
              <a:defRPr sz="1700">
                <a:solidFill>
                  <a:srgbClr val="191F1C"/>
                </a:solidFill>
                <a:latin typeface="Aptos"/>
              </a:defRPr>
            </a:pPr>
            <a:r>
              <a:t>•  delay_cmd: GUPCMD is driven straight from the present input level.</a:t>
            </a:r>
          </a:p>
        </p:txBody>
      </p:sp>
      <p:sp>
        <p:nvSpPr>
          <p:cNvPr id="5" name="Rectangle 4"/>
          <p:cNvSpPr/>
          <p:nvPr/>
        </p:nvSpPr>
        <p:spPr>
          <a:xfrm>
            <a:off x="51374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mmand_node.png"/>
          <p:cNvPicPr>
            <a:picLocks noChangeAspect="1"/>
          </p:cNvPicPr>
          <p:nvPr/>
        </p:nvPicPr>
        <p:blipFill>
          <a:blip r:embed="rId2"/>
          <a:stretch>
            <a:fillRect/>
          </a:stretch>
        </p:blipFill>
        <p:spPr>
          <a:xfrm>
            <a:off x="541175" y="2084831"/>
            <a:ext cx="5318448" cy="4343400"/>
          </a:xfrm>
          <a:prstGeom prst="rect">
            <a:avLst/>
          </a:prstGeom>
        </p:spPr>
      </p:pic>
      <p:sp>
        <p:nvSpPr>
          <p:cNvPr id="7" name="Rectangle 6"/>
          <p:cNvSpPr/>
          <p:nvPr/>
        </p:nvSpPr>
        <p:spPr>
          <a:xfrm>
            <a:off x="627446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ommand_pad.png"/>
          <p:cNvPicPr>
            <a:picLocks noChangeAspect="1"/>
          </p:cNvPicPr>
          <p:nvPr/>
        </p:nvPicPr>
        <p:blipFill>
          <a:blip r:embed="rId3"/>
          <a:stretch>
            <a:fillRect/>
          </a:stretch>
        </p:blipFill>
        <p:spPr>
          <a:xfrm>
            <a:off x="6301895" y="2084831"/>
            <a:ext cx="5318448" cy="43434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delay_cmd removes the offset</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DELAYING THE INPUT COMMAND</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The command returns to exactly zero, so nothing is stranded.</a:t>
            </a:r>
          </a:p>
          <a:p>
            <a:pPr>
              <a:spcAft>
                <a:spcPts val="300"/>
              </a:spcAft>
              <a:defRPr sz="1700">
                <a:solidFill>
                  <a:srgbClr val="191F1C"/>
                </a:solidFill>
                <a:latin typeface="Aptos"/>
              </a:defRPr>
            </a:pPr>
            <a:r>
              <a:t>•  The pedestal goes from 97.9 mV to 5.2 mV, against the transistor's 2.1.</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ffset_removed.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It does not fix the timing</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DELAYING THE INPUT COMMAND</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delay_cmd improved the timing on 0 of 19 stress cases — so the offset and the shift are two mechanisms, not one.</a:t>
            </a:r>
          </a:p>
          <a:p>
            <a:pPr>
              <a:spcAft>
                <a:spcPts val="300"/>
              </a:spcAft>
              <a:defRPr sz="1700">
                <a:solidFill>
                  <a:srgbClr val="191F1C"/>
                </a:solidFill>
                <a:latin typeface="Aptos"/>
              </a:defRPr>
            </a:pPr>
            <a:r>
              <a:t>•  Our 50% crossing still arrives after native's: io_buf +27..+34 ps against native's +11..+18.</a:t>
            </a:r>
          </a:p>
        </p:txBody>
      </p:sp>
      <p:sp>
        <p:nvSpPr>
          <p:cNvPr id="5" name="Rectangle 4"/>
          <p:cNvSpPr/>
          <p:nvPr/>
        </p:nvSpPr>
        <p:spPr>
          <a:xfrm>
            <a:off x="743653" y="1819656"/>
            <a:ext cx="10674213" cy="458114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iming_shift.png"/>
          <p:cNvPicPr>
            <a:picLocks noChangeAspect="1"/>
          </p:cNvPicPr>
          <p:nvPr/>
        </p:nvPicPr>
        <p:blipFill>
          <a:blip r:embed="rId2"/>
          <a:stretch>
            <a:fillRect/>
          </a:stretch>
        </p:blipFill>
        <p:spPr>
          <a:xfrm>
            <a:off x="771085" y="1847088"/>
            <a:ext cx="10619349" cy="45262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Is the difference the engine or the model?</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PYBIS IN HSPICE VS. NGSPICE</a:t>
            </a:r>
          </a:p>
        </p:txBody>
      </p:sp>
      <p:sp>
        <p:nvSpPr>
          <p:cNvPr id="4" name="TextBox 3"/>
          <p:cNvSpPr txBox="1"/>
          <p:nvPr/>
        </p:nvSpPr>
        <p:spPr>
          <a:xfrm>
            <a:off x="640080" y="1170432"/>
            <a:ext cx="11064240" cy="6858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Every native-vs-ours number changes two things at once. We wrote a translator so the same model runs in both simulators.</a:t>
            </a:r>
          </a:p>
        </p:txBody>
      </p:sp>
      <p:sp>
        <p:nvSpPr>
          <p:cNvPr id="5" name="TextBox 4"/>
          <p:cNvSpPr txBox="1"/>
          <p:nvPr/>
        </p:nvSpPr>
        <p:spPr>
          <a:xfrm>
            <a:off x="640080" y="2103120"/>
            <a:ext cx="10972800" cy="457200"/>
          </a:xfrm>
          <a:prstGeom prst="rect">
            <a:avLst/>
          </a:prstGeom>
          <a:noFill/>
        </p:spPr>
        <p:txBody>
          <a:bodyPr wrap="square" lIns="45720" rIns="45720" anchor="t">
            <a:spAutoFit/>
          </a:bodyPr>
          <a:lstStyle/>
          <a:p>
            <a:pPr algn="l">
              <a:defRPr sz="1700" b="0">
                <a:solidFill>
                  <a:srgbClr val="191F1C"/>
                </a:solidFill>
                <a:latin typeface="Aptos"/>
              </a:defRPr>
            </a:pPr>
            <a:r>
              <a:t>Falling 50% crossing:</a:t>
            </a:r>
          </a:p>
        </p:txBody>
      </p:sp>
      <p:sp>
        <p:nvSpPr>
          <p:cNvPr id="6" name="TextBox 5"/>
          <p:cNvSpPr txBox="1"/>
          <p:nvPr/>
        </p:nvSpPr>
        <p:spPr>
          <a:xfrm>
            <a:off x="640080" y="2651760"/>
            <a:ext cx="11064240" cy="20574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our model in ngspice     5.3371 ns</a:t>
            </a:r>
          </a:p>
          <a:p>
            <a:pPr>
              <a:spcAft>
                <a:spcPts val="300"/>
              </a:spcAft>
              <a:defRPr sz="1700">
                <a:solidFill>
                  <a:srgbClr val="191F1C"/>
                </a:solidFill>
                <a:latin typeface="Aptos"/>
              </a:defRPr>
            </a:pPr>
            <a:r>
              <a:t>•  our model in HSPICE      5.3375 ns     engine:  −0.5 ps</a:t>
            </a:r>
          </a:p>
          <a:p>
            <a:pPr>
              <a:spcAft>
                <a:spcPts val="300"/>
              </a:spcAft>
              <a:defRPr sz="1700">
                <a:solidFill>
                  <a:srgbClr val="191F1C"/>
                </a:solidFill>
                <a:latin typeface="Aptos"/>
              </a:defRPr>
            </a:pPr>
            <a:r>
              <a:t>•  native IBIS in HSPICE    5.3319 ns     model:   +5.6 ps</a:t>
            </a:r>
          </a:p>
        </p:txBody>
      </p:sp>
      <p:sp>
        <p:nvSpPr>
          <p:cNvPr id="7" name="TextBox 6"/>
          <p:cNvSpPr txBox="1"/>
          <p:nvPr/>
        </p:nvSpPr>
        <p:spPr>
          <a:xfrm>
            <a:off x="640080" y="4572000"/>
            <a:ext cx="10972800" cy="914400"/>
          </a:xfrm>
          <a:prstGeom prst="rect">
            <a:avLst/>
          </a:prstGeom>
          <a:noFill/>
        </p:spPr>
        <p:txBody>
          <a:bodyPr wrap="square" lIns="45720" rIns="45720" anchor="t">
            <a:spAutoFit/>
          </a:bodyPr>
          <a:lstStyle/>
          <a:p>
            <a:pPr algn="l">
              <a:defRPr sz="1700" b="0">
                <a:solidFill>
                  <a:srgbClr val="191F1C"/>
                </a:solidFill>
                <a:latin typeface="Aptos"/>
              </a:defRPr>
            </a:pPr>
            <a:r>
              <a:t>The engine is not the source — provided ngspice is converged. At a 1 ps step it was an aliasing outlier that doubled the apparent lag.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What fixtures do to the extracted Ku/Kd</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RLC FIXTURE EFFECTS</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Five fixtures, Ku re-solved on each. In the quiet regions all five agree to four decimals.</a:t>
            </a:r>
          </a:p>
          <a:p>
            <a:pPr>
              <a:spcAft>
                <a:spcPts val="300"/>
              </a:spcAft>
              <a:defRPr sz="1700">
                <a:solidFill>
                  <a:srgbClr val="191F1C"/>
                </a:solidFill>
                <a:latin typeface="Aptos"/>
              </a:defRPr>
            </a:pPr>
            <a:r>
              <a:t>•  Series inductance disturbs it, and only on io_buf.</a:t>
            </a:r>
          </a:p>
        </p:txBody>
      </p:sp>
      <p:sp>
        <p:nvSpPr>
          <p:cNvPr id="5" name="Rectangle 4"/>
          <p:cNvSpPr/>
          <p:nvPr/>
        </p:nvSpPr>
        <p:spPr>
          <a:xfrm>
            <a:off x="51374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xture_vt.png"/>
          <p:cNvPicPr>
            <a:picLocks noChangeAspect="1"/>
          </p:cNvPicPr>
          <p:nvPr/>
        </p:nvPicPr>
        <p:blipFill>
          <a:blip r:embed="rId2"/>
          <a:stretch>
            <a:fillRect/>
          </a:stretch>
        </p:blipFill>
        <p:spPr>
          <a:xfrm>
            <a:off x="541175" y="2084831"/>
            <a:ext cx="5318448" cy="4343400"/>
          </a:xfrm>
          <a:prstGeom prst="rect">
            <a:avLst/>
          </a:prstGeom>
        </p:spPr>
      </p:pic>
      <p:sp>
        <p:nvSpPr>
          <p:cNvPr id="7" name="Rectangle 6"/>
          <p:cNvSpPr/>
          <p:nvPr/>
        </p:nvSpPr>
        <p:spPr>
          <a:xfrm>
            <a:off x="627446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xture_ku.png"/>
          <p:cNvPicPr>
            <a:picLocks noChangeAspect="1"/>
          </p:cNvPicPr>
          <p:nvPr/>
        </p:nvPicPr>
        <p:blipFill>
          <a:blip r:embed="rId3"/>
          <a:stretch>
            <a:fillRect/>
          </a:stretch>
        </p:blipFill>
        <p:spPr>
          <a:xfrm>
            <a:off x="6301895" y="2084831"/>
            <a:ext cx="5318448" cy="4343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Nine new buffer variants, same stress axis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MORE SPICE BUFFER MOCKUPS</a:t>
            </a:r>
          </a:p>
        </p:txBody>
      </p:sp>
      <p:sp>
        <p:nvSpPr>
          <p:cNvPr id="4" name="TextBox 3"/>
          <p:cNvSpPr txBox="1"/>
          <p:nvPr/>
        </p:nvSpPr>
        <p:spPr>
          <a:xfrm>
            <a:off x="640080" y="1170432"/>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Slower predriver, halved output devices, skewed PMOS, open-drain.</a:t>
            </a:r>
          </a:p>
          <a:p>
            <a:pPr>
              <a:spcAft>
                <a:spcPts val="300"/>
              </a:spcAft>
              <a:defRPr sz="1700">
                <a:solidFill>
                  <a:srgbClr val="191F1C"/>
                </a:solidFill>
                <a:latin typeface="Aptos"/>
              </a:defRPr>
            </a:pPr>
            <a:r>
              <a:t>•  Characterised and stressed exactly like the three base buffers.</a:t>
            </a:r>
          </a:p>
        </p:txBody>
      </p:sp>
      <p:sp>
        <p:nvSpPr>
          <p:cNvPr id="5" name="Rectangle 4"/>
          <p:cNvSpPr/>
          <p:nvPr/>
        </p:nvSpPr>
        <p:spPr>
          <a:xfrm>
            <a:off x="51374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ariant_pad.png"/>
          <p:cNvPicPr>
            <a:picLocks noChangeAspect="1"/>
          </p:cNvPicPr>
          <p:nvPr/>
        </p:nvPicPr>
        <p:blipFill>
          <a:blip r:embed="rId2"/>
          <a:stretch>
            <a:fillRect/>
          </a:stretch>
        </p:blipFill>
        <p:spPr>
          <a:xfrm>
            <a:off x="541175" y="2084831"/>
            <a:ext cx="5318448" cy="4343400"/>
          </a:xfrm>
          <a:prstGeom prst="rect">
            <a:avLst/>
          </a:prstGeom>
        </p:spPr>
      </p:pic>
      <p:sp>
        <p:nvSpPr>
          <p:cNvPr id="7" name="Rectangle 6"/>
          <p:cNvSpPr/>
          <p:nvPr/>
        </p:nvSpPr>
        <p:spPr>
          <a:xfrm>
            <a:off x="6274463" y="2057400"/>
            <a:ext cx="5373312" cy="4398264"/>
          </a:xfrm>
          <a:prstGeom prst="rect">
            <a:avLst/>
          </a:prstGeom>
          <a:solidFill>
            <a:srgbClr val="FFFFFF"/>
          </a:solidFill>
          <a:ln w="10160">
            <a:solidFill>
              <a:srgbClr val="CBD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variant_kukd.png"/>
          <p:cNvPicPr>
            <a:picLocks noChangeAspect="1"/>
          </p:cNvPicPr>
          <p:nvPr/>
        </p:nvPicPr>
        <p:blipFill>
          <a:blip r:embed="rId3"/>
          <a:stretch>
            <a:fillRect/>
          </a:stretch>
        </p:blipFill>
        <p:spPr>
          <a:xfrm>
            <a:off x="6301895" y="2084831"/>
            <a:ext cx="5318448" cy="43434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defRPr sz="2700" b="0">
                <a:solidFill>
                  <a:srgbClr val="000000"/>
                </a:solidFill>
                <a:latin typeface="Times New Roman"/>
              </a:defRPr>
            </a:pPr>
            <a:r>
              <a:t>Where this leaves us</a:t>
            </a:r>
          </a:p>
        </p:txBody>
      </p:sp>
      <p:sp>
        <p:nvSpPr>
          <p:cNvPr id="3" name="TextBox 2"/>
          <p:cNvSpPr txBox="1"/>
          <p:nvPr/>
        </p:nvSpPr>
        <p:spPr>
          <a:xfrm>
            <a:off x="9372600" y="109728"/>
            <a:ext cx="2148840" cy="228600"/>
          </a:xfrm>
          <a:prstGeom prst="rect">
            <a:avLst/>
          </a:prstGeom>
          <a:noFill/>
        </p:spPr>
        <p:txBody>
          <a:bodyPr wrap="square" lIns="45720" rIns="45720" anchor="t">
            <a:spAutoFit/>
          </a:bodyPr>
          <a:lstStyle/>
          <a:p>
            <a:pPr algn="r">
              <a:defRPr sz="950" b="1">
                <a:solidFill>
                  <a:srgbClr val="666C68"/>
                </a:solidFill>
                <a:latin typeface="Aptos"/>
              </a:defRPr>
            </a:pPr>
            <a:r>
              <a:t>SUMMARY</a:t>
            </a:r>
          </a:p>
        </p:txBody>
      </p:sp>
      <p:sp>
        <p:nvSpPr>
          <p:cNvPr id="4" name="TextBox 3"/>
          <p:cNvSpPr txBox="1"/>
          <p:nvPr/>
        </p:nvSpPr>
        <p:spPr>
          <a:xfrm>
            <a:off x="640080" y="1188720"/>
            <a:ext cx="10972800" cy="457200"/>
          </a:xfrm>
          <a:prstGeom prst="rect">
            <a:avLst/>
          </a:prstGeom>
          <a:noFill/>
        </p:spPr>
        <p:txBody>
          <a:bodyPr wrap="square" lIns="45720" rIns="45720" anchor="t">
            <a:spAutoFit/>
          </a:bodyPr>
          <a:lstStyle/>
          <a:p>
            <a:pPr algn="l">
              <a:defRPr sz="1700" b="0">
                <a:solidFill>
                  <a:srgbClr val="191F1C"/>
                </a:solidFill>
                <a:latin typeface="Aptos"/>
              </a:defRPr>
            </a:pPr>
            <a:r>
              <a:t>Settled:</a:t>
            </a:r>
          </a:p>
        </p:txBody>
      </p:sp>
      <p:sp>
        <p:nvSpPr>
          <p:cNvPr id="5" name="TextBox 4"/>
          <p:cNvSpPr txBox="1"/>
          <p:nvPr/>
        </p:nvSpPr>
        <p:spPr>
          <a:xfrm>
            <a:off x="640080" y="1737360"/>
            <a:ext cx="11064240" cy="27432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C_comp is handled correctly</a:t>
            </a:r>
          </a:p>
          <a:p>
            <a:pPr>
              <a:spcAft>
                <a:spcPts val="300"/>
              </a:spcAft>
              <a:defRPr sz="1700">
                <a:solidFill>
                  <a:srgbClr val="191F1C"/>
                </a:solidFill>
                <a:latin typeface="Aptos"/>
              </a:defRPr>
            </a:pPr>
            <a:r>
              <a:t>•  the SPICE engine is not a confounder</a:t>
            </a:r>
          </a:p>
          <a:p>
            <a:pPr>
              <a:spcAft>
                <a:spcPts val="300"/>
              </a:spcAft>
              <a:defRPr sz="1700">
                <a:solidFill>
                  <a:srgbClr val="191F1C"/>
                </a:solidFill>
                <a:latin typeface="Aptos"/>
              </a:defRPr>
            </a:pPr>
            <a:r>
              <a:t>•  our model reproduces its own golden waveforms</a:t>
            </a:r>
          </a:p>
          <a:p>
            <a:pPr>
              <a:spcAft>
                <a:spcPts val="300"/>
              </a:spcAft>
              <a:defRPr sz="1700">
                <a:solidFill>
                  <a:srgbClr val="191F1C"/>
                </a:solidFill>
                <a:latin typeface="Aptos"/>
              </a:defRPr>
            </a:pPr>
            <a:r>
              <a:t>•  delay_cmd removes the settled offset</a:t>
            </a:r>
          </a:p>
        </p:txBody>
      </p:sp>
      <p:sp>
        <p:nvSpPr>
          <p:cNvPr id="6" name="TextBox 5"/>
          <p:cNvSpPr txBox="1"/>
          <p:nvPr/>
        </p:nvSpPr>
        <p:spPr>
          <a:xfrm>
            <a:off x="640080" y="3840480"/>
            <a:ext cx="10972800" cy="457200"/>
          </a:xfrm>
          <a:prstGeom prst="rect">
            <a:avLst/>
          </a:prstGeom>
          <a:noFill/>
        </p:spPr>
        <p:txBody>
          <a:bodyPr wrap="square" lIns="45720" rIns="45720" anchor="t">
            <a:spAutoFit/>
          </a:bodyPr>
          <a:lstStyle/>
          <a:p>
            <a:pPr algn="l">
              <a:defRPr sz="1700" b="0">
                <a:solidFill>
                  <a:srgbClr val="191F1C"/>
                </a:solidFill>
                <a:latin typeface="Aptos"/>
              </a:defRPr>
            </a:pPr>
            <a:r>
              <a:t>Open:</a:t>
            </a:r>
          </a:p>
        </p:txBody>
      </p:sp>
      <p:sp>
        <p:nvSpPr>
          <p:cNvPr id="7" name="TextBox 6"/>
          <p:cNvSpPr txBox="1"/>
          <p:nvPr/>
        </p:nvSpPr>
        <p:spPr>
          <a:xfrm>
            <a:off x="640080" y="4389120"/>
            <a:ext cx="11064240" cy="1371600"/>
          </a:xfrm>
          <a:prstGeom prst="rect">
            <a:avLst/>
          </a:prstGeom>
          <a:noFill/>
        </p:spPr>
        <p:txBody>
          <a:bodyPr wrap="square" lIns="73152" rIns="36576" tIns="36576" bIns="36576">
            <a:spAutoFit/>
          </a:bodyPr>
          <a:lstStyle/>
          <a:p>
            <a:pPr>
              <a:spcAft>
                <a:spcPts val="300"/>
              </a:spcAft>
              <a:defRPr sz="1700">
                <a:solidFill>
                  <a:srgbClr val="191F1C"/>
                </a:solidFill>
                <a:latin typeface="Aptos"/>
              </a:defRPr>
            </a:pPr>
            <a:r>
              <a:t>•  the timing shift has no candidate mechanism, and grows with truncation</a:t>
            </a:r>
          </a:p>
          <a:p>
            <a:pPr>
              <a:spcAft>
                <a:spcPts val="300"/>
              </a:spcAft>
              <a:defRPr sz="1700">
                <a:solidFill>
                  <a:srgbClr val="191F1C"/>
                </a:solidFill>
                <a:latin typeface="Aptos"/>
              </a:defRPr>
            </a:pPr>
            <a:r>
              <a:t>•  the 1.25 max|Ku| cap needs replacing with a within-buffer outlier test</a:t>
            </a:r>
          </a:p>
        </p:txBody>
      </p:sp>
    </p:spTree>
  </p:cSld>
  <p:clrMapOvr>
    <a:masterClrMapping/>
  </p:clrMapOvr>
</p:sld>
</file>

<file path=ppt/theme/theme1.xml><?xml version="1.0" encoding="utf-8"?>
<a:theme xmlns:a="http://schemas.openxmlformats.org/drawingml/2006/main" name="1_MST_EMC_lab_theme">
  <a:themeElements>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Level">
      <a:majorFont>
        <a:latin typeface="Times New Roman"/>
        <a:ea typeface=""/>
        <a:cs typeface="Arial"/>
      </a:majorFont>
      <a:minorFont>
        <a:latin typeface="Times New Roman"/>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12700">
          <a:solidFill>
            <a:schemeClr val="tx1"/>
          </a:solid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MST_EMC_lab_theme" id="{F84A9E38-8E53-459B-962B-D11E178A4856}" vid="{AF41A44A-DCC1-4496-8938-47400BABA3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Slides>
  <Notes>1</Notes>
  <HiddenSlides>0</HiddenSlides>
  <ScaleCrop>false</ScaleCrop>
  <HeadingPairs>
    <vt:vector size="4" baseType="variant">
      <vt:variant>
        <vt:lpstr>Theme</vt:lpstr>
      </vt:variant>
      <vt:variant>
        <vt:i4>1</vt:i4>
      </vt:variant>
      <vt:variant>
        <vt:lpstr>Slide Titles</vt:lpstr>
      </vt:variant>
      <vt:variant>
        <vt:i4>3</vt:i4>
      </vt:variant>
    </vt:vector>
  </HeadingPairs>
  <TitlesOfParts>
    <vt:vector size="4" baseType="lpstr">
      <vt:lpstr>1_MST_EMC_lab_theme</vt:lpstr>
      <vt:lpstr>IBIS Simulation in Ngspice</vt:lpstr>
      <vt:lpstr>"Replay Problem" for Short Pulse</vt:lpstr>
      <vt:lpstr>Why "Value-matched" Method Fails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 Seonghi</dc:creator>
  <cp:revision>53</cp:revision>
  <dcterms:created xsi:type="dcterms:W3CDTF">2025-07-07T19:11:35Z</dcterms:created>
  <dcterms:modified xsi:type="dcterms:W3CDTF">2026-07-14T07:11:59Z</dcterms:modified>
</cp:coreProperties>
</file>