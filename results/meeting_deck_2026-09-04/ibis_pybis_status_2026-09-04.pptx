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delay_cmd is level-driven: the command is a function of the current input level, not of accumulated edge history, so it returns to exactly zero and strands nothing. On this case the pedestal goes from 97.9 mV to 5.2 mV against the transistor's 2.1 mV. Across all 29 matched stress cases RMSE goes from 108.6 to 92.2 mV, the only build that beats native IBIS.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caveat honestly: delay_cmd has a known 1.25 ns dead zone after a reversal where neither device is commanded on, which is why predriver_cmd was previously preferred.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Miller feedthrough, and built a nomiller variant to test it. It came back identical to the control. Those caps are 20.5 fF against C_comp's 5 pF, 0.41%, 250x too small, which is arithmetic I should have done before building the variant. The null result still rules out the small capacitor and points at C_comp.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pybis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trying to do</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280160"/>
            <a:ext cx="5394960" cy="201168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The transistor netlist in HSPICE is ground truth.</a:t>
            </a:r>
          </a:p>
          <a:p>
            <a:pPr>
              <a:spcAft>
                <a:spcPts val="700"/>
              </a:spcAft>
              <a:defRPr sz="1700">
                <a:solidFill>
                  <a:srgbClr val="191F1C"/>
                </a:solidFill>
                <a:latin typeface="Aptos"/>
              </a:defRPr>
            </a:pPr>
            <a:r>
              <a:t>•  Native IBIS is the bar to beat, not the target.</a:t>
            </a:r>
          </a:p>
          <a:p>
            <a:pPr>
              <a:spcAft>
                <a:spcPts val="700"/>
              </a:spcAft>
              <a:defRPr sz="1700">
                <a:solidFill>
                  <a:srgbClr val="191F1C"/>
                </a:solidFill>
                <a:latin typeface="Aptos"/>
              </a:defRPr>
            </a:pPr>
            <a:r>
              <a:t>•  Everything here is measured against the transistor.</a:t>
            </a:r>
          </a:p>
        </p:txBody>
      </p:sp>
      <p:sp>
        <p:nvSpPr>
          <p:cNvPr id="5" name="TextBox 4"/>
          <p:cNvSpPr txBox="1"/>
          <p:nvPr/>
        </p:nvSpPr>
        <p:spPr>
          <a:xfrm>
            <a:off x="640080" y="3566160"/>
            <a:ext cx="10972800" cy="1097280"/>
          </a:xfrm>
          <a:prstGeom prst="rect">
            <a:avLst/>
          </a:prstGeom>
          <a:noFill/>
        </p:spPr>
        <p:txBody>
          <a:bodyPr wrap="square" lIns="45720" rIns="45720" anchor="t">
            <a:spAutoFit/>
          </a:bodyPr>
          <a:lstStyle/>
          <a:p>
            <a:pPr algn="l">
              <a:defRPr sz="1700" b="0">
                <a:solidFill>
                  <a:srgbClr val="191F1C"/>
                </a:solidFill>
                <a:latin typeface="Aptos"/>
              </a:defRPr>
            </a:pPr>
            <a:r>
              <a:t>Two things move in any comparison — the IBIS implementation and the SPICE engine. We separated them, and the engine is not the source.</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We are near the format's floor on clean edges. The distance worth attacking is under stress.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the error actually comes from</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Rectangle 3"/>
          <p:cNvSpPr/>
          <p:nvPr/>
        </p:nvSpPr>
        <p:spPr>
          <a:xfrm>
            <a:off x="475488" y="1207008"/>
            <a:ext cx="11210544" cy="453542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rror_budget.png"/>
          <p:cNvPicPr>
            <a:picLocks noChangeAspect="1"/>
          </p:cNvPicPr>
          <p:nvPr/>
        </p:nvPicPr>
        <p:blipFill>
          <a:blip r:embed="rId2"/>
          <a:stretch>
            <a:fillRect/>
          </a:stretch>
        </p:blipFill>
        <p:spPr>
          <a:xfrm>
            <a:off x="502920" y="1234440"/>
            <a:ext cx="11155680" cy="448055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format costs ~35 ps. Our command layer costs ~5 ps on top. We are near the floor on clean edges.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On a clean edge,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ean_edge.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gap left on the falling edge is what the format costs. We did not create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Under stress there are two problems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88720"/>
            <a:ext cx="10972800" cy="914400"/>
          </a:xfrm>
          <a:prstGeom prst="rect">
            <a:avLst/>
          </a:prstGeom>
          <a:noFill/>
        </p:spPr>
        <p:txBody>
          <a:bodyPr wrap="square" lIns="45720" rIns="45720" anchor="t">
            <a:spAutoFit/>
          </a:bodyPr>
          <a:lstStyle/>
          <a:p>
            <a:pPr algn="l">
              <a:defRPr sz="1700" b="0">
                <a:solidFill>
                  <a:srgbClr val="191F1C"/>
                </a:solidFill>
                <a:latin typeface="Aptos"/>
              </a:defRPr>
            </a:pPr>
            <a:r>
              <a:t>Stress means a truncated pulse: the input reverses before the pad finishes its transition. Targets are 90/80/70/60/50% of the transistor's settled swing.</a:t>
            </a:r>
          </a:p>
        </p:txBody>
      </p:sp>
      <p:sp>
        <p:nvSpPr>
          <p:cNvPr id="5" name="Rounded Rectangle 4"/>
          <p:cNvSpPr/>
          <p:nvPr/>
        </p:nvSpPr>
        <p:spPr>
          <a:xfrm>
            <a:off x="640080" y="2377440"/>
            <a:ext cx="10972800" cy="2118105"/>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The offset         a settled-state Ku error, on 90/60/50 only.</a:t>
            </a:r>
          </a:p>
          <a:p>
            <a:pPr algn="l">
              <a:defRPr sz="1700">
                <a:solidFill>
                  <a:srgbClr val="1E3027"/>
                </a:solidFill>
                <a:latin typeface="Consolas"/>
              </a:defRPr>
            </a:pPr>
            <a:r>
              <a:t>                   A ~6 ns tail that looks permanent on a</a:t>
            </a:r>
          </a:p>
          <a:p>
            <a:pPr algn="l">
              <a:defRPr sz="1700">
                <a:solidFill>
                  <a:srgbClr val="1E3027"/>
                </a:solidFill>
                <a:latin typeface="Consolas"/>
              </a:defRPr>
            </a:pPr>
            <a:r>
              <a:t>                   10 ns plot -- not a true DC offset.</a:t>
            </a:r>
          </a:p>
          <a:p>
            <a:pPr algn="l">
              <a:defRPr sz="1700">
                <a:solidFill>
                  <a:srgbClr val="1E3027"/>
                </a:solidFill>
                <a:latin typeface="Consolas"/>
              </a:defRPr>
            </a:pPr>
          </a:p>
          <a:p>
            <a:pPr algn="l">
              <a:defRPr sz="1700">
                <a:solidFill>
                  <a:srgbClr val="1E3027"/>
                </a:solidFill>
                <a:latin typeface="Consolas"/>
              </a:defRPr>
            </a:pPr>
            <a:r>
              <a:t>The timing shift   falling 50% crossing 69-99 ps late, on</a:t>
            </a:r>
          </a:p>
          <a:p>
            <a:pPr algn="l">
              <a:defRPr sz="1700">
                <a:solidFill>
                  <a:srgbClr val="1E3027"/>
                </a:solidFill>
                <a:latin typeface="Consolas"/>
              </a:defRPr>
            </a:pPr>
            <a:r>
              <a:t>                   every case, where native IBIS is</a:t>
            </a:r>
          </a:p>
          <a:p>
            <a:pPr algn="l">
              <a:defRPr sz="1700">
                <a:solidFill>
                  <a:srgbClr val="1E3027"/>
                </a:solidFill>
                <a:latin typeface="Consolas"/>
              </a:defRPr>
            </a:pPr>
            <a:r>
              <a:t>                   5-26 ps early.</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One is an amplitude error that decays. The other is a timing error that does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the offset comes from</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ffset_chain.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GUPCMD is a capacitor across 1e15 ohm. A truncated pulse strands charge with no path to remove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it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ffset_removed.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Level-driven commands fix the offset. This part is settled.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88720"/>
            <a:ext cx="10972800" cy="1280160"/>
          </a:xfrm>
          <a:prstGeom prst="rect">
            <a:avLst/>
          </a:prstGeom>
          <a:noFill/>
        </p:spPr>
        <p:txBody>
          <a:bodyPr wrap="square" lIns="45720" rIns="45720" anchor="t">
            <a:spAutoFit/>
          </a:bodyPr>
          <a:lstStyle/>
          <a:p>
            <a:pPr algn="l">
              <a:defRPr sz="1700" b="0">
                <a:solidFill>
                  <a:srgbClr val="191F1C"/>
                </a:solidFill>
                <a:latin typeface="Aptos"/>
              </a:defRPr>
            </a:pPr>
            <a:r>
              <a:t>The open question was whether the offset and the timing shift were one mechanism showing up twice. If they were, delay_cmd would already fix both. Its amplitude had been measured; its timing never had.</a:t>
            </a:r>
          </a:p>
        </p:txBody>
      </p:sp>
      <p:sp>
        <p:nvSpPr>
          <p:cNvPr id="5" name="Rounded Rectangle 4"/>
          <p:cNvSpPr/>
          <p:nvPr/>
        </p:nvSpPr>
        <p:spPr>
          <a:xfrm>
            <a:off x="640080" y="2743200"/>
            <a:ext cx="10972800" cy="2118105"/>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We measured it.</a:t>
            </a:r>
          </a:p>
          <a:p>
            <a:pPr algn="l">
              <a:defRPr sz="1700">
                <a:solidFill>
                  <a:srgbClr val="1E3027"/>
                </a:solidFill>
                <a:latin typeface="Consolas"/>
              </a:defRPr>
            </a:pPr>
          </a:p>
          <a:p>
            <a:pPr algn="l">
              <a:defRPr sz="1700">
                <a:solidFill>
                  <a:srgbClr val="1E3027"/>
                </a:solidFill>
                <a:latin typeface="Consolas"/>
              </a:defRPr>
            </a:pPr>
            <a:r>
              <a:t>  delay_cmd improved the timing on 0 of 19 stress cases.</a:t>
            </a:r>
          </a:p>
          <a:p>
            <a:pPr algn="l">
              <a:defRPr sz="1700">
                <a:solidFill>
                  <a:srgbClr val="1E3027"/>
                </a:solidFill>
                <a:latin typeface="Consolas"/>
              </a:defRPr>
            </a:pPr>
          </a:p>
          <a:p>
            <a:pPr algn="l">
              <a:defRPr sz="1700">
                <a:solidFill>
                  <a:srgbClr val="1E3027"/>
                </a:solidFill>
                <a:latin typeface="Consolas"/>
              </a:defRPr>
            </a:pPr>
            <a:r>
              <a:t>  -&gt; the shift persists once the stranded charge is gone</a:t>
            </a:r>
          </a:p>
          <a:p>
            <a:pPr algn="l">
              <a:defRPr sz="1700">
                <a:solidFill>
                  <a:srgbClr val="1E3027"/>
                </a:solidFill>
                <a:latin typeface="Consolas"/>
              </a:defRPr>
            </a:pPr>
            <a:r>
              <a:t>  -&gt; they are two defects, not one</a:t>
            </a:r>
          </a:p>
          <a:p>
            <a:pPr algn="l">
              <a:defRPr sz="1700">
                <a:solidFill>
                  <a:srgbClr val="1E3027"/>
                </a:solidFill>
                <a:latin typeface="Consolas"/>
              </a:defRPr>
            </a:pPr>
            <a:r>
              <a:t>  -&gt; the offset has a fix; the shift has no mechanism yet</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A cheap experiment closed a question that was open for weeks, with the less convenient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shift grows as the pulse is truncated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ft_vs_depth.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Not a fixed penalty. It grows with truncation on every buffer we have tried.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280160"/>
            <a:ext cx="6035040" cy="256032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A golden-waveform test replays a model's own V-T tables into the fixture that produced them.</a:t>
            </a:r>
          </a:p>
          <a:p>
            <a:pPr>
              <a:spcAft>
                <a:spcPts val="700"/>
              </a:spcAft>
              <a:defRPr sz="1700">
                <a:solidFill>
                  <a:srgbClr val="191F1C"/>
                </a:solidFill>
                <a:latin typeface="Aptos"/>
              </a:defRPr>
            </a:pPr>
            <a:r>
              <a:t>•  Self-contained: no transistor, no native IBIS, no engine confound. We had never done this.</a:t>
            </a:r>
          </a:p>
          <a:p>
            <a:pPr>
              <a:spcAft>
                <a:spcPts val="700"/>
              </a:spcAft>
              <a:defRPr sz="1700">
                <a:solidFill>
                  <a:srgbClr val="191F1C"/>
                </a:solidFill>
                <a:latin typeface="Aptos"/>
              </a:defRPr>
            </a:pPr>
            <a:r>
              <a:t>•  pybis reproduces all three buffers' own golden waveforms.</a:t>
            </a:r>
          </a:p>
        </p:txBody>
      </p:sp>
      <p:sp>
        <p:nvSpPr>
          <p:cNvPr id="5" name="Rounded Rectangle 4"/>
          <p:cNvSpPr/>
          <p:nvPr/>
        </p:nvSpPr>
        <p:spPr>
          <a:xfrm>
            <a:off x="6858000" y="1371600"/>
            <a:ext cx="4754880" cy="159131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figure of merit   0.03 - 0.41 %</a:t>
            </a:r>
          </a:p>
          <a:p>
            <a:pPr algn="l">
              <a:defRPr sz="1700">
                <a:solidFill>
                  <a:srgbClr val="1E3027"/>
                </a:solidFill>
                <a:latin typeface="Consolas"/>
              </a:defRPr>
            </a:pPr>
            <a:r>
              <a:t>timing shift      +4 to +8 ps</a:t>
            </a:r>
          </a:p>
          <a:p>
            <a:pPr algn="l">
              <a:defRPr sz="1700">
                <a:solidFill>
                  <a:srgbClr val="1E3027"/>
                </a:solidFill>
                <a:latin typeface="Consolas"/>
              </a:defRPr>
            </a:pPr>
          </a:p>
          <a:p>
            <a:pPr algn="l">
              <a:defRPr sz="1700">
                <a:solidFill>
                  <a:srgbClr val="1E3027"/>
                </a:solidFill>
                <a:latin typeface="Consolas"/>
              </a:defRPr>
            </a:pPr>
            <a:r>
              <a:t>three buffers, both edges,</a:t>
            </a:r>
          </a:p>
          <a:p>
            <a:pPr algn="l">
              <a:defRPr sz="1700">
                <a:solidFill>
                  <a:srgbClr val="1E3027"/>
                </a:solidFill>
                <a:latin typeface="Consolas"/>
              </a:defRPr>
            </a:pPr>
            <a:r>
              <a:t>both fixtures</a:t>
            </a:r>
          </a:p>
        </p:txBody>
      </p:sp>
      <p:sp>
        <p:nvSpPr>
          <p:cNvPr id="6" name="TextBox 5"/>
          <p:cNvSpPr txBox="1"/>
          <p:nvPr/>
        </p:nvSpPr>
        <p:spPr>
          <a:xfrm>
            <a:off x="640080" y="4023360"/>
            <a:ext cx="10972800" cy="731520"/>
          </a:xfrm>
          <a:prstGeom prst="rect">
            <a:avLst/>
          </a:prstGeom>
          <a:noFill/>
        </p:spPr>
        <p:txBody>
          <a:bodyPr wrap="square" lIns="45720" rIns="45720" anchor="t">
            <a:spAutoFit/>
          </a:bodyPr>
          <a:lstStyle/>
          <a:p>
            <a:pPr algn="l">
              <a:defRPr sz="1700" b="0">
                <a:solidFill>
                  <a:srgbClr val="191F1C"/>
                </a:solidFill>
                <a:latin typeface="Aptos"/>
              </a:defRPr>
            </a:pPr>
            <a:r>
              <a:t>It is now the standing health check, and it settled the C_comp question.</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Whatever is wrong under stress, it is not the I-V times Ku(t) reconstruction.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comp.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I had this backwards first. The golden-waveform test overturned my own claim that pybis over-applies C_comp.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it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88720"/>
            <a:ext cx="10972800" cy="914400"/>
          </a:xfrm>
          <a:prstGeom prst="rect">
            <a:avLst/>
          </a:prstGeom>
          <a:noFill/>
        </p:spPr>
        <p:txBody>
          <a:bodyPr wrap="square" lIns="45720" rIns="45720" anchor="t">
            <a:spAutoFit/>
          </a:bodyPr>
          <a:lstStyle/>
          <a:p>
            <a:pPr algn="l">
              <a:defRPr sz="1700" b="0">
                <a:solidFill>
                  <a:srgbClr val="191F1C"/>
                </a:solidFill>
                <a:latin typeface="Aptos"/>
              </a:defRPr>
            </a:pPr>
            <a:r>
              <a:t>Every native-vs-pybis number changes two things at once: the IBIS implementation and the SPICE engine. We wrote a translator so the same model runs in both.</a:t>
            </a:r>
          </a:p>
        </p:txBody>
      </p:sp>
      <p:sp>
        <p:nvSpPr>
          <p:cNvPr id="5" name="Rounded Rectangle 4"/>
          <p:cNvSpPr/>
          <p:nvPr/>
        </p:nvSpPr>
        <p:spPr>
          <a:xfrm>
            <a:off x="640080" y="2377440"/>
            <a:ext cx="10972800" cy="1591310"/>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700">
                <a:solidFill>
                  <a:srgbClr val="1E3027"/>
                </a:solidFill>
                <a:latin typeface="Consolas"/>
              </a:defRPr>
            </a:pPr>
            <a:r>
              <a:t>                          50% crossing</a:t>
            </a:r>
          </a:p>
          <a:p>
            <a:pPr algn="l">
              <a:defRPr sz="1700">
                <a:solidFill>
                  <a:srgbClr val="1E3027"/>
                </a:solidFill>
                <a:latin typeface="Consolas"/>
              </a:defRPr>
            </a:pPr>
          </a:p>
          <a:p>
            <a:pPr algn="l">
              <a:defRPr sz="1700">
                <a:solidFill>
                  <a:srgbClr val="1E3027"/>
                </a:solidFill>
                <a:latin typeface="Consolas"/>
              </a:defRPr>
            </a:pPr>
            <a:r>
              <a:t>  pybis in ngspice            5.3371 ns</a:t>
            </a:r>
          </a:p>
          <a:p>
            <a:pPr algn="l">
              <a:defRPr sz="1700">
                <a:solidFill>
                  <a:srgbClr val="1E3027"/>
                </a:solidFill>
                <a:latin typeface="Consolas"/>
              </a:defRPr>
            </a:pPr>
            <a:r>
              <a:t>  pybis in HSPICE             5.3375 ns     engine  -0.5 ps</a:t>
            </a:r>
          </a:p>
          <a:p>
            <a:pPr algn="l">
              <a:defRPr sz="1700">
                <a:solidFill>
                  <a:srgbClr val="1E3027"/>
                </a:solidFill>
                <a:latin typeface="Consolas"/>
              </a:defRPr>
            </a:pPr>
            <a:r>
              <a:t>  native IBIS in HSPICE       5.3319 ns     model   +5.6 ps</a:t>
            </a:r>
          </a:p>
        </p:txBody>
      </p:sp>
      <p:sp>
        <p:nvSpPr>
          <p:cNvPr id="6" name="TextBox 5"/>
          <p:cNvSpPr txBox="1"/>
          <p:nvPr/>
        </p:nvSpPr>
        <p:spPr>
          <a:xfrm>
            <a:off x="640080" y="429768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provided ngspice is converged. At a 1 ps step it was an aliasing outlier that doubled the apparent lag.</a:t>
            </a:r>
          </a:p>
        </p:txBody>
      </p:sp>
      <p:sp>
        <p:nvSpPr>
          <p:cNvPr id="7" name="Rectangle 6"/>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Converged, the two engines agree to half a picosecond.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371600"/>
            <a:ext cx="10972800" cy="274320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The control reproduces the shipped solve to 2.4e-08, so the method is exact.</a:t>
            </a:r>
          </a:p>
          <a:p>
            <a:pPr>
              <a:spcAft>
                <a:spcPts val="700"/>
              </a:spcAft>
              <a:defRPr sz="1700">
                <a:solidFill>
                  <a:srgbClr val="191F1C"/>
                </a:solidFill>
                <a:latin typeface="Aptos"/>
              </a:defRPr>
            </a:pPr>
            <a:r>
              <a:t>•  In quiet regions Ku is load-independent to four decimals. It is a device property, not a fixture artifact.</a:t>
            </a:r>
          </a:p>
          <a:p>
            <a:pPr>
              <a:spcAft>
                <a:spcPts val="700"/>
              </a:spcAft>
              <a:defRPr sz="1700">
                <a:solidFill>
                  <a:srgbClr val="191F1C"/>
                </a:solidFill>
                <a:latin typeface="Aptos"/>
              </a:defRPr>
            </a:pPr>
            <a:r>
              <a:t>•  A resonant R+L+C fixture corrupts Ku for 1.14 ns, reaching 0.26 of error.</a:t>
            </a:r>
          </a:p>
        </p:txBody>
      </p:sp>
      <p:sp>
        <p:nvSpPr>
          <p:cNvPr id="5" name="TextBox 4"/>
          <p:cNvSpPr txBox="1"/>
          <p:nvPr/>
        </p:nvSpPr>
        <p:spPr>
          <a:xfrm>
            <a:off x="640080" y="4206240"/>
            <a:ext cx="10972800" cy="914400"/>
          </a:xfrm>
          <a:prstGeom prst="rect">
            <a:avLst/>
          </a:prstGeom>
          <a:noFill/>
        </p:spPr>
        <p:txBody>
          <a:bodyPr wrap="square" lIns="45720" rIns="45720" anchor="t">
            <a:spAutoFit/>
          </a:bodyPr>
          <a:lstStyle/>
          <a:p>
            <a:pPr algn="l">
              <a:defRPr sz="1700" b="0">
                <a:solidFill>
                  <a:srgbClr val="191F1C"/>
                </a:solidFill>
                <a:latin typeface="Aptos"/>
              </a:defRPr>
            </a:pPr>
            <a:r>
              <a:t>Added L and C are safe individually. The resonant combination has to be avoided when characterising.</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two-fixture extraction is trustworthy, as long as the fixture is not resonant.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Rectangle 3"/>
          <p:cNvSpPr/>
          <p:nvPr/>
        </p:nvSpPr>
        <p:spPr>
          <a:xfrm>
            <a:off x="475488" y="1207008"/>
            <a:ext cx="11210544" cy="453542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u_cap.png"/>
          <p:cNvPicPr>
            <a:picLocks noChangeAspect="1"/>
          </p:cNvPicPr>
          <p:nvPr/>
        </p:nvPicPr>
        <p:blipFill>
          <a:blip r:embed="rId2"/>
          <a:stretch>
            <a:fillRect/>
          </a:stretch>
        </p:blipFill>
        <p:spPr>
          <a:xfrm>
            <a:off x="502920" y="1234440"/>
            <a:ext cx="11155680" cy="448055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A high max|Ku| is a real signature of a large die capacitance driven fast, not a corrupted extraction.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New buffers, and what they are for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280160"/>
            <a:ext cx="10972800" cy="256032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Nine variants of inv_chain and ex2 built in HSPICE with the real transistor library: slower predriver, halved output devices, skewed PMOS, Miller caps removed, plus an open-drain build.</a:t>
            </a:r>
          </a:p>
          <a:p>
            <a:pPr>
              <a:spcAft>
                <a:spcPts val="700"/>
              </a:spcAft>
              <a:defRPr sz="1700">
                <a:solidFill>
                  <a:srgbClr val="191F1C"/>
                </a:solidFill>
                <a:latin typeface="Aptos"/>
              </a:defRPr>
            </a:pPr>
            <a:r>
              <a:t>•  The point is to test whether what we learned on three buffers holds across different silicon.</a:t>
            </a:r>
          </a:p>
          <a:p>
            <a:pPr>
              <a:spcAft>
                <a:spcPts val="700"/>
              </a:spcAft>
              <a:defRPr sz="1700">
                <a:solidFill>
                  <a:srgbClr val="191F1C"/>
                </a:solidFill>
                <a:latin typeface="Aptos"/>
              </a:defRPr>
            </a:pPr>
            <a:r>
              <a:t>•  Same characterisation, same stress axis, so the comparison is like for like.</a:t>
            </a:r>
          </a:p>
        </p:txBody>
      </p:sp>
      <p:sp>
        <p:nvSpPr>
          <p:cNvPr id="5" name="TextBox 4"/>
          <p:cNvSpPr txBox="1"/>
          <p:nvPr/>
        </p:nvSpPr>
        <p:spPr>
          <a:xfrm>
            <a:off x="640080" y="41148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Running now: the same 90-50% stress axis on all nine, with Ku and Kd solved from the transistor for every case.</a:t>
            </a:r>
          </a:p>
        </p:txBody>
      </p:sp>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Ku and Kd show what the pad trace hides.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coefficients under stress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Rectangle 3"/>
          <p:cNvSpPr/>
          <p:nvPr/>
        </p:nvSpPr>
        <p:spPr>
          <a:xfrm>
            <a:off x="475488" y="1143000"/>
            <a:ext cx="11210544" cy="4809743"/>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ariant_kukd.png"/>
          <p:cNvPicPr>
            <a:picLocks noChangeAspect="1"/>
          </p:cNvPicPr>
          <p:nvPr/>
        </p:nvPicPr>
        <p:blipFill>
          <a:blip r:embed="rId2"/>
          <a:stretch>
            <a:fillRect/>
          </a:stretch>
        </p:blipFill>
        <p:spPr>
          <a:xfrm>
            <a:off x="502920" y="1170432"/>
            <a:ext cx="11155680" cy="4754879"/>
          </a:xfrm>
          <a:prstGeom prst="rect">
            <a:avLst/>
          </a:prstGeom>
        </p:spPr>
      </p:pic>
      <p:sp>
        <p:nvSpPr>
          <p:cNvPr id="6" name="Rectangle 5"/>
          <p:cNvSpPr/>
          <p:nvPr/>
        </p:nvSpPr>
        <p:spPr>
          <a:xfrm>
            <a:off x="384048" y="6062472"/>
            <a:ext cx="11109960" cy="393192"/>
          </a:xfrm>
          <a:prstGeom prst="rect">
            <a:avLst/>
          </a:prstGeom>
          <a:solidFill>
            <a:srgbClr val="F1F8F2"/>
          </a:solidFill>
          <a:ln>
            <a:solidFill>
              <a:srgbClr val="F1F8F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2B7A43"/>
                </a:solidFill>
                <a:latin typeface="Aptos"/>
              </a:defRPr>
            </a:pPr>
            <a:r>
              <a:t>The gate-state build starts moving before the transistor does. Visible in Ku, invisible in the pad.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280160"/>
            <a:ext cx="10972800" cy="2743200"/>
          </a:xfrm>
          <a:prstGeom prst="rect">
            <a:avLst/>
          </a:prstGeom>
          <a:noFill/>
        </p:spPr>
        <p:txBody>
          <a:bodyPr wrap="square" lIns="73152" rIns="36576" tIns="36576" bIns="36576">
            <a:spAutoFit/>
          </a:bodyPr>
          <a:lstStyle/>
          <a:p>
            <a:pPr>
              <a:spcAft>
                <a:spcPts val="700"/>
              </a:spcAft>
              <a:defRPr sz="1700">
                <a:solidFill>
                  <a:srgbClr val="191F1C"/>
                </a:solidFill>
                <a:latin typeface="Aptos"/>
              </a:defRPr>
            </a:pPr>
            <a:r>
              <a:t>•  Settled: C_comp is right, the engine is not a confounder, pybis reproduces its own golden waveforms, and delay_cmd fixes the offset.</a:t>
            </a:r>
          </a:p>
          <a:p>
            <a:pPr>
              <a:spcAft>
                <a:spcPts val="700"/>
              </a:spcAft>
              <a:defRPr sz="1700">
                <a:solidFill>
                  <a:srgbClr val="191F1C"/>
                </a:solidFill>
                <a:latin typeface="Aptos"/>
              </a:defRPr>
            </a:pPr>
            <a:r>
              <a:t>•  Open: the timing shift has no candidate mechanism, and it grows with truncation on every buffer tried.</a:t>
            </a:r>
          </a:p>
          <a:p>
            <a:pPr>
              <a:spcAft>
                <a:spcPts val="700"/>
              </a:spcAft>
              <a:defRPr sz="1700">
                <a:solidFill>
                  <a:srgbClr val="191F1C"/>
                </a:solidFill>
                <a:latin typeface="Aptos"/>
              </a:defRPr>
            </a:pPr>
            <a:r>
              <a:t>•  Open: the 1.25 max|Ku| cap needs replacing before it rejects more good models.</a:t>
            </a:r>
          </a:p>
        </p:txBody>
      </p:sp>
      <p:sp>
        <p:nvSpPr>
          <p:cNvPr id="5" name="TextBox 4"/>
          <p:cNvSpPr txBox="1"/>
          <p:nvPr/>
        </p:nvSpPr>
        <p:spPr>
          <a:xfrm>
            <a:off x="640080" y="4297680"/>
            <a:ext cx="10972800" cy="1280160"/>
          </a:xfrm>
          <a:prstGeom prst="rect">
            <a:avLst/>
          </a:prstGeom>
          <a:noFill/>
        </p:spPr>
        <p:txBody>
          <a:bodyPr wrap="square" lIns="45720" rIns="45720" anchor="t">
            <a:spAutoFit/>
          </a:bodyPr>
          <a:lstStyle/>
          <a:p>
            <a:pPr algn="l">
              <a:defRPr sz="1700" b="0">
                <a:solidFill>
                  <a:srgbClr val="191F1C"/>
                </a:solidFill>
                <a:latin typeface="Aptos"/>
              </a:defRPr>
            </a:pPr>
            <a:r>
              <a:t>Two rules worth not re-learning: any bench for this model must start with a real edge, never a held level. And ngspice must be converged before drawing any conclusion from it.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