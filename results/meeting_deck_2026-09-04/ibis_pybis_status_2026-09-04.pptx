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
  </p:notesMasterIdLst>
  <p:sldIdLst>
    <p:sldId id="256" r:id="rId2"/>
    <p:sldId id="257" r:id="rId4"/>
    <p:sldId id="258" r:id="rId3"/>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B8"/>
    <a:srgbClr val="FBFB00"/>
    <a:srgbClr val="FFFF29"/>
    <a:srgbClr val="C321CF"/>
    <a:srgbClr val="C52BA8"/>
    <a:srgbClr val="99CCFF"/>
    <a:srgbClr val="6699FF"/>
    <a:srgbClr val="FFCC99"/>
    <a:srgbClr val="33CCFF"/>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7CE76EB-5733-E639-DFBE-C032C02CA049}" v="311" dt="2026-07-10T21:33:20.263"/>
    <p1510:client id="{4B2B0703-2C84-945A-F101-9A0363D83DEB}" v="2" dt="2026-07-10T16:42:58.35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2.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microsoft.com/office/2015/10/relationships/revisionInfo" Target="revisionInfo.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FF5152-AD57-4057-A738-BC536A645BFF}" type="datetimeFigureOut">
              <a:rPr lang="en-US" smtClean="0"/>
              <a:t>7/14/2026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FBD6F9-9B61-4F1F-A828-501CEB5BCFB1}" type="slidenum">
              <a:rPr lang="en-US" smtClean="0"/>
              <a:t>‹#›</a:t>
            </a:fld>
            <a:endParaRPr lang="en-US"/>
          </a:p>
        </p:txBody>
      </p:sp>
    </p:spTree>
    <p:extLst>
      <p:ext uri="{BB962C8B-B14F-4D97-AF65-F5344CB8AC3E}">
        <p14:creationId xmlns:p14="http://schemas.microsoft.com/office/powerpoint/2010/main" val="6509444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012E5D0-9393-4591-81EA-D49C04BB484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34" charset="-127"/>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34" charset="-127"/>
              <a:cs typeface="+mn-cs"/>
            </a:endParaRPr>
          </a:p>
        </p:txBody>
      </p:sp>
    </p:spTree>
    <p:extLst>
      <p:ext uri="{BB962C8B-B14F-4D97-AF65-F5344CB8AC3E}">
        <p14:creationId xmlns:p14="http://schemas.microsoft.com/office/powerpoint/2010/main" val="1119779915"/>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this. Full-swing accuracy is close to as good as the format allows, so effort belongs on truncated pulses.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 of the stranded charge flips with the timestep, so it is an integration error. Any fix by tuning a coefficient is a coin flip, which is why the retuned version helped on some cases and not others.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delay_cmd is level-driven: the command is a function of the current input level, not of accumulated edge history, so it returns to exactly zero and strands nothing. On this case the pedestal goes from 97.9 mV to 5.2 mV against the transistor's 2.1 mV. Across all 29 matched stress cases RMSE goes from 108.6 to 92.2 mV, the only build that beats native IBIS.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caveat honestly: delay_cmd has a known 1.25 ns dead zone after a reversal where neither device is commanded on, which is why predriver_cmd was previously preferred.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proposed the wrong cause first, Miller feedthrough, and built a nomiller variant to test it. It came back identical to the control. Those caps are 20.5 fF against C_comp's 5 pF, 0.41%, 250x too small, which is arithmetic I should have done before building the variant. The null result still rules out the small capacitor and points at C_comp.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pic>
        <p:nvPicPr>
          <p:cNvPr id="4" name="Picture 18"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4572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17"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2286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16" descr="new_logo_final"/>
          <p:cNvPicPr>
            <a:picLocks noChangeAspect="1" noChangeArrowheads="1"/>
          </p:cNvPicPr>
          <p:nvPr/>
        </p:nvPicPr>
        <p:blipFill>
          <a:blip r:embed="rId3" cstate="print">
            <a:lum bright="70000" contrast="-70000"/>
            <a:extLst>
              <a:ext uri="{28A0092B-C50C-407E-A947-70E740481C1C}">
                <a14:useLocalDpi xmlns:a14="http://schemas.microsoft.com/office/drawing/2010/main" val="0"/>
              </a:ext>
            </a:extLst>
          </a:blip>
          <a:srcRect/>
          <a:stretch>
            <a:fillRect/>
          </a:stretch>
        </p:blipFill>
        <p:spPr bwMode="auto">
          <a:xfrm>
            <a:off x="0" y="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11"/>
          <p:cNvSpPr>
            <a:spLocks noChangeArrowheads="1"/>
          </p:cNvSpPr>
          <p:nvPr/>
        </p:nvSpPr>
        <p:spPr bwMode="auto">
          <a:xfrm>
            <a:off x="609600" y="2971800"/>
            <a:ext cx="10871200" cy="152400"/>
          </a:xfrm>
          <a:prstGeom prst="rect">
            <a:avLst/>
          </a:prstGeom>
          <a:gradFill rotWithShape="1">
            <a:gsLst>
              <a:gs pos="0">
                <a:srgbClr val="287F3D"/>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3794" name="Rectangle 2"/>
          <p:cNvSpPr>
            <a:spLocks noGrp="1" noChangeArrowheads="1"/>
          </p:cNvSpPr>
          <p:nvPr>
            <p:ph type="ctrTitle"/>
          </p:nvPr>
        </p:nvSpPr>
        <p:spPr>
          <a:xfrm>
            <a:off x="914400" y="1057275"/>
            <a:ext cx="10363200" cy="1828800"/>
          </a:xfrm>
        </p:spPr>
        <p:txBody>
          <a:bodyPr anchor="ctr"/>
          <a:lstStyle>
            <a:lvl1pPr algn="ctr">
              <a:defRPr sz="4400"/>
            </a:lvl1pPr>
          </a:lstStyle>
          <a:p>
            <a:r>
              <a:rPr lang="ko-KR" altLang="en-US"/>
              <a:t>마스터 제목 스타일 편집</a:t>
            </a:r>
            <a:endParaRPr lang="en-US" altLang="zh-CN"/>
          </a:p>
        </p:txBody>
      </p:sp>
      <p:sp>
        <p:nvSpPr>
          <p:cNvPr id="33795" name="Rectangle 3"/>
          <p:cNvSpPr>
            <a:spLocks noGrp="1" noChangeArrowheads="1"/>
          </p:cNvSpPr>
          <p:nvPr>
            <p:ph type="subTitle" idx="1"/>
          </p:nvPr>
        </p:nvSpPr>
        <p:spPr>
          <a:xfrm>
            <a:off x="1828800" y="3657600"/>
            <a:ext cx="8534400" cy="1981200"/>
          </a:xfrm>
        </p:spPr>
        <p:txBody>
          <a:bodyPr/>
          <a:lstStyle>
            <a:lvl1pPr marL="0" indent="0" algn="ctr">
              <a:buFont typeface="Times New Roman" pitchFamily="18" charset="0"/>
              <a:buNone/>
              <a:defRPr sz="2800"/>
            </a:lvl1pPr>
          </a:lstStyle>
          <a:p>
            <a:r>
              <a:rPr lang="ko-KR" altLang="en-US"/>
              <a:t>클릭하여 마스터 부제목 스타일 편집</a:t>
            </a:r>
            <a:endParaRPr lang="en-US" altLang="zh-CN"/>
          </a:p>
        </p:txBody>
      </p:sp>
      <p:sp>
        <p:nvSpPr>
          <p:cNvPr id="2" name="Oval 1">
            <a:extLst>
              <a:ext uri="{FF2B5EF4-FFF2-40B4-BE49-F238E27FC236}">
                <a16:creationId xmlns:a16="http://schemas.microsoft.com/office/drawing/2014/main" id="{1185D946-0A64-0C7F-AA63-488808319B35}"/>
              </a:ext>
            </a:extLst>
          </p:cNvPr>
          <p:cNvSpPr/>
          <p:nvPr/>
        </p:nvSpPr>
        <p:spPr>
          <a:xfrm>
            <a:off x="11381117" y="6288658"/>
            <a:ext cx="684363" cy="483079"/>
          </a:xfrm>
          <a:prstGeom prst="ellipse">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800"/>
          </a:p>
        </p:txBody>
      </p:sp>
    </p:spTree>
    <p:extLst>
      <p:ext uri="{BB962C8B-B14F-4D97-AF65-F5344CB8AC3E}">
        <p14:creationId xmlns:p14="http://schemas.microsoft.com/office/powerpoint/2010/main" val="4203716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_1">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4" name="Content Placeholder 2">
            <a:extLst>
              <a:ext uri="{FF2B5EF4-FFF2-40B4-BE49-F238E27FC236}">
                <a16:creationId xmlns:a16="http://schemas.microsoft.com/office/drawing/2014/main" id="{38C6936E-D099-1BE8-8BB3-AAFCF768FD35}"/>
              </a:ext>
            </a:extLst>
          </p:cNvPr>
          <p:cNvSpPr>
            <a:spLocks noGrp="1"/>
          </p:cNvSpPr>
          <p:nvPr>
            <p:ph idx="10"/>
          </p:nvPr>
        </p:nvSpPr>
        <p:spPr>
          <a:xfrm>
            <a:off x="304800" y="1038225"/>
            <a:ext cx="11277600" cy="5438775"/>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11220102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3049719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1_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hasCustomPrompt="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
              <a:defRPr sz="2000"/>
            </a:lvl1pPr>
            <a:lvl2pPr marL="720000" indent="-252000">
              <a:spcBef>
                <a:spcPts val="0"/>
              </a:spcBef>
              <a:spcAft>
                <a:spcPts val="600"/>
              </a:spcAft>
              <a:buClrTx/>
              <a:buSzPct val="100000"/>
              <a:buFont typeface="Arial" panose="020B0604020202020204" pitchFamily="34" charset="0"/>
              <a:buChar char="•"/>
              <a:defRPr lang="ko-KR" altLang="en-US" sz="18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두 번째 수준</a:t>
            </a:r>
            <a:endParaRPr lang="en-US" altLang="ko-KR"/>
          </a:p>
          <a:p>
            <a:pPr lvl="1"/>
            <a:r>
              <a:rPr lang="ko-KR" altLang="en-US"/>
              <a:t>세 번째 수준</a:t>
            </a:r>
          </a:p>
        </p:txBody>
      </p:sp>
      <p:sp>
        <p:nvSpPr>
          <p:cNvPr id="3" name="Content Placeholder 2">
            <a:extLst>
              <a:ext uri="{FF2B5EF4-FFF2-40B4-BE49-F238E27FC236}">
                <a16:creationId xmlns:a16="http://schemas.microsoft.com/office/drawing/2014/main" id="{7287424F-3297-D95B-C851-77D5FA265A69}"/>
              </a:ext>
            </a:extLst>
          </p:cNvPr>
          <p:cNvSpPr>
            <a:spLocks noGrp="1"/>
          </p:cNvSpPr>
          <p:nvPr>
            <p:ph idx="10"/>
          </p:nvPr>
        </p:nvSpPr>
        <p:spPr>
          <a:xfrm>
            <a:off x="304800" y="964541"/>
            <a:ext cx="11277600" cy="445159"/>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p:txBody>
      </p:sp>
    </p:spTree>
    <p:extLst>
      <p:ext uri="{BB962C8B-B14F-4D97-AF65-F5344CB8AC3E}">
        <p14:creationId xmlns:p14="http://schemas.microsoft.com/office/powerpoint/2010/main" val="12702699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content_4">
    <p:spTree>
      <p:nvGrpSpPr>
        <p:cNvPr id="1" name=""/>
        <p:cNvGrpSpPr/>
        <p:nvPr/>
      </p:nvGrpSpPr>
      <p:grpSpPr>
        <a:xfrm>
          <a:off x="0" y="0"/>
          <a:ext cx="0" cy="0"/>
          <a:chOff x="0" y="0"/>
          <a:chExt cx="0" cy="0"/>
        </a:xfrm>
      </p:grpSpPr>
      <p:sp>
        <p:nvSpPr>
          <p:cNvPr id="2" name="Title 1"/>
          <p:cNvSpPr>
            <a:spLocks noGrp="1"/>
          </p:cNvSpPr>
          <p:nvPr>
            <p:ph type="title"/>
          </p:nvPr>
        </p:nvSpPr>
        <p:spPr>
          <a:xfrm>
            <a:off x="310551" y="0"/>
            <a:ext cx="11024559" cy="762000"/>
          </a:xfrm>
        </p:spPr>
        <p:txBody>
          <a:bodyPr/>
          <a:lstStyle>
            <a:lvl1pPr>
              <a:defRPr sz="3200"/>
            </a:lvl1pPr>
          </a:lstStyle>
          <a:p>
            <a:r>
              <a:rPr lang="ko-KR" altLang="en-US"/>
              <a:t>마스터 제목 스타일 편집</a:t>
            </a:r>
            <a:endParaRPr lang="en-US"/>
          </a:p>
        </p:txBody>
      </p:sp>
    </p:spTree>
    <p:extLst>
      <p:ext uri="{BB962C8B-B14F-4D97-AF65-F5344CB8AC3E}">
        <p14:creationId xmlns:p14="http://schemas.microsoft.com/office/powerpoint/2010/main" val="32275966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_content_4">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A3150C2-20D0-A45F-5462-61690D256719}"/>
              </a:ext>
            </a:extLst>
          </p:cNvPr>
          <p:cNvSpPr>
            <a:spLocks noGrp="1"/>
          </p:cNvSpPr>
          <p:nvPr>
            <p:ph sz="quarter" idx="10"/>
          </p:nvPr>
        </p:nvSpPr>
        <p:spPr>
          <a:xfrm>
            <a:off x="3551239" y="4124506"/>
            <a:ext cx="5089525" cy="507881"/>
          </a:xfrm>
        </p:spPr>
        <p:txBody>
          <a:bodyPr/>
          <a:lstStyle>
            <a:lvl1pPr marL="0" indent="0" algn="ctr">
              <a:buNone/>
              <a:defRPr sz="2100"/>
            </a:lvl1pPr>
          </a:lstStyle>
          <a:p>
            <a:pPr lvl="0"/>
            <a:r>
              <a:rPr lang="ko-KR" altLang="en-US"/>
              <a:t>마스터 텍스트 스타일을 편집하려면 클릭</a:t>
            </a:r>
          </a:p>
        </p:txBody>
      </p:sp>
      <p:sp>
        <p:nvSpPr>
          <p:cNvPr id="6" name="TextBox 5">
            <a:extLst>
              <a:ext uri="{FF2B5EF4-FFF2-40B4-BE49-F238E27FC236}">
                <a16:creationId xmlns:a16="http://schemas.microsoft.com/office/drawing/2014/main" id="{D28ADDEF-87C0-B90A-6505-6A3A384B7EE8}"/>
              </a:ext>
            </a:extLst>
          </p:cNvPr>
          <p:cNvSpPr txBox="1"/>
          <p:nvPr/>
        </p:nvSpPr>
        <p:spPr>
          <a:xfrm>
            <a:off x="3623209" y="2313750"/>
            <a:ext cx="4945585" cy="1419619"/>
          </a:xfrm>
          <a:prstGeom prst="rect">
            <a:avLst/>
          </a:prstGeom>
          <a:noFill/>
        </p:spPr>
        <p:txBody>
          <a:bodyPr wrap="none" rtlCol="0" anchor="ctr">
            <a:spAutoFit/>
          </a:bodyPr>
          <a:lstStyle/>
          <a:p>
            <a:pPr algn="ctr"/>
            <a:r>
              <a:rPr lang="en-US" altLang="zh-CN" sz="8625"/>
              <a:t>Thank you</a:t>
            </a:r>
            <a:endParaRPr lang="ko-KR" altLang="en-US" sz="8625"/>
          </a:p>
        </p:txBody>
      </p:sp>
    </p:spTree>
    <p:extLst>
      <p:ext uri="{BB962C8B-B14F-4D97-AF65-F5344CB8AC3E}">
        <p14:creationId xmlns:p14="http://schemas.microsoft.com/office/powerpoint/2010/main" val="19419346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04800" y="0"/>
            <a:ext cx="112776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endParaRPr lang="en-US" altLang="zh-CN"/>
          </a:p>
        </p:txBody>
      </p:sp>
      <p:sp>
        <p:nvSpPr>
          <p:cNvPr id="1027" name="Rectangle 3"/>
          <p:cNvSpPr>
            <a:spLocks noGrp="1" noChangeArrowheads="1"/>
          </p:cNvSpPr>
          <p:nvPr>
            <p:ph type="body" idx="1"/>
          </p:nvPr>
        </p:nvSpPr>
        <p:spPr bwMode="auto">
          <a:xfrm>
            <a:off x="304800" y="914400"/>
            <a:ext cx="11277600" cy="556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zh-CN"/>
              <a:t>Click to edit Master text styles</a:t>
            </a:r>
          </a:p>
          <a:p>
            <a:pPr lvl="1"/>
            <a:r>
              <a:rPr lang="en-US" altLang="zh-CN"/>
              <a:t>Second level</a:t>
            </a:r>
          </a:p>
          <a:p>
            <a:pPr lvl="2"/>
            <a:r>
              <a:rPr lang="en-US" altLang="zh-CN"/>
              <a:t>Third level</a:t>
            </a:r>
          </a:p>
        </p:txBody>
      </p:sp>
      <p:sp>
        <p:nvSpPr>
          <p:cNvPr id="32773" name="Rectangle 5"/>
          <p:cNvSpPr>
            <a:spLocks noGrp="1" noChangeArrowheads="1"/>
          </p:cNvSpPr>
          <p:nvPr>
            <p:ph type="ftr" sz="quarter" idx="3"/>
          </p:nvPr>
        </p:nvSpPr>
        <p:spPr bwMode="auto">
          <a:xfrm>
            <a:off x="4165600" y="6248400"/>
            <a:ext cx="3860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750">
                <a:latin typeface="Verdana" pitchFamily="34" charset="0"/>
                <a:ea typeface="宋体" pitchFamily="2" charset="-122"/>
              </a:defRPr>
            </a:lvl1pPr>
          </a:lstStyle>
          <a:p>
            <a:endParaRPr lang="ko-KR" altLang="en-US"/>
          </a:p>
        </p:txBody>
      </p:sp>
      <p:sp>
        <p:nvSpPr>
          <p:cNvPr id="1030" name="Rectangle 12"/>
          <p:cNvSpPr>
            <a:spLocks noChangeArrowheads="1"/>
          </p:cNvSpPr>
          <p:nvPr/>
        </p:nvSpPr>
        <p:spPr bwMode="auto">
          <a:xfrm>
            <a:off x="304800" y="762000"/>
            <a:ext cx="10058400" cy="152400"/>
          </a:xfrm>
          <a:prstGeom prst="rect">
            <a:avLst/>
          </a:prstGeom>
          <a:gradFill rotWithShape="0">
            <a:gsLst>
              <a:gs pos="0">
                <a:srgbClr val="297F3D">
                  <a:alpha val="99001"/>
                </a:srgbClr>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 name="TextBox 2">
            <a:extLst>
              <a:ext uri="{FF2B5EF4-FFF2-40B4-BE49-F238E27FC236}">
                <a16:creationId xmlns:a16="http://schemas.microsoft.com/office/drawing/2014/main" id="{047E8E0A-D232-4C57-7AD9-EBC41A1AA7E2}"/>
              </a:ext>
            </a:extLst>
          </p:cNvPr>
          <p:cNvSpPr txBox="1"/>
          <p:nvPr/>
        </p:nvSpPr>
        <p:spPr>
          <a:xfrm>
            <a:off x="11582400" y="6373649"/>
            <a:ext cx="386644" cy="300082"/>
          </a:xfrm>
          <a:prstGeom prst="rect">
            <a:avLst/>
          </a:prstGeom>
          <a:noFill/>
        </p:spPr>
        <p:txBody>
          <a:bodyPr wrap="none" rtlCol="0">
            <a:spAutoFit/>
          </a:bodyPr>
          <a:lstStyle/>
          <a:p>
            <a:fld id="{B6F15528-21DE-4FAA-801E-634DDDAF4B2B}" type="slidenum">
              <a:rPr lang="en-US" altLang="ko-KR" sz="1350" smtClean="0">
                <a:solidFill>
                  <a:srgbClr val="000000"/>
                </a:solidFill>
              </a:rPr>
              <a:pPr/>
              <a:t>‹#›</a:t>
            </a:fld>
            <a:endParaRPr lang="ko-KR" altLang="en-US" sz="1350"/>
          </a:p>
        </p:txBody>
      </p:sp>
    </p:spTree>
    <p:extLst>
      <p:ext uri="{BB962C8B-B14F-4D97-AF65-F5344CB8AC3E}">
        <p14:creationId xmlns:p14="http://schemas.microsoft.com/office/powerpoint/2010/main" val="63149617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lgn="l" rtl="0" eaLnBrk="1" fontAlgn="base" latinLnBrk="1" hangingPunct="1">
        <a:spcBef>
          <a:spcPct val="0"/>
        </a:spcBef>
        <a:spcAft>
          <a:spcPct val="0"/>
        </a:spcAft>
        <a:defRPr sz="2800">
          <a:solidFill>
            <a:schemeClr val="tx1"/>
          </a:solidFill>
          <a:latin typeface="+mj-lt"/>
          <a:ea typeface="+mj-ea"/>
          <a:cs typeface="+mj-cs"/>
        </a:defRPr>
      </a:lvl1pPr>
      <a:lvl2pPr algn="l" rtl="0" eaLnBrk="1" fontAlgn="base" latinLnBrk="1" hangingPunct="1">
        <a:spcBef>
          <a:spcPct val="0"/>
        </a:spcBef>
        <a:spcAft>
          <a:spcPct val="0"/>
        </a:spcAft>
        <a:defRPr sz="2400">
          <a:solidFill>
            <a:schemeClr val="tx1"/>
          </a:solidFill>
          <a:latin typeface="Times New Roman" pitchFamily="18" charset="0"/>
          <a:cs typeface="Arial" charset="0"/>
        </a:defRPr>
      </a:lvl2pPr>
      <a:lvl3pPr algn="l" rtl="0" eaLnBrk="1" fontAlgn="base" latinLnBrk="1" hangingPunct="1">
        <a:spcBef>
          <a:spcPct val="0"/>
        </a:spcBef>
        <a:spcAft>
          <a:spcPct val="0"/>
        </a:spcAft>
        <a:defRPr sz="2400">
          <a:solidFill>
            <a:schemeClr val="tx1"/>
          </a:solidFill>
          <a:latin typeface="Times New Roman" pitchFamily="18" charset="0"/>
          <a:cs typeface="Arial" charset="0"/>
        </a:defRPr>
      </a:lvl3pPr>
      <a:lvl4pPr algn="l" rtl="0" eaLnBrk="1" fontAlgn="base" latinLnBrk="1" hangingPunct="1">
        <a:spcBef>
          <a:spcPct val="0"/>
        </a:spcBef>
        <a:spcAft>
          <a:spcPct val="0"/>
        </a:spcAft>
        <a:defRPr sz="2400">
          <a:solidFill>
            <a:schemeClr val="tx1"/>
          </a:solidFill>
          <a:latin typeface="Times New Roman" pitchFamily="18" charset="0"/>
          <a:cs typeface="Arial" charset="0"/>
        </a:defRPr>
      </a:lvl4pPr>
      <a:lvl5pPr algn="l" rtl="0" eaLnBrk="1" fontAlgn="base" latinLnBrk="1" hangingPunct="1">
        <a:spcBef>
          <a:spcPct val="0"/>
        </a:spcBef>
        <a:spcAft>
          <a:spcPct val="0"/>
        </a:spcAft>
        <a:defRPr sz="2400">
          <a:solidFill>
            <a:schemeClr val="tx1"/>
          </a:solidFill>
          <a:latin typeface="Times New Roman" pitchFamily="18" charset="0"/>
          <a:cs typeface="Arial" charset="0"/>
        </a:defRPr>
      </a:lvl5pPr>
      <a:lvl6pPr marL="342900" algn="l" rtl="0" eaLnBrk="1" fontAlgn="base" latinLnBrk="1" hangingPunct="1">
        <a:spcBef>
          <a:spcPct val="0"/>
        </a:spcBef>
        <a:spcAft>
          <a:spcPct val="0"/>
        </a:spcAft>
        <a:defRPr sz="2400">
          <a:solidFill>
            <a:schemeClr val="tx1"/>
          </a:solidFill>
          <a:latin typeface="Times New Roman" pitchFamily="18" charset="0"/>
          <a:cs typeface="Arial" charset="0"/>
        </a:defRPr>
      </a:lvl6pPr>
      <a:lvl7pPr marL="685800" algn="l" rtl="0" eaLnBrk="1" fontAlgn="base" latinLnBrk="1" hangingPunct="1">
        <a:spcBef>
          <a:spcPct val="0"/>
        </a:spcBef>
        <a:spcAft>
          <a:spcPct val="0"/>
        </a:spcAft>
        <a:defRPr sz="2400">
          <a:solidFill>
            <a:schemeClr val="tx1"/>
          </a:solidFill>
          <a:latin typeface="Times New Roman" pitchFamily="18" charset="0"/>
          <a:cs typeface="Arial" charset="0"/>
        </a:defRPr>
      </a:lvl7pPr>
      <a:lvl8pPr marL="1028700" algn="l" rtl="0" eaLnBrk="1" fontAlgn="base" latinLnBrk="1" hangingPunct="1">
        <a:spcBef>
          <a:spcPct val="0"/>
        </a:spcBef>
        <a:spcAft>
          <a:spcPct val="0"/>
        </a:spcAft>
        <a:defRPr sz="2400">
          <a:solidFill>
            <a:schemeClr val="tx1"/>
          </a:solidFill>
          <a:latin typeface="Times New Roman" pitchFamily="18" charset="0"/>
          <a:cs typeface="Arial" charset="0"/>
        </a:defRPr>
      </a:lvl8pPr>
      <a:lvl9pPr marL="1371600" algn="l" rtl="0" eaLnBrk="1" fontAlgn="base" latinLnBrk="1" hangingPunct="1">
        <a:spcBef>
          <a:spcPct val="0"/>
        </a:spcBef>
        <a:spcAft>
          <a:spcPct val="0"/>
        </a:spcAft>
        <a:defRPr sz="2400">
          <a:solidFill>
            <a:schemeClr val="tx1"/>
          </a:solidFill>
          <a:latin typeface="Times New Roman" pitchFamily="18" charset="0"/>
          <a:cs typeface="Arial" charset="0"/>
        </a:defRPr>
      </a:lvl9pPr>
    </p:titleStyle>
    <p:bodyStyle>
      <a:lvl1pPr marL="257175" indent="-257175" algn="l" rtl="0" eaLnBrk="1" fontAlgn="base" latinLnBrk="1" hangingPunct="1">
        <a:spcBef>
          <a:spcPts val="0"/>
        </a:spcBef>
        <a:spcAft>
          <a:spcPts val="450"/>
        </a:spcAft>
        <a:buClr>
          <a:schemeClr val="tx1"/>
        </a:buClr>
        <a:buSzPct val="75000"/>
        <a:buFont typeface="Times New Roman" pitchFamily="18" charset="0"/>
        <a:buChar char="●"/>
        <a:defRPr sz="1800">
          <a:solidFill>
            <a:schemeClr val="tx1"/>
          </a:solidFill>
          <a:latin typeface="+mn-lt"/>
          <a:ea typeface="+mn-ea"/>
          <a:cs typeface="+mn-cs"/>
        </a:defRPr>
      </a:lvl1pPr>
      <a:lvl2pPr marL="480060" indent="-205740" algn="l" rtl="0" eaLnBrk="1" fontAlgn="base" latinLnBrk="1" hangingPunct="1">
        <a:spcBef>
          <a:spcPts val="0"/>
        </a:spcBef>
        <a:spcAft>
          <a:spcPts val="450"/>
        </a:spcAft>
        <a:buClrTx/>
        <a:buSzPct val="75000"/>
        <a:buFont typeface="Arial" charset="0"/>
        <a:buChar char="–"/>
        <a:defRPr lang="en-US" altLang="zh-CN" sz="1650" dirty="0" smtClean="0">
          <a:solidFill>
            <a:schemeClr val="tx1"/>
          </a:solidFill>
          <a:latin typeface="+mn-lt"/>
          <a:cs typeface="+mn-cs"/>
        </a:defRPr>
      </a:lvl2pPr>
      <a:lvl3pPr marL="754380" indent="-205740" algn="l" rtl="0" eaLnBrk="1" fontAlgn="base" latinLnBrk="1" hangingPunct="1">
        <a:spcBef>
          <a:spcPts val="0"/>
        </a:spcBef>
        <a:spcAft>
          <a:spcPts val="450"/>
        </a:spcAft>
        <a:buClrTx/>
        <a:buSzPct val="65000"/>
        <a:buFont typeface="Wingdings" pitchFamily="2" charset="2"/>
        <a:buChar char="§"/>
        <a:defRPr lang="en-US" altLang="zh-CN" sz="1500" dirty="0">
          <a:solidFill>
            <a:schemeClr val="tx1"/>
          </a:solidFill>
          <a:latin typeface="+mn-lt"/>
          <a:cs typeface="+mn-cs"/>
        </a:defRPr>
      </a:lvl3pPr>
      <a:lvl4pPr marL="1200150" indent="-171450" algn="l" rtl="0" eaLnBrk="1" fontAlgn="base" latinLnBrk="1" hangingPunct="1">
        <a:spcBef>
          <a:spcPct val="20000"/>
        </a:spcBef>
        <a:spcAft>
          <a:spcPct val="0"/>
        </a:spcAft>
        <a:buClr>
          <a:schemeClr val="bg2"/>
        </a:buClr>
        <a:buFont typeface="Arial" panose="020B0604020202020204" pitchFamily="34" charset="0"/>
        <a:buChar char="•"/>
        <a:defRPr sz="1200">
          <a:solidFill>
            <a:schemeClr val="tx1"/>
          </a:solidFill>
          <a:latin typeface="+mn-lt"/>
          <a:cs typeface="+mn-cs"/>
        </a:defRPr>
      </a:lvl4pPr>
      <a:lvl5pPr marL="1543050" indent="-171450" algn="l" rtl="0" eaLnBrk="1" fontAlgn="base" latinLnBrk="1" hangingPunct="1">
        <a:spcBef>
          <a:spcPct val="20000"/>
        </a:spcBef>
        <a:spcAft>
          <a:spcPct val="0"/>
        </a:spcAft>
        <a:buClr>
          <a:schemeClr val="tx2"/>
        </a:buClr>
        <a:buSzPct val="80000"/>
        <a:buFont typeface="Wingdings" pitchFamily="2" charset="2"/>
        <a:buChar char="§"/>
        <a:defRPr sz="1350">
          <a:solidFill>
            <a:schemeClr val="tx1"/>
          </a:solidFill>
          <a:latin typeface="+mn-lt"/>
          <a:cs typeface="+mn-cs"/>
        </a:defRPr>
      </a:lvl5pPr>
      <a:lvl6pPr marL="18859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2288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25717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29146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en-US"/>
      </a:defPPr>
      <a:lvl1pPr marL="0" algn="l" defTabSz="685800" rtl="0" eaLnBrk="1" latinLnBrk="1" hangingPunct="1">
        <a:defRPr sz="1350" kern="1200">
          <a:solidFill>
            <a:schemeClr val="tx1"/>
          </a:solidFill>
          <a:latin typeface="+mn-lt"/>
          <a:ea typeface="+mn-ea"/>
          <a:cs typeface="+mn-cs"/>
        </a:defRPr>
      </a:lvl1pPr>
      <a:lvl2pPr marL="342900" algn="l" defTabSz="685800" rtl="0" eaLnBrk="1" latinLnBrk="1" hangingPunct="1">
        <a:defRPr sz="1350" kern="1200">
          <a:solidFill>
            <a:schemeClr val="tx1"/>
          </a:solidFill>
          <a:latin typeface="+mn-lt"/>
          <a:ea typeface="+mn-ea"/>
          <a:cs typeface="+mn-cs"/>
        </a:defRPr>
      </a:lvl2pPr>
      <a:lvl3pPr marL="685800" algn="l" defTabSz="685800" rtl="0" eaLnBrk="1" latinLnBrk="1" hangingPunct="1">
        <a:defRPr sz="1350" kern="1200">
          <a:solidFill>
            <a:schemeClr val="tx1"/>
          </a:solidFill>
          <a:latin typeface="+mn-lt"/>
          <a:ea typeface="+mn-ea"/>
          <a:cs typeface="+mn-cs"/>
        </a:defRPr>
      </a:lvl3pPr>
      <a:lvl4pPr marL="1028700" algn="l" defTabSz="685800" rtl="0" eaLnBrk="1" latinLnBrk="1" hangingPunct="1">
        <a:defRPr sz="1350" kern="1200">
          <a:solidFill>
            <a:schemeClr val="tx1"/>
          </a:solidFill>
          <a:latin typeface="+mn-lt"/>
          <a:ea typeface="+mn-ea"/>
          <a:cs typeface="+mn-cs"/>
        </a:defRPr>
      </a:lvl4pPr>
      <a:lvl5pPr marL="1371600" algn="l" defTabSz="685800" rtl="0" eaLnBrk="1" latinLnBrk="1" hangingPunct="1">
        <a:defRPr sz="1350" kern="1200">
          <a:solidFill>
            <a:schemeClr val="tx1"/>
          </a:solidFill>
          <a:latin typeface="+mn-lt"/>
          <a:ea typeface="+mn-ea"/>
          <a:cs typeface="+mn-cs"/>
        </a:defRPr>
      </a:lvl5pPr>
      <a:lvl6pPr marL="1714500" algn="l" defTabSz="685800" rtl="0" eaLnBrk="1" latinLnBrk="1" hangingPunct="1">
        <a:defRPr sz="1350" kern="1200">
          <a:solidFill>
            <a:schemeClr val="tx1"/>
          </a:solidFill>
          <a:latin typeface="+mn-lt"/>
          <a:ea typeface="+mn-ea"/>
          <a:cs typeface="+mn-cs"/>
        </a:defRPr>
      </a:lvl6pPr>
      <a:lvl7pPr marL="2057400" algn="l" defTabSz="685800" rtl="0" eaLnBrk="1" latinLnBrk="1" hangingPunct="1">
        <a:defRPr sz="1350" kern="1200">
          <a:solidFill>
            <a:schemeClr val="tx1"/>
          </a:solidFill>
          <a:latin typeface="+mn-lt"/>
          <a:ea typeface="+mn-ea"/>
          <a:cs typeface="+mn-cs"/>
        </a:defRPr>
      </a:lvl7pPr>
      <a:lvl8pPr marL="2400300" algn="l" defTabSz="685800" rtl="0" eaLnBrk="1" latinLnBrk="1" hangingPunct="1">
        <a:defRPr sz="1350" kern="1200">
          <a:solidFill>
            <a:schemeClr val="tx1"/>
          </a:solidFill>
          <a:latin typeface="+mn-lt"/>
          <a:ea typeface="+mn-ea"/>
          <a:cs typeface="+mn-cs"/>
        </a:defRPr>
      </a:lvl8pPr>
      <a:lvl9pPr marL="2743200" algn="l" defTabSz="685800" rtl="0" eaLnBrk="1" latinLnBrk="1"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161CA2A-44B7-9F04-6068-47D43FF3DC60}"/>
              </a:ext>
            </a:extLst>
          </p:cNvPr>
          <p:cNvSpPr>
            <a:spLocks noGrp="1"/>
          </p:cNvSpPr>
          <p:nvPr>
            <p:ph type="ctrTitle"/>
          </p:nvPr>
        </p:nvSpPr>
        <p:spPr>
          <a:xfrm>
            <a:off x="1118507" y="1016453"/>
            <a:ext cx="10882993" cy="1828800"/>
          </a:xfrm>
        </p:spPr>
        <p:txBody>
          <a:bodyPr/>
          <a:lstStyle/>
          <a:p>
            <a:pPr>
              <a:defRPr sz="3500" b="1">
                <a:solidFill>
                  <a:srgbClr val="000000"/>
                </a:solidFill>
                <a:latin typeface="Times New Roman"/>
              </a:defRPr>
            </a:pPr>
            <a:r>
              <a:t>Getting pybis closer to the transistor</a:t>
            </a:r>
          </a:p>
        </p:txBody>
      </p:sp>
      <p:sp>
        <p:nvSpPr>
          <p:cNvPr id="3" name="부제목 2">
            <a:extLst>
              <a:ext uri="{FF2B5EF4-FFF2-40B4-BE49-F238E27FC236}">
                <a16:creationId xmlns:a16="http://schemas.microsoft.com/office/drawing/2014/main" id="{D62CACD7-6A52-C28F-D2D0-4E8721229DAB}"/>
              </a:ext>
            </a:extLst>
          </p:cNvPr>
          <p:cNvSpPr>
            <a:spLocks noGrp="1"/>
          </p:cNvSpPr>
          <p:nvPr>
            <p:ph type="subTitle" idx="1"/>
          </p:nvPr>
        </p:nvSpPr>
        <p:spPr>
          <a:xfrm>
            <a:off x="1828800" y="5294671"/>
            <a:ext cx="8534400" cy="1563329"/>
          </a:xfrm>
        </p:spPr>
        <p:txBody>
          <a:bodyPr/>
          <a:lstStyle/>
          <a:p>
            <a:pPr algn="ctr">
              <a:defRPr sz="1600">
                <a:solidFill>
                  <a:srgbClr val="000000"/>
                </a:solidFill>
                <a:latin typeface="Times New Roman"/>
              </a:defRPr>
            </a:pPr>
            <a:r>
              <a:t>IBIS buffer modelling — status</a:t>
            </a:r>
          </a:p>
          <a:p>
            <a:pPr algn="ctr">
              <a:defRPr sz="1600">
                <a:solidFill>
                  <a:srgbClr val="000000"/>
                </a:solidFill>
                <a:latin typeface="Times New Roman"/>
              </a:defRPr>
            </a:pPr>
            <a:r>
              <a:t>4 September 2026</a:t>
            </a:r>
          </a:p>
        </p:txBody>
      </p:sp>
    </p:spTree>
    <p:extLst>
      <p:ext uri="{BB962C8B-B14F-4D97-AF65-F5344CB8AC3E}">
        <p14:creationId xmlns:p14="http://schemas.microsoft.com/office/powerpoint/2010/main" val="66142218"/>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What we are trying to do</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WHERE WE ARE</a:t>
            </a:r>
          </a:p>
        </p:txBody>
      </p:sp>
      <p:sp>
        <p:nvSpPr>
          <p:cNvPr id="4" name="TextBox 3"/>
          <p:cNvSpPr txBox="1"/>
          <p:nvPr/>
        </p:nvSpPr>
        <p:spPr>
          <a:xfrm>
            <a:off x="640080" y="1280160"/>
            <a:ext cx="5394960" cy="2011680"/>
          </a:xfrm>
          <a:prstGeom prst="rect">
            <a:avLst/>
          </a:prstGeom>
          <a:noFill/>
        </p:spPr>
        <p:txBody>
          <a:bodyPr wrap="square" lIns="73152" rIns="36576" tIns="36576" bIns="36576">
            <a:spAutoFit/>
          </a:bodyPr>
          <a:lstStyle/>
          <a:p>
            <a:pPr>
              <a:spcAft>
                <a:spcPts val="700"/>
              </a:spcAft>
              <a:defRPr sz="1700">
                <a:solidFill>
                  <a:srgbClr val="191F1C"/>
                </a:solidFill>
                <a:latin typeface="Aptos"/>
              </a:defRPr>
            </a:pPr>
            <a:r>
              <a:t>- The transistor netlist in HSPICE is ground truth.</a:t>
            </a:r>
          </a:p>
          <a:p>
            <a:pPr>
              <a:spcAft>
                <a:spcPts val="700"/>
              </a:spcAft>
              <a:defRPr sz="1700">
                <a:solidFill>
                  <a:srgbClr val="191F1C"/>
                </a:solidFill>
                <a:latin typeface="Aptos"/>
              </a:defRPr>
            </a:pPr>
            <a:r>
              <a:t>- Native IBIS is the bar to beat, not the target.</a:t>
            </a:r>
          </a:p>
          <a:p>
            <a:pPr>
              <a:spcAft>
                <a:spcPts val="700"/>
              </a:spcAft>
              <a:defRPr sz="1700">
                <a:solidFill>
                  <a:srgbClr val="191F1C"/>
                </a:solidFill>
                <a:latin typeface="Aptos"/>
              </a:defRPr>
            </a:pPr>
            <a:r>
              <a:t>- Everything here is measured against the transistor.</a:t>
            </a:r>
          </a:p>
        </p:txBody>
      </p:sp>
      <p:sp>
        <p:nvSpPr>
          <p:cNvPr id="5" name="Rounded Rectangle 4"/>
          <p:cNvSpPr/>
          <p:nvPr/>
        </p:nvSpPr>
        <p:spPr>
          <a:xfrm>
            <a:off x="6400800" y="1280160"/>
            <a:ext cx="5212080" cy="2651760"/>
          </a:xfrm>
          <a:prstGeom prst="roundRect">
            <a:avLst/>
          </a:prstGeom>
          <a:solidFill>
            <a:srgbClr val="F6F8F7"/>
          </a:solidFill>
          <a:ln w="12700">
            <a:solidFill>
              <a:srgbClr val="A4AEA8"/>
            </a:solidFill>
          </a:ln>
        </p:spPr>
        <p:style>
          <a:lnRef idx="1">
            <a:schemeClr val="accent1"/>
          </a:lnRef>
          <a:fillRef idx="3">
            <a:schemeClr val="accent1"/>
          </a:fillRef>
          <a:effectRef idx="2">
            <a:schemeClr val="accent1"/>
          </a:effectRef>
          <a:fontRef idx="minor">
            <a:schemeClr val="lt1"/>
          </a:fontRef>
        </p:style>
        <p:txBody>
          <a:bodyPr rtlCol="0" anchor="ctr" wrap="none" lIns="118872" rIns="73152" tIns="91440" bIns="73152"/>
          <a:lstStyle/>
          <a:p>
            <a:pPr algn="ctr">
              <a:defRPr sz="1500">
                <a:solidFill>
                  <a:srgbClr val="1E3027"/>
                </a:solidFill>
                <a:latin typeface="Consolas"/>
              </a:defRPr>
            </a:pPr>
            <a:r>
              <a:t>falling 50% crossing</a:t>
            </a:r>
            <a:br/>
            <a:r>
              <a:t>vs the transistor</a:t>
            </a:r>
            <a:br/>
            <a:r>
              <a:t>io_buf, full swing</a:t>
            </a:r>
            <a:br/>
            <a:br/>
            <a:r>
              <a:t>  native IBIS       +34.6 ps</a:t>
            </a:r>
            <a:br/>
            <a:r>
              <a:t>  pybis stock       +38.4 ps</a:t>
            </a:r>
            <a:br/>
            <a:r>
              <a:t>  pybis gate-state  +43.5 ps</a:t>
            </a:r>
          </a:p>
        </p:txBody>
      </p:sp>
      <p:sp>
        <p:nvSpPr>
          <p:cNvPr id="6" name="TextBox 5"/>
          <p:cNvSpPr txBox="1"/>
          <p:nvPr/>
        </p:nvSpPr>
        <p:spPr>
          <a:xfrm>
            <a:off x="640080" y="3566160"/>
            <a:ext cx="10972800" cy="1188720"/>
          </a:xfrm>
          <a:prstGeom prst="rect">
            <a:avLst/>
          </a:prstGeom>
          <a:noFill/>
        </p:spPr>
        <p:txBody>
          <a:bodyPr wrap="square" lIns="45720" rIns="45720" anchor="t">
            <a:spAutoFit/>
          </a:bodyPr>
          <a:lstStyle/>
          <a:p>
            <a:pPr algn="l">
              <a:defRPr sz="1700" b="0">
                <a:solidFill>
                  <a:srgbClr val="191F1C"/>
                </a:solidFill>
                <a:latin typeface="Aptos"/>
              </a:defRPr>
            </a:pPr>
            <a:r>
              <a:t>About 80% of the distance to the transistor is the IBIS format itself, which native pays too. Our command layer costs about 5 ps on top of that.</a:t>
            </a:r>
          </a:p>
        </p:txBody>
      </p:sp>
      <p:sp>
        <p:nvSpPr>
          <p:cNvPr id="7" name="Rectangle 6"/>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We are near the format's floor on clean edges. The distance worth attacking is under stress.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On a clean edge, all three agree</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WHERE WE ARE</a:t>
            </a:r>
          </a:p>
        </p:txBody>
      </p:sp>
      <p:sp>
        <p:nvSpPr>
          <p:cNvPr id="4" name="Rectangle 3"/>
          <p:cNvSpPr/>
          <p:nvPr/>
        </p:nvSpPr>
        <p:spPr>
          <a:xfrm>
            <a:off x="475488" y="1143000"/>
            <a:ext cx="11210544" cy="4809743"/>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lean_edge.png"/>
          <p:cNvPicPr>
            <a:picLocks noChangeAspect="1"/>
          </p:cNvPicPr>
          <p:nvPr/>
        </p:nvPicPr>
        <p:blipFill>
          <a:blip r:embed="rId2"/>
          <a:stretch>
            <a:fillRect/>
          </a:stretch>
        </p:blipFill>
        <p:spPr>
          <a:xfrm>
            <a:off x="502920" y="1170432"/>
            <a:ext cx="11155680" cy="4754879"/>
          </a:xfrm>
          <a:prstGeom prst="rect">
            <a:avLst/>
          </a:prstGeom>
        </p:spPr>
      </p:pic>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The gap left on the falling edge is what the format costs. We did not create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Under stress there are two problems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TextBox 3"/>
          <p:cNvSpPr txBox="1"/>
          <p:nvPr/>
        </p:nvSpPr>
        <p:spPr>
          <a:xfrm>
            <a:off x="640080" y="1188720"/>
            <a:ext cx="10972800" cy="914400"/>
          </a:xfrm>
          <a:prstGeom prst="rect">
            <a:avLst/>
          </a:prstGeom>
          <a:noFill/>
        </p:spPr>
        <p:txBody>
          <a:bodyPr wrap="square" lIns="45720" rIns="45720" anchor="t">
            <a:spAutoFit/>
          </a:bodyPr>
          <a:lstStyle/>
          <a:p>
            <a:pPr algn="l">
              <a:defRPr sz="1700" b="0">
                <a:solidFill>
                  <a:srgbClr val="191F1C"/>
                </a:solidFill>
                <a:latin typeface="Aptos"/>
              </a:defRPr>
            </a:pPr>
            <a:r>
              <a:t>Stress means a truncated pulse: the input reverses before the pad finishes its transition. Targets are 90/80/70/60/50% of the transistor's settled swing.</a:t>
            </a:r>
          </a:p>
        </p:txBody>
      </p:sp>
      <p:sp>
        <p:nvSpPr>
          <p:cNvPr id="5" name="Rounded Rectangle 4"/>
          <p:cNvSpPr/>
          <p:nvPr/>
        </p:nvSpPr>
        <p:spPr>
          <a:xfrm>
            <a:off x="640080" y="2286000"/>
            <a:ext cx="10972800" cy="2468880"/>
          </a:xfrm>
          <a:prstGeom prst="roundRect">
            <a:avLst/>
          </a:prstGeom>
          <a:solidFill>
            <a:srgbClr val="F6F8F7"/>
          </a:solidFill>
          <a:ln w="12700">
            <a:solidFill>
              <a:srgbClr val="A4AEA8"/>
            </a:solidFill>
          </a:ln>
        </p:spPr>
        <p:style>
          <a:lnRef idx="1">
            <a:schemeClr val="accent1"/>
          </a:lnRef>
          <a:fillRef idx="3">
            <a:schemeClr val="accent1"/>
          </a:fillRef>
          <a:effectRef idx="2">
            <a:schemeClr val="accent1"/>
          </a:effectRef>
          <a:fontRef idx="minor">
            <a:schemeClr val="lt1"/>
          </a:fontRef>
        </p:style>
        <p:txBody>
          <a:bodyPr rtlCol="0" anchor="ctr" wrap="none" lIns="118872" rIns="73152" tIns="91440" bIns="73152"/>
          <a:lstStyle/>
          <a:p>
            <a:pPr algn="ctr">
              <a:defRPr sz="1500">
                <a:solidFill>
                  <a:srgbClr val="1E3027"/>
                </a:solidFill>
                <a:latin typeface="Consolas"/>
              </a:defRPr>
            </a:pPr>
            <a:r>
              <a:t>The offset         a settled-state Ku error, on 90/60/50 only.</a:t>
            </a:r>
            <a:br/>
            <a:r>
              <a:t>                   A ~6 ns tail that looks permanent on a</a:t>
            </a:r>
            <a:br/>
            <a:r>
              <a:t>                   10 ns plot -- not a true DC offset.</a:t>
            </a:r>
            <a:br/>
            <a:br/>
            <a:r>
              <a:t>The timing shift   falling 50% crossing 69-99 ps late, on</a:t>
            </a:r>
            <a:br/>
            <a:r>
              <a:t>                   every case, where native IBIS is</a:t>
            </a:r>
            <a:br/>
            <a:r>
              <a:t>                   5-26 ps early.</a:t>
            </a:r>
          </a:p>
        </p:txBody>
      </p:sp>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One is an amplitude error that decays. The other is a timing error that does not.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Where the offset comes from</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Rectangle 3"/>
          <p:cNvSpPr/>
          <p:nvPr/>
        </p:nvSpPr>
        <p:spPr>
          <a:xfrm>
            <a:off x="475488" y="1143000"/>
            <a:ext cx="11210544" cy="4809743"/>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ffset_chain.png"/>
          <p:cNvPicPr>
            <a:picLocks noChangeAspect="1"/>
          </p:cNvPicPr>
          <p:nvPr/>
        </p:nvPicPr>
        <p:blipFill>
          <a:blip r:embed="rId2"/>
          <a:stretch>
            <a:fillRect/>
          </a:stretch>
        </p:blipFill>
        <p:spPr>
          <a:xfrm>
            <a:off x="502920" y="1170432"/>
            <a:ext cx="11155680" cy="4754879"/>
          </a:xfrm>
          <a:prstGeom prst="rect">
            <a:avLst/>
          </a:prstGeom>
        </p:spPr>
      </p:pic>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GUPCMD is a capacitor across 1e15 ohm. A truncated pulse strands charge with no path to remove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delay_cmd removes it</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Rectangle 3"/>
          <p:cNvSpPr/>
          <p:nvPr/>
        </p:nvSpPr>
        <p:spPr>
          <a:xfrm>
            <a:off x="475488" y="1143000"/>
            <a:ext cx="11210544" cy="4809743"/>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ffset_removed.png"/>
          <p:cNvPicPr>
            <a:picLocks noChangeAspect="1"/>
          </p:cNvPicPr>
          <p:nvPr/>
        </p:nvPicPr>
        <p:blipFill>
          <a:blip r:embed="rId2"/>
          <a:stretch>
            <a:fillRect/>
          </a:stretch>
        </p:blipFill>
        <p:spPr>
          <a:xfrm>
            <a:off x="502920" y="1170432"/>
            <a:ext cx="11155680" cy="4754879"/>
          </a:xfrm>
          <a:prstGeom prst="rect">
            <a:avLst/>
          </a:prstGeom>
        </p:spPr>
      </p:pic>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Level-driven commands fix the offset. This part is settled.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It does not fix the timing</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TextBox 3"/>
          <p:cNvSpPr txBox="1"/>
          <p:nvPr/>
        </p:nvSpPr>
        <p:spPr>
          <a:xfrm>
            <a:off x="640080" y="1188720"/>
            <a:ext cx="10972800" cy="1280160"/>
          </a:xfrm>
          <a:prstGeom prst="rect">
            <a:avLst/>
          </a:prstGeom>
          <a:noFill/>
        </p:spPr>
        <p:txBody>
          <a:bodyPr wrap="square" lIns="45720" rIns="45720" anchor="t">
            <a:spAutoFit/>
          </a:bodyPr>
          <a:lstStyle/>
          <a:p>
            <a:pPr algn="l">
              <a:defRPr sz="1700" b="0">
                <a:solidFill>
                  <a:srgbClr val="191F1C"/>
                </a:solidFill>
                <a:latin typeface="Aptos"/>
              </a:defRPr>
            </a:pPr>
            <a:r>
              <a:t>The open question was whether the offset and the timing shift were one mechanism showing up twice. If they were, delay_cmd would already fix both. Its amplitude had been measured; its timing never had.</a:t>
            </a:r>
          </a:p>
        </p:txBody>
      </p:sp>
      <p:sp>
        <p:nvSpPr>
          <p:cNvPr id="5" name="Rounded Rectangle 4"/>
          <p:cNvSpPr/>
          <p:nvPr/>
        </p:nvSpPr>
        <p:spPr>
          <a:xfrm>
            <a:off x="640080" y="2651760"/>
            <a:ext cx="10972800" cy="2103120"/>
          </a:xfrm>
          <a:prstGeom prst="roundRect">
            <a:avLst/>
          </a:prstGeom>
          <a:solidFill>
            <a:srgbClr val="F6F8F7"/>
          </a:solidFill>
          <a:ln w="12700">
            <a:solidFill>
              <a:srgbClr val="A4AEA8"/>
            </a:solidFill>
          </a:ln>
        </p:spPr>
        <p:style>
          <a:lnRef idx="1">
            <a:schemeClr val="accent1"/>
          </a:lnRef>
          <a:fillRef idx="3">
            <a:schemeClr val="accent1"/>
          </a:fillRef>
          <a:effectRef idx="2">
            <a:schemeClr val="accent1"/>
          </a:effectRef>
          <a:fontRef idx="minor">
            <a:schemeClr val="lt1"/>
          </a:fontRef>
        </p:style>
        <p:txBody>
          <a:bodyPr rtlCol="0" anchor="ctr" wrap="none" lIns="118872" rIns="73152" tIns="91440" bIns="73152"/>
          <a:lstStyle/>
          <a:p>
            <a:pPr algn="ctr">
              <a:defRPr sz="1500">
                <a:solidFill>
                  <a:srgbClr val="1E3027"/>
                </a:solidFill>
                <a:latin typeface="Consolas"/>
              </a:defRPr>
            </a:pPr>
            <a:r>
              <a:t>We measured it.</a:t>
            </a:r>
            <a:br/>
            <a:br/>
            <a:r>
              <a:t>  delay_cmd improved the timing on 0 of 19 stress cases.</a:t>
            </a:r>
            <a:br/>
            <a:br/>
            <a:r>
              <a:t>  -&gt; the shift persists once the stranded charge is gone</a:t>
            </a:r>
            <a:br/>
            <a:r>
              <a:t>  -&gt; they are two defects, not one</a:t>
            </a:r>
            <a:br/>
            <a:r>
              <a:t>  -&gt; the offset has a fix; the shift has no mechanism yet</a:t>
            </a:r>
          </a:p>
        </p:txBody>
      </p:sp>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A cheap experiment closed a question that was open for weeks, with the less convenient answer.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The shift grows as the pulse is truncated</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Rectangle 3"/>
          <p:cNvSpPr/>
          <p:nvPr/>
        </p:nvSpPr>
        <p:spPr>
          <a:xfrm>
            <a:off x="475488" y="1143000"/>
            <a:ext cx="11210544" cy="4809743"/>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ift_vs_depth.png"/>
          <p:cNvPicPr>
            <a:picLocks noChangeAspect="1"/>
          </p:cNvPicPr>
          <p:nvPr/>
        </p:nvPicPr>
        <p:blipFill>
          <a:blip r:embed="rId2"/>
          <a:stretch>
            <a:fillRect/>
          </a:stretch>
        </p:blipFill>
        <p:spPr>
          <a:xfrm>
            <a:off x="502920" y="1170432"/>
            <a:ext cx="11155680" cy="4754879"/>
          </a:xfrm>
          <a:prstGeom prst="rect">
            <a:avLst/>
          </a:prstGeom>
        </p:spPr>
      </p:pic>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Not a fixed penalty. It grows with truncation on every buffer we have tried.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The core reconstruction is sound</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CONFIDENCE</a:t>
            </a:r>
          </a:p>
        </p:txBody>
      </p:sp>
      <p:sp>
        <p:nvSpPr>
          <p:cNvPr id="4" name="TextBox 3"/>
          <p:cNvSpPr txBox="1"/>
          <p:nvPr/>
        </p:nvSpPr>
        <p:spPr>
          <a:xfrm>
            <a:off x="640080" y="1280160"/>
            <a:ext cx="6035040" cy="2560320"/>
          </a:xfrm>
          <a:prstGeom prst="rect">
            <a:avLst/>
          </a:prstGeom>
          <a:noFill/>
        </p:spPr>
        <p:txBody>
          <a:bodyPr wrap="square" lIns="73152" rIns="36576" tIns="36576" bIns="36576">
            <a:spAutoFit/>
          </a:bodyPr>
          <a:lstStyle/>
          <a:p>
            <a:pPr>
              <a:spcAft>
                <a:spcPts val="700"/>
              </a:spcAft>
              <a:defRPr sz="1700">
                <a:solidFill>
                  <a:srgbClr val="191F1C"/>
                </a:solidFill>
                <a:latin typeface="Aptos"/>
              </a:defRPr>
            </a:pPr>
            <a:r>
              <a:t>- A golden-waveform test replays a model's own V-T tables into the fixture that produced them.</a:t>
            </a:r>
          </a:p>
          <a:p>
            <a:pPr>
              <a:spcAft>
                <a:spcPts val="700"/>
              </a:spcAft>
              <a:defRPr sz="1700">
                <a:solidFill>
                  <a:srgbClr val="191F1C"/>
                </a:solidFill>
                <a:latin typeface="Aptos"/>
              </a:defRPr>
            </a:pPr>
            <a:r>
              <a:t>- Self-contained: no transistor, no native IBIS, no engine confound. We had never done this.</a:t>
            </a:r>
          </a:p>
          <a:p>
            <a:pPr>
              <a:spcAft>
                <a:spcPts val="700"/>
              </a:spcAft>
              <a:defRPr sz="1700">
                <a:solidFill>
                  <a:srgbClr val="191F1C"/>
                </a:solidFill>
                <a:latin typeface="Aptos"/>
              </a:defRPr>
            </a:pPr>
            <a:r>
              <a:t>- pybis reproduces all three buffers' own golden waveforms.</a:t>
            </a:r>
          </a:p>
        </p:txBody>
      </p:sp>
      <p:sp>
        <p:nvSpPr>
          <p:cNvPr id="5" name="Rounded Rectangle 4"/>
          <p:cNvSpPr/>
          <p:nvPr/>
        </p:nvSpPr>
        <p:spPr>
          <a:xfrm>
            <a:off x="6949440" y="1371600"/>
            <a:ext cx="4663440" cy="2194560"/>
          </a:xfrm>
          <a:prstGeom prst="roundRect">
            <a:avLst/>
          </a:prstGeom>
          <a:solidFill>
            <a:srgbClr val="F6F8F7"/>
          </a:solidFill>
          <a:ln w="12700">
            <a:solidFill>
              <a:srgbClr val="A4AEA8"/>
            </a:solidFill>
          </a:ln>
        </p:spPr>
        <p:style>
          <a:lnRef idx="1">
            <a:schemeClr val="accent1"/>
          </a:lnRef>
          <a:fillRef idx="3">
            <a:schemeClr val="accent1"/>
          </a:fillRef>
          <a:effectRef idx="2">
            <a:schemeClr val="accent1"/>
          </a:effectRef>
          <a:fontRef idx="minor">
            <a:schemeClr val="lt1"/>
          </a:fontRef>
        </p:style>
        <p:txBody>
          <a:bodyPr rtlCol="0" anchor="ctr" wrap="none" lIns="118872" rIns="73152" tIns="91440" bIns="73152"/>
          <a:lstStyle/>
          <a:p>
            <a:pPr algn="ctr">
              <a:defRPr sz="1500">
                <a:solidFill>
                  <a:srgbClr val="1E3027"/>
                </a:solidFill>
                <a:latin typeface="Consolas"/>
              </a:defRPr>
            </a:pPr>
            <a:r>
              <a:t>figure of merit   0.03 - 0.41 %</a:t>
            </a:r>
            <a:br/>
            <a:r>
              <a:t>timing shift      +4 to +8 ps</a:t>
            </a:r>
            <a:br/>
            <a:br/>
            <a:r>
              <a:t>three buffers, both edges,</a:t>
            </a:r>
            <a:br/>
            <a:r>
              <a:t>both fixtures</a:t>
            </a:r>
          </a:p>
        </p:txBody>
      </p:sp>
      <p:sp>
        <p:nvSpPr>
          <p:cNvPr id="6" name="TextBox 5"/>
          <p:cNvSpPr txBox="1"/>
          <p:nvPr/>
        </p:nvSpPr>
        <p:spPr>
          <a:xfrm>
            <a:off x="640080" y="4023360"/>
            <a:ext cx="10972800" cy="731520"/>
          </a:xfrm>
          <a:prstGeom prst="rect">
            <a:avLst/>
          </a:prstGeom>
          <a:noFill/>
        </p:spPr>
        <p:txBody>
          <a:bodyPr wrap="square" lIns="45720" rIns="45720" anchor="t">
            <a:spAutoFit/>
          </a:bodyPr>
          <a:lstStyle/>
          <a:p>
            <a:pPr algn="l">
              <a:defRPr sz="1700" b="0">
                <a:solidFill>
                  <a:srgbClr val="191F1C"/>
                </a:solidFill>
                <a:latin typeface="Aptos"/>
              </a:defRPr>
            </a:pPr>
            <a:r>
              <a:t>It is now the standing health check, and it settled the C_comp question.</a:t>
            </a:r>
          </a:p>
        </p:txBody>
      </p:sp>
      <p:sp>
        <p:nvSpPr>
          <p:cNvPr id="7" name="Rectangle 6"/>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Whatever is wrong under stress, it is not the I-V times Ku(t) reconstruction.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C_comp is handled correctly</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CONFIDENCE</a:t>
            </a:r>
          </a:p>
        </p:txBody>
      </p:sp>
      <p:sp>
        <p:nvSpPr>
          <p:cNvPr id="4" name="Rectangle 3"/>
          <p:cNvSpPr/>
          <p:nvPr/>
        </p:nvSpPr>
        <p:spPr>
          <a:xfrm>
            <a:off x="475488" y="1143000"/>
            <a:ext cx="11210544" cy="4809743"/>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comp.png"/>
          <p:cNvPicPr>
            <a:picLocks noChangeAspect="1"/>
          </p:cNvPicPr>
          <p:nvPr/>
        </p:nvPicPr>
        <p:blipFill>
          <a:blip r:embed="rId2"/>
          <a:stretch>
            <a:fillRect/>
          </a:stretch>
        </p:blipFill>
        <p:spPr>
          <a:xfrm>
            <a:off x="502920" y="1170432"/>
            <a:ext cx="11155680" cy="4754879"/>
          </a:xfrm>
          <a:prstGeom prst="rect">
            <a:avLst/>
          </a:prstGeom>
        </p:spPr>
      </p:pic>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I had this backwards first. The golden-waveform test overturned my own claim that pybis over-applies C_comp.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Is it the engine or the model?</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METHOD</a:t>
            </a:r>
          </a:p>
        </p:txBody>
      </p:sp>
      <p:sp>
        <p:nvSpPr>
          <p:cNvPr id="4" name="TextBox 3"/>
          <p:cNvSpPr txBox="1"/>
          <p:nvPr/>
        </p:nvSpPr>
        <p:spPr>
          <a:xfrm>
            <a:off x="640080" y="1188720"/>
            <a:ext cx="10972800" cy="914400"/>
          </a:xfrm>
          <a:prstGeom prst="rect">
            <a:avLst/>
          </a:prstGeom>
          <a:noFill/>
        </p:spPr>
        <p:txBody>
          <a:bodyPr wrap="square" lIns="45720" rIns="45720" anchor="t">
            <a:spAutoFit/>
          </a:bodyPr>
          <a:lstStyle/>
          <a:p>
            <a:pPr algn="l">
              <a:defRPr sz="1700" b="0">
                <a:solidFill>
                  <a:srgbClr val="191F1C"/>
                </a:solidFill>
                <a:latin typeface="Aptos"/>
              </a:defRPr>
            </a:pPr>
            <a:r>
              <a:t>Every native-vs-pybis number changes two things at once: the IBIS implementation and the SPICE engine. We wrote a translator so the same model runs in both.</a:t>
            </a:r>
          </a:p>
        </p:txBody>
      </p:sp>
      <p:sp>
        <p:nvSpPr>
          <p:cNvPr id="5" name="Rounded Rectangle 4"/>
          <p:cNvSpPr/>
          <p:nvPr/>
        </p:nvSpPr>
        <p:spPr>
          <a:xfrm>
            <a:off x="640080" y="2286000"/>
            <a:ext cx="10972800" cy="1828800"/>
          </a:xfrm>
          <a:prstGeom prst="roundRect">
            <a:avLst/>
          </a:prstGeom>
          <a:solidFill>
            <a:srgbClr val="F6F8F7"/>
          </a:solidFill>
          <a:ln w="12700">
            <a:solidFill>
              <a:srgbClr val="A4AEA8"/>
            </a:solidFill>
          </a:ln>
        </p:spPr>
        <p:style>
          <a:lnRef idx="1">
            <a:schemeClr val="accent1"/>
          </a:lnRef>
          <a:fillRef idx="3">
            <a:schemeClr val="accent1"/>
          </a:fillRef>
          <a:effectRef idx="2">
            <a:schemeClr val="accent1"/>
          </a:effectRef>
          <a:fontRef idx="minor">
            <a:schemeClr val="lt1"/>
          </a:fontRef>
        </p:style>
        <p:txBody>
          <a:bodyPr rtlCol="0" anchor="ctr" wrap="none" lIns="118872" rIns="73152" tIns="91440" bIns="73152"/>
          <a:lstStyle/>
          <a:p>
            <a:pPr algn="ctr">
              <a:defRPr sz="1500">
                <a:solidFill>
                  <a:srgbClr val="1E3027"/>
                </a:solidFill>
                <a:latin typeface="Consolas"/>
              </a:defRPr>
            </a:pPr>
            <a:r>
              <a:t>                          50% crossing</a:t>
            </a:r>
            <a:br/>
            <a:br/>
            <a:r>
              <a:t>  pybis in ngspice            5.3371 ns</a:t>
            </a:r>
            <a:br/>
            <a:r>
              <a:t>  pybis in HSPICE             5.3375 ns     engine  -0.5 ps</a:t>
            </a:r>
            <a:br/>
            <a:r>
              <a:t>  native IBIS in HSPICE       5.3319 ns     model   +5.6 ps</a:t>
            </a:r>
          </a:p>
        </p:txBody>
      </p:sp>
      <p:sp>
        <p:nvSpPr>
          <p:cNvPr id="6" name="TextBox 5"/>
          <p:cNvSpPr txBox="1"/>
          <p:nvPr/>
        </p:nvSpPr>
        <p:spPr>
          <a:xfrm>
            <a:off x="640080" y="4297680"/>
            <a:ext cx="10972800" cy="914400"/>
          </a:xfrm>
          <a:prstGeom prst="rect">
            <a:avLst/>
          </a:prstGeom>
          <a:noFill/>
        </p:spPr>
        <p:txBody>
          <a:bodyPr wrap="square" lIns="45720" rIns="45720" anchor="t">
            <a:spAutoFit/>
          </a:bodyPr>
          <a:lstStyle/>
          <a:p>
            <a:pPr algn="l">
              <a:defRPr sz="1700" b="0">
                <a:solidFill>
                  <a:srgbClr val="191F1C"/>
                </a:solidFill>
                <a:latin typeface="Aptos"/>
              </a:defRPr>
            </a:pPr>
            <a:r>
              <a:t>The engine is not the source, provided ngspice is converged. At a 1 ps step it was an aliasing outlier that doubled the apparent lag.</a:t>
            </a:r>
          </a:p>
        </p:txBody>
      </p:sp>
      <p:sp>
        <p:nvSpPr>
          <p:cNvPr id="7" name="Rectangle 6"/>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Converged, the two engines agree to half a picosecond.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What fixtures do to the extracted Ku/Kd</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METHOD</a:t>
            </a:r>
          </a:p>
        </p:txBody>
      </p:sp>
      <p:sp>
        <p:nvSpPr>
          <p:cNvPr id="4" name="TextBox 3"/>
          <p:cNvSpPr txBox="1"/>
          <p:nvPr/>
        </p:nvSpPr>
        <p:spPr>
          <a:xfrm>
            <a:off x="640080" y="1371600"/>
            <a:ext cx="10972800" cy="2743200"/>
          </a:xfrm>
          <a:prstGeom prst="rect">
            <a:avLst/>
          </a:prstGeom>
          <a:noFill/>
        </p:spPr>
        <p:txBody>
          <a:bodyPr wrap="square" lIns="73152" rIns="36576" tIns="36576" bIns="36576">
            <a:spAutoFit/>
          </a:bodyPr>
          <a:lstStyle/>
          <a:p>
            <a:pPr>
              <a:spcAft>
                <a:spcPts val="700"/>
              </a:spcAft>
              <a:defRPr sz="1700">
                <a:solidFill>
                  <a:srgbClr val="191F1C"/>
                </a:solidFill>
                <a:latin typeface="Aptos"/>
              </a:defRPr>
            </a:pPr>
            <a:r>
              <a:t>- The control reproduces the shipped solve to 2.4e-08, so the method is exact.</a:t>
            </a:r>
          </a:p>
          <a:p>
            <a:pPr>
              <a:spcAft>
                <a:spcPts val="700"/>
              </a:spcAft>
              <a:defRPr sz="1700">
                <a:solidFill>
                  <a:srgbClr val="191F1C"/>
                </a:solidFill>
                <a:latin typeface="Aptos"/>
              </a:defRPr>
            </a:pPr>
            <a:r>
              <a:t>- In quiet regions Ku is load-independent to four decimals. It is a device property, not a fixture artifact.</a:t>
            </a:r>
          </a:p>
          <a:p>
            <a:pPr>
              <a:spcAft>
                <a:spcPts val="700"/>
              </a:spcAft>
              <a:defRPr sz="1700">
                <a:solidFill>
                  <a:srgbClr val="191F1C"/>
                </a:solidFill>
                <a:latin typeface="Aptos"/>
              </a:defRPr>
            </a:pPr>
            <a:r>
              <a:t>- A resonant R+L+C fixture corrupts Ku for 1.14 ns, reaching 0.26 of error.</a:t>
            </a:r>
          </a:p>
        </p:txBody>
      </p:sp>
      <p:sp>
        <p:nvSpPr>
          <p:cNvPr id="5" name="TextBox 4"/>
          <p:cNvSpPr txBox="1"/>
          <p:nvPr/>
        </p:nvSpPr>
        <p:spPr>
          <a:xfrm>
            <a:off x="640080" y="4206240"/>
            <a:ext cx="10972800" cy="914400"/>
          </a:xfrm>
          <a:prstGeom prst="rect">
            <a:avLst/>
          </a:prstGeom>
          <a:noFill/>
        </p:spPr>
        <p:txBody>
          <a:bodyPr wrap="square" lIns="45720" rIns="45720" anchor="t">
            <a:spAutoFit/>
          </a:bodyPr>
          <a:lstStyle/>
          <a:p>
            <a:pPr algn="l">
              <a:defRPr sz="1700" b="0">
                <a:solidFill>
                  <a:srgbClr val="191F1C"/>
                </a:solidFill>
                <a:latin typeface="Aptos"/>
              </a:defRPr>
            </a:pPr>
            <a:r>
              <a:t>Added L and C are safe individually. The resonant combination has to be avoided when characterising.</a:t>
            </a:r>
          </a:p>
        </p:txBody>
      </p:sp>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The two-fixture extraction is trustworthy, as long as the fixture is not resonant.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The 1.25 max|Ku| cap rejects good models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WHAT SHOULD CHANGE</a:t>
            </a:r>
          </a:p>
        </p:txBody>
      </p:sp>
      <p:sp>
        <p:nvSpPr>
          <p:cNvPr id="4" name="Rounded Rectangle 3"/>
          <p:cNvSpPr/>
          <p:nvPr/>
        </p:nvSpPr>
        <p:spPr>
          <a:xfrm>
            <a:off x="640080" y="1234440"/>
            <a:ext cx="10972800" cy="2560320"/>
          </a:xfrm>
          <a:prstGeom prst="roundRect">
            <a:avLst/>
          </a:prstGeom>
          <a:solidFill>
            <a:srgbClr val="F6F8F7"/>
          </a:solidFill>
          <a:ln w="12700">
            <a:solidFill>
              <a:srgbClr val="A4AEA8"/>
            </a:solidFill>
          </a:ln>
        </p:spPr>
        <p:style>
          <a:lnRef idx="1">
            <a:schemeClr val="accent1"/>
          </a:lnRef>
          <a:fillRef idx="3">
            <a:schemeClr val="accent1"/>
          </a:fillRef>
          <a:effectRef idx="2">
            <a:schemeClr val="accent1"/>
          </a:effectRef>
          <a:fontRef idx="minor">
            <a:schemeClr val="lt1"/>
          </a:fontRef>
        </p:style>
        <p:txBody>
          <a:bodyPr rtlCol="0" anchor="ctr" wrap="none" lIns="118872" rIns="73152" tIns="91440" bIns="73152"/>
          <a:lstStyle/>
          <a:p>
            <a:pPr algn="ctr">
              <a:defRPr sz="1500">
                <a:solidFill>
                  <a:srgbClr val="1E3027"/>
                </a:solidFill>
                <a:latin typeface="Consolas"/>
              </a:defRPr>
            </a:pPr>
            <a:r>
              <a:t>ex2 variants                    edge     max|Ku|</a:t>
            </a:r>
            <a:br/>
            <a:br/>
            <a:r>
              <a:t>  slowpre   predriver halved     328 ps     1.047</a:t>
            </a:r>
            <a:br/>
            <a:r>
              <a:t>  base      control              200 ps     1.283</a:t>
            </a:r>
            <a:br/>
            <a:r>
              <a:t>  nomiller  Miller caps removed  208 ps     1.299</a:t>
            </a:r>
            <a:br/>
            <a:r>
              <a:t>  skewp     output PMOS halved   160 ps     1.589</a:t>
            </a:r>
            <a:br/>
            <a:r>
              <a:t>  weak      both devices halved  152 ps     1.779</a:t>
            </a:r>
          </a:p>
        </p:txBody>
      </p:sp>
      <p:sp>
        <p:nvSpPr>
          <p:cNvPr id="5" name="TextBox 4"/>
          <p:cNvSpPr txBox="1"/>
          <p:nvPr/>
        </p:nvSpPr>
        <p:spPr>
          <a:xfrm>
            <a:off x="640080" y="3931920"/>
            <a:ext cx="10972800" cy="1554480"/>
          </a:xfrm>
          <a:prstGeom prst="rect">
            <a:avLst/>
          </a:prstGeom>
          <a:noFill/>
        </p:spPr>
        <p:txBody>
          <a:bodyPr wrap="square" lIns="45720" rIns="45720" anchor="t">
            <a:spAutoFit/>
          </a:bodyPr>
          <a:lstStyle/>
          <a:p>
            <a:pPr algn="l">
              <a:defRPr sz="1700" b="0">
                <a:solidFill>
                  <a:srgbClr val="191F1C"/>
                </a:solidFill>
                <a:latin typeface="Aptos"/>
              </a:defRPr>
            </a:pPr>
            <a:r>
              <a:t>Monotonic in C_comp times dV/dt against the device drive. For ex2 that is 82 mA of displacement current against a ~51 mA drive: it exceeds the device, so the solve must push Ku above 1. Healthy baselines differ per silicon, inv_chain 1.03, io_buf 1.18, ex2 1.28.</a:t>
            </a:r>
          </a:p>
        </p:txBody>
      </p:sp>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A high max|Ku| is a real signature of a large die capacitance driven fast, not a corrupted extraction.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New buffers, and what they are for</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WHAT SHOULD CHANGE</a:t>
            </a:r>
          </a:p>
        </p:txBody>
      </p:sp>
      <p:sp>
        <p:nvSpPr>
          <p:cNvPr id="4" name="TextBox 3"/>
          <p:cNvSpPr txBox="1"/>
          <p:nvPr/>
        </p:nvSpPr>
        <p:spPr>
          <a:xfrm>
            <a:off x="640080" y="1280160"/>
            <a:ext cx="10972800" cy="2560320"/>
          </a:xfrm>
          <a:prstGeom prst="rect">
            <a:avLst/>
          </a:prstGeom>
          <a:noFill/>
        </p:spPr>
        <p:txBody>
          <a:bodyPr wrap="square" lIns="73152" rIns="36576" tIns="36576" bIns="36576">
            <a:spAutoFit/>
          </a:bodyPr>
          <a:lstStyle/>
          <a:p>
            <a:pPr>
              <a:spcAft>
                <a:spcPts val="700"/>
              </a:spcAft>
              <a:defRPr sz="1700">
                <a:solidFill>
                  <a:srgbClr val="191F1C"/>
                </a:solidFill>
                <a:latin typeface="Aptos"/>
              </a:defRPr>
            </a:pPr>
            <a:r>
              <a:t>- Nine variants of inv_chain and ex2 built in HSPICE with the real transistor library: slower predriver, halved output devices, skewed PMOS, Miller caps removed, plus an open-drain build.</a:t>
            </a:r>
          </a:p>
          <a:p>
            <a:pPr>
              <a:spcAft>
                <a:spcPts val="700"/>
              </a:spcAft>
              <a:defRPr sz="1700">
                <a:solidFill>
                  <a:srgbClr val="191F1C"/>
                </a:solidFill>
                <a:latin typeface="Aptos"/>
              </a:defRPr>
            </a:pPr>
            <a:r>
              <a:t>- The point is to test whether what we learned on three buffers holds across different silicon.</a:t>
            </a:r>
          </a:p>
          <a:p>
            <a:pPr>
              <a:spcAft>
                <a:spcPts val="700"/>
              </a:spcAft>
              <a:defRPr sz="1700">
                <a:solidFill>
                  <a:srgbClr val="191F1C"/>
                </a:solidFill>
                <a:latin typeface="Aptos"/>
              </a:defRPr>
            </a:pPr>
            <a:r>
              <a:t>- Same characterisation, same stress axis, so the comparison is like for like.</a:t>
            </a:r>
          </a:p>
        </p:txBody>
      </p:sp>
      <p:sp>
        <p:nvSpPr>
          <p:cNvPr id="5" name="TextBox 4"/>
          <p:cNvSpPr txBox="1"/>
          <p:nvPr/>
        </p:nvSpPr>
        <p:spPr>
          <a:xfrm>
            <a:off x="640080" y="4114800"/>
            <a:ext cx="10972800" cy="914400"/>
          </a:xfrm>
          <a:prstGeom prst="rect">
            <a:avLst/>
          </a:prstGeom>
          <a:noFill/>
        </p:spPr>
        <p:txBody>
          <a:bodyPr wrap="square" lIns="45720" rIns="45720" anchor="t">
            <a:spAutoFit/>
          </a:bodyPr>
          <a:lstStyle/>
          <a:p>
            <a:pPr algn="l">
              <a:defRPr sz="1700" b="0">
                <a:solidFill>
                  <a:srgbClr val="191F1C"/>
                </a:solidFill>
                <a:latin typeface="Aptos"/>
              </a:defRPr>
            </a:pPr>
            <a:r>
              <a:t>Running now: the same 90-50% stress axis on all nine, with Ku and Kd solved from the transistor for every case.</a:t>
            </a:r>
          </a:p>
        </p:txBody>
      </p:sp>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Ku and Kd show what the pad trace hides.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The coefficients under stress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WHAT SHOULD CHANGE</a:t>
            </a:r>
          </a:p>
        </p:txBody>
      </p:sp>
      <p:sp>
        <p:nvSpPr>
          <p:cNvPr id="4" name="Rectangle 3"/>
          <p:cNvSpPr/>
          <p:nvPr/>
        </p:nvSpPr>
        <p:spPr>
          <a:xfrm>
            <a:off x="475488" y="1143000"/>
            <a:ext cx="11210544" cy="4809743"/>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ariant_kukd.png"/>
          <p:cNvPicPr>
            <a:picLocks noChangeAspect="1"/>
          </p:cNvPicPr>
          <p:nvPr/>
        </p:nvPicPr>
        <p:blipFill>
          <a:blip r:embed="rId2"/>
          <a:stretch>
            <a:fillRect/>
          </a:stretch>
        </p:blipFill>
        <p:spPr>
          <a:xfrm>
            <a:off x="502920" y="1170432"/>
            <a:ext cx="11155680" cy="4754879"/>
          </a:xfrm>
          <a:prstGeom prst="rect">
            <a:avLst/>
          </a:prstGeom>
        </p:spPr>
      </p:pic>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The gate-state build starts moving before the transistor does. Visible in Ku, invisible in the pad.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Where this leaves us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SUMMARY</a:t>
            </a:r>
          </a:p>
        </p:txBody>
      </p:sp>
      <p:sp>
        <p:nvSpPr>
          <p:cNvPr id="4" name="TextBox 3"/>
          <p:cNvSpPr txBox="1"/>
          <p:nvPr/>
        </p:nvSpPr>
        <p:spPr>
          <a:xfrm>
            <a:off x="640080" y="1280160"/>
            <a:ext cx="10972800" cy="2743200"/>
          </a:xfrm>
          <a:prstGeom prst="rect">
            <a:avLst/>
          </a:prstGeom>
          <a:noFill/>
        </p:spPr>
        <p:txBody>
          <a:bodyPr wrap="square" lIns="73152" rIns="36576" tIns="36576" bIns="36576">
            <a:spAutoFit/>
          </a:bodyPr>
          <a:lstStyle/>
          <a:p>
            <a:pPr>
              <a:spcAft>
                <a:spcPts val="700"/>
              </a:spcAft>
              <a:defRPr sz="1700">
                <a:solidFill>
                  <a:srgbClr val="191F1C"/>
                </a:solidFill>
                <a:latin typeface="Aptos"/>
              </a:defRPr>
            </a:pPr>
            <a:r>
              <a:t>- Settled: C_comp is right, the engine is not a confounder, pybis reproduces its own golden waveforms, and delay_cmd fixes the offset.</a:t>
            </a:r>
          </a:p>
          <a:p>
            <a:pPr>
              <a:spcAft>
                <a:spcPts val="700"/>
              </a:spcAft>
              <a:defRPr sz="1700">
                <a:solidFill>
                  <a:srgbClr val="191F1C"/>
                </a:solidFill>
                <a:latin typeface="Aptos"/>
              </a:defRPr>
            </a:pPr>
            <a:r>
              <a:t>- Open: the timing shift has no candidate mechanism, and it grows with truncation on every buffer tried.</a:t>
            </a:r>
          </a:p>
          <a:p>
            <a:pPr>
              <a:spcAft>
                <a:spcPts val="700"/>
              </a:spcAft>
              <a:defRPr sz="1700">
                <a:solidFill>
                  <a:srgbClr val="191F1C"/>
                </a:solidFill>
                <a:latin typeface="Aptos"/>
              </a:defRPr>
            </a:pPr>
            <a:r>
              <a:t>- Open: the 1.25 max|Ku| cap needs replacing before it rejects more good models.</a:t>
            </a:r>
          </a:p>
        </p:txBody>
      </p:sp>
      <p:sp>
        <p:nvSpPr>
          <p:cNvPr id="5" name="TextBox 4"/>
          <p:cNvSpPr txBox="1"/>
          <p:nvPr/>
        </p:nvSpPr>
        <p:spPr>
          <a:xfrm>
            <a:off x="640080" y="4297680"/>
            <a:ext cx="10972800" cy="1280160"/>
          </a:xfrm>
          <a:prstGeom prst="rect">
            <a:avLst/>
          </a:prstGeom>
          <a:noFill/>
        </p:spPr>
        <p:txBody>
          <a:bodyPr wrap="square" lIns="45720" rIns="45720" anchor="t">
            <a:spAutoFit/>
          </a:bodyPr>
          <a:lstStyle/>
          <a:p>
            <a:pPr algn="l">
              <a:defRPr sz="1700" b="0">
                <a:solidFill>
                  <a:srgbClr val="191F1C"/>
                </a:solidFill>
                <a:latin typeface="Aptos"/>
              </a:defRPr>
            </a:pPr>
            <a:r>
              <a:t>Two rules worth not re-learning: any bench for this model must start with a real edge, never a held level. And ngspice must be converged before drawing any conclusion from it.</a:t>
            </a:r>
          </a:p>
        </p:txBody>
      </p:sp>
    </p:spTree>
  </p:cSld>
  <p:clrMapOvr>
    <a:masterClrMapping/>
  </p:clrMapOvr>
</p:sld>
</file>

<file path=ppt/theme/theme1.xml><?xml version="1.0" encoding="utf-8"?>
<a:theme xmlns:a="http://schemas.openxmlformats.org/drawingml/2006/main" name="1_MST_EMC_lab_theme">
  <a:themeElements>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Level">
      <a:majorFont>
        <a:latin typeface="Times New Roman"/>
        <a:ea typeface=""/>
        <a:cs typeface="Arial"/>
      </a:majorFont>
      <a:minorFont>
        <a:latin typeface="Times New Roman"/>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1"/>
        </a:solidFill>
        <a:ln w="12700">
          <a:solidFill>
            <a:schemeClr val="tx1"/>
          </a:solidFill>
        </a:ln>
      </a:spPr>
      <a:bodyPr rtlCol="0" anchor="ctr"/>
      <a:lstStyle>
        <a:defPPr algn="ctr">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Level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Level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Level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Level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Level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MST_EMC_lab_theme" id="{F84A9E38-8E53-459B-962B-D11E178A4856}" vid="{AF41A44A-DCC1-4496-8938-47400BABA38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3</Slides>
  <Notes>1</Notes>
  <HiddenSlides>0</HiddenSlides>
  <ScaleCrop>false</ScaleCrop>
  <HeadingPairs>
    <vt:vector size="4" baseType="variant">
      <vt:variant>
        <vt:lpstr>Theme</vt:lpstr>
      </vt:variant>
      <vt:variant>
        <vt:i4>1</vt:i4>
      </vt:variant>
      <vt:variant>
        <vt:lpstr>Slide Titles</vt:lpstr>
      </vt:variant>
      <vt:variant>
        <vt:i4>3</vt:i4>
      </vt:variant>
    </vt:vector>
  </HeadingPairs>
  <TitlesOfParts>
    <vt:vector size="4" baseType="lpstr">
      <vt:lpstr>1_MST_EMC_lab_theme</vt:lpstr>
      <vt:lpstr>IBIS Simulation in Ngspice</vt:lpstr>
      <vt:lpstr>"Replay Problem" for Short Pulse</vt:lpstr>
      <vt:lpstr>Why "Value-matched" Method Fails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Lee, Seonghi</dc:creator>
  <cp:revision>53</cp:revision>
  <dcterms:created xsi:type="dcterms:W3CDTF">2025-07-07T19:11:35Z</dcterms:created>
  <dcterms:modified xsi:type="dcterms:W3CDTF">2026-07-14T07:11:59Z</dcterms:modified>
</cp:coreProperties>
</file>