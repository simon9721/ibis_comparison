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4"/>
    <p:sldId id="258" r:id="rId3"/>
    <p:sldId id="259" r:id="rId11"/>
    <p:sldId id="260" r:id="rId12"/>
    <p:sldId id="261" r:id="rId13"/>
    <p:sldId id="262" r:id="rId14"/>
    <p:sldId id="263" r:id="rId15"/>
    <p:sldId id="264" r:id="rId16"/>
    <p:sldId id="265" r:id="rId17"/>
    <p:sldId id="266" r:id="rId18"/>
    <p:sldId id="267" r:id="rId19"/>
    <p:sldId id="268"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8"/>
    <a:srgbClr val="FBFB00"/>
    <a:srgbClr val="FFFF29"/>
    <a:srgbClr val="C321CF"/>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CE76EB-5733-E639-DFBE-C032C02CA049}" v="311" dt="2026-07-10T21:33:20.263"/>
    <p1510:client id="{4B2B0703-2C84-945A-F101-9A0363D83DEB}" v="2" dt="2026-07-10T16:42:58.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12E5D0-9393-4591-81EA-D49C04BB484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34" charset="-127"/>
              <a:cs typeface="+mn-cs"/>
            </a:endParaRPr>
          </a:p>
        </p:txBody>
      </p:sp>
    </p:spTree>
    <p:extLst>
      <p:ext uri="{BB962C8B-B14F-4D97-AF65-F5344CB8AC3E}">
        <p14:creationId xmlns:p14="http://schemas.microsoft.com/office/powerpoint/2010/main" val="111977991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 of the stranded charge flips with the timestep, so it is an integration error. Any fix by tuning a coefficient is a coin flip, which is why the retuned version helped on some cases and not others.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week's page, with cmd_clean added as a third curve. Same case, same colours -- fix_old is the purple that was labelled 'fix' last week. On the tail, 1.0 to 1.7 ns after the reversal, the command GUPCMD sits at +0.036 original, +0.024 fix_old, +0.000 cmd_clean. The gate state is a lag on the command, so it copies that straight through, and Ku scales it by about 1.18. fix_old does eventually clear, but not until 8.7 ns -- the restore gate does not open until the reversal plus 3.0 ns, and the pad has been holding the offset since 7.5. That is why last week's approach drove the command back to a clean 0 and still left the pedestal: it was late, not wrong. cmd_clean is at zero from the start because the command is read off the present input level rather than accumulated from past edges. The code calls that build delay_cmd.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builds at the pad, against both references. Measured on the same 1.0 to 1.7 ns window: transistor 5.9 mV, native IBIS 6.2, original 76.3, fix_old 51.9, cmd_clean 4.0. fix_old removes a third of the pedestal; cmd_clean removes all of it. Across all 29 matched stress cases RMSE goes from 108.6 to 92.2 mV, the only build that beats native IBIS. Caveat worth stating out loud: cmd_clean has a dead zone of about 0.9 ns after a reversal, the gap between the fitted on-delay and off-delay, where neither device is commanded on. At a 500 ps delay it gives 0.043 V where the original gives 0.122; above about 1.2 ns the two are identical.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cannot help: the edge timing is set by the gate lag and the Ku(t) map, and cmd_clean changes neither -- it changes only how the command that drives them is generated. Measured on one truncated pulse, the 50% crossing of every node moves by single digits: GUPCMD -4.5 ps, GUP -8.2, Ku -13.6, pad -7.5, against a model-to-transistor shift of 27 to 46 ps. cmd_clean changes what is left behind, not how fast the edge moves. The plan quotes 69-99 ps late where native is 5-26 ps early. That is not reproducible from the data on disk with a 50%-of-excursion metric. The stress matrix gives io_buf native +11..+18 against ours +27..+34; inv_chain native -6..-5 against ours +8..+12; ex2 both early with ours closer. The defect is real and device-dependent, but smaller and less one-sided than the plan states. It also grows as the pulse is truncated, on all nine buffer variants tested so far.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reproduces the shipped solve to 2.4e-08, so the method is exact, and in the quiet regions Ku is load-independent to four decimals -- the extraction really is a device property, not a fixture artifact.  Ku RMSE against the R-only baseline:  io_buf C 0.011 / L0.5 0.142 / L2 0.164 / L+C 0.159;  inv_chain C 0.007 / L0.5 0.004 / L2 0.007 / L+C 0.009;  ex2 C 0.028 / L0.5 0.008 / L2 0.022 / L+C 0.032.  Correction worth stating: the plan says added L and C are safe individually and the resonant combination is the problem. The measurement does not support that. On io_buf L alone is the worst case (0.164, peak 7.9) and L+C is no worse (0.159, peak 5.2); on the other two devices everything stays under 0.03. The real rule is that series inductance disturbs the solve, by an amount that depends on the buffer.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Plus an open-drain build of ex2. The nomiller variant came back identical to the control -- those caps are 20.5 fF against C_comp's 5 pF, 0.41%, so they cannot matter. The null result still rules out the small capacitor and points at C_comp.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 and Kd here come from the transistor itself, by driving it into two fixtures and running the same two-equation solve the model uses. That is a ground-truth coefficient target, not native IBIS's opinion.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worth not re-learning: any bench for this model must start with a real edge, never a held level, because it initialises pulldown-on and latches state only on an edge. And ngspice must be converged before drawing any conclusion.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1CA2A-44B7-9F04-6068-47D43FF3DC60}"/>
              </a:ext>
            </a:extLst>
          </p:cNvPr>
          <p:cNvSpPr>
            <a:spLocks noGrp="1"/>
          </p:cNvSpPr>
          <p:nvPr>
            <p:ph type="ctrTitle"/>
          </p:nvPr>
        </p:nvSpPr>
        <p:spPr>
          <a:xfrm>
            <a:off x="1118507" y="1016453"/>
            <a:ext cx="10882993" cy="1828800"/>
          </a:xfrm>
        </p:spPr>
        <p:txBody>
          <a:bodyPr/>
          <a:lstStyle/>
          <a:p>
            <a:pPr>
              <a:defRPr sz="3500" b="1">
                <a:solidFill>
                  <a:srgbClr val="000000"/>
                </a:solidFill>
                <a:latin typeface="Times New Roman"/>
              </a:defRPr>
            </a:pPr>
            <a:r>
              <a:t>IBIS Simulation Short Pulse Handling</a:t>
            </a:r>
          </a:p>
        </p:txBody>
      </p:sp>
      <p:sp>
        <p:nvSpPr>
          <p:cNvPr id="3" name="부제목 2">
            <a:extLst>
              <a:ext uri="{FF2B5EF4-FFF2-40B4-BE49-F238E27FC236}">
                <a16:creationId xmlns:a16="http://schemas.microsoft.com/office/drawing/2014/main" id="{D62CACD7-6A52-C28F-D2D0-4E8721229DAB}"/>
              </a:ext>
            </a:extLst>
          </p:cNvPr>
          <p:cNvSpPr>
            <a:spLocks noGrp="1"/>
          </p:cNvSpPr>
          <p:nvPr>
            <p:ph type="subTitle" idx="1"/>
          </p:nvPr>
        </p:nvSpPr>
        <p:spPr>
          <a:xfrm>
            <a:off x="1828800" y="5294671"/>
            <a:ext cx="8534400" cy="1563329"/>
          </a:xfrm>
        </p:spPr>
        <p:txBody>
          <a:bodyPr/>
          <a:lstStyle/>
          <a:p>
            <a:pPr algn="ctr">
              <a:defRPr sz="1600">
                <a:solidFill>
                  <a:srgbClr val="000000"/>
                </a:solidFill>
                <a:latin typeface="Times New Roman"/>
              </a:defRPr>
            </a:pPr>
            <a:r>
              <a:t>Simon Hwang</a:t>
            </a:r>
          </a:p>
          <a:p>
            <a:pPr algn="ctr">
              <a:defRPr sz="1600">
                <a:solidFill>
                  <a:srgbClr val="000000"/>
                </a:solidFill>
                <a:latin typeface="Times New Roman"/>
              </a:defRPr>
            </a:pPr>
            <a:r>
              <a:t>Dr. Chulsoon Hwang</a:t>
            </a:r>
          </a:p>
          <a:p>
            <a:pPr algn="ctr">
              <a:defRPr sz="1600">
                <a:solidFill>
                  <a:srgbClr val="000000"/>
                </a:solidFill>
                <a:latin typeface="Times New Roman"/>
              </a:defRPr>
            </a:pPr>
            <a:r>
              <a:t>Dr. Zhiping Yang</a:t>
            </a:r>
          </a:p>
          <a:p>
            <a:pPr algn="ctr">
              <a:defRPr sz="1600">
                <a:solidFill>
                  <a:srgbClr val="000000"/>
                </a:solidFill>
                <a:latin typeface="Times New Roman"/>
              </a:defRPr>
            </a:pPr>
            <a:r>
              <a:t>9/4/2026</a:t>
            </a:r>
          </a:p>
        </p:txBody>
      </p:sp>
    </p:spTree>
    <p:extLst>
      <p:ext uri="{BB962C8B-B14F-4D97-AF65-F5344CB8AC3E}">
        <p14:creationId xmlns:p14="http://schemas.microsoft.com/office/powerpoint/2010/main" val="661422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Table of contents</a:t>
            </a:r>
          </a:p>
        </p:txBody>
      </p:sp>
      <p:sp>
        <p:nvSpPr>
          <p:cNvPr id="3" name="TextBox 2"/>
          <p:cNvSpPr txBox="1"/>
          <p:nvPr/>
        </p:nvSpPr>
        <p:spPr>
          <a:xfrm>
            <a:off x="640080" y="1371600"/>
            <a:ext cx="11064240" cy="34290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Issue recap</a:t>
            </a:r>
          </a:p>
          <a:p>
            <a:pPr>
              <a:spcAft>
                <a:spcPts val="300"/>
              </a:spcAft>
              <a:defRPr sz="1700">
                <a:solidFill>
                  <a:srgbClr val="191F1C"/>
                </a:solidFill>
                <a:latin typeface="Aptos"/>
              </a:defRPr>
            </a:pPr>
            <a:r>
              <a:t>•  Delaying the input command</a:t>
            </a:r>
          </a:p>
          <a:p>
            <a:pPr>
              <a:spcAft>
                <a:spcPts val="300"/>
              </a:spcAft>
              <a:defRPr sz="1700">
                <a:solidFill>
                  <a:srgbClr val="191F1C"/>
                </a:solidFill>
                <a:latin typeface="Aptos"/>
              </a:defRPr>
            </a:pPr>
            <a:r>
              <a:t>•  RLC fixture effects on V-t waveforms and Ku/Kd</a:t>
            </a:r>
          </a:p>
          <a:p>
            <a:pPr>
              <a:spcAft>
                <a:spcPts val="300"/>
              </a:spcAft>
              <a:defRPr sz="1700">
                <a:solidFill>
                  <a:srgbClr val="191F1C"/>
                </a:solidFill>
                <a:latin typeface="Aptos"/>
              </a:defRPr>
            </a:pPr>
            <a:r>
              <a:t>•  Pybis in HSPICE vs. NgSPICE</a:t>
            </a:r>
          </a:p>
          <a:p>
            <a:pPr>
              <a:spcAft>
                <a:spcPts val="300"/>
              </a:spcAft>
              <a:defRPr sz="1700">
                <a:solidFill>
                  <a:srgbClr val="191F1C"/>
                </a:solidFill>
                <a:latin typeface="Aptos"/>
              </a:defRPr>
            </a:pPr>
            <a:r>
              <a:t>•  More SPICE buffer mockups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Issue recap</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ISSUE RECAP</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A short pulse reverses before the pad has finished its transition.</a:t>
            </a:r>
          </a:p>
          <a:p>
            <a:pPr>
              <a:spcAft>
                <a:spcPts val="300"/>
              </a:spcAft>
              <a:defRPr sz="1700">
                <a:solidFill>
                  <a:srgbClr val="191F1C"/>
                </a:solidFill>
                <a:latin typeface="Aptos"/>
              </a:defRPr>
            </a:pPr>
            <a:r>
              <a:t>•  Through the edge all three agree. Our pad stays high afterwards.</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ap_pa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Issue recap — the coefficients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ISSUE RECAP</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Ku(t) and Kd(t) assume the transition starts from a settled state.</a:t>
            </a:r>
          </a:p>
          <a:p>
            <a:pPr>
              <a:spcAft>
                <a:spcPts val="300"/>
              </a:spcAft>
              <a:defRPr sz="1700">
                <a:solidFill>
                  <a:srgbClr val="191F1C"/>
                </a:solidFill>
                <a:latin typeface="Aptos"/>
              </a:defRPr>
            </a:pPr>
            <a:r>
              <a:t>•  When the reverse edge arrives first, they are still replayed from fully settled, and Ku does not return to zero.</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ap_kuk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offset: the command bucket never empties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GUPCMD is a bucket: one fixed pour in on the rising edge, one back out on the falling edge.</a:t>
            </a:r>
          </a:p>
          <a:p>
            <a:pPr>
              <a:spcAft>
                <a:spcPts val="300"/>
              </a:spcAft>
              <a:defRPr sz="1700">
                <a:solidFill>
                  <a:srgbClr val="191F1C"/>
                </a:solidFill>
                <a:latin typeface="Aptos"/>
              </a:defRPr>
            </a:pPr>
            <a:r>
              <a:t>•  On a truncated pulse the two pours are not equal, and there is no drain — so some is left.</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chain.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GUP and Ku</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Rectangle 3"/>
          <p:cNvSpPr/>
          <p:nvPr/>
        </p:nvSpPr>
        <p:spPr>
          <a:xfrm>
            <a:off x="880331" y="1207008"/>
            <a:ext cx="10400857" cy="53126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md_clean_gate_and_ku.png"/>
          <p:cNvPicPr>
            <a:picLocks noChangeAspect="1"/>
          </p:cNvPicPr>
          <p:nvPr/>
        </p:nvPicPr>
        <p:blipFill>
          <a:blip r:embed="rId2"/>
          <a:stretch>
            <a:fillRect/>
          </a:stretch>
        </p:blipFill>
        <p:spPr>
          <a:xfrm>
            <a:off x="907763" y="1234440"/>
            <a:ext cx="10345993" cy="5257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Pad voltage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Rectangle 3"/>
          <p:cNvSpPr/>
          <p:nvPr/>
        </p:nvSpPr>
        <p:spPr>
          <a:xfrm>
            <a:off x="475488" y="1367028"/>
            <a:ext cx="11210544" cy="499262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md_clean_pad.png"/>
          <p:cNvPicPr>
            <a:picLocks noChangeAspect="1"/>
          </p:cNvPicPr>
          <p:nvPr/>
        </p:nvPicPr>
        <p:blipFill>
          <a:blip r:embed="rId2"/>
          <a:stretch>
            <a:fillRect/>
          </a:stretch>
        </p:blipFill>
        <p:spPr>
          <a:xfrm>
            <a:off x="502920" y="1394460"/>
            <a:ext cx="11155680" cy="4937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It does not fix the timing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cmd_clean improved the timing on 0 of 19 stress cases — two mechanisms, not one.</a:t>
            </a:r>
          </a:p>
          <a:p>
            <a:pPr>
              <a:spcAft>
                <a:spcPts val="300"/>
              </a:spcAft>
              <a:defRPr sz="1700">
                <a:solidFill>
                  <a:srgbClr val="191F1C"/>
                </a:solidFill>
                <a:latin typeface="Aptos"/>
              </a:defRPr>
            </a:pPr>
            <a:r>
              <a:t>•  Our 50% crossing still arrives after native's: io_buf +27..+34 ps against native's +11..+18.</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ing_shift.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 the difference the engine or the model?</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PYBIS IN HSPICE VS. NGSPICE</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Every native-vs-ours number changes two things at once. We wrote a translator so the same model runs in both simulators.</a:t>
            </a:r>
          </a:p>
        </p:txBody>
      </p:sp>
      <p:sp>
        <p:nvSpPr>
          <p:cNvPr id="5" name="TextBox 4"/>
          <p:cNvSpPr txBox="1"/>
          <p:nvPr/>
        </p:nvSpPr>
        <p:spPr>
          <a:xfrm>
            <a:off x="640080" y="21031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a:t>
            </a:r>
          </a:p>
        </p:txBody>
      </p:sp>
      <p:sp>
        <p:nvSpPr>
          <p:cNvPr id="6" name="TextBox 5"/>
          <p:cNvSpPr txBox="1"/>
          <p:nvPr/>
        </p:nvSpPr>
        <p:spPr>
          <a:xfrm>
            <a:off x="640080" y="265176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our model in ngspice     5.3371 ns</a:t>
            </a:r>
          </a:p>
          <a:p>
            <a:pPr>
              <a:spcAft>
                <a:spcPts val="300"/>
              </a:spcAft>
              <a:defRPr sz="1700">
                <a:solidFill>
                  <a:srgbClr val="191F1C"/>
                </a:solidFill>
                <a:latin typeface="Aptos"/>
              </a:defRPr>
            </a:pPr>
            <a:r>
              <a:t>•  our model in HSPICE      5.3375 ns     engine:  −0.5 ps</a:t>
            </a:r>
          </a:p>
          <a:p>
            <a:pPr>
              <a:spcAft>
                <a:spcPts val="300"/>
              </a:spcAft>
              <a:defRPr sz="1700">
                <a:solidFill>
                  <a:srgbClr val="191F1C"/>
                </a:solidFill>
                <a:latin typeface="Aptos"/>
              </a:defRPr>
            </a:pPr>
            <a:r>
              <a:t>•  native IBIS in HSPICE    5.3319 ns     model:   +5.6 ps</a:t>
            </a:r>
          </a:p>
        </p:txBody>
      </p:sp>
      <p:sp>
        <p:nvSpPr>
          <p:cNvPr id="7" name="TextBox 6"/>
          <p:cNvSpPr txBox="1"/>
          <p:nvPr/>
        </p:nvSpPr>
        <p:spPr>
          <a:xfrm>
            <a:off x="640080" y="457200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engine is not the source — provided ngspice is converged. At a 1 ps step it was an aliasing outlier that doubled the apparent lag.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fixtures do to the extracted Ku/Kd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RLC FIXTURE EFFECTS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Five fixtures, Ku re-solved on each. In the quiet regions all five agree to four decimals.</a:t>
            </a:r>
          </a:p>
          <a:p>
            <a:pPr>
              <a:spcAft>
                <a:spcPts val="300"/>
              </a:spcAft>
              <a:defRPr sz="1700">
                <a:solidFill>
                  <a:srgbClr val="191F1C"/>
                </a:solidFill>
                <a:latin typeface="Aptos"/>
              </a:defRPr>
            </a:pPr>
            <a:r>
              <a:t>•  Series inductance disturbs it, and only on io_buf.</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xture_vt.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xture_ku.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Nine new buffer variants, same stress axis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MORE SPICE BUFFER MOCKUPS</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Built in HSPICE from the real transistor library, then characterised and stressed exactly like the three base buffers.</a:t>
            </a:r>
          </a:p>
        </p:txBody>
      </p:sp>
      <p:sp>
        <p:nvSpPr>
          <p:cNvPr id="5" name="Rounded Rectangle 4"/>
          <p:cNvSpPr/>
          <p:nvPr/>
        </p:nvSpPr>
        <p:spPr>
          <a:xfrm>
            <a:off x="640080" y="1965960"/>
            <a:ext cx="10972800" cy="3977639"/>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t" wrap="none" lIns="118872" rIns="73152" tIns="91440" bIns="73152"/>
          <a:lstStyle/>
          <a:p>
            <a:pPr algn="l">
              <a:defRPr sz="1450">
                <a:solidFill>
                  <a:srgbClr val="1E3027"/>
                </a:solidFill>
                <a:latin typeface="Consolas"/>
              </a:defRPr>
            </a:pPr>
            <a:r>
              <a:t>inv_chain          stages    Wn        Wp       what it changes</a:t>
            </a:r>
          </a:p>
          <a:p>
            <a:pPr algn="l">
              <a:defRPr sz="1450">
                <a:solidFill>
                  <a:srgbClr val="1E3027"/>
                </a:solidFill>
                <a:latin typeface="Consolas"/>
              </a:defRPr>
            </a:pPr>
          </a:p>
          <a:p>
            <a:pPr algn="l">
              <a:defRPr sz="1450">
                <a:solidFill>
                  <a:srgbClr val="1E3027"/>
                </a:solidFill>
                <a:latin typeface="Consolas"/>
              </a:defRPr>
            </a:pPr>
            <a:r>
              <a:t>  base8            8 (x2)    1.0 um    2.0 um   reference</a:t>
            </a:r>
          </a:p>
          <a:p>
            <a:pPr algn="l">
              <a:defRPr sz="1450">
                <a:solidFill>
                  <a:srgbClr val="1E3027"/>
                </a:solidFill>
                <a:latin typeface="Consolas"/>
              </a:defRPr>
            </a:pPr>
            <a:r>
              <a:t>  stage4           4         1.0 um    2.0 um   predriver depth halved</a:t>
            </a:r>
          </a:p>
          <a:p>
            <a:pPr algn="l">
              <a:defRPr sz="1450">
                <a:solidFill>
                  <a:srgbClr val="1E3027"/>
                </a:solidFill>
                <a:latin typeface="Consolas"/>
              </a:defRPr>
            </a:pPr>
            <a:r>
              <a:t>  skewp            8 (x2)    1.0 um    1.0 um   Wp = Wn, rise slower than fall</a:t>
            </a:r>
          </a:p>
          <a:p>
            <a:pPr algn="l">
              <a:defRPr sz="1450">
                <a:solidFill>
                  <a:srgbClr val="1E3027"/>
                </a:solidFill>
                <a:latin typeface="Consolas"/>
              </a:defRPr>
            </a:pPr>
            <a:r>
              <a:t>  weak             8 (x2)    0.5 um    1.0 um   half drive at every stage</a:t>
            </a:r>
          </a:p>
          <a:p>
            <a:pPr algn="l">
              <a:defRPr sz="1450">
                <a:solidFill>
                  <a:srgbClr val="1E3027"/>
                </a:solidFill>
                <a:latin typeface="Consolas"/>
              </a:defRPr>
            </a:pPr>
          </a:p>
          <a:p>
            <a:pPr algn="l">
              <a:defRPr sz="1450">
                <a:solidFill>
                  <a:srgbClr val="1E3027"/>
                </a:solidFill>
                <a:latin typeface="Consolas"/>
              </a:defRPr>
            </a:pPr>
            <a:r>
              <a:t>ex2                device widths scaled        what it changes</a:t>
            </a:r>
          </a:p>
          <a:p>
            <a:pPr algn="l">
              <a:defRPr sz="1450">
                <a:solidFill>
                  <a:srgbClr val="1E3027"/>
                </a:solidFill>
                <a:latin typeface="Consolas"/>
              </a:defRPr>
            </a:pPr>
          </a:p>
          <a:p>
            <a:pPr algn="l">
              <a:defRPr sz="1450">
                <a:solidFill>
                  <a:srgbClr val="1E3027"/>
                </a:solidFill>
                <a:latin typeface="Consolas"/>
              </a:defRPr>
            </a:pPr>
            <a:r>
              <a:t>  base             none                         reference</a:t>
            </a:r>
          </a:p>
          <a:p>
            <a:pPr algn="l">
              <a:defRPr sz="1450">
                <a:solidFill>
                  <a:srgbClr val="1E3027"/>
                </a:solidFill>
                <a:latin typeface="Consolas"/>
              </a:defRPr>
            </a:pPr>
            <a:r>
              <a:t>  weak             mx15-19 + mx24-28  x0.5      output stage at half width</a:t>
            </a:r>
          </a:p>
          <a:p>
            <a:pPr algn="l">
              <a:defRPr sz="1450">
                <a:solidFill>
                  <a:srgbClr val="1E3027"/>
                </a:solidFill>
                <a:latin typeface="Consolas"/>
              </a:defRPr>
            </a:pPr>
            <a:r>
              <a:t>  skewp            mx24-28            x0.5      output PMOS only, rise slows</a:t>
            </a:r>
          </a:p>
          <a:p>
            <a:pPr algn="l">
              <a:defRPr sz="1450">
                <a:solidFill>
                  <a:srgbClr val="1E3027"/>
                </a:solidFill>
                <a:latin typeface="Consolas"/>
              </a:defRPr>
            </a:pPr>
            <a:r>
              <a:t>  slowpre          mx11-14 + mx20-23  x0.5      predriver, delays the onset</a:t>
            </a:r>
          </a:p>
          <a:p>
            <a:pPr algn="l">
              <a:defRPr sz="1450">
                <a:solidFill>
                  <a:srgbClr val="1E3027"/>
                </a:solidFill>
                <a:latin typeface="Consolas"/>
              </a:defRPr>
            </a:pPr>
            <a:r>
              <a:t>  nomiller         n4-&gt;out caps removed         tests Miller feedthrough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A variant under the same stress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MORE SPICE BUFFER MOCKUPS</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Same characterisation, same stress axis, so the comparison is like for like across the family.</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riant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ariant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this leaves us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SUMMARY</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Settled:</a:t>
            </a:r>
          </a:p>
        </p:txBody>
      </p:sp>
      <p:sp>
        <p:nvSpPr>
          <p:cNvPr id="5" name="TextBox 4"/>
          <p:cNvSpPr txBox="1"/>
          <p:nvPr/>
        </p:nvSpPr>
        <p:spPr>
          <a:xfrm>
            <a:off x="640080" y="1737360"/>
            <a:ext cx="11064240" cy="27432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C_comp is handled correctly</a:t>
            </a:r>
          </a:p>
          <a:p>
            <a:pPr>
              <a:spcAft>
                <a:spcPts val="300"/>
              </a:spcAft>
              <a:defRPr sz="1700">
                <a:solidFill>
                  <a:srgbClr val="191F1C"/>
                </a:solidFill>
                <a:latin typeface="Aptos"/>
              </a:defRPr>
            </a:pPr>
            <a:r>
              <a:t>•  the SPICE engine is not a confounder</a:t>
            </a:r>
          </a:p>
          <a:p>
            <a:pPr>
              <a:spcAft>
                <a:spcPts val="300"/>
              </a:spcAft>
              <a:defRPr sz="1700">
                <a:solidFill>
                  <a:srgbClr val="191F1C"/>
                </a:solidFill>
                <a:latin typeface="Aptos"/>
              </a:defRPr>
            </a:pPr>
            <a:r>
              <a:t>•  our model reproduces its own golden waveforms</a:t>
            </a:r>
          </a:p>
          <a:p>
            <a:pPr>
              <a:spcAft>
                <a:spcPts val="300"/>
              </a:spcAft>
              <a:defRPr sz="1700">
                <a:solidFill>
                  <a:srgbClr val="191F1C"/>
                </a:solidFill>
                <a:latin typeface="Aptos"/>
              </a:defRPr>
            </a:pPr>
            <a:r>
              <a:t>•  cmd_clean removes the settled offset</a:t>
            </a:r>
          </a:p>
        </p:txBody>
      </p:sp>
      <p:sp>
        <p:nvSpPr>
          <p:cNvPr id="6" name="TextBox 5"/>
          <p:cNvSpPr txBox="1"/>
          <p:nvPr/>
        </p:nvSpPr>
        <p:spPr>
          <a:xfrm>
            <a:off x="640080" y="38404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Open:</a:t>
            </a:r>
          </a:p>
        </p:txBody>
      </p:sp>
      <p:sp>
        <p:nvSpPr>
          <p:cNvPr id="7" name="TextBox 6"/>
          <p:cNvSpPr txBox="1"/>
          <p:nvPr/>
        </p:nvSpPr>
        <p:spPr>
          <a:xfrm>
            <a:off x="640080" y="438912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timing shift has no candidate mechanism, and grows with truncation</a:t>
            </a:r>
          </a:p>
          <a:p>
            <a:pPr>
              <a:spcAft>
                <a:spcPts val="300"/>
              </a:spcAft>
              <a:defRPr sz="1700">
                <a:solidFill>
                  <a:srgbClr val="191F1C"/>
                </a:solidFill>
                <a:latin typeface="Aptos"/>
              </a:defRPr>
            </a:pPr>
            <a:r>
              <a:t>•  the 1.25 max|Ku| cap needs replacing with a within-buffer outlier test</a:t>
            </a:r>
          </a:p>
        </p:txBody>
      </p:sp>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Slides>
  <Notes>1</Notes>
  <HiddenSlides>0</HiddenSlide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1_MST_EMC_lab_theme</vt:lpstr>
      <vt:lpstr>IBIS Simulation in Ngspice</vt:lpstr>
      <vt:lpstr>"Replay Problem" for Short Pulse</vt:lpstr>
      <vt:lpstr>Why "Value-matched" Method Fails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53</cp:revision>
  <dcterms:created xsi:type="dcterms:W3CDTF">2025-07-07T19:11:35Z</dcterms:created>
  <dcterms:modified xsi:type="dcterms:W3CDTF">2026-07-14T07:11:59Z</dcterms:modified>
</cp:coreProperties>
</file>