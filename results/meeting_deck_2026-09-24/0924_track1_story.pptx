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9"/>
  </p:notesMasterIdLst>
  <p:sldIdLst>
    <p:sldId id="256" r:id="rId9"/>
    <p:sldId id="257" r:id="rId10"/>
    <p:sldId id="258" r:id="rId11"/>
    <p:sldId id="259" r:id="rId12"/>
    <p:sldId id="260" r:id="rId13"/>
    <p:sldId id="261" r:id="rId14"/>
    <p:sldId id="262" r:id="rId15"/>
    <p:sldId id="263" r:id="rId16"/>
    <p:sldId id="264" r:id="rId17"/>
    <p:sldId id="265" r:id="rId18"/>
    <p:sldId id="266" r:id="rId8"/>
    <p:sldId id="267" r:id="rId7"/>
    <p:sldId id="268" r:id="rId6"/>
    <p:sldId id="269" r:id="rId5"/>
    <p:sldId id="270" r:id="rId4"/>
    <p:sldId id="271" r:id="rId3"/>
    <p:sldId id="272" r:id="rId2"/>
    <p:sldId id="273" r:id="rId26"/>
    <p:sldId id="274" r:id="rId27"/>
    <p:sldId id="275" r:id="rId28"/>
    <p:sldId id="276" r:id="rId29"/>
    <p:sldId id="277" r:id="rId30"/>
    <p:sldId id="278" r:id="rId31"/>
    <p:sldId id="279" r:id="rId32"/>
    <p:sldId id="280" r:id="rId33"/>
    <p:sldId id="281" r:id="rId34"/>
    <p:sldId id="282" r:id="rId35"/>
    <p:sldId id="283" r:id="rId36"/>
    <p:sldId id="284" r:id="rId3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E3D08B1E-3D88-1A97-E8DE-BE8BBEBC7A02}" name="Hwang, Simon (S&amp;T-Student)" initials="HS" userId="S::sh3qm@umsystem.edu::76a09fb8-a1d4-4f76-828e-9524909c17f1"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321CF"/>
    <a:srgbClr val="FFFFB8"/>
    <a:srgbClr val="FBFB00"/>
    <a:srgbClr val="FFFF29"/>
    <a:srgbClr val="C52BA8"/>
    <a:srgbClr val="99CCFF"/>
    <a:srgbClr val="6699FF"/>
    <a:srgbClr val="FFCC99"/>
    <a:srgbClr val="33CCFF"/>
    <a:srgbClr val="00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AB5F854-6EE0-1085-1A4B-120A9FE69D43}" v="1" dt="2026-09-18T04:07:12.962"/>
    <p1510:client id="{EE3FB4A7-ED71-7C7F-1029-72FE09E02ECF}" v="15" dt="2026-09-18T17:06:51.781"/>
    <p1510:client id="{EFA4587C-4E70-8C3A-C9F1-251AEC5A864F}" v="105" dt="2026-09-18T17:14:25.13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7.xml"/><Relationship Id="rId3" Type="http://schemas.openxmlformats.org/officeDocument/2006/relationships/slide" Target="slides/slide16.xml"/><Relationship Id="rId4" Type="http://schemas.openxmlformats.org/officeDocument/2006/relationships/slide" Target="slides/slide15.xml"/><Relationship Id="rId5" Type="http://schemas.openxmlformats.org/officeDocument/2006/relationships/slide" Target="slides/slide14.xml"/><Relationship Id="rId6" Type="http://schemas.openxmlformats.org/officeDocument/2006/relationships/slide" Target="slides/slide13.xml"/><Relationship Id="rId7" Type="http://schemas.openxmlformats.org/officeDocument/2006/relationships/slide" Target="slides/slide12.xml"/><Relationship Id="rId8" Type="http://schemas.openxmlformats.org/officeDocument/2006/relationships/slide" Target="slides/slide11.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microsoft.com/office/2015/10/relationships/revisionInfo" Target="revisionInfo.xml"/><Relationship Id="rId25" Type="http://schemas.microsoft.com/office/2018/10/relationships/authors" Target="authors.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4FF5152-AD57-4057-A738-BC536A645BFF}" type="datetimeFigureOut">
              <a:rPr lang="en-US" smtClean="0"/>
              <a:t>9/18/2026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DFBD6F9-9B61-4F1F-A828-501CEB5BCFB1}" type="slidenum">
              <a:rPr lang="en-US" smtClean="0"/>
              <a:t>‹#›</a:t>
            </a:fld>
            <a:endParaRPr lang="en-US"/>
          </a:p>
        </p:txBody>
      </p:sp>
    </p:spTree>
    <p:extLst>
      <p:ext uri="{BB962C8B-B14F-4D97-AF65-F5344CB8AC3E}">
        <p14:creationId xmlns:p14="http://schemas.microsoft.com/office/powerpoint/2010/main" val="6509444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Order matters here: every earlier version started from the method. This one starts from the measurement, because that is how the work went and it makes the method's motivation earned rather than asserted.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ex2's predriver is three stages; n4 (orange) is the gate of the output device. Probes ran on predriver_stages_2026-09-09; the same schematics exist for io_buf and inv_chain on the 09-18 deck.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Ku(t) from the file and the probed n4(t), with five instants marked. Right: the same five instants plotted Ku against gate. This is the measured Ku-vs-gate map, and it is what the next slides drive.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 gate_replay_silicon_full in gate_cascade_prototype_2026-09-09 — the real gate replayed through the map measured at full swing. The same replay through the IBIS-implied map is fine on ex2 (-3…-6 %) and collapses on inv_chain (-14 to -69 %), which is why the measured map is the one shown here.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 gate_replay_silicon_full in gate_cascade_prototype_2026-09-09 — the real gate replayed through the map measured at full swing. The same replay through the IBIS-implied map is fine on ex2 (-3…-6 %) and collapses on inv_chain (-14 to -69 %), which is why the measured map is the one shown here.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pivot of the deck. It licenses spending the rest of the time on the gate's shape and nothing else.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Grey: the full-swing gate. Black: the real gate under the stressed pulse. Purple: our GUP. Note that the real gate leaves zero around 0.5 ns while GUP is still flat until 1.1 ns, and that GUP's peak arrives after the real gate's.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causal chain end to end: gate shape -&gt; Ku -&gt; pad. At 90 % stress the two gates nearly coincide and the error nearly vanishes, which is why the failure only shows up under stress.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motivation slide, and it only works because the evidence half has shown that the gate's shape is the entire error. Earlier versions of this deck asserted the motivation before showing that.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earlier cut explained where Ku(t) itself comes from - the two-fixture solve. It is now a backup slide: this audience knows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Grey is the full transition; the coloured curves follow it and peel off at different points. This is why the recipe needs exactly one extra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rules out RC cascades, delay-plus-RC and superposition - which is what the shipped model is built from.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input and the threshold it must pass. Right: the output the constant current produces. The next slide turns this picture into the four numbers.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Colours tie each term of the equation to its row. u is the stage's input, v its output, both on their own 0-to-1 swing. On inv_chain the file's Vinh is 2.0 V on a 1.8 V part, which is why the converter guards it - the backup slide.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Simulated with the project's own stage model from the fitted values the 09-17 film exported.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est_knee fit, ex2 pull-up: K=1 rms 0.0920, K=2 0.0360, K=3 0.0233, best (K=6) 0.0202. The real predriver is a chain too - ex2's schematic showed three inverters - but this is the file saying so on its own.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Degenerate: a free fit splits the delay into one sluggish stage plus one quick one, reproduces the full swing slightly better, and predicts a stressed gate of 0.23 against a measured 0.76.</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C_comp is not a model parameter: it is a number the file's own Ku tables were solved with, so a wrong value inflates the curve everything downstream is fitted to.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trial the optimiser actually took, exported live by the 09-17 film. What it does NOT give us is K, or the map's shape.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shapes are (0.50, 0.70), (0.40, 0.60) and (0.40, 0.90). Note on the right that all three already match the peak - that is the calibration, and it is why the peak cannot be what chooses.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iteration the calibration actually wrote, recovered from the netlists it emitted. The vt here is the film's ex2 case; the deck's own K = 3 build lands on 0.632 from a different starting fit.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Ranking on the peak instead picks a chain that arrives up to 300 ps late with four times the waveform error. The nine waveforms themselves are the backup slide.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block diagram as the chain slide, with the recipe attached. This is the slide to leave up during questions.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deepest rung of each ladder: ex2 810 ps, inv_chain 104 ps, io_buf 1505 ps. io_buf's deepest rung is 37 % of its swing, not 50 - its ladder is shallower.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Native from gate_cascade_prototype_2026-09-09 sweeps, track 1 from selector_from_one_run_2026-09-23. Same five widths per buffer in both. The tr1ps death is documented in docs/native_vt_waveform_modes.md.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Better said than asked. The direction gap is the one that would most change the headline number.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Moved out of the main line: this audience knows where Ku comes from.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was the main slide before; the ranking says the same thing more directly.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Carried from the 09-18 deck so the inv_chain numbers earlier are not read as a win. review_2026-09-09 item 12B has the measurement.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p:spTree>
      <p:nvGrpSpPr>
        <p:cNvPr id="1" name=""/>
        <p:cNvGrpSpPr/>
        <p:nvPr/>
      </p:nvGrpSpPr>
      <p:grpSpPr>
        <a:xfrm>
          <a:off x="0" y="0"/>
          <a:ext cx="0" cy="0"/>
          <a:chOff x="0" y="0"/>
          <a:chExt cx="0" cy="0"/>
        </a:xfrm>
      </p:grpSpPr>
      <p:pic>
        <p:nvPicPr>
          <p:cNvPr id="4" name="Picture 18" descr="new_logo_final"/>
          <p:cNvPicPr>
            <a:picLocks noChangeAspect="1" noChangeArrowheads="1"/>
          </p:cNvPicPr>
          <p:nvPr/>
        </p:nvPicPr>
        <p:blipFill>
          <a:blip r:embed="rId2" cstate="print">
            <a:lum bright="70000" contrast="-70000"/>
            <a:extLst>
              <a:ext uri="{28A0092B-C50C-407E-A947-70E740481C1C}">
                <a14:useLocalDpi xmlns:a14="http://schemas.microsoft.com/office/drawing/2010/main" val="0"/>
              </a:ext>
            </a:extLst>
          </a:blip>
          <a:srcRect/>
          <a:stretch>
            <a:fillRect/>
          </a:stretch>
        </p:blipFill>
        <p:spPr bwMode="auto">
          <a:xfrm>
            <a:off x="0" y="4572000"/>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Picture 17" descr="new_logo_final"/>
          <p:cNvPicPr>
            <a:picLocks noChangeAspect="1" noChangeArrowheads="1"/>
          </p:cNvPicPr>
          <p:nvPr/>
        </p:nvPicPr>
        <p:blipFill>
          <a:blip r:embed="rId2" cstate="print">
            <a:lum bright="70000" contrast="-70000"/>
            <a:extLst>
              <a:ext uri="{28A0092B-C50C-407E-A947-70E740481C1C}">
                <a14:useLocalDpi xmlns:a14="http://schemas.microsoft.com/office/drawing/2010/main" val="0"/>
              </a:ext>
            </a:extLst>
          </a:blip>
          <a:srcRect/>
          <a:stretch>
            <a:fillRect/>
          </a:stretch>
        </p:blipFill>
        <p:spPr bwMode="auto">
          <a:xfrm>
            <a:off x="0" y="2286000"/>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 name="Picture 16" descr="new_logo_final"/>
          <p:cNvPicPr>
            <a:picLocks noChangeAspect="1" noChangeArrowheads="1"/>
          </p:cNvPicPr>
          <p:nvPr/>
        </p:nvPicPr>
        <p:blipFill>
          <a:blip r:embed="rId3" cstate="print">
            <a:lum bright="70000" contrast="-70000"/>
            <a:extLst>
              <a:ext uri="{28A0092B-C50C-407E-A947-70E740481C1C}">
                <a14:useLocalDpi xmlns:a14="http://schemas.microsoft.com/office/drawing/2010/main" val="0"/>
              </a:ext>
            </a:extLst>
          </a:blip>
          <a:srcRect/>
          <a:stretch>
            <a:fillRect/>
          </a:stretch>
        </p:blipFill>
        <p:spPr bwMode="auto">
          <a:xfrm>
            <a:off x="0" y="0"/>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Rectangle 11"/>
          <p:cNvSpPr>
            <a:spLocks noChangeArrowheads="1"/>
          </p:cNvSpPr>
          <p:nvPr/>
        </p:nvSpPr>
        <p:spPr bwMode="auto">
          <a:xfrm>
            <a:off x="609600" y="2971800"/>
            <a:ext cx="10871200" cy="152400"/>
          </a:xfrm>
          <a:prstGeom prst="rect">
            <a:avLst/>
          </a:prstGeom>
          <a:gradFill rotWithShape="1">
            <a:gsLst>
              <a:gs pos="0">
                <a:srgbClr val="287F3D"/>
              </a:gs>
              <a:gs pos="100000">
                <a:schemeClr val="bg1"/>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sz="1350">
              <a:solidFill>
                <a:srgbClr val="000000"/>
              </a:solidFill>
            </a:endParaRPr>
          </a:p>
        </p:txBody>
      </p:sp>
      <p:sp>
        <p:nvSpPr>
          <p:cNvPr id="33794" name="Rectangle 2"/>
          <p:cNvSpPr>
            <a:spLocks noGrp="1" noChangeArrowheads="1"/>
          </p:cNvSpPr>
          <p:nvPr>
            <p:ph type="ctrTitle"/>
          </p:nvPr>
        </p:nvSpPr>
        <p:spPr>
          <a:xfrm>
            <a:off x="914400" y="1057275"/>
            <a:ext cx="10363200" cy="1828800"/>
          </a:xfrm>
        </p:spPr>
        <p:txBody>
          <a:bodyPr anchor="ctr"/>
          <a:lstStyle>
            <a:lvl1pPr algn="ctr">
              <a:defRPr sz="4400"/>
            </a:lvl1pPr>
          </a:lstStyle>
          <a:p>
            <a:r>
              <a:rPr lang="ko-KR" altLang="en-US"/>
              <a:t>마스터 제목 스타일 편집</a:t>
            </a:r>
            <a:endParaRPr lang="en-US" altLang="zh-CN"/>
          </a:p>
        </p:txBody>
      </p:sp>
      <p:sp>
        <p:nvSpPr>
          <p:cNvPr id="33795" name="Rectangle 3"/>
          <p:cNvSpPr>
            <a:spLocks noGrp="1" noChangeArrowheads="1"/>
          </p:cNvSpPr>
          <p:nvPr>
            <p:ph type="subTitle" idx="1"/>
          </p:nvPr>
        </p:nvSpPr>
        <p:spPr>
          <a:xfrm>
            <a:off x="1828800" y="3657600"/>
            <a:ext cx="8534400" cy="1981200"/>
          </a:xfrm>
        </p:spPr>
        <p:txBody>
          <a:bodyPr/>
          <a:lstStyle>
            <a:lvl1pPr marL="0" indent="0" algn="ctr">
              <a:buFont typeface="Times New Roman" pitchFamily="18" charset="0"/>
              <a:buNone/>
              <a:defRPr sz="2800"/>
            </a:lvl1pPr>
          </a:lstStyle>
          <a:p>
            <a:r>
              <a:rPr lang="ko-KR" altLang="en-US"/>
              <a:t>클릭하여 마스터 부제목 스타일 편집</a:t>
            </a:r>
            <a:endParaRPr lang="en-US" altLang="zh-CN"/>
          </a:p>
        </p:txBody>
      </p:sp>
      <p:sp>
        <p:nvSpPr>
          <p:cNvPr id="2" name="Oval 1">
            <a:extLst>
              <a:ext uri="{FF2B5EF4-FFF2-40B4-BE49-F238E27FC236}">
                <a16:creationId xmlns:a16="http://schemas.microsoft.com/office/drawing/2014/main" id="{1185D946-0A64-0C7F-AA63-488808319B35}"/>
              </a:ext>
            </a:extLst>
          </p:cNvPr>
          <p:cNvSpPr/>
          <p:nvPr/>
        </p:nvSpPr>
        <p:spPr>
          <a:xfrm>
            <a:off x="11381117" y="6288658"/>
            <a:ext cx="684363" cy="483079"/>
          </a:xfrm>
          <a:prstGeom prst="ellipse">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800"/>
          </a:p>
        </p:txBody>
      </p:sp>
    </p:spTree>
    <p:extLst>
      <p:ext uri="{BB962C8B-B14F-4D97-AF65-F5344CB8AC3E}">
        <p14:creationId xmlns:p14="http://schemas.microsoft.com/office/powerpoint/2010/main" val="4203716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_1">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277600" cy="762000"/>
          </a:xfrm>
        </p:spPr>
        <p:txBody>
          <a:bodyPr anchor="ctr"/>
          <a:lstStyle>
            <a:lvl1pPr>
              <a:defRPr sz="3200"/>
            </a:lvl1pPr>
          </a:lstStyle>
          <a:p>
            <a:r>
              <a:rPr lang="ko-KR" altLang="en-US"/>
              <a:t>마스터 제목 스타일 편집</a:t>
            </a:r>
            <a:endParaRPr lang="en-US"/>
          </a:p>
        </p:txBody>
      </p:sp>
      <p:sp>
        <p:nvSpPr>
          <p:cNvPr id="4" name="Content Placeholder 2">
            <a:extLst>
              <a:ext uri="{FF2B5EF4-FFF2-40B4-BE49-F238E27FC236}">
                <a16:creationId xmlns:a16="http://schemas.microsoft.com/office/drawing/2014/main" id="{38C6936E-D099-1BE8-8BB3-AAFCF768FD35}"/>
              </a:ext>
            </a:extLst>
          </p:cNvPr>
          <p:cNvSpPr>
            <a:spLocks noGrp="1"/>
          </p:cNvSpPr>
          <p:nvPr>
            <p:ph idx="10"/>
          </p:nvPr>
        </p:nvSpPr>
        <p:spPr>
          <a:xfrm>
            <a:off x="304800" y="1038225"/>
            <a:ext cx="11277600" cy="5438775"/>
          </a:xfrm>
        </p:spPr>
        <p:txBody>
          <a:bodyPr/>
          <a:lstStyle>
            <a:lvl1pPr marL="432000" indent="-432000">
              <a:spcBef>
                <a:spcPts val="0"/>
              </a:spcBef>
              <a:spcAft>
                <a:spcPts val="600"/>
              </a:spcAft>
              <a:buClrTx/>
              <a:buSzPct val="100000"/>
              <a:buFont typeface="Wingdings" panose="05000000000000000000" pitchFamily="2" charset="2"/>
              <a:buChar char="v"/>
              <a:defRPr sz="2400"/>
            </a:lvl1pPr>
            <a:lvl2pPr marL="720000" indent="-252000">
              <a:spcBef>
                <a:spcPts val="0"/>
              </a:spcBef>
              <a:spcAft>
                <a:spcPts val="600"/>
              </a:spcAft>
              <a:buClrTx/>
              <a:buSzPct val="100000"/>
              <a:buFont typeface="Wingdings" panose="05000000000000000000" pitchFamily="2" charset="2"/>
              <a:buChar char="§"/>
              <a:defRPr lang="ko-KR" altLang="en-US" sz="20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마스터 텍스트 스타일을 편집하려면 클릭</a:t>
            </a:r>
          </a:p>
          <a:p>
            <a:pPr lvl="1"/>
            <a:r>
              <a:rPr lang="ko-KR" altLang="en-US"/>
              <a:t>두 번째 수준</a:t>
            </a:r>
            <a:endParaRPr lang="en-US" altLang="ko-KR"/>
          </a:p>
          <a:p>
            <a:pPr lvl="2"/>
            <a:r>
              <a:rPr lang="ko-KR" altLang="en-US"/>
              <a:t>세 번째 수준</a:t>
            </a:r>
          </a:p>
        </p:txBody>
      </p:sp>
    </p:spTree>
    <p:extLst>
      <p:ext uri="{BB962C8B-B14F-4D97-AF65-F5344CB8AC3E}">
        <p14:creationId xmlns:p14="http://schemas.microsoft.com/office/powerpoint/2010/main" val="112201020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2">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277600" cy="762000"/>
          </a:xfrm>
        </p:spPr>
        <p:txBody>
          <a:bodyPr anchor="ctr"/>
          <a:lstStyle>
            <a:lvl1pPr>
              <a:defRPr sz="3200"/>
            </a:lvl1pPr>
          </a:lstStyle>
          <a:p>
            <a:r>
              <a:rPr lang="ko-KR" altLang="en-US"/>
              <a:t>마스터 제목 스타일 편집</a:t>
            </a:r>
            <a:endParaRPr lang="en-US"/>
          </a:p>
        </p:txBody>
      </p:sp>
      <p:sp>
        <p:nvSpPr>
          <p:cNvPr id="6" name="Content Placeholder 2">
            <a:extLst>
              <a:ext uri="{FF2B5EF4-FFF2-40B4-BE49-F238E27FC236}">
                <a16:creationId xmlns:a16="http://schemas.microsoft.com/office/drawing/2014/main" id="{AAA6B0B8-599D-92DF-18BE-0154789C5094}"/>
              </a:ext>
            </a:extLst>
          </p:cNvPr>
          <p:cNvSpPr>
            <a:spLocks noGrp="1"/>
          </p:cNvSpPr>
          <p:nvPr>
            <p:ph idx="1"/>
          </p:nvPr>
        </p:nvSpPr>
        <p:spPr>
          <a:xfrm>
            <a:off x="304800" y="5279366"/>
            <a:ext cx="11277600" cy="1197634"/>
          </a:xfrm>
        </p:spPr>
        <p:txBody>
          <a:bodyPr/>
          <a:lstStyle>
            <a:lvl1pPr marL="432000" indent="-432000">
              <a:spcBef>
                <a:spcPts val="0"/>
              </a:spcBef>
              <a:spcAft>
                <a:spcPts val="600"/>
              </a:spcAft>
              <a:buClrTx/>
              <a:buSzPct val="100000"/>
              <a:buFont typeface="Wingdings" panose="05000000000000000000" pitchFamily="2" charset="2"/>
              <a:buChar char="v"/>
              <a:defRPr sz="2400"/>
            </a:lvl1pPr>
            <a:lvl2pPr marL="720000" indent="-252000">
              <a:spcBef>
                <a:spcPts val="0"/>
              </a:spcBef>
              <a:spcAft>
                <a:spcPts val="600"/>
              </a:spcAft>
              <a:buClrTx/>
              <a:buSzPct val="100000"/>
              <a:buFont typeface="Wingdings" panose="05000000000000000000" pitchFamily="2" charset="2"/>
              <a:buChar char="§"/>
              <a:defRPr lang="ko-KR" altLang="en-US" sz="20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마스터 텍스트 스타일을 편집하려면 클릭</a:t>
            </a:r>
          </a:p>
          <a:p>
            <a:pPr lvl="1"/>
            <a:r>
              <a:rPr lang="ko-KR" altLang="en-US"/>
              <a:t>두 번째 수준</a:t>
            </a:r>
            <a:endParaRPr lang="en-US" altLang="ko-KR"/>
          </a:p>
          <a:p>
            <a:pPr lvl="2"/>
            <a:r>
              <a:rPr lang="ko-KR" altLang="en-US"/>
              <a:t>세 번째 수준</a:t>
            </a:r>
          </a:p>
        </p:txBody>
      </p:sp>
    </p:spTree>
    <p:extLst>
      <p:ext uri="{BB962C8B-B14F-4D97-AF65-F5344CB8AC3E}">
        <p14:creationId xmlns:p14="http://schemas.microsoft.com/office/powerpoint/2010/main" val="30497197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1_content_2">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277600" cy="762000"/>
          </a:xfrm>
        </p:spPr>
        <p:txBody>
          <a:bodyPr anchor="ctr"/>
          <a:lstStyle>
            <a:lvl1pPr>
              <a:defRPr sz="3200"/>
            </a:lvl1pPr>
          </a:lstStyle>
          <a:p>
            <a:r>
              <a:rPr lang="ko-KR" altLang="en-US"/>
              <a:t>마스터 제목 스타일 편집</a:t>
            </a:r>
            <a:endParaRPr lang="en-US"/>
          </a:p>
        </p:txBody>
      </p:sp>
      <p:sp>
        <p:nvSpPr>
          <p:cNvPr id="6" name="Content Placeholder 2">
            <a:extLst>
              <a:ext uri="{FF2B5EF4-FFF2-40B4-BE49-F238E27FC236}">
                <a16:creationId xmlns:a16="http://schemas.microsoft.com/office/drawing/2014/main" id="{AAA6B0B8-599D-92DF-18BE-0154789C5094}"/>
              </a:ext>
            </a:extLst>
          </p:cNvPr>
          <p:cNvSpPr>
            <a:spLocks noGrp="1"/>
          </p:cNvSpPr>
          <p:nvPr>
            <p:ph idx="1" hasCustomPrompt="1"/>
          </p:nvPr>
        </p:nvSpPr>
        <p:spPr>
          <a:xfrm>
            <a:off x="304800" y="5279366"/>
            <a:ext cx="11277600" cy="1197634"/>
          </a:xfrm>
        </p:spPr>
        <p:txBody>
          <a:bodyPr/>
          <a:lstStyle>
            <a:lvl1pPr marL="432000" indent="-432000">
              <a:spcBef>
                <a:spcPts val="0"/>
              </a:spcBef>
              <a:spcAft>
                <a:spcPts val="600"/>
              </a:spcAft>
              <a:buClrTx/>
              <a:buSzPct val="100000"/>
              <a:buFont typeface="Wingdings" panose="05000000000000000000" pitchFamily="2" charset="2"/>
              <a:buChar char="§"/>
              <a:defRPr sz="2000"/>
            </a:lvl1pPr>
            <a:lvl2pPr marL="720000" indent="-252000">
              <a:spcBef>
                <a:spcPts val="0"/>
              </a:spcBef>
              <a:spcAft>
                <a:spcPts val="600"/>
              </a:spcAft>
              <a:buClrTx/>
              <a:buSzPct val="100000"/>
              <a:buFont typeface="Arial" panose="020B0604020202020204" pitchFamily="34" charset="0"/>
              <a:buChar char="•"/>
              <a:defRPr lang="ko-KR" altLang="en-US" sz="18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두 번째 수준</a:t>
            </a:r>
            <a:endParaRPr lang="en-US" altLang="ko-KR"/>
          </a:p>
          <a:p>
            <a:pPr lvl="1"/>
            <a:r>
              <a:rPr lang="ko-KR" altLang="en-US"/>
              <a:t>세 번째 수준</a:t>
            </a:r>
          </a:p>
        </p:txBody>
      </p:sp>
      <p:sp>
        <p:nvSpPr>
          <p:cNvPr id="3" name="Content Placeholder 2">
            <a:extLst>
              <a:ext uri="{FF2B5EF4-FFF2-40B4-BE49-F238E27FC236}">
                <a16:creationId xmlns:a16="http://schemas.microsoft.com/office/drawing/2014/main" id="{7287424F-3297-D95B-C851-77D5FA265A69}"/>
              </a:ext>
            </a:extLst>
          </p:cNvPr>
          <p:cNvSpPr>
            <a:spLocks noGrp="1"/>
          </p:cNvSpPr>
          <p:nvPr>
            <p:ph idx="10"/>
          </p:nvPr>
        </p:nvSpPr>
        <p:spPr>
          <a:xfrm>
            <a:off x="304800" y="964541"/>
            <a:ext cx="11277600" cy="445159"/>
          </a:xfrm>
        </p:spPr>
        <p:txBody>
          <a:bodyPr/>
          <a:lstStyle>
            <a:lvl1pPr marL="432000" indent="-432000">
              <a:spcBef>
                <a:spcPts val="0"/>
              </a:spcBef>
              <a:spcAft>
                <a:spcPts val="600"/>
              </a:spcAft>
              <a:buClrTx/>
              <a:buSzPct val="100000"/>
              <a:buFont typeface="Wingdings" panose="05000000000000000000" pitchFamily="2" charset="2"/>
              <a:buChar char="v"/>
              <a:defRPr sz="2400"/>
            </a:lvl1pPr>
            <a:lvl2pPr marL="720000" indent="-252000">
              <a:spcBef>
                <a:spcPts val="0"/>
              </a:spcBef>
              <a:spcAft>
                <a:spcPts val="600"/>
              </a:spcAft>
              <a:buClrTx/>
              <a:buSzPct val="100000"/>
              <a:buFont typeface="Wingdings" panose="05000000000000000000" pitchFamily="2" charset="2"/>
              <a:buChar char="§"/>
              <a:defRPr lang="ko-KR" altLang="en-US" sz="20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마스터 텍스트 스타일을 편집하려면 클릭</a:t>
            </a:r>
          </a:p>
        </p:txBody>
      </p:sp>
    </p:spTree>
    <p:extLst>
      <p:ext uri="{BB962C8B-B14F-4D97-AF65-F5344CB8AC3E}">
        <p14:creationId xmlns:p14="http://schemas.microsoft.com/office/powerpoint/2010/main" val="12702699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content_4">
    <p:spTree>
      <p:nvGrpSpPr>
        <p:cNvPr id="1" name=""/>
        <p:cNvGrpSpPr/>
        <p:nvPr/>
      </p:nvGrpSpPr>
      <p:grpSpPr>
        <a:xfrm>
          <a:off x="0" y="0"/>
          <a:ext cx="0" cy="0"/>
          <a:chOff x="0" y="0"/>
          <a:chExt cx="0" cy="0"/>
        </a:xfrm>
      </p:grpSpPr>
      <p:sp>
        <p:nvSpPr>
          <p:cNvPr id="2" name="Title 1"/>
          <p:cNvSpPr>
            <a:spLocks noGrp="1"/>
          </p:cNvSpPr>
          <p:nvPr>
            <p:ph type="title"/>
          </p:nvPr>
        </p:nvSpPr>
        <p:spPr>
          <a:xfrm>
            <a:off x="310551" y="0"/>
            <a:ext cx="11024559" cy="762000"/>
          </a:xfrm>
        </p:spPr>
        <p:txBody>
          <a:bodyPr/>
          <a:lstStyle>
            <a:lvl1pPr>
              <a:defRPr sz="3200"/>
            </a:lvl1pPr>
          </a:lstStyle>
          <a:p>
            <a:r>
              <a:rPr lang="ko-KR" altLang="en-US"/>
              <a:t>마스터 제목 스타일 편집</a:t>
            </a:r>
            <a:endParaRPr lang="en-US"/>
          </a:p>
        </p:txBody>
      </p:sp>
    </p:spTree>
    <p:extLst>
      <p:ext uri="{BB962C8B-B14F-4D97-AF65-F5344CB8AC3E}">
        <p14:creationId xmlns:p14="http://schemas.microsoft.com/office/powerpoint/2010/main" val="32275966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1_content_4">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A3150C2-20D0-A45F-5462-61690D256719}"/>
              </a:ext>
            </a:extLst>
          </p:cNvPr>
          <p:cNvSpPr>
            <a:spLocks noGrp="1"/>
          </p:cNvSpPr>
          <p:nvPr>
            <p:ph sz="quarter" idx="10"/>
          </p:nvPr>
        </p:nvSpPr>
        <p:spPr>
          <a:xfrm>
            <a:off x="3551239" y="4124506"/>
            <a:ext cx="5089525" cy="507881"/>
          </a:xfrm>
        </p:spPr>
        <p:txBody>
          <a:bodyPr/>
          <a:lstStyle>
            <a:lvl1pPr marL="0" indent="0" algn="ctr">
              <a:buNone/>
              <a:defRPr sz="2100"/>
            </a:lvl1pPr>
          </a:lstStyle>
          <a:p>
            <a:pPr lvl="0"/>
            <a:r>
              <a:rPr lang="ko-KR" altLang="en-US"/>
              <a:t>마스터 텍스트 스타일을 편집하려면 클릭</a:t>
            </a:r>
          </a:p>
        </p:txBody>
      </p:sp>
      <p:sp>
        <p:nvSpPr>
          <p:cNvPr id="6" name="TextBox 5">
            <a:extLst>
              <a:ext uri="{FF2B5EF4-FFF2-40B4-BE49-F238E27FC236}">
                <a16:creationId xmlns:a16="http://schemas.microsoft.com/office/drawing/2014/main" id="{D28ADDEF-87C0-B90A-6505-6A3A384B7EE8}"/>
              </a:ext>
            </a:extLst>
          </p:cNvPr>
          <p:cNvSpPr txBox="1"/>
          <p:nvPr/>
        </p:nvSpPr>
        <p:spPr>
          <a:xfrm>
            <a:off x="3623209" y="2313750"/>
            <a:ext cx="4945585" cy="1419619"/>
          </a:xfrm>
          <a:prstGeom prst="rect">
            <a:avLst/>
          </a:prstGeom>
          <a:noFill/>
        </p:spPr>
        <p:txBody>
          <a:bodyPr wrap="none" rtlCol="0" anchor="ctr">
            <a:spAutoFit/>
          </a:bodyPr>
          <a:lstStyle/>
          <a:p>
            <a:pPr algn="ctr"/>
            <a:r>
              <a:rPr lang="en-US" altLang="zh-CN" sz="8625"/>
              <a:t>Thank you</a:t>
            </a:r>
            <a:endParaRPr lang="ko-KR" altLang="en-US" sz="8625"/>
          </a:p>
        </p:txBody>
      </p:sp>
    </p:spTree>
    <p:extLst>
      <p:ext uri="{BB962C8B-B14F-4D97-AF65-F5344CB8AC3E}">
        <p14:creationId xmlns:p14="http://schemas.microsoft.com/office/powerpoint/2010/main" val="194193463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304800" y="0"/>
            <a:ext cx="112776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ko-KR" altLang="en-US"/>
              <a:t>마스터 제목 스타일 편집</a:t>
            </a:r>
            <a:endParaRPr lang="en-US" altLang="zh-CN"/>
          </a:p>
        </p:txBody>
      </p:sp>
      <p:sp>
        <p:nvSpPr>
          <p:cNvPr id="1027" name="Rectangle 3"/>
          <p:cNvSpPr>
            <a:spLocks noGrp="1" noChangeArrowheads="1"/>
          </p:cNvSpPr>
          <p:nvPr>
            <p:ph type="body" idx="1"/>
          </p:nvPr>
        </p:nvSpPr>
        <p:spPr bwMode="auto">
          <a:xfrm>
            <a:off x="304800" y="914400"/>
            <a:ext cx="11277600" cy="5562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zh-CN"/>
              <a:t>Click to edit Master text styles</a:t>
            </a:r>
          </a:p>
          <a:p>
            <a:pPr lvl="1"/>
            <a:r>
              <a:rPr lang="en-US" altLang="zh-CN"/>
              <a:t>Second level</a:t>
            </a:r>
          </a:p>
          <a:p>
            <a:pPr lvl="2"/>
            <a:r>
              <a:rPr lang="en-US" altLang="zh-CN"/>
              <a:t>Third level</a:t>
            </a:r>
          </a:p>
        </p:txBody>
      </p:sp>
      <p:sp>
        <p:nvSpPr>
          <p:cNvPr id="32773" name="Rectangle 5"/>
          <p:cNvSpPr>
            <a:spLocks noGrp="1" noChangeArrowheads="1"/>
          </p:cNvSpPr>
          <p:nvPr>
            <p:ph type="ftr" sz="quarter" idx="3"/>
          </p:nvPr>
        </p:nvSpPr>
        <p:spPr bwMode="auto">
          <a:xfrm>
            <a:off x="4165600" y="6248400"/>
            <a:ext cx="3860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a:defRPr sz="750">
                <a:latin typeface="Verdana" pitchFamily="34" charset="0"/>
                <a:ea typeface="宋体" pitchFamily="2" charset="-122"/>
              </a:defRPr>
            </a:lvl1pPr>
          </a:lstStyle>
          <a:p>
            <a:endParaRPr lang="ko-KR" altLang="en-US"/>
          </a:p>
        </p:txBody>
      </p:sp>
      <p:sp>
        <p:nvSpPr>
          <p:cNvPr id="1030" name="Rectangle 12"/>
          <p:cNvSpPr>
            <a:spLocks noChangeArrowheads="1"/>
          </p:cNvSpPr>
          <p:nvPr/>
        </p:nvSpPr>
        <p:spPr bwMode="auto">
          <a:xfrm>
            <a:off x="304800" y="762000"/>
            <a:ext cx="10058400" cy="152400"/>
          </a:xfrm>
          <a:prstGeom prst="rect">
            <a:avLst/>
          </a:prstGeom>
          <a:gradFill rotWithShape="0">
            <a:gsLst>
              <a:gs pos="0">
                <a:srgbClr val="297F3D">
                  <a:alpha val="99001"/>
                </a:srgbClr>
              </a:gs>
              <a:gs pos="100000">
                <a:srgbClr val="FFFFFF"/>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sz="1350">
              <a:solidFill>
                <a:srgbClr val="000000"/>
              </a:solidFill>
            </a:endParaRPr>
          </a:p>
        </p:txBody>
      </p:sp>
      <p:sp>
        <p:nvSpPr>
          <p:cNvPr id="3" name="TextBox 2">
            <a:extLst>
              <a:ext uri="{FF2B5EF4-FFF2-40B4-BE49-F238E27FC236}">
                <a16:creationId xmlns:a16="http://schemas.microsoft.com/office/drawing/2014/main" id="{047E8E0A-D232-4C57-7AD9-EBC41A1AA7E2}"/>
              </a:ext>
            </a:extLst>
          </p:cNvPr>
          <p:cNvSpPr txBox="1"/>
          <p:nvPr/>
        </p:nvSpPr>
        <p:spPr>
          <a:xfrm>
            <a:off x="11582400" y="6373649"/>
            <a:ext cx="386644" cy="300082"/>
          </a:xfrm>
          <a:prstGeom prst="rect">
            <a:avLst/>
          </a:prstGeom>
          <a:noFill/>
        </p:spPr>
        <p:txBody>
          <a:bodyPr wrap="none" rtlCol="0">
            <a:spAutoFit/>
          </a:bodyPr>
          <a:lstStyle/>
          <a:p>
            <a:fld id="{B6F15528-21DE-4FAA-801E-634DDDAF4B2B}" type="slidenum">
              <a:rPr lang="en-US" altLang="ko-KR" sz="1350" smtClean="0">
                <a:solidFill>
                  <a:srgbClr val="000000"/>
                </a:solidFill>
              </a:rPr>
              <a:pPr/>
              <a:t>‹#›</a:t>
            </a:fld>
            <a:endParaRPr lang="ko-KR" altLang="en-US" sz="1350"/>
          </a:p>
        </p:txBody>
      </p:sp>
    </p:spTree>
    <p:extLst>
      <p:ext uri="{BB962C8B-B14F-4D97-AF65-F5344CB8AC3E}">
        <p14:creationId xmlns:p14="http://schemas.microsoft.com/office/powerpoint/2010/main" val="63149617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Lst>
  <p:txStyles>
    <p:titleStyle>
      <a:lvl1pPr algn="l" rtl="0" eaLnBrk="1" fontAlgn="base" latinLnBrk="1" hangingPunct="1">
        <a:spcBef>
          <a:spcPct val="0"/>
        </a:spcBef>
        <a:spcAft>
          <a:spcPct val="0"/>
        </a:spcAft>
        <a:defRPr sz="2800">
          <a:solidFill>
            <a:schemeClr val="tx1"/>
          </a:solidFill>
          <a:latin typeface="+mj-lt"/>
          <a:ea typeface="+mj-ea"/>
          <a:cs typeface="+mj-cs"/>
        </a:defRPr>
      </a:lvl1pPr>
      <a:lvl2pPr algn="l" rtl="0" eaLnBrk="1" fontAlgn="base" latinLnBrk="1" hangingPunct="1">
        <a:spcBef>
          <a:spcPct val="0"/>
        </a:spcBef>
        <a:spcAft>
          <a:spcPct val="0"/>
        </a:spcAft>
        <a:defRPr sz="2400">
          <a:solidFill>
            <a:schemeClr val="tx1"/>
          </a:solidFill>
          <a:latin typeface="Times New Roman" pitchFamily="18" charset="0"/>
          <a:cs typeface="Arial" charset="0"/>
        </a:defRPr>
      </a:lvl2pPr>
      <a:lvl3pPr algn="l" rtl="0" eaLnBrk="1" fontAlgn="base" latinLnBrk="1" hangingPunct="1">
        <a:spcBef>
          <a:spcPct val="0"/>
        </a:spcBef>
        <a:spcAft>
          <a:spcPct val="0"/>
        </a:spcAft>
        <a:defRPr sz="2400">
          <a:solidFill>
            <a:schemeClr val="tx1"/>
          </a:solidFill>
          <a:latin typeface="Times New Roman" pitchFamily="18" charset="0"/>
          <a:cs typeface="Arial" charset="0"/>
        </a:defRPr>
      </a:lvl3pPr>
      <a:lvl4pPr algn="l" rtl="0" eaLnBrk="1" fontAlgn="base" latinLnBrk="1" hangingPunct="1">
        <a:spcBef>
          <a:spcPct val="0"/>
        </a:spcBef>
        <a:spcAft>
          <a:spcPct val="0"/>
        </a:spcAft>
        <a:defRPr sz="2400">
          <a:solidFill>
            <a:schemeClr val="tx1"/>
          </a:solidFill>
          <a:latin typeface="Times New Roman" pitchFamily="18" charset="0"/>
          <a:cs typeface="Arial" charset="0"/>
        </a:defRPr>
      </a:lvl4pPr>
      <a:lvl5pPr algn="l" rtl="0" eaLnBrk="1" fontAlgn="base" latinLnBrk="1" hangingPunct="1">
        <a:spcBef>
          <a:spcPct val="0"/>
        </a:spcBef>
        <a:spcAft>
          <a:spcPct val="0"/>
        </a:spcAft>
        <a:defRPr sz="2400">
          <a:solidFill>
            <a:schemeClr val="tx1"/>
          </a:solidFill>
          <a:latin typeface="Times New Roman" pitchFamily="18" charset="0"/>
          <a:cs typeface="Arial" charset="0"/>
        </a:defRPr>
      </a:lvl5pPr>
      <a:lvl6pPr marL="342900" algn="l" rtl="0" eaLnBrk="1" fontAlgn="base" latinLnBrk="1" hangingPunct="1">
        <a:spcBef>
          <a:spcPct val="0"/>
        </a:spcBef>
        <a:spcAft>
          <a:spcPct val="0"/>
        </a:spcAft>
        <a:defRPr sz="2400">
          <a:solidFill>
            <a:schemeClr val="tx1"/>
          </a:solidFill>
          <a:latin typeface="Times New Roman" pitchFamily="18" charset="0"/>
          <a:cs typeface="Arial" charset="0"/>
        </a:defRPr>
      </a:lvl6pPr>
      <a:lvl7pPr marL="685800" algn="l" rtl="0" eaLnBrk="1" fontAlgn="base" latinLnBrk="1" hangingPunct="1">
        <a:spcBef>
          <a:spcPct val="0"/>
        </a:spcBef>
        <a:spcAft>
          <a:spcPct val="0"/>
        </a:spcAft>
        <a:defRPr sz="2400">
          <a:solidFill>
            <a:schemeClr val="tx1"/>
          </a:solidFill>
          <a:latin typeface="Times New Roman" pitchFamily="18" charset="0"/>
          <a:cs typeface="Arial" charset="0"/>
        </a:defRPr>
      </a:lvl7pPr>
      <a:lvl8pPr marL="1028700" algn="l" rtl="0" eaLnBrk="1" fontAlgn="base" latinLnBrk="1" hangingPunct="1">
        <a:spcBef>
          <a:spcPct val="0"/>
        </a:spcBef>
        <a:spcAft>
          <a:spcPct val="0"/>
        </a:spcAft>
        <a:defRPr sz="2400">
          <a:solidFill>
            <a:schemeClr val="tx1"/>
          </a:solidFill>
          <a:latin typeface="Times New Roman" pitchFamily="18" charset="0"/>
          <a:cs typeface="Arial" charset="0"/>
        </a:defRPr>
      </a:lvl8pPr>
      <a:lvl9pPr marL="1371600" algn="l" rtl="0" eaLnBrk="1" fontAlgn="base" latinLnBrk="1" hangingPunct="1">
        <a:spcBef>
          <a:spcPct val="0"/>
        </a:spcBef>
        <a:spcAft>
          <a:spcPct val="0"/>
        </a:spcAft>
        <a:defRPr sz="2400">
          <a:solidFill>
            <a:schemeClr val="tx1"/>
          </a:solidFill>
          <a:latin typeface="Times New Roman" pitchFamily="18" charset="0"/>
          <a:cs typeface="Arial" charset="0"/>
        </a:defRPr>
      </a:lvl9pPr>
    </p:titleStyle>
    <p:bodyStyle>
      <a:lvl1pPr marL="257175" indent="-257175" algn="l" rtl="0" eaLnBrk="1" fontAlgn="base" latinLnBrk="1" hangingPunct="1">
        <a:spcBef>
          <a:spcPts val="0"/>
        </a:spcBef>
        <a:spcAft>
          <a:spcPts val="450"/>
        </a:spcAft>
        <a:buClr>
          <a:schemeClr val="tx1"/>
        </a:buClr>
        <a:buSzPct val="75000"/>
        <a:buFont typeface="Times New Roman" pitchFamily="18" charset="0"/>
        <a:buChar char="●"/>
        <a:defRPr sz="1800">
          <a:solidFill>
            <a:schemeClr val="tx1"/>
          </a:solidFill>
          <a:latin typeface="+mn-lt"/>
          <a:ea typeface="+mn-ea"/>
          <a:cs typeface="+mn-cs"/>
        </a:defRPr>
      </a:lvl1pPr>
      <a:lvl2pPr marL="480060" indent="-205740" algn="l" rtl="0" eaLnBrk="1" fontAlgn="base" latinLnBrk="1" hangingPunct="1">
        <a:spcBef>
          <a:spcPts val="0"/>
        </a:spcBef>
        <a:spcAft>
          <a:spcPts val="450"/>
        </a:spcAft>
        <a:buClrTx/>
        <a:buSzPct val="75000"/>
        <a:buFont typeface="Arial" charset="0"/>
        <a:buChar char="–"/>
        <a:defRPr lang="en-US" altLang="zh-CN" sz="1650" dirty="0" smtClean="0">
          <a:solidFill>
            <a:schemeClr val="tx1"/>
          </a:solidFill>
          <a:latin typeface="+mn-lt"/>
          <a:cs typeface="+mn-cs"/>
        </a:defRPr>
      </a:lvl2pPr>
      <a:lvl3pPr marL="754380" indent="-205740" algn="l" rtl="0" eaLnBrk="1" fontAlgn="base" latinLnBrk="1" hangingPunct="1">
        <a:spcBef>
          <a:spcPts val="0"/>
        </a:spcBef>
        <a:spcAft>
          <a:spcPts val="450"/>
        </a:spcAft>
        <a:buClrTx/>
        <a:buSzPct val="65000"/>
        <a:buFont typeface="Wingdings" pitchFamily="2" charset="2"/>
        <a:buChar char="§"/>
        <a:defRPr lang="en-US" altLang="zh-CN" sz="1500" dirty="0">
          <a:solidFill>
            <a:schemeClr val="tx1"/>
          </a:solidFill>
          <a:latin typeface="+mn-lt"/>
          <a:cs typeface="+mn-cs"/>
        </a:defRPr>
      </a:lvl3pPr>
      <a:lvl4pPr marL="1200150" indent="-171450" algn="l" rtl="0" eaLnBrk="1" fontAlgn="base" latinLnBrk="1" hangingPunct="1">
        <a:spcBef>
          <a:spcPct val="20000"/>
        </a:spcBef>
        <a:spcAft>
          <a:spcPct val="0"/>
        </a:spcAft>
        <a:buClr>
          <a:schemeClr val="bg2"/>
        </a:buClr>
        <a:buFont typeface="Arial" panose="020B0604020202020204" pitchFamily="34" charset="0"/>
        <a:buChar char="•"/>
        <a:defRPr sz="1200">
          <a:solidFill>
            <a:schemeClr val="tx1"/>
          </a:solidFill>
          <a:latin typeface="+mn-lt"/>
          <a:cs typeface="+mn-cs"/>
        </a:defRPr>
      </a:lvl4pPr>
      <a:lvl5pPr marL="1543050" indent="-171450" algn="l" rtl="0" eaLnBrk="1" fontAlgn="base" latinLnBrk="1" hangingPunct="1">
        <a:spcBef>
          <a:spcPct val="20000"/>
        </a:spcBef>
        <a:spcAft>
          <a:spcPct val="0"/>
        </a:spcAft>
        <a:buClr>
          <a:schemeClr val="tx2"/>
        </a:buClr>
        <a:buSzPct val="80000"/>
        <a:buFont typeface="Wingdings" pitchFamily="2" charset="2"/>
        <a:buChar char="§"/>
        <a:defRPr sz="1350">
          <a:solidFill>
            <a:schemeClr val="tx1"/>
          </a:solidFill>
          <a:latin typeface="+mn-lt"/>
          <a:cs typeface="+mn-cs"/>
        </a:defRPr>
      </a:lvl5pPr>
      <a:lvl6pPr marL="18859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6pPr>
      <a:lvl7pPr marL="22288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7pPr>
      <a:lvl8pPr marL="25717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8pPr>
      <a:lvl9pPr marL="29146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9pPr>
    </p:bodyStyle>
    <p:otherStyle>
      <a:defPPr>
        <a:defRPr lang="en-US"/>
      </a:defPPr>
      <a:lvl1pPr marL="0" algn="l" defTabSz="685800" rtl="0" eaLnBrk="1" latinLnBrk="1" hangingPunct="1">
        <a:defRPr sz="1350" kern="1200">
          <a:solidFill>
            <a:schemeClr val="tx1"/>
          </a:solidFill>
          <a:latin typeface="+mn-lt"/>
          <a:ea typeface="+mn-ea"/>
          <a:cs typeface="+mn-cs"/>
        </a:defRPr>
      </a:lvl1pPr>
      <a:lvl2pPr marL="342900" algn="l" defTabSz="685800" rtl="0" eaLnBrk="1" latinLnBrk="1" hangingPunct="1">
        <a:defRPr sz="1350" kern="1200">
          <a:solidFill>
            <a:schemeClr val="tx1"/>
          </a:solidFill>
          <a:latin typeface="+mn-lt"/>
          <a:ea typeface="+mn-ea"/>
          <a:cs typeface="+mn-cs"/>
        </a:defRPr>
      </a:lvl2pPr>
      <a:lvl3pPr marL="685800" algn="l" defTabSz="685800" rtl="0" eaLnBrk="1" latinLnBrk="1" hangingPunct="1">
        <a:defRPr sz="1350" kern="1200">
          <a:solidFill>
            <a:schemeClr val="tx1"/>
          </a:solidFill>
          <a:latin typeface="+mn-lt"/>
          <a:ea typeface="+mn-ea"/>
          <a:cs typeface="+mn-cs"/>
        </a:defRPr>
      </a:lvl3pPr>
      <a:lvl4pPr marL="1028700" algn="l" defTabSz="685800" rtl="0" eaLnBrk="1" latinLnBrk="1" hangingPunct="1">
        <a:defRPr sz="1350" kern="1200">
          <a:solidFill>
            <a:schemeClr val="tx1"/>
          </a:solidFill>
          <a:latin typeface="+mn-lt"/>
          <a:ea typeface="+mn-ea"/>
          <a:cs typeface="+mn-cs"/>
        </a:defRPr>
      </a:lvl4pPr>
      <a:lvl5pPr marL="1371600" algn="l" defTabSz="685800" rtl="0" eaLnBrk="1" latinLnBrk="1" hangingPunct="1">
        <a:defRPr sz="1350" kern="1200">
          <a:solidFill>
            <a:schemeClr val="tx1"/>
          </a:solidFill>
          <a:latin typeface="+mn-lt"/>
          <a:ea typeface="+mn-ea"/>
          <a:cs typeface="+mn-cs"/>
        </a:defRPr>
      </a:lvl5pPr>
      <a:lvl6pPr marL="1714500" algn="l" defTabSz="685800" rtl="0" eaLnBrk="1" latinLnBrk="1" hangingPunct="1">
        <a:defRPr sz="1350" kern="1200">
          <a:solidFill>
            <a:schemeClr val="tx1"/>
          </a:solidFill>
          <a:latin typeface="+mn-lt"/>
          <a:ea typeface="+mn-ea"/>
          <a:cs typeface="+mn-cs"/>
        </a:defRPr>
      </a:lvl6pPr>
      <a:lvl7pPr marL="2057400" algn="l" defTabSz="685800" rtl="0" eaLnBrk="1" latinLnBrk="1" hangingPunct="1">
        <a:defRPr sz="1350" kern="1200">
          <a:solidFill>
            <a:schemeClr val="tx1"/>
          </a:solidFill>
          <a:latin typeface="+mn-lt"/>
          <a:ea typeface="+mn-ea"/>
          <a:cs typeface="+mn-cs"/>
        </a:defRPr>
      </a:lvl7pPr>
      <a:lvl8pPr marL="2400300" algn="l" defTabSz="685800" rtl="0" eaLnBrk="1" latinLnBrk="1" hangingPunct="1">
        <a:defRPr sz="1350" kern="1200">
          <a:solidFill>
            <a:schemeClr val="tx1"/>
          </a:solidFill>
          <a:latin typeface="+mn-lt"/>
          <a:ea typeface="+mn-ea"/>
          <a:cs typeface="+mn-cs"/>
        </a:defRPr>
      </a:lvl8pPr>
      <a:lvl9pPr marL="2743200" algn="l" defTabSz="685800" rtl="0" eaLnBrk="1" latinLnBrk="1"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6.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8.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9.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0.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2.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8.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6.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7.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8.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9.png"/><Relationship Id="rId3"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Reproducing the real gate from the IBIS file</a:t>
            </a:r>
          </a:p>
        </p:txBody>
      </p:sp>
      <p:sp>
        <p:nvSpPr>
          <p:cNvPr id="3" name="Content Placeholder 2"/>
          <p:cNvSpPr>
            <a:spLocks noGrp="1"/>
          </p:cNvSpPr>
          <p:nvPr>
            <p:ph idx="10"/>
          </p:nvPr>
        </p:nvSpPr>
        <p:spPr>
          <a:xfrm>
            <a:off x="411480" y="987552"/>
            <a:ext cx="11384280" cy="2862072"/>
          </a:xfrm>
        </p:spPr>
        <p:txBody>
          <a:bodyPr/>
          <a:lstStyle/>
          <a:p>
            <a:pPr latinLnBrk="0">
              <a:spcAft>
                <a:spcPts val="400"/>
              </a:spcAft>
            </a:pPr>
            <a:r>
              <a:rPr sz="1800"/>
              <a:t>Simon Huang    ·    24 September 2026</a:t>
            </a:r>
          </a:p>
          <a:p>
            <a:pPr latinLnBrk="0">
              <a:spcAft>
                <a:spcPts val="400"/>
              </a:spcAft>
            </a:pPr>
          </a:p>
          <a:p>
            <a:pPr latinLnBrk="0">
              <a:spcAft>
                <a:spcPts val="400"/>
              </a:spcAft>
            </a:pPr>
            <a:r>
              <a:rPr sz="1800"/>
              <a:t>The output stage is a static map of its own gate, so a stressed pad is right when the gate's shape is right — and the gate is the one thing an IBIS file does not record.</a:t>
            </a:r>
          </a:p>
          <a:p>
            <a:pPr latinLnBrk="0">
              <a:spcAft>
                <a:spcPts val="400"/>
              </a:spcAft>
            </a:pPr>
          </a:p>
          <a:p>
            <a:pPr latinLnBrk="0">
              <a:spcAft>
                <a:spcPts val="400"/>
              </a:spcAft>
            </a:pPr>
            <a:r>
              <a:rPr sz="1800" b="1"/>
              <a:t>1  measure the map      2  show it works      3  show why our gate fails</a:t>
            </a:r>
          </a:p>
          <a:p>
            <a:pPr latinLnBrk="0">
              <a:spcAft>
                <a:spcPts val="400"/>
              </a:spcAft>
            </a:pPr>
            <a:r>
              <a:rPr sz="1800" b="1">
                <a:solidFill>
                  <a:srgbClr val="2B7A43"/>
                </a:solidFill>
              </a:rPr>
              <a:t>4  the motivation      5  the method, step by step      6  where it stands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 We can look inside our own test chips</a:t>
            </a:r>
          </a:p>
        </p:txBody>
      </p:sp>
      <p:sp>
        <p:nvSpPr>
          <p:cNvPr id="3" name="Content Placeholder 2"/>
          <p:cNvSpPr>
            <a:spLocks noGrp="1"/>
          </p:cNvSpPr>
          <p:nvPr>
            <p:ph idx="10"/>
          </p:nvPr>
        </p:nvSpPr>
        <p:spPr>
          <a:xfrm>
            <a:off x="411480" y="987552"/>
            <a:ext cx="11384280" cy="1819656"/>
          </a:xfrm>
        </p:spPr>
        <p:txBody>
          <a:bodyPr/>
          <a:lstStyle/>
          <a:p>
            <a:pPr latinLnBrk="0">
              <a:spcAft>
                <a:spcPts val="400"/>
              </a:spcAft>
            </a:pPr>
            <a:r>
              <a:rPr sz="1800"/>
              <a:t>These are our designs, so the transistor netlist is available and every internal node can be probed. A customer using a vendor's IBIS file cannot do this — which is the whole problem, and the reason to do it once, carefully.</a:t>
            </a:r>
          </a:p>
          <a:p>
            <a:pPr latinLnBrk="0">
              <a:spcAft>
                <a:spcPts val="400"/>
              </a:spcAft>
            </a:pPr>
            <a:r>
              <a:rPr sz="1800" b="1">
                <a:solidFill>
                  <a:srgbClr val="2B7A43"/>
                </a:solidFill>
              </a:rPr>
              <a:t>The node that matters is the output stage's gate</a:t>
            </a:r>
            <a:r>
              <a:rPr sz="1800"/>
              <a:t> — ex2's n4 below. Everything the pad does is decided there.</a:t>
            </a:r>
          </a:p>
        </p:txBody>
      </p:sp>
      <p:pic>
        <p:nvPicPr>
          <p:cNvPr id="4" name="Picture 3" descr="schematic_ex2.png"/>
          <p:cNvPicPr>
            <a:picLocks noChangeAspect="1"/>
          </p:cNvPicPr>
          <p:nvPr/>
        </p:nvPicPr>
        <p:blipFill>
          <a:blip r:embed="rId2"/>
          <a:stretch>
            <a:fillRect/>
          </a:stretch>
        </p:blipFill>
        <p:spPr>
          <a:xfrm>
            <a:off x="1554480" y="2880360"/>
            <a:ext cx="9098280" cy="3639312"/>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 · Measuring the map: pair Ku(t) with the gate, instant by instant</a:t>
            </a:r>
          </a:p>
        </p:txBody>
      </p:sp>
      <p:sp>
        <p:nvSpPr>
          <p:cNvPr id="3" name="Content Placeholder 2"/>
          <p:cNvSpPr>
            <a:spLocks noGrp="1"/>
          </p:cNvSpPr>
          <p:nvPr>
            <p:ph idx="10"/>
          </p:nvPr>
        </p:nvSpPr>
        <p:spPr>
          <a:xfrm>
            <a:off x="411480" y="987552"/>
            <a:ext cx="11384280" cy="1216152"/>
          </a:xfrm>
        </p:spPr>
        <p:txBody>
          <a:bodyPr/>
          <a:lstStyle/>
          <a:p>
            <a:pPr latinLnBrk="0">
              <a:spcAft>
                <a:spcPts val="400"/>
              </a:spcAft>
            </a:pPr>
            <a:r>
              <a:rPr sz="1800"/>
              <a:t>The IBIS file gives Ku(t) on one full transition. The probe gives the gate on the same run. At each instant we have both numbers — so plot one against the other.</a:t>
            </a:r>
          </a:p>
          <a:p>
            <a:pPr latinLnBrk="0">
              <a:spcAft>
                <a:spcPts val="400"/>
              </a:spcAft>
            </a:pPr>
            <a:r>
              <a:rPr sz="1800" b="1">
                <a:solidFill>
                  <a:srgbClr val="2B7A43"/>
                </a:solidFill>
              </a:rPr>
              <a:t>The pairing is the map.</a:t>
            </a:r>
            <a:r>
              <a:rPr sz="1800"/>
              <a:t> No fitting: it is read off a single full-swing run.</a:t>
            </a:r>
          </a:p>
        </p:txBody>
      </p:sp>
      <p:pic>
        <p:nvPicPr>
          <p:cNvPr id="4" name="Picture 3" descr="map_from_probe_ex2.png"/>
          <p:cNvPicPr>
            <a:picLocks noChangeAspect="1"/>
          </p:cNvPicPr>
          <p:nvPr/>
        </p:nvPicPr>
        <p:blipFill>
          <a:blip r:embed="rId2"/>
          <a:stretch>
            <a:fillRect/>
          </a:stretch>
        </p:blipFill>
        <p:spPr>
          <a:xfrm>
            <a:off x="411480" y="2276856"/>
            <a:ext cx="11384280" cy="402979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Does the measured map work?  ex2</a:t>
            </a:r>
          </a:p>
        </p:txBody>
      </p:sp>
      <p:sp>
        <p:nvSpPr>
          <p:cNvPr id="3" name="Content Placeholder 2"/>
          <p:cNvSpPr>
            <a:spLocks noGrp="1"/>
          </p:cNvSpPr>
          <p:nvPr>
            <p:ph idx="10"/>
          </p:nvPr>
        </p:nvSpPr>
        <p:spPr>
          <a:xfrm>
            <a:off x="411480" y="987552"/>
            <a:ext cx="11384280" cy="1216152"/>
          </a:xfrm>
        </p:spPr>
        <p:txBody>
          <a:bodyPr/>
          <a:lstStyle/>
          <a:p>
            <a:pPr latinLnBrk="0">
              <a:spcAft>
                <a:spcPts val="400"/>
              </a:spcAft>
            </a:pPr>
            <a:r>
              <a:rPr sz="1800"/>
              <a:t>Drive that measured map with the transistor's own gate; compare against the transistor at all five stress levels.</a:t>
            </a:r>
          </a:p>
          <a:p>
            <a:pPr latinLnBrk="0">
              <a:spcAft>
                <a:spcPts val="400"/>
              </a:spcAft>
            </a:pPr>
            <a:r>
              <a:rPr sz="1800" b="1">
                <a:solidFill>
                  <a:srgbClr val="2B7A43"/>
                </a:solidFill>
              </a:rPr>
              <a:t>Within ±5 % at every level. Native IBIS runs +71 % at the deepest, our own gate-state model +74 %.</a:t>
            </a:r>
          </a:p>
        </p:txBody>
      </p:sp>
      <p:pic>
        <p:nvPicPr>
          <p:cNvPr id="4" name="Picture 3" descr="works_levels_ex2.png"/>
          <p:cNvPicPr>
            <a:picLocks noChangeAspect="1"/>
          </p:cNvPicPr>
          <p:nvPr/>
        </p:nvPicPr>
        <p:blipFill>
          <a:blip r:embed="rId2"/>
          <a:stretch>
            <a:fillRect/>
          </a:stretch>
        </p:blipFill>
        <p:spPr>
          <a:xfrm>
            <a:off x="411480" y="2276856"/>
            <a:ext cx="11384280" cy="3342312"/>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Does the measured map work?  inv_chain</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800"/>
              <a:t>Drive that measured map with the transistor's own gate; compare against the transistor at all five stress levels.</a:t>
            </a:r>
          </a:p>
          <a:p>
            <a:pPr latinLnBrk="0">
              <a:spcAft>
                <a:spcPts val="400"/>
              </a:spcAft>
            </a:pPr>
            <a:r>
              <a:rPr sz="1800" b="1">
                <a:solidFill>
                  <a:srgbClr val="2B7A43"/>
                </a:solidFill>
              </a:rPr>
              <a:t>Within +2…+9 %, where native IBIS runs +87 %. Our gate-state model looks good at 70–90 % for the wrong reason — see the backup slide on Vinh.</a:t>
            </a:r>
          </a:p>
        </p:txBody>
      </p:sp>
      <p:pic>
        <p:nvPicPr>
          <p:cNvPr id="4" name="Picture 3" descr="works_levels_inv_chain.png"/>
          <p:cNvPicPr>
            <a:picLocks noChangeAspect="1"/>
          </p:cNvPicPr>
          <p:nvPr/>
        </p:nvPicPr>
        <p:blipFill>
          <a:blip r:embed="rId2"/>
          <a:stretch>
            <a:fillRect/>
          </a:stretch>
        </p:blipFill>
        <p:spPr>
          <a:xfrm>
            <a:off x="411480" y="2578608"/>
            <a:ext cx="11384280" cy="3364661"/>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So the output stage is not the problem</a:t>
            </a:r>
          </a:p>
        </p:txBody>
      </p:sp>
      <p:sp>
        <p:nvSpPr>
          <p:cNvPr id="3" name="Content Placeholder 2"/>
          <p:cNvSpPr>
            <a:spLocks noGrp="1"/>
          </p:cNvSpPr>
          <p:nvPr>
            <p:ph idx="10"/>
          </p:nvPr>
        </p:nvSpPr>
        <p:spPr>
          <a:xfrm>
            <a:off x="411480" y="987552"/>
            <a:ext cx="11384280" cy="1627632"/>
          </a:xfrm>
        </p:spPr>
        <p:txBody>
          <a:bodyPr/>
          <a:lstStyle/>
          <a:p>
            <a:pPr latinLnBrk="0">
              <a:spcAft>
                <a:spcPts val="400"/>
              </a:spcAft>
            </a:pPr>
            <a:r>
              <a:rPr sz="1800"/>
              <a:t>Given the right gate, the map reproduces the pad at every stress level, on both buffers.</a:t>
            </a:r>
          </a:p>
          <a:p>
            <a:pPr latinLnBrk="0">
              <a:spcAft>
                <a:spcPts val="400"/>
              </a:spcAft>
            </a:pPr>
            <a:r>
              <a:rPr sz="1800"/>
              <a:t>The map itself is a fixed curve — it has no memory, and it does not change with the pulse. Measured hysteresis between the rising and falling branches is 0.07–0.10.</a:t>
            </a:r>
          </a:p>
          <a:p>
            <a:pPr latinLnBrk="0">
              <a:spcAft>
                <a:spcPts val="400"/>
              </a:spcAft>
            </a:pPr>
            <a:r>
              <a:rPr sz="1800" b="1">
                <a:solidFill>
                  <a:srgbClr val="2B7A43"/>
                </a:solidFill>
              </a:rPr>
              <a:t>Everything that is wrong with our model is therefore in the gate.</a:t>
            </a:r>
          </a:p>
        </p:txBody>
      </p:sp>
      <p:pic>
        <p:nvPicPr>
          <p:cNvPr id="4" name="Picture 3" descr="map_summary.png"/>
          <p:cNvPicPr>
            <a:picLocks noChangeAspect="1"/>
          </p:cNvPicPr>
          <p:nvPr/>
        </p:nvPicPr>
        <p:blipFill>
          <a:blip r:embed="rId2"/>
          <a:stretch>
            <a:fillRect/>
          </a:stretch>
        </p:blipFill>
        <p:spPr>
          <a:xfrm>
            <a:off x="899969" y="2688336"/>
            <a:ext cx="10407301" cy="3831336"/>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 Why our gate fails: the real gate changes shape, GUP does not</a:t>
            </a:r>
          </a:p>
        </p:txBody>
      </p:sp>
      <p:sp>
        <p:nvSpPr>
          <p:cNvPr id="3" name="Content Placeholder 2"/>
          <p:cNvSpPr>
            <a:spLocks noGrp="1"/>
          </p:cNvSpPr>
          <p:nvPr>
            <p:ph idx="10"/>
          </p:nvPr>
        </p:nvSpPr>
        <p:spPr>
          <a:xfrm>
            <a:off x="411480" y="987552"/>
            <a:ext cx="11384280" cy="1325880"/>
          </a:xfrm>
        </p:spPr>
        <p:txBody>
          <a:bodyPr/>
          <a:lstStyle/>
          <a:p>
            <a:pPr latinLnBrk="0">
              <a:spcAft>
                <a:spcPts val="400"/>
              </a:spcAft>
            </a:pPr>
            <a:r>
              <a:rPr sz="1800"/>
              <a:t>Our GUP is a fixed delay then an RC ramp. Truncating the input truncates that one shape.</a:t>
            </a:r>
          </a:p>
          <a:p>
            <a:pPr latinLnBrk="0">
              <a:spcAft>
                <a:spcPts val="400"/>
              </a:spcAft>
            </a:pPr>
            <a:r>
              <a:rPr sz="1800"/>
              <a:t>The real gate is already moving long before GUP starts, and it turns round earlier.</a:t>
            </a:r>
          </a:p>
          <a:p>
            <a:pPr latinLnBrk="0">
              <a:spcAft>
                <a:spcPts val="400"/>
              </a:spcAft>
            </a:pPr>
            <a:r>
              <a:rPr sz="1800" b="1">
                <a:solidFill>
                  <a:srgbClr val="2B7A43"/>
                </a:solidFill>
              </a:rPr>
              <a:t>Compare the two at each stress level — the mismatch grows as the pulse shortens.</a:t>
            </a:r>
          </a:p>
        </p:txBody>
      </p:sp>
      <p:pic>
        <p:nvPicPr>
          <p:cNvPr id="4" name="Picture 3" descr="gate_shape_ex2.png"/>
          <p:cNvPicPr>
            <a:picLocks noChangeAspect="1"/>
          </p:cNvPicPr>
          <p:nvPr/>
        </p:nvPicPr>
        <p:blipFill>
          <a:blip r:embed="rId2"/>
          <a:stretch>
            <a:fillRect/>
          </a:stretch>
        </p:blipFill>
        <p:spPr>
          <a:xfrm>
            <a:off x="411480" y="2386584"/>
            <a:ext cx="11384280" cy="3038831"/>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 What that shape difference does downstream</a:t>
            </a:r>
          </a:p>
        </p:txBody>
      </p:sp>
      <p:sp>
        <p:nvSpPr>
          <p:cNvPr id="3" name="Content Placeholder 2"/>
          <p:cNvSpPr>
            <a:spLocks noGrp="1"/>
          </p:cNvSpPr>
          <p:nvPr>
            <p:ph idx="10"/>
          </p:nvPr>
        </p:nvSpPr>
        <p:spPr>
          <a:xfrm>
            <a:off x="411480" y="987552"/>
            <a:ext cx="11384280" cy="914400"/>
          </a:xfrm>
        </p:spPr>
        <p:txBody>
          <a:bodyPr/>
          <a:lstStyle/>
          <a:p>
            <a:pPr latinLnBrk="0">
              <a:spcAft>
                <a:spcPts val="400"/>
              </a:spcAft>
            </a:pPr>
            <a:r>
              <a:rPr sz="1800"/>
              <a:t>Same map, two gates: Ku on top, the pad below. Our peak error: +74 % at 50 % stress, +4 % at 90 %.</a:t>
            </a:r>
          </a:p>
          <a:p>
            <a:pPr latinLnBrk="0">
              <a:spcAft>
                <a:spcPts val="400"/>
              </a:spcAft>
            </a:pPr>
            <a:r>
              <a:rPr sz="1800" b="1">
                <a:solidFill>
                  <a:srgbClr val="2B7A43"/>
                </a:solidFill>
              </a:rPr>
              <a:t>GUP holds Ku high after the real gate has let go, and the pad overshoot is exactly that extra area.</a:t>
            </a:r>
          </a:p>
        </p:txBody>
      </p:sp>
      <p:pic>
        <p:nvPicPr>
          <p:cNvPr id="4" name="Picture 3" descr="ku_consequence_ex2.png"/>
          <p:cNvPicPr>
            <a:picLocks noChangeAspect="1"/>
          </p:cNvPicPr>
          <p:nvPr/>
        </p:nvPicPr>
        <p:blipFill>
          <a:blip r:embed="rId2"/>
          <a:stretch>
            <a:fillRect/>
          </a:stretch>
        </p:blipFill>
        <p:spPr>
          <a:xfrm>
            <a:off x="1988349" y="1975104"/>
            <a:ext cx="8230540" cy="4544568"/>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 So the problem is now a precise one</a:t>
            </a:r>
          </a:p>
        </p:txBody>
      </p:sp>
      <p:sp>
        <p:nvSpPr>
          <p:cNvPr id="3" name="Content Placeholder 2"/>
          <p:cNvSpPr>
            <a:spLocks noGrp="1"/>
          </p:cNvSpPr>
          <p:nvPr>
            <p:ph idx="10"/>
          </p:nvPr>
        </p:nvSpPr>
        <p:spPr>
          <a:xfrm>
            <a:off x="411480" y="987552"/>
            <a:ext cx="11384280" cy="3163824"/>
          </a:xfrm>
        </p:spPr>
        <p:txBody>
          <a:bodyPr/>
          <a:lstStyle/>
          <a:p>
            <a:pPr latinLnBrk="0">
              <a:spcAft>
                <a:spcPts val="400"/>
              </a:spcAft>
            </a:pPr>
            <a:r>
              <a:rPr sz="1800"/>
              <a:t>We know what a correct model needs: </a:t>
            </a:r>
            <a:r>
              <a:rPr sz="1800" b="1"/>
              <a:t>the real gate's shape</a:t>
            </a:r>
            <a:r>
              <a:rPr sz="1800"/>
              <a:t>, and the map.</a:t>
            </a:r>
          </a:p>
          <a:p>
            <a:pPr latinLnBrk="0">
              <a:spcAft>
                <a:spcPts val="400"/>
              </a:spcAft>
            </a:pPr>
            <a:r>
              <a:rPr sz="1800"/>
              <a:t>We have both — by probing. A customer with only the vendor's IBIS file has neither.</a:t>
            </a:r>
          </a:p>
          <a:p>
            <a:pPr latinLnBrk="0">
              <a:spcAft>
                <a:spcPts val="400"/>
              </a:spcAft>
            </a:pPr>
          </a:p>
          <a:p>
            <a:pPr latinLnBrk="0">
              <a:spcAft>
                <a:spcPts val="400"/>
              </a:spcAft>
            </a:pPr>
            <a:r>
              <a:rPr sz="1800" b="1">
                <a:solidFill>
                  <a:srgbClr val="2B7A43"/>
                </a:solidFill>
              </a:rPr>
              <a:t>The question for track 1: how much of that gate shape can be recovered from the IBIS file plus one measurement taken at the pad, with nothing probed inside?</a:t>
            </a:r>
          </a:p>
          <a:p>
            <a:pPr latinLnBrk="0">
              <a:spcAft>
                <a:spcPts val="400"/>
              </a:spcAft>
            </a:pPr>
          </a:p>
          <a:p>
            <a:pPr latinLnBrk="0">
              <a:spcAft>
                <a:spcPts val="400"/>
              </a:spcAft>
            </a:pPr>
            <a:r>
              <a:rPr sz="1800"/>
              <a:t>Two things have to come from somewhere: how fast the gate travels, and the map's shape. The next slides are about where each one can come from.</a:t>
            </a:r>
          </a:p>
        </p:txBody>
      </p:sp>
      <p:pic>
        <p:nvPicPr>
          <p:cNvPr id="4" name="Picture 3" descr="what_we_have.png"/>
          <p:cNvPicPr>
            <a:picLocks noChangeAspect="1"/>
          </p:cNvPicPr>
          <p:nvPr/>
        </p:nvPicPr>
        <p:blipFill>
          <a:blip r:embed="rId2"/>
          <a:stretch>
            <a:fillRect/>
          </a:stretch>
        </p:blipFill>
        <p:spPr>
          <a:xfrm>
            <a:off x="3085310" y="4224528"/>
            <a:ext cx="6036619" cy="2295144"/>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6 · What the file fixes, and what it leaves open</a:t>
            </a:r>
          </a:p>
        </p:txBody>
      </p:sp>
      <p:sp>
        <p:nvSpPr>
          <p:cNvPr id="3" name="Content Placeholder 2"/>
          <p:cNvSpPr>
            <a:spLocks noGrp="1"/>
          </p:cNvSpPr>
          <p:nvPr>
            <p:ph idx="10"/>
          </p:nvPr>
        </p:nvSpPr>
        <p:spPr>
          <a:xfrm>
            <a:off x="411480" y="987552"/>
            <a:ext cx="11384280" cy="2340864"/>
          </a:xfrm>
        </p:spPr>
        <p:txBody>
          <a:bodyPr/>
          <a:lstStyle/>
          <a:p>
            <a:pPr latinLnBrk="0">
              <a:spcAft>
                <a:spcPts val="400"/>
              </a:spcAft>
            </a:pPr>
            <a:r>
              <a:rPr sz="1600"/>
              <a:t>The file gives Ku(t) — a complete waveform, with shape at every instant. Shape is not what is missing.</a:t>
            </a:r>
          </a:p>
          <a:p>
            <a:pPr latinLnBrk="0">
              <a:spcAft>
                <a:spcPts val="400"/>
              </a:spcAft>
            </a:pPr>
            <a:r>
              <a:rPr sz="1600" b="1"/>
              <a:t>What is missing is the split.</a:t>
            </a:r>
            <a:r>
              <a:rPr sz="1600"/>
              <a:t> Ku(t) = map(gate(t)) fixes the composition and nothing more: pick any gate trajectory and the map is forced to whatever reproduces Ku(t). Every such pair matches the file exactly.</a:t>
            </a:r>
          </a:p>
          <a:p>
            <a:pPr latinLnBrk="0">
              <a:spcAft>
                <a:spcPts val="400"/>
              </a:spcAft>
            </a:pPr>
            <a:r>
              <a:rPr sz="1600"/>
              <a:t>With no probe the map cannot be measured, so its shape has to be assumed — and the assumed shape is not the measured curve.</a:t>
            </a:r>
          </a:p>
          <a:p>
            <a:pPr latinLnBrk="0">
              <a:spcAft>
                <a:spcPts val="400"/>
              </a:spcAft>
            </a:pPr>
            <a:r>
              <a:rPr sz="1600" b="1">
                <a:solidFill>
                  <a:srgbClr val="2B7A43"/>
                </a:solidFill>
              </a:rPr>
              <a:t>Assume a different map and the fit hands you a different gate. That is the whole difficulty.</a:t>
            </a:r>
          </a:p>
        </p:txBody>
      </p:sp>
      <p:pic>
        <p:nvPicPr>
          <p:cNvPr id="4" name="Picture 3" descr="prior_shape.png"/>
          <p:cNvPicPr>
            <a:picLocks noChangeAspect="1"/>
          </p:cNvPicPr>
          <p:nvPr/>
        </p:nvPicPr>
        <p:blipFill>
          <a:blip r:embed="rId2"/>
          <a:stretch>
            <a:fillRect/>
          </a:stretch>
        </p:blipFill>
        <p:spPr>
          <a:xfrm>
            <a:off x="2840746" y="3401568"/>
            <a:ext cx="6525746" cy="3118104"/>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 · One more measurement, and a stressed pulse is the one</a:t>
            </a:r>
          </a:p>
        </p:txBody>
      </p:sp>
      <p:sp>
        <p:nvSpPr>
          <p:cNvPr id="3" name="Content Placeholder 2"/>
          <p:cNvSpPr>
            <a:spLocks noGrp="1"/>
          </p:cNvSpPr>
          <p:nvPr>
            <p:ph idx="10"/>
          </p:nvPr>
        </p:nvSpPr>
        <p:spPr>
          <a:xfrm>
            <a:off x="411480" y="987552"/>
            <a:ext cx="11384280" cy="1929384"/>
          </a:xfrm>
        </p:spPr>
        <p:txBody>
          <a:bodyPr/>
          <a:lstStyle/>
          <a:p>
            <a:pPr latinLnBrk="0">
              <a:spcAft>
                <a:spcPts val="400"/>
              </a:spcAft>
            </a:pPr>
            <a:r>
              <a:rPr sz="1800"/>
              <a:t>A full transition cannot separate them. A truncated one can: the chain then produces a </a:t>
            </a:r>
            <a:r>
              <a:rPr sz="1800" b="1"/>
              <a:t>different</a:t>
            </a:r>
            <a:r>
              <a:rPr sz="1800"/>
              <a:t> gate trajectory, and where it turns round depends on how fast the gate was really travelling.</a:t>
            </a:r>
          </a:p>
          <a:p>
            <a:pPr latinLnBrk="0">
              <a:spcAft>
                <a:spcPts val="400"/>
              </a:spcAft>
            </a:pPr>
            <a:r>
              <a:rPr sz="1800"/>
              <a:t>Each stressed width stops the gate at a different height on the same path — here at 0.76, 0.80, 0.84, 0.88 and 0.94.</a:t>
            </a:r>
          </a:p>
          <a:p>
            <a:pPr latinLnBrk="0">
              <a:spcAft>
                <a:spcPts val="400"/>
              </a:spcAft>
            </a:pPr>
            <a:r>
              <a:rPr sz="1800" b="1">
                <a:solidFill>
                  <a:srgbClr val="2B7A43"/>
                </a:solidFill>
              </a:rPr>
              <a:t>Five stress levels are five independent tests of the split, and they cost one measurement at the pad.</a:t>
            </a:r>
          </a:p>
        </p:txBody>
      </p:sp>
      <p:pic>
        <p:nvPicPr>
          <p:cNvPr id="4" name="Picture 3" descr="sampling_grid_ex2.png"/>
          <p:cNvPicPr>
            <a:picLocks noChangeAspect="1"/>
          </p:cNvPicPr>
          <p:nvPr/>
        </p:nvPicPr>
        <p:blipFill>
          <a:blip r:embed="rId2"/>
          <a:stretch>
            <a:fillRect/>
          </a:stretch>
        </p:blipFill>
        <p:spPr>
          <a:xfrm>
            <a:off x="1532388" y="2990088"/>
            <a:ext cx="9142463" cy="3529584"/>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 · But a few samples need a family of shapes to choose from</a:t>
            </a:r>
          </a:p>
        </p:txBody>
      </p:sp>
      <p:sp>
        <p:nvSpPr>
          <p:cNvPr id="3" name="Content Placeholder 2"/>
          <p:cNvSpPr>
            <a:spLocks noGrp="1"/>
          </p:cNvSpPr>
          <p:nvPr>
            <p:ph idx="10"/>
          </p:nvPr>
        </p:nvSpPr>
        <p:spPr>
          <a:xfrm>
            <a:off x="411480" y="987552"/>
            <a:ext cx="11384280" cy="2231136"/>
          </a:xfrm>
        </p:spPr>
        <p:txBody>
          <a:bodyPr/>
          <a:lstStyle/>
          <a:p>
            <a:pPr latinLnBrk="0">
              <a:spcAft>
                <a:spcPts val="400"/>
              </a:spcAft>
            </a:pPr>
            <a:r>
              <a:rPr sz="1700"/>
              <a:t>Five samples cannot pick a curve out of all possible curves. They can pick one out of a small family — so what family does this circuit actually produce?</a:t>
            </a:r>
          </a:p>
          <a:p>
            <a:pPr latinLnBrk="0">
              <a:spcAft>
                <a:spcPts val="400"/>
              </a:spcAft>
            </a:pPr>
            <a:r>
              <a:rPr sz="1700"/>
              <a:t>Probe every stage under a short pulse against what a </a:t>
            </a:r>
            <a:r>
              <a:rPr sz="1700" b="1"/>
              <a:t>linear</a:t>
            </a:r>
            <a:r>
              <a:rPr sz="1700"/>
              <a:t> filter would give: its own step response, superposed.</a:t>
            </a:r>
          </a:p>
          <a:p>
            <a:pPr latinLnBrk="0">
              <a:spcAft>
                <a:spcPts val="400"/>
              </a:spcAft>
            </a:pPr>
            <a:r>
              <a:rPr sz="1700" b="1">
                <a:solidFill>
                  <a:srgbClr val="2B7A43"/>
                </a:solidFill>
              </a:rPr>
              <a:t>Every stage under-reaches, and the gap compounds down the chain — at the pad the linear prediction says 1.00 where the transistor does 0.50. So the family is not linear.</a:t>
            </a:r>
          </a:p>
        </p:txBody>
      </p:sp>
      <p:pic>
        <p:nvPicPr>
          <p:cNvPr id="4" name="Picture 3" descr="stage_nonlinear_ex2.png"/>
          <p:cNvPicPr>
            <a:picLocks noChangeAspect="1"/>
          </p:cNvPicPr>
          <p:nvPr/>
        </p:nvPicPr>
        <p:blipFill>
          <a:blip r:embed="rId2"/>
          <a:stretch>
            <a:fillRect/>
          </a:stretch>
        </p:blipFill>
        <p:spPr>
          <a:xfrm>
            <a:off x="1203658" y="3291840"/>
            <a:ext cx="9799922" cy="3227832"/>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9 · Where the stage law comes from</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800"/>
              <a:t>Three facts about one CMOS inverter driving the next one's gate. Each contributes one factor, and together they are the whole law — there is nothing else in it.</a:t>
            </a:r>
          </a:p>
          <a:p>
            <a:pPr latinLnBrk="0">
              <a:spcAft>
                <a:spcPts val="400"/>
              </a:spcAft>
            </a:pPr>
            <a:r>
              <a:rPr sz="1800" b="1">
                <a:solidFill>
                  <a:srgbClr val="2B7A43"/>
                </a:solidFill>
              </a:rPr>
              <a:t>A constant current into a fixed capacitance is a constant slope. That is the backbone; the threshold and the taper only modulate it.</a:t>
            </a:r>
          </a:p>
        </p:txBody>
      </p:sp>
      <p:pic>
        <p:nvPicPr>
          <p:cNvPr id="4" name="Picture 3" descr="stage_law.png"/>
          <p:cNvPicPr>
            <a:picLocks noChangeAspect="1"/>
          </p:cNvPicPr>
          <p:nvPr/>
        </p:nvPicPr>
        <p:blipFill>
          <a:blip r:embed="rId2"/>
          <a:stretch>
            <a:fillRect/>
          </a:stretch>
        </p:blipFill>
        <p:spPr>
          <a:xfrm>
            <a:off x="411480" y="2578608"/>
            <a:ext cx="11384280" cy="3352845"/>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10 · The four numbers, and what each one is</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600" b="1"/>
              <a:t>s_up and s_dn are slopes, not currents</a:t>
            </a:r>
            <a:r>
              <a:rPr sz="1600"/>
              <a:t> — v is normalised, so dv/dt is swings per nanosecond. </a:t>
            </a:r>
            <a:r>
              <a:rPr sz="1600" b="1"/>
              <a:t>x_lin</a:t>
            </a:r>
            <a:r>
              <a:rPr sz="1600"/>
              <a:t> is named for the MOSFET's linear (triode) region.</a:t>
            </a:r>
          </a:p>
          <a:p>
            <a:pPr latinLnBrk="0">
              <a:spcAft>
                <a:spcPts val="400"/>
              </a:spcAft>
            </a:pPr>
            <a:r>
              <a:rPr sz="1600" b="1">
                <a:solidFill>
                  <a:srgbClr val="2B7A43"/>
                </a:solidFill>
              </a:rPr>
              <a:t>Does the file not give vt?</a:t>
            </a:r>
            <a:r>
              <a:rPr sz="1600"/>
              <a:t> Its Vinh/Vinl are the input </a:t>
            </a:r>
            <a:r>
              <a:rPr sz="1600" b="1">
                <a:solidFill>
                  <a:srgbClr val="2B7A43"/>
                </a:solidFill>
              </a:rPr>
              <a:t>pin's</a:t>
            </a:r>
            <a:r>
              <a:rPr sz="1600"/>
              <a:t> thresholds, and we do use those — for our input comparator. vt is an </a:t>
            </a:r>
            <a:r>
              <a:rPr sz="1600" b="1">
                <a:solidFill>
                  <a:srgbClr val="2B7A43"/>
                </a:solidFill>
              </a:rPr>
              <a:t>internal</a:t>
            </a:r>
            <a:r>
              <a:rPr sz="1600"/>
              <a:t> stage's threshold, and the file never describes that node.</a:t>
            </a:r>
          </a:p>
        </p:txBody>
      </p:sp>
      <p:pic>
        <p:nvPicPr>
          <p:cNvPr id="4" name="Picture 3" descr="four_numbers.png"/>
          <p:cNvPicPr>
            <a:picLocks noChangeAspect="1"/>
          </p:cNvPicPr>
          <p:nvPr/>
        </p:nvPicPr>
        <p:blipFill>
          <a:blip r:embed="rId2"/>
          <a:stretch>
            <a:fillRect/>
          </a:stretch>
        </p:blipFill>
        <p:spPr>
          <a:xfrm>
            <a:off x="411480" y="2578608"/>
            <a:ext cx="11384280" cy="3796063"/>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11 · What each of the four actually does</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800"/>
              <a:t>Each swept on its own about the value the fit chose, on the 810 ps pulse. The thick black trace is the fitted value.</a:t>
            </a:r>
          </a:p>
          <a:p>
            <a:pPr latinLnBrk="0">
              <a:spcAft>
                <a:spcPts val="400"/>
              </a:spcAft>
            </a:pPr>
            <a:r>
              <a:rPr sz="1800" b="1">
                <a:solidFill>
                  <a:srgbClr val="2B7A43"/>
                </a:solidFill>
              </a:rPr>
              <a:t>Look at the vt panel: pushed high enough the gate never leaves the floor — a chain can extinguish a short pulse, not merely shrink it.</a:t>
            </a:r>
          </a:p>
        </p:txBody>
      </p:sp>
      <p:pic>
        <p:nvPicPr>
          <p:cNvPr id="4" name="Picture 3" descr="knobs.png"/>
          <p:cNvPicPr>
            <a:picLocks noChangeAspect="1"/>
          </p:cNvPicPr>
          <p:nvPr/>
        </p:nvPicPr>
        <p:blipFill>
          <a:blip r:embed="rId2"/>
          <a:stretch>
            <a:fillRect/>
          </a:stretch>
        </p:blipFill>
        <p:spPr>
          <a:xfrm>
            <a:off x="1567646" y="2578608"/>
            <a:ext cx="9071947" cy="3941064"/>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12 · Why a chain, and not one stage</a:t>
            </a:r>
          </a:p>
        </p:txBody>
      </p:sp>
      <p:sp>
        <p:nvSpPr>
          <p:cNvPr id="3" name="Content Placeholder 2"/>
          <p:cNvSpPr>
            <a:spLocks noGrp="1"/>
          </p:cNvSpPr>
          <p:nvPr>
            <p:ph idx="10"/>
          </p:nvPr>
        </p:nvSpPr>
        <p:spPr>
          <a:xfrm>
            <a:off x="411480" y="987552"/>
            <a:ext cx="11384280" cy="1819656"/>
          </a:xfrm>
        </p:spPr>
        <p:txBody>
          <a:bodyPr/>
          <a:lstStyle/>
          <a:p>
            <a:pPr latinLnBrk="0">
              <a:spcAft>
                <a:spcPts val="400"/>
              </a:spcAft>
            </a:pPr>
            <a:r>
              <a:rPr sz="1800"/>
              <a:t>Fit one stage as well as it can be fitted and it still misses the file's own Ku(t) by 4.6× the best error. One stage is one ramp: it starts the instant the input does, where the real Ku(t) waits, and then bends over too early.</a:t>
            </a:r>
          </a:p>
          <a:p>
            <a:pPr latinLnBrk="0">
              <a:spcAft>
                <a:spcPts val="400"/>
              </a:spcAft>
            </a:pPr>
            <a:r>
              <a:rPr sz="1800" b="1">
                <a:solidFill>
                  <a:srgbClr val="2B7A43"/>
                </a:solidFill>
              </a:rPr>
              <a:t>The file itself rules out a single stage — no stressed data needed to see it.</a:t>
            </a:r>
            <a:r>
              <a:rPr sz="1800"/>
              <a:t> Three stages is where the error settles.</a:t>
            </a:r>
          </a:p>
        </p:txBody>
      </p:sp>
      <p:pic>
        <p:nvPicPr>
          <p:cNvPr id="4" name="Picture 3" descr="why_chain.png"/>
          <p:cNvPicPr>
            <a:picLocks noChangeAspect="1"/>
          </p:cNvPicPr>
          <p:nvPr/>
        </p:nvPicPr>
        <p:blipFill>
          <a:blip r:embed="rId2"/>
          <a:stretch>
            <a:fillRect/>
          </a:stretch>
        </p:blipFill>
        <p:spPr>
          <a:xfrm>
            <a:off x="733152" y="2880360"/>
            <a:ext cx="10740935" cy="3639312"/>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12 · So: K identical stages, then the file's own map</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800"/>
              <a:t>We cannot see how many stages a vendor's part has, so the count K is a parameter. The stages are held </a:t>
            </a:r>
            <a:r>
              <a:rPr sz="1800" b="1"/>
              <a:t>identical</a:t>
            </a:r>
            <a:r>
              <a:rPr sz="1800"/>
              <a:t>: a real tapered predriver approximately is, and letting them differ makes the fit degenerate.</a:t>
            </a:r>
          </a:p>
          <a:p>
            <a:pPr latinLnBrk="0">
              <a:spcAft>
                <a:spcPts val="400"/>
              </a:spcAft>
            </a:pPr>
            <a:r>
              <a:rPr sz="1800" b="1">
                <a:solidFill>
                  <a:srgbClr val="2B7A43"/>
                </a:solidFill>
              </a:rPr>
              <a:t>Everything to the right of the gate is the file's own, untouched — the map and the I-V tables. We are only building the left-hand box.</a:t>
            </a:r>
          </a:p>
        </p:txBody>
      </p:sp>
      <p:pic>
        <p:nvPicPr>
          <p:cNvPr id="4" name="Picture 3" descr="model_blocks.png"/>
          <p:cNvPicPr>
            <a:picLocks noChangeAspect="1"/>
          </p:cNvPicPr>
          <p:nvPr/>
        </p:nvPicPr>
        <p:blipFill>
          <a:blip r:embed="rId2"/>
          <a:stretch>
            <a:fillRect/>
          </a:stretch>
        </p:blipFill>
        <p:spPr>
          <a:xfrm>
            <a:off x="411480" y="2578608"/>
            <a:ext cx="11384280" cy="3096299"/>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13 · Before the recipe: C_comp is an input, and this file's is wrong</a:t>
            </a:r>
          </a:p>
        </p:txBody>
      </p:sp>
      <p:sp>
        <p:nvSpPr>
          <p:cNvPr id="3" name="Content Placeholder 2"/>
          <p:cNvSpPr>
            <a:spLocks noGrp="1"/>
          </p:cNvSpPr>
          <p:nvPr>
            <p:ph idx="10"/>
          </p:nvPr>
        </p:nvSpPr>
        <p:spPr>
          <a:xfrm>
            <a:off x="411480" y="987552"/>
            <a:ext cx="11384280" cy="2834640"/>
          </a:xfrm>
        </p:spPr>
        <p:txBody>
          <a:bodyPr/>
          <a:lstStyle/>
          <a:p>
            <a:pPr latinLnBrk="0">
              <a:spcAft>
                <a:spcPts val="400"/>
              </a:spcAft>
            </a:pPr>
            <a:r>
              <a:rPr sz="1700"/>
              <a:t>C_comp is not something the method derives — it is an input the solve needs, and we assume it arrives with the file. </a:t>
            </a:r>
            <a:r>
              <a:rPr sz="1700" b="1"/>
              <a:t>When s2ibispy extracts it properly, it drops into this same slot and nothing downstream changes.</a:t>
            </a:r>
          </a:p>
          <a:p>
            <a:pPr latinLnBrk="0">
              <a:spcAft>
                <a:spcPts val="400"/>
              </a:spcAft>
            </a:pPr>
            <a:r>
              <a:rPr sz="1700"/>
              <a:t>It still needs a validity check, because this file's declared value fails one. Ku is a fraction of the device's own current, so it cannot exceed 1; ex2's declared 5.0 pF makes the file imply </a:t>
            </a:r>
            <a:r>
              <a:rPr sz="1700" b="1"/>
              <a:t>Ku = 1.24</a:t>
            </a:r>
            <a:r>
              <a:rPr sz="1700"/>
              <a:t>, which is impossible.</a:t>
            </a:r>
          </a:p>
          <a:p>
            <a:pPr latinLnBrk="0">
              <a:spcAft>
                <a:spcPts val="400"/>
              </a:spcAft>
            </a:pPr>
            <a:r>
              <a:rPr sz="1700"/>
              <a:t>Today's numbers therefore use the value at which Ku just reaches 1 — 2.64 pF here, against 1.70 measured with a probe. 55 % off, and it still works, because the stressed peak is not sharp in C_comp.</a:t>
            </a:r>
          </a:p>
        </p:txBody>
      </p:sp>
      <p:pic>
        <p:nvPicPr>
          <p:cNvPr id="4" name="Picture 3" descr="ccomp_reject.png"/>
          <p:cNvPicPr>
            <a:picLocks noChangeAspect="1"/>
          </p:cNvPicPr>
          <p:nvPr/>
        </p:nvPicPr>
        <p:blipFill>
          <a:blip r:embed="rId2"/>
          <a:stretch>
            <a:fillRect/>
          </a:stretch>
        </p:blipFill>
        <p:spPr>
          <a:xfrm>
            <a:off x="2933551" y="3895344"/>
            <a:ext cx="6340137" cy="2624328"/>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14 · Recipe step 1 of 4 — fit the four numbers to the file's Ku(t)</a:t>
            </a:r>
          </a:p>
        </p:txBody>
      </p:sp>
      <p:sp>
        <p:nvSpPr>
          <p:cNvPr id="3" name="Content Placeholder 2"/>
          <p:cNvSpPr>
            <a:spLocks noGrp="1"/>
          </p:cNvSpPr>
          <p:nvPr>
            <p:ph idx="10"/>
          </p:nvPr>
        </p:nvSpPr>
        <p:spPr>
          <a:xfrm>
            <a:off x="411480" y="987552"/>
            <a:ext cx="11384280" cy="1929384"/>
          </a:xfrm>
        </p:spPr>
        <p:txBody>
          <a:bodyPr/>
          <a:lstStyle/>
          <a:p>
            <a:pPr latinLnBrk="0">
              <a:spcAft>
                <a:spcPts val="400"/>
              </a:spcAft>
            </a:pPr>
            <a:r>
              <a:rPr sz="1800" b="1"/>
              <a:t>The chain</a:t>
            </a:r>
            <a:r>
              <a:rPr sz="1800"/>
              <a:t> is the K stages above, in series. Its output is a gate; put that gate through the map and it becomes a Ku. The four numbers are searched until that Ku reproduces </a:t>
            </a:r>
            <a:r>
              <a:rPr sz="1800" b="1"/>
              <a:t>the file's own full-swing Ku(t)</a:t>
            </a:r>
            <a:r>
              <a:rPr sz="1800"/>
              <a:t> — the black curve. Nelder–Mead, three restarts.</a:t>
            </a:r>
          </a:p>
          <a:p>
            <a:pPr latinLnBrk="0">
              <a:spcAft>
                <a:spcPts val="400"/>
              </a:spcAft>
            </a:pPr>
            <a:r>
              <a:rPr sz="1800"/>
              <a:t>Error 0.284 down to 0.0098, landing on s_up 2.59, s_dn 2.38, vt 0.51, x_lin 0.66.</a:t>
            </a:r>
          </a:p>
          <a:p>
            <a:pPr latinLnBrk="0">
              <a:spcAft>
                <a:spcPts val="400"/>
              </a:spcAft>
            </a:pPr>
            <a:r>
              <a:rPr sz="1800" b="1">
                <a:solidFill>
                  <a:srgbClr val="2B7A43"/>
                </a:solidFill>
              </a:rPr>
              <a:t>No measurement is involved: the target is a curve the file already contains.</a:t>
            </a:r>
          </a:p>
        </p:txBody>
      </p:sp>
      <p:pic>
        <p:nvPicPr>
          <p:cNvPr id="4" name="Picture 3" descr="fit_search.png"/>
          <p:cNvPicPr>
            <a:picLocks noChangeAspect="1"/>
          </p:cNvPicPr>
          <p:nvPr/>
        </p:nvPicPr>
        <p:blipFill>
          <a:blip r:embed="rId2"/>
          <a:stretch>
            <a:fillRect/>
          </a:stretch>
        </p:blipFill>
        <p:spPr>
          <a:xfrm>
            <a:off x="952914" y="2990088"/>
            <a:ext cx="10301410" cy="3529584"/>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15 · Recipe step 2 of 4 — enumerate what the file cannot choose</a:t>
            </a:r>
          </a:p>
        </p:txBody>
      </p:sp>
      <p:sp>
        <p:nvSpPr>
          <p:cNvPr id="3" name="Content Placeholder 2"/>
          <p:cNvSpPr>
            <a:spLocks noGrp="1"/>
          </p:cNvSpPr>
          <p:nvPr>
            <p:ph idx="10"/>
          </p:nvPr>
        </p:nvSpPr>
        <p:spPr>
          <a:xfrm>
            <a:off x="411480" y="987552"/>
            <a:ext cx="11384280" cy="1929384"/>
          </a:xfrm>
        </p:spPr>
        <p:txBody>
          <a:bodyPr/>
          <a:lstStyle/>
          <a:p>
            <a:pPr latinLnBrk="0">
              <a:spcAft>
                <a:spcPts val="400"/>
              </a:spcAft>
            </a:pPr>
            <a:r>
              <a:rPr sz="1800"/>
              <a:t>Left: past K = 3 the fit error against the file's Ku(t) is </a:t>
            </a:r>
            <a:r>
              <a:rPr sz="1800" b="1"/>
              <a:t>flat</a:t>
            </a:r>
            <a:r>
              <a:rPr sz="1800"/>
              <a:t>. Right: the three candidates inside that band on one 810 ps pulse — same file, same fit quality, </a:t>
            </a:r>
            <a:r>
              <a:rPr sz="1800" b="1"/>
              <a:t>three completely different buffers</a:t>
            </a:r>
            <a:r>
              <a:rPr sz="1800"/>
              <a:t>.</a:t>
            </a:r>
          </a:p>
          <a:p>
            <a:pPr latinLnBrk="0">
              <a:spcAft>
                <a:spcPts val="400"/>
              </a:spcAft>
            </a:pPr>
            <a:r>
              <a:rPr sz="1800"/>
              <a:t>The map's shape is under-determined the same way: 3 stage counts × 3 map shapes = </a:t>
            </a:r>
            <a:r>
              <a:rPr sz="1800" b="1"/>
              <a:t>nine candidates</a:t>
            </a:r>
            <a:r>
              <a:rPr sz="1800"/>
              <a:t>, all equally good against the file.</a:t>
            </a:r>
          </a:p>
          <a:p>
            <a:pPr latinLnBrk="0">
              <a:spcAft>
                <a:spcPts val="400"/>
              </a:spcAft>
            </a:pPr>
            <a:r>
              <a:rPr sz="1800" b="1">
                <a:solidFill>
                  <a:srgbClr val="2B7A43"/>
                </a:solidFill>
              </a:rPr>
              <a:t>The file is now spent. Everything left is decided by the one stressed run.</a:t>
            </a:r>
          </a:p>
        </p:txBody>
      </p:sp>
      <p:pic>
        <p:nvPicPr>
          <p:cNvPr id="4" name="Picture 3" descr="k_choice.png"/>
          <p:cNvPicPr>
            <a:picLocks noChangeAspect="1"/>
          </p:cNvPicPr>
          <p:nvPr/>
        </p:nvPicPr>
        <p:blipFill>
          <a:blip r:embed="rId2"/>
          <a:stretch>
            <a:fillRect/>
          </a:stretch>
        </p:blipFill>
        <p:spPr>
          <a:xfrm>
            <a:off x="1174235" y="2990088"/>
            <a:ext cx="9858769" cy="3529584"/>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16 · Recipe step 3 of 4 — the stressed run sets the amplitude</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800"/>
              <a:t>One pulse into the real part, at the deepest rung of the ladder, and one number off it: the peak. Nothing is probed.</a:t>
            </a:r>
          </a:p>
          <a:p>
            <a:pPr latinLnBrk="0">
              <a:spcAft>
                <a:spcPts val="400"/>
              </a:spcAft>
            </a:pPr>
            <a:r>
              <a:rPr sz="1800" b="1">
                <a:solidFill>
                  <a:srgbClr val="2B7A43"/>
                </a:solidFill>
              </a:rPr>
              <a:t>Why vt and not the drive rates?</a:t>
            </a:r>
            <a:r>
              <a:rPr sz="1800"/>
              <a:t> The rates were fitted to reproduce the full swing, and moving them breaks it. vt changes </a:t>
            </a:r>
            <a:r>
              <a:rPr sz="1800" b="1">
                <a:solidFill>
                  <a:srgbClr val="2B7A43"/>
                </a:solidFill>
              </a:rPr>
              <a:t>when</a:t>
            </a:r>
            <a:r>
              <a:rPr sz="1800"/>
              <a:t> the chain hands off, not how fast it runs.</a:t>
            </a:r>
          </a:p>
        </p:txBody>
      </p:sp>
      <p:pic>
        <p:nvPicPr>
          <p:cNvPr id="4" name="Picture 3" descr="calib_run.png"/>
          <p:cNvPicPr>
            <a:picLocks noChangeAspect="1"/>
          </p:cNvPicPr>
          <p:nvPr/>
        </p:nvPicPr>
        <p:blipFill>
          <a:blip r:embed="rId2"/>
          <a:stretch>
            <a:fillRect/>
          </a:stretch>
        </p:blipFill>
        <p:spPr>
          <a:xfrm>
            <a:off x="411480" y="2578608"/>
            <a:ext cx="11384280" cy="3463682"/>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17 · Recipe step 4 of 4 — the same run picks one of the nine</a:t>
            </a:r>
          </a:p>
        </p:txBody>
      </p:sp>
      <p:sp>
        <p:nvSpPr>
          <p:cNvPr id="3" name="Content Placeholder 2"/>
          <p:cNvSpPr>
            <a:spLocks noGrp="1"/>
          </p:cNvSpPr>
          <p:nvPr>
            <p:ph idx="10"/>
          </p:nvPr>
        </p:nvSpPr>
        <p:spPr>
          <a:xfrm>
            <a:off x="411480" y="987552"/>
            <a:ext cx="11384280" cy="2231136"/>
          </a:xfrm>
        </p:spPr>
        <p:txBody>
          <a:bodyPr/>
          <a:lstStyle/>
          <a:p>
            <a:pPr latinLnBrk="0">
              <a:spcAft>
                <a:spcPts val="400"/>
              </a:spcAft>
            </a:pPr>
            <a:r>
              <a:rPr sz="1700"/>
              <a:t>All nine candidates are now calibrated, so </a:t>
            </a:r>
            <a:r>
              <a:rPr sz="1700" b="1"/>
              <a:t>all nine hit the measured peak</a:t>
            </a:r>
            <a:r>
              <a:rPr sz="1700"/>
              <a:t> — the calibration put it there. Right-hand panel: ranked on the peak every one is within 2.5 %, in no meaningful order.</a:t>
            </a:r>
          </a:p>
          <a:p>
            <a:pPr latinLnBrk="0">
              <a:spcAft>
                <a:spcPts val="400"/>
              </a:spcAft>
            </a:pPr>
            <a:r>
              <a:rPr sz="1700"/>
              <a:t>Left-hand panel: score each one against the </a:t>
            </a:r>
            <a:r>
              <a:rPr sz="1700" b="1"/>
              <a:t>whole</a:t>
            </a:r>
            <a:r>
              <a:rPr sz="1700"/>
              <a:t> measured waveform instead, over the pulse and its return. Now they separate, from 59 mV to over 200.</a:t>
            </a:r>
          </a:p>
          <a:p>
            <a:pPr latinLnBrk="0">
              <a:spcAft>
                <a:spcPts val="400"/>
              </a:spcAft>
            </a:pPr>
            <a:r>
              <a:rPr sz="1700" b="1">
                <a:solidFill>
                  <a:srgbClr val="2B7A43"/>
                </a:solidFill>
              </a:rPr>
              <a:t>That ranking is the choice. The recipe keeps the top row — here K = 3 with the 0.50/0.70 shape, which is also the best of the nine outright.</a:t>
            </a:r>
          </a:p>
        </p:txBody>
      </p:sp>
      <p:pic>
        <p:nvPicPr>
          <p:cNvPr id="4" name="Picture 3" descr="pick_rank.png"/>
          <p:cNvPicPr>
            <a:picLocks noChangeAspect="1"/>
          </p:cNvPicPr>
          <p:nvPr/>
        </p:nvPicPr>
        <p:blipFill>
          <a:blip r:embed="rId2"/>
          <a:stretch>
            <a:fillRect/>
          </a:stretch>
        </p:blipFill>
        <p:spPr>
          <a:xfrm>
            <a:off x="1734237" y="3291840"/>
            <a:ext cx="8738764" cy="3227832"/>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18 · The recipe, end to end</a:t>
            </a:r>
          </a:p>
        </p:txBody>
      </p:sp>
      <p:sp>
        <p:nvSpPr>
          <p:cNvPr id="3" name="Content Placeholder 2"/>
          <p:cNvSpPr>
            <a:spLocks noGrp="1"/>
          </p:cNvSpPr>
          <p:nvPr>
            <p:ph idx="10"/>
          </p:nvPr>
        </p:nvSpPr>
        <p:spPr>
          <a:xfrm>
            <a:off x="411480" y="987552"/>
            <a:ext cx="11384280" cy="2340864"/>
          </a:xfrm>
        </p:spPr>
        <p:txBody>
          <a:bodyPr/>
          <a:lstStyle/>
          <a:p>
            <a:pPr latinLnBrk="0">
              <a:spcAft>
                <a:spcPts val="400"/>
              </a:spcAft>
            </a:pPr>
            <a:r>
              <a:rPr sz="1600" b="1"/>
              <a:t>Assumed as an input:</a:t>
            </a:r>
            <a:r>
              <a:rPr sz="1600"/>
              <a:t> C_comp, with a Ku &gt; 1 validity check on it.</a:t>
            </a:r>
          </a:p>
          <a:p>
            <a:pPr latinLnBrk="0">
              <a:spcAft>
                <a:spcPts val="400"/>
              </a:spcAft>
            </a:pPr>
            <a:r>
              <a:rPr sz="1600" b="1"/>
              <a:t>Steps 1–2, from the file alone:</a:t>
            </a:r>
            <a:r>
              <a:rPr sz="1600"/>
              <a:t> fit s_up, s_dn, vt, x_lin to the file's Ku(t) at each stage count in the band; that leaves nine candidates the file cannot separate.</a:t>
            </a:r>
          </a:p>
          <a:p>
            <a:pPr latinLnBrk="0">
              <a:spcAft>
                <a:spcPts val="400"/>
              </a:spcAft>
            </a:pPr>
            <a:r>
              <a:rPr sz="1600" b="1"/>
              <a:t>Steps 3–4, from one stressed pad run:</a:t>
            </a:r>
            <a:r>
              <a:rPr sz="1600"/>
              <a:t> bisect vt until the peak matches, then pick the candidate whose whole waveform matches.</a:t>
            </a:r>
          </a:p>
          <a:p>
            <a:pPr latinLnBrk="0">
              <a:spcAft>
                <a:spcPts val="400"/>
              </a:spcAft>
            </a:pPr>
            <a:r>
              <a:rPr sz="1600" b="1">
                <a:solidFill>
                  <a:srgbClr val="2B7A43"/>
                </a:solidFill>
              </a:rPr>
              <a:t>Nothing is probed.</a:t>
            </a:r>
            <a:r>
              <a:rPr sz="1600"/>
              <a:t> The only measurement is a pad voltage, from outside the chip.</a:t>
            </a:r>
          </a:p>
        </p:txBody>
      </p:sp>
      <p:pic>
        <p:nvPicPr>
          <p:cNvPr id="4" name="Picture 3" descr="model_blocks.png"/>
          <p:cNvPicPr>
            <a:picLocks noChangeAspect="1"/>
          </p:cNvPicPr>
          <p:nvPr/>
        </p:nvPicPr>
        <p:blipFill>
          <a:blip r:embed="rId2"/>
          <a:stretch>
            <a:fillRect/>
          </a:stretch>
        </p:blipFill>
        <p:spPr>
          <a:xfrm>
            <a:off x="411480" y="3401568"/>
            <a:ext cx="11384280" cy="3096299"/>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 · the three on one bench, at the deepest pulse</a:t>
            </a:r>
          </a:p>
        </p:txBody>
      </p:sp>
      <p:sp>
        <p:nvSpPr>
          <p:cNvPr id="3" name="Content Placeholder 2"/>
          <p:cNvSpPr>
            <a:spLocks noGrp="1"/>
          </p:cNvSpPr>
          <p:nvPr>
            <p:ph idx="10"/>
          </p:nvPr>
        </p:nvSpPr>
        <p:spPr>
          <a:xfrm>
            <a:off x="411480" y="987552"/>
            <a:ext cx="11384280" cy="914400"/>
          </a:xfrm>
        </p:spPr>
        <p:txBody>
          <a:bodyPr/>
          <a:lstStyle/>
          <a:p>
            <a:pPr latinLnBrk="0">
              <a:spcAft>
                <a:spcPts val="400"/>
              </a:spcAft>
            </a:pPr>
            <a:r>
              <a:rPr sz="1800"/>
              <a:t>Transistor in black, HSPICE native IBIS dotted, track 1 in teal. Same netlist, same stimulus, same load.</a:t>
            </a:r>
          </a:p>
          <a:p>
            <a:pPr latinLnBrk="0">
              <a:spcAft>
                <a:spcPts val="400"/>
              </a:spcAft>
            </a:pPr>
            <a:r>
              <a:rPr sz="1800" b="1">
                <a:solidFill>
                  <a:srgbClr val="2B7A43"/>
                </a:solidFill>
              </a:rPr>
              <a:t>Native IBIS is +71 %, +87 % and −20 % on the three buffers. Track 1 is −2 %, −4 % and +2 %.</a:t>
            </a:r>
          </a:p>
        </p:txBody>
      </p:sp>
      <p:pic>
        <p:nvPicPr>
          <p:cNvPr id="4" name="Picture 3" descr="three_way.png"/>
          <p:cNvPicPr>
            <a:picLocks noChangeAspect="1"/>
          </p:cNvPicPr>
          <p:nvPr/>
        </p:nvPicPr>
        <p:blipFill>
          <a:blip r:embed="rId2"/>
          <a:stretch>
            <a:fillRect/>
          </a:stretch>
        </p:blipFill>
        <p:spPr>
          <a:xfrm>
            <a:off x="411480" y="1975104"/>
            <a:ext cx="11384280" cy="3950629"/>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 · every buffer, worst of its stressed widths</a:t>
            </a:r>
          </a:p>
        </p:txBody>
      </p:sp>
      <p:sp>
        <p:nvSpPr>
          <p:cNvPr id="3" name="Content Placeholder 2"/>
          <p:cNvSpPr>
            <a:spLocks noGrp="1"/>
          </p:cNvSpPr>
          <p:nvPr>
            <p:ph idx="10"/>
          </p:nvPr>
        </p:nvSpPr>
        <p:spPr>
          <a:xfrm>
            <a:off x="411480" y="987552"/>
            <a:ext cx="11384280" cy="2231136"/>
          </a:xfrm>
        </p:spPr>
        <p:txBody>
          <a:bodyPr/>
          <a:lstStyle/>
          <a:p>
            <a:pPr latinLnBrk="0">
              <a:spcAft>
                <a:spcPts val="400"/>
              </a:spcAft>
            </a:pPr>
            <a:r>
              <a:rPr sz="1600" b="1"/>
              <a:t>12 of 12 within ±10 % against the transistor; mean 6.9 %.</a:t>
            </a:r>
            <a:r>
              <a:rPr sz="1600"/>
              <a:t> Native IBIS, where it runs at all, is 20 % to 100 %.</a:t>
            </a:r>
          </a:p>
          <a:p>
            <a:pPr latinLnBrk="0">
              <a:spcAft>
                <a:spcPts val="400"/>
              </a:spcAft>
            </a:pPr>
            <a:r>
              <a:rPr sz="1600"/>
              <a:t>Native does not converge on the five ex2 variants — HSPICE's two-waveform solver dies on their 1 ps files and reports the pulse missing at </a:t>
            </a:r>
            <a:r>
              <a:rPr sz="1600" b="1"/>
              <a:t>every</a:t>
            </a:r>
            <a:r>
              <a:rPr sz="1600"/>
              <a:t> depth, the mildest included. Those bars are hatched, not scored.</a:t>
            </a:r>
          </a:p>
          <a:p>
            <a:pPr latinLnBrk="0">
              <a:spcAft>
                <a:spcPts val="400"/>
              </a:spcAft>
            </a:pPr>
            <a:r>
              <a:rPr sz="1600" b="1">
                <a:solidFill>
                  <a:srgbClr val="2B7A43"/>
                </a:solidFill>
              </a:rPr>
              <a:t>What it costs:</a:t>
            </a:r>
            <a:r>
              <a:rPr sz="1600"/>
              <a:t> the full transition is worse than the shipped model on 10 of 12 buffers, and a stressed pulse train is still lost on ex2 and io_buf. We are buying stressed accuracy with full-swing accuracy.</a:t>
            </a:r>
          </a:p>
        </p:txBody>
      </p:sp>
      <p:pic>
        <p:nvPicPr>
          <p:cNvPr id="4" name="Picture 3" descr="endtoend_3.png"/>
          <p:cNvPicPr>
            <a:picLocks noChangeAspect="1"/>
          </p:cNvPicPr>
          <p:nvPr/>
        </p:nvPicPr>
        <p:blipFill>
          <a:blip r:embed="rId2"/>
          <a:stretch>
            <a:fillRect/>
          </a:stretch>
        </p:blipFill>
        <p:spPr>
          <a:xfrm>
            <a:off x="1762501" y="3291840"/>
            <a:ext cx="8682237" cy="3227832"/>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 · what this does not cover yet</a:t>
            </a:r>
          </a:p>
        </p:txBody>
      </p:sp>
      <p:sp>
        <p:nvSpPr>
          <p:cNvPr id="3" name="Content Placeholder 2"/>
          <p:cNvSpPr>
            <a:spLocks noGrp="1"/>
          </p:cNvSpPr>
          <p:nvPr>
            <p:ph idx="10"/>
          </p:nvPr>
        </p:nvSpPr>
        <p:spPr>
          <a:xfrm>
            <a:off x="411480" y="987552"/>
            <a:ext cx="11384280" cy="2340864"/>
          </a:xfrm>
        </p:spPr>
        <p:txBody>
          <a:bodyPr/>
          <a:lstStyle/>
          <a:p>
            <a:pPr latinLnBrk="0">
              <a:spcAft>
                <a:spcPts val="400"/>
              </a:spcAft>
            </a:pPr>
            <a:r>
              <a:rPr sz="1800" b="1"/>
              <a:t>Direction.</a:t>
            </a:r>
            <a:r>
              <a:rPr sz="1800"/>
              <a:t> Everything here is a short HIGH pulse. Only io_buf has been run pulling down, where the model is 16–21 points too shallow — its pull-down chain never turns on at all on a short pulse.</a:t>
            </a:r>
          </a:p>
          <a:p>
            <a:pPr latinLnBrk="0">
              <a:spcAft>
                <a:spcPts val="400"/>
              </a:spcAft>
            </a:pPr>
            <a:r>
              <a:rPr sz="1800" b="1"/>
              <a:t>Depth.</a:t>
            </a:r>
            <a:r>
              <a:rPr sz="1800"/>
              <a:t> The ladder samples 50–90 % of the travel. Below 50 % is unsampled.</a:t>
            </a:r>
          </a:p>
          <a:p>
            <a:pPr latinLnBrk="0">
              <a:spcAft>
                <a:spcPts val="400"/>
              </a:spcAft>
            </a:pPr>
            <a:r>
              <a:rPr sz="1800" b="1"/>
              <a:t>Trains.</a:t>
            </a:r>
            <a:r>
              <a:rPr sz="1800"/>
              <a:t> One pulse at a time; a stressed train is still lost on two of three buffers.</a:t>
            </a:r>
          </a:p>
          <a:p>
            <a:pPr latinLnBrk="0">
              <a:spcAft>
                <a:spcPts val="400"/>
              </a:spcAft>
            </a:pPr>
            <a:r>
              <a:rPr sz="1800" b="1">
                <a:solidFill>
                  <a:srgbClr val="2B7A43"/>
                </a:solidFill>
              </a:rPr>
              <a:t>The recipe has seen the answer key.</a:t>
            </a:r>
            <a:r>
              <a:rPr sz="1800"/>
              <a:t> Two of the three candidate map shapes were chosen by looking at results on these same twelve buffers. A thirteenth buffer may need a shape the grid does not contain.</a:t>
            </a:r>
          </a:p>
        </p:txBody>
      </p:sp>
      <p:pic>
        <p:nvPicPr>
          <p:cNvPr id="4" name="Picture 3" descr="coverage.png"/>
          <p:cNvPicPr>
            <a:picLocks noChangeAspect="1"/>
          </p:cNvPicPr>
          <p:nvPr/>
        </p:nvPicPr>
        <p:blipFill>
          <a:blip r:embed="rId2"/>
          <a:stretch>
            <a:fillRect/>
          </a:stretch>
        </p:blipFill>
        <p:spPr>
          <a:xfrm>
            <a:off x="1785954" y="3401568"/>
            <a:ext cx="8635331" cy="3118104"/>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 where Ku(t) comes from</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800"/>
              <a:t>The file holds the I-V curves and recordings of one transition into </a:t>
            </a:r>
            <a:r>
              <a:rPr sz="1800" b="1"/>
              <a:t>two different loads</a:t>
            </a:r>
            <a:r>
              <a:rPr sz="1800"/>
              <a:t>. At any instant the pad took some current, and both branches supplied it.</a:t>
            </a:r>
          </a:p>
          <a:p>
            <a:pPr latinLnBrk="0">
              <a:spcAft>
                <a:spcPts val="400"/>
              </a:spcAft>
            </a:pPr>
            <a:r>
              <a:rPr sz="1800"/>
              <a:t>Two loads give two equations in the same two unknowns, so one instant gives Ku and Kd outright — no fitting. Every instant gives Ku(t).</a:t>
            </a:r>
          </a:p>
        </p:txBody>
      </p:sp>
      <p:pic>
        <p:nvPicPr>
          <p:cNvPr id="4" name="Picture 3" descr="solve_ku.png"/>
          <p:cNvPicPr>
            <a:picLocks noChangeAspect="1"/>
          </p:cNvPicPr>
          <p:nvPr/>
        </p:nvPicPr>
        <p:blipFill>
          <a:blip r:embed="rId2"/>
          <a:stretch>
            <a:fillRect/>
          </a:stretch>
        </p:blipFill>
        <p:spPr>
          <a:xfrm>
            <a:off x="462583" y="2578608"/>
            <a:ext cx="11282073" cy="3941064"/>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 the nine candidates as waveforms</a:t>
            </a:r>
          </a:p>
        </p:txBody>
      </p:sp>
      <p:sp>
        <p:nvSpPr>
          <p:cNvPr id="3" name="Content Placeholder 2"/>
          <p:cNvSpPr>
            <a:spLocks noGrp="1"/>
          </p:cNvSpPr>
          <p:nvPr>
            <p:ph idx="10"/>
          </p:nvPr>
        </p:nvSpPr>
        <p:spPr>
          <a:xfrm>
            <a:off x="411480" y="987552"/>
            <a:ext cx="11384280" cy="1216152"/>
          </a:xfrm>
        </p:spPr>
        <p:txBody>
          <a:bodyPr/>
          <a:lstStyle/>
          <a:p>
            <a:pPr latinLnBrk="0">
              <a:spcAft>
                <a:spcPts val="400"/>
              </a:spcAft>
            </a:pPr>
            <a:r>
              <a:rPr sz="1800"/>
              <a:t>The same nine as step 5, drawn rather than ranked. Every one reaches the measured peak height — the calibration put it there — and they separate in when that peak arrives, and in the tail.</a:t>
            </a:r>
          </a:p>
          <a:p>
            <a:pPr latinLnBrk="0">
              <a:spcAft>
                <a:spcPts val="400"/>
              </a:spcAft>
            </a:pPr>
            <a:r>
              <a:rPr sz="1800" b="1">
                <a:solidFill>
                  <a:srgbClr val="2B7A43"/>
                </a:solidFill>
              </a:rPr>
              <a:t>The one the recipe picks sits on the transistor.</a:t>
            </a:r>
          </a:p>
        </p:txBody>
      </p:sp>
      <p:pic>
        <p:nvPicPr>
          <p:cNvPr id="4" name="Picture 3" descr="calib_select.png"/>
          <p:cNvPicPr>
            <a:picLocks noChangeAspect="1"/>
          </p:cNvPicPr>
          <p:nvPr/>
        </p:nvPicPr>
        <p:blipFill>
          <a:blip r:embed="rId2"/>
          <a:stretch>
            <a:fillRect/>
          </a:stretch>
        </p:blipFill>
        <p:spPr>
          <a:xfrm>
            <a:off x="483490" y="2276856"/>
            <a:ext cx="11240259" cy="4242816"/>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 inv_chain's input threshold</a:t>
            </a:r>
          </a:p>
        </p:txBody>
      </p:sp>
      <p:sp>
        <p:nvSpPr>
          <p:cNvPr id="3" name="Content Placeholder 2"/>
          <p:cNvSpPr>
            <a:spLocks noGrp="1"/>
          </p:cNvSpPr>
          <p:nvPr>
            <p:ph idx="10"/>
          </p:nvPr>
        </p:nvSpPr>
        <p:spPr>
          <a:xfrm>
            <a:off x="411480" y="987552"/>
            <a:ext cx="11384280" cy="2231136"/>
          </a:xfrm>
        </p:spPr>
        <p:txBody>
          <a:bodyPr/>
          <a:lstStyle/>
          <a:p>
            <a:pPr latinLnBrk="0">
              <a:spcAft>
                <a:spcPts val="400"/>
              </a:spcAft>
            </a:pPr>
            <a:r>
              <a:rPr sz="1800"/>
              <a:t>inv_chain's IBIS file declares Vinh 2.0 V on a 1.8 V part, so our input comparator fires late and trims about 29 ps off every pulse.</a:t>
            </a:r>
          </a:p>
          <a:p>
            <a:pPr latinLnBrk="0">
              <a:spcAft>
                <a:spcPts val="400"/>
              </a:spcAft>
            </a:pPr>
            <a:r>
              <a:rPr sz="1800"/>
              <a:t>That trim cancels most of the gate-state model's overshoot, which is why it reads −2 % at 70 % stress on the previous slides while native IBIS reads +32 %.</a:t>
            </a:r>
          </a:p>
          <a:p>
            <a:pPr latinLnBrk="0">
              <a:spcAft>
                <a:spcPts val="400"/>
              </a:spcAft>
            </a:pPr>
            <a:r>
              <a:rPr sz="1800" b="1">
                <a:solidFill>
                  <a:srgbClr val="2B7A43"/>
                </a:solidFill>
              </a:rPr>
              <a:t>It is a defect that flatters us, not a result.</a:t>
            </a:r>
            <a:r>
              <a:rPr sz="1800"/>
              <a:t> With the threshold at mid-supply the shipped error roughly doubles.</a:t>
            </a:r>
          </a:p>
        </p:txBody>
      </p:sp>
      <p:pic>
        <p:nvPicPr>
          <p:cNvPr id="4" name="Picture 3" descr="vinh_inv.png"/>
          <p:cNvPicPr>
            <a:picLocks noChangeAspect="1"/>
          </p:cNvPicPr>
          <p:nvPr/>
        </p:nvPicPr>
        <p:blipFill>
          <a:blip r:embed="rId2"/>
          <a:stretch>
            <a:fillRect/>
          </a:stretch>
        </p:blipFill>
        <p:spPr>
          <a:xfrm>
            <a:off x="2085298" y="3291840"/>
            <a:ext cx="8036642" cy="3227832"/>
          </a:xfrm>
          <a:prstGeom prst="rect">
            <a:avLst/>
          </a:prstGeom>
        </p:spPr>
      </p:pic>
    </p:spTree>
  </p:cSld>
  <p:clrMapOvr>
    <a:masterClrMapping/>
  </p:clrMapOvr>
</p:sld>
</file>

<file path=ppt/theme/theme1.xml><?xml version="1.0" encoding="utf-8"?>
<a:theme xmlns:a="http://schemas.openxmlformats.org/drawingml/2006/main" name="1_MST_EMC_lab_theme">
  <a:themeElements>
    <a:clrScheme name="Level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fontScheme name="Level">
      <a:majorFont>
        <a:latin typeface="Times New Roman"/>
        <a:ea typeface=""/>
        <a:cs typeface="Arial"/>
      </a:majorFont>
      <a:minorFont>
        <a:latin typeface="Times New Roman"/>
        <a:ea typeface=""/>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bg1"/>
        </a:solidFill>
        <a:ln w="12700">
          <a:solidFill>
            <a:schemeClr val="tx1"/>
          </a:solidFill>
        </a:ln>
      </a:spPr>
      <a:bodyPr rtlCol="0" anchor="ctr"/>
      <a:lstStyle>
        <a:defPPr algn="ctr">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raClrScheme>
      <a:clrScheme name="Level 1">
        <a:dk1>
          <a:srgbClr val="006699"/>
        </a:dk1>
        <a:lt1>
          <a:srgbClr val="FFFFFF"/>
        </a:lt1>
        <a:dk2>
          <a:srgbClr val="000000"/>
        </a:dk2>
        <a:lt2>
          <a:srgbClr val="99FF99"/>
        </a:lt2>
        <a:accent1>
          <a:srgbClr val="00CC99"/>
        </a:accent1>
        <a:accent2>
          <a:srgbClr val="009999"/>
        </a:accent2>
        <a:accent3>
          <a:srgbClr val="AAAAAA"/>
        </a:accent3>
        <a:accent4>
          <a:srgbClr val="DADADA"/>
        </a:accent4>
        <a:accent5>
          <a:srgbClr val="AAE2CA"/>
        </a:accent5>
        <a:accent6>
          <a:srgbClr val="008A8A"/>
        </a:accent6>
        <a:hlink>
          <a:srgbClr val="0066FF"/>
        </a:hlink>
        <a:folHlink>
          <a:srgbClr val="989CBA"/>
        </a:folHlink>
      </a:clrScheme>
      <a:clrMap bg1="dk2" tx1="lt1" bg2="dk1" tx2="lt2" accent1="accent1" accent2="accent2" accent3="accent3" accent4="accent4" accent5="accent5" accent6="accent6" hlink="hlink" folHlink="folHlink"/>
    </a:extraClrScheme>
    <a:extraClrScheme>
      <a:clrScheme name="Level 2">
        <a:dk1>
          <a:srgbClr val="808000"/>
        </a:dk1>
        <a:lt1>
          <a:srgbClr val="FFFFFF"/>
        </a:lt1>
        <a:dk2>
          <a:srgbClr val="5C271E"/>
        </a:dk2>
        <a:lt2>
          <a:srgbClr val="FFDD89"/>
        </a:lt2>
        <a:accent1>
          <a:srgbClr val="CC6600"/>
        </a:accent1>
        <a:accent2>
          <a:srgbClr val="CC9900"/>
        </a:accent2>
        <a:accent3>
          <a:srgbClr val="B5ACAB"/>
        </a:accent3>
        <a:accent4>
          <a:srgbClr val="DADADA"/>
        </a:accent4>
        <a:accent5>
          <a:srgbClr val="E2B8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Level 3">
        <a:dk1>
          <a:srgbClr val="763B00"/>
        </a:dk1>
        <a:lt1>
          <a:srgbClr val="FFFFFF"/>
        </a:lt1>
        <a:dk2>
          <a:srgbClr val="330000"/>
        </a:dk2>
        <a:lt2>
          <a:srgbClr val="CC9900"/>
        </a:lt2>
        <a:accent1>
          <a:srgbClr val="FFCC00"/>
        </a:accent1>
        <a:accent2>
          <a:srgbClr val="CC3300"/>
        </a:accent2>
        <a:accent3>
          <a:srgbClr val="ADAAAA"/>
        </a:accent3>
        <a:accent4>
          <a:srgbClr val="DADADA"/>
        </a:accent4>
        <a:accent5>
          <a:srgbClr val="FFE2AA"/>
        </a:accent5>
        <a:accent6>
          <a:srgbClr val="B92D00"/>
        </a:accent6>
        <a:hlink>
          <a:srgbClr val="666699"/>
        </a:hlink>
        <a:folHlink>
          <a:srgbClr val="999966"/>
        </a:folHlink>
      </a:clrScheme>
      <a:clrMap bg1="dk2" tx1="lt1" bg2="dk1" tx2="lt2" accent1="accent1" accent2="accent2" accent3="accent3" accent4="accent4" accent5="accent5" accent6="accent6" hlink="hlink" folHlink="folHlink"/>
    </a:extraClrScheme>
    <a:extraClrScheme>
      <a:clrScheme name="Level 4">
        <a:dk1>
          <a:srgbClr val="6D3696"/>
        </a:dk1>
        <a:lt1>
          <a:srgbClr val="FFFFFF"/>
        </a:lt1>
        <a:dk2>
          <a:srgbClr val="51255D"/>
        </a:dk2>
        <a:lt2>
          <a:srgbClr val="FFFFCC"/>
        </a:lt2>
        <a:accent1>
          <a:srgbClr val="666699"/>
        </a:accent1>
        <a:accent2>
          <a:srgbClr val="800080"/>
        </a:accent2>
        <a:accent3>
          <a:srgbClr val="B3ACB6"/>
        </a:accent3>
        <a:accent4>
          <a:srgbClr val="DADADA"/>
        </a:accent4>
        <a:accent5>
          <a:srgbClr val="B8B8CA"/>
        </a:accent5>
        <a:accent6>
          <a:srgbClr val="730073"/>
        </a:accent6>
        <a:hlink>
          <a:srgbClr val="CCCC00"/>
        </a:hlink>
        <a:folHlink>
          <a:srgbClr val="A3A274"/>
        </a:folHlink>
      </a:clrScheme>
      <a:clrMap bg1="dk2" tx1="lt1" bg2="dk1" tx2="lt2" accent1="accent1" accent2="accent2" accent3="accent3" accent4="accent4" accent5="accent5" accent6="accent6" hlink="hlink" folHlink="folHlink"/>
    </a:extraClrScheme>
    <a:extraClrScheme>
      <a:clrScheme name="Level 5">
        <a:dk1>
          <a:srgbClr val="CC6600"/>
        </a:dk1>
        <a:lt1>
          <a:srgbClr val="FFFFFF"/>
        </a:lt1>
        <a:dk2>
          <a:srgbClr val="4A553B"/>
        </a:dk2>
        <a:lt2>
          <a:srgbClr val="FFBF1F"/>
        </a:lt2>
        <a:accent1>
          <a:srgbClr val="FFCC00"/>
        </a:accent1>
        <a:accent2>
          <a:srgbClr val="CC9900"/>
        </a:accent2>
        <a:accent3>
          <a:srgbClr val="B1B4AF"/>
        </a:accent3>
        <a:accent4>
          <a:srgbClr val="DADADA"/>
        </a:accent4>
        <a:accent5>
          <a:srgbClr val="FFE2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Level 6">
        <a:dk1>
          <a:srgbClr val="000000"/>
        </a:dk1>
        <a:lt1>
          <a:srgbClr val="FFFFFF"/>
        </a:lt1>
        <a:dk2>
          <a:srgbClr val="666699"/>
        </a:dk2>
        <a:lt2>
          <a:srgbClr val="FFCC00"/>
        </a:lt2>
        <a:accent1>
          <a:srgbClr val="FF9900"/>
        </a:accent1>
        <a:accent2>
          <a:srgbClr val="FF0000"/>
        </a:accent2>
        <a:accent3>
          <a:srgbClr val="FFFFFF"/>
        </a:accent3>
        <a:accent4>
          <a:srgbClr val="000000"/>
        </a:accent4>
        <a:accent5>
          <a:srgbClr val="FFCAAA"/>
        </a:accent5>
        <a:accent6>
          <a:srgbClr val="E70000"/>
        </a:accent6>
        <a:hlink>
          <a:srgbClr val="666699"/>
        </a:hlink>
        <a:folHlink>
          <a:srgbClr val="999966"/>
        </a:folHlink>
      </a:clrScheme>
      <a:clrMap bg1="lt1" tx1="dk1" bg2="lt2" tx2="dk2" accent1="accent1" accent2="accent2" accent3="accent3" accent4="accent4" accent5="accent5" accent6="accent6" hlink="hlink" folHlink="folHlink"/>
    </a:extraClrScheme>
    <a:extraClrScheme>
      <a:clrScheme name="Level 7">
        <a:dk1>
          <a:srgbClr val="000000"/>
        </a:dk1>
        <a:lt1>
          <a:srgbClr val="FFFFFF"/>
        </a:lt1>
        <a:dk2>
          <a:srgbClr val="CC3300"/>
        </a:dk2>
        <a:lt2>
          <a:srgbClr val="663300"/>
        </a:lt2>
        <a:accent1>
          <a:srgbClr val="FFCC00"/>
        </a:accent1>
        <a:accent2>
          <a:srgbClr val="CC6600"/>
        </a:accent2>
        <a:accent3>
          <a:srgbClr val="FFFFFF"/>
        </a:accent3>
        <a:accent4>
          <a:srgbClr val="000000"/>
        </a:accent4>
        <a:accent5>
          <a:srgbClr val="FFE2AA"/>
        </a:accent5>
        <a:accent6>
          <a:srgbClr val="B95C00"/>
        </a:accent6>
        <a:hlink>
          <a:srgbClr val="CC9900"/>
        </a:hlink>
        <a:folHlink>
          <a:srgbClr val="996633"/>
        </a:folHlink>
      </a:clrScheme>
      <a:clrMap bg1="lt1" tx1="dk1" bg2="lt2" tx2="dk2" accent1="accent1" accent2="accent2" accent3="accent3" accent4="accent4" accent5="accent5" accent6="accent6" hlink="hlink" folHlink="folHlink"/>
    </a:extraClrScheme>
    <a:extraClrScheme>
      <a:clrScheme name="Level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MST_EMC_lab_theme" id="{F84A9E38-8E53-459B-962B-D11E178A4856}" vid="{AF41A44A-DCC1-4496-8938-47400BABA38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17</Slides>
  <Notes>1</Notes>
  <HiddenSlides>0</HiddenSlides>
  <ScaleCrop>false</ScaleCrop>
  <HeadingPairs>
    <vt:vector size="4" baseType="variant">
      <vt:variant>
        <vt:lpstr>Theme</vt:lpstr>
      </vt:variant>
      <vt:variant>
        <vt:i4>1</vt:i4>
      </vt:variant>
      <vt:variant>
        <vt:lpstr>Slide Titles</vt:lpstr>
      </vt:variant>
      <vt:variant>
        <vt:i4>17</vt:i4>
      </vt:variant>
    </vt:vector>
  </HeadingPairs>
  <TitlesOfParts>
    <vt:vector size="18" baseType="lpstr">
      <vt:lpstr>1_MST_EMC_lab_theme</vt:lpstr>
      <vt:lpstr>IBIS Simulation Short Pulse Handling</vt:lpstr>
      <vt:lpstr>Table of contents</vt:lpstr>
      <vt:lpstr>Recap</vt:lpstr>
      <vt:lpstr>Ex2 (layout extracted output buffer) variants results</vt:lpstr>
      <vt:lpstr>Inv_chain (8-stage inverter chain) variants results</vt:lpstr>
      <vt:lpstr>Internal stages probing – io_buf </vt:lpstr>
      <vt:lpstr>Internal stages probing – ex2</vt:lpstr>
      <vt:lpstr>Internal stages probing – inv_chain</vt:lpstr>
      <vt:lpstr>Probe the internal stages – io_buf</vt:lpstr>
      <vt:lpstr>PowerPoint Presentation</vt:lpstr>
      <vt:lpstr>PowerPoint Presentation</vt:lpstr>
      <vt:lpstr>Probe the internal stages - ex2</vt:lpstr>
      <vt:lpstr>PowerPoint Presentation</vt:lpstr>
      <vt:lpstr>PowerPoint Presentation</vt:lpstr>
      <vt:lpstr>Probe the internal stages – inv_chain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Lee, Seonghi</dc:creator>
  <cp:revision>3</cp:revision>
  <dcterms:created xsi:type="dcterms:W3CDTF">2025-07-07T19:11:35Z</dcterms:created>
  <dcterms:modified xsi:type="dcterms:W3CDTF">2026-09-18T17:14:53Z</dcterms:modified>
</cp:coreProperties>
</file>