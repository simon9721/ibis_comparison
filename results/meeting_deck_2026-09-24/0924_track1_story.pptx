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9"/>
  </p:notesMasterIdLst>
  <p:sldIdLst>
    <p:sldId id="256" r:id="rId9"/>
    <p:sldId id="257" r:id="rId10"/>
    <p:sldId id="258" r:id="rId11"/>
    <p:sldId id="259" r:id="rId12"/>
    <p:sldId id="260" r:id="rId13"/>
    <p:sldId id="261" r:id="rId14"/>
    <p:sldId id="262" r:id="rId15"/>
    <p:sldId id="263" r:id="rId16"/>
    <p:sldId id="264" r:id="rId17"/>
    <p:sldId id="265" r:id="rId18"/>
    <p:sldId id="266" r:id="rId8"/>
    <p:sldId id="267" r:id="rId7"/>
    <p:sldId id="268" r:id="rId6"/>
    <p:sldId id="269" r:id="rId5"/>
    <p:sldId id="270" r:id="rId4"/>
    <p:sldId id="271" r:id="rId3"/>
    <p:sldId id="272" r:id="rId2"/>
    <p:sldId id="273" r:id="rId26"/>
    <p:sldId id="274" r:id="rId27"/>
    <p:sldId id="275" r:id="rId28"/>
    <p:sldId id="276" r:id="rId29"/>
    <p:sldId id="277" r:id="rId30"/>
    <p:sldId id="278" r:id="rId31"/>
    <p:sldId id="279" r:id="rId32"/>
    <p:sldId id="280" r:id="rId33"/>
    <p:sldId id="281" r:id="rId34"/>
    <p:sldId id="282"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E3D08B1E-3D88-1A97-E8DE-BE8BBEBC7A02}" name="Hwang, Simon (S&amp;T-Student)" initials="HS" userId="S::sh3qm@umsystem.edu::76a09fb8-a1d4-4f76-828e-9524909c17f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21CF"/>
    <a:srgbClr val="FFFFB8"/>
    <a:srgbClr val="FBFB00"/>
    <a:srgbClr val="FFFF29"/>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B5F854-6EE0-1085-1A4B-120A9FE69D43}" v="1" dt="2026-09-18T04:07:12.962"/>
    <p1510:client id="{EE3FB4A7-ED71-7C7F-1029-72FE09E02ECF}" v="15" dt="2026-09-18T17:06:51.781"/>
    <p1510:client id="{EFA4587C-4E70-8C3A-C9F1-251AEC5A864F}" v="105" dt="2026-09-18T17:14:25.1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5/10/relationships/revisionInfo" Target="revisionInfo.xml"/><Relationship Id="rId25" Type="http://schemas.microsoft.com/office/2018/10/relationships/authors" Target="authors.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9/18/2026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here: every earlier version started from the method. This one starts from the measurement, because that is how the work went and it makes the method's motivation earned rather than asserted.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ex2's predriver is three stages; n4 (orange) is the gate of the output device. Probes ran on predriver_stages_2026-09-09; the same schematics exist for io_buf and inv_chain on the 09-18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Ku(t) from the file and the probed n4(t), with five instants marked. Right: the same five instants plotted Ku against gate. This is the measured Ku-vs-gate map, and it is what the next slides drive.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 of the deck. It licenses spending the rest of the time on the gate's shape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the full-swing gate. Black: the real gate under the stressed pulse. Purple: our GUP. Note that the real gate leaves zero around 0.5 ns while GUP is still flat until 1.1 ns, and that GUP's peak arrives after the real gate's.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causal chain end to end: gate shape -&gt; Ku -&gt; pad. At 90 % stress the two gates nearly coincide and the error nearly vanishes, which is why the failure only shows up under stress.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motivation slide, and it only works because the evidence half has shown that the gate's shape is the entire error. Earlier versions of this deck asserted the motivation before showing that.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earlier cut explained where Ku(t) itself comes from - the two-fixture solve. It is now a backup slide: this audience knows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is the full transition; the coloured curves follow it and peel off at different points. This is why the recipe needs exactly one extra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rules out RC cascades, delay-plus-RC and superposition - which is what the shipped model is built from.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input and the threshold it must pass. Right: the output the constant current produces. The next slide turns this picture into the four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Colours tie each term of the equation to its row. u is the stage's input, v its output, both on their own 0-to-1 swing.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Simulated with the project's own stage model from the fitted values the 09-17 film exported.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Degenerate: a free fit splits the delay into one sluggish stage plus one quick one, reproduces the full swing slightly better, and predicts a stressed gate of 0.23 against a measured 0.76.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C_comp is not a model parameter: it is a number the file's own Ku tables were solved with, so a wrong value inflates the curve everything downstream is fitted to.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trial the optimiser actually took, exported live by the 09-17 film. What it does NOT give us is K, or the map's shape.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shapes are (0.50, 0.70), (0.40, 0.60) and (0.40, 0.90). Note on the right that all three already match the peak - that is the calibration, and it is why the peak cannot be what chooses.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iteration the calibration actually wrote, recovered from the netlists it emitted. The vt here is the film's ex2 case; the deck's own K = 3 build lands on 0.632 from a different starting fit.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Ranking on the peak instead picks a chain that arrives up to 300 ps late with four times the waveform error. The nine waveforms themselves are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block diagram as the chain slide, with the recipe attached. This is the slide to leave up during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is the shipped model, blue the build using probed silicon, red the file-only one. Full numbers in docs/track1_recipe.md.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Better said than asked. The direction gap is the one that would most change the headline number.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out of the main line: this audience knows where Ku comes from.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the main slide before; the ranking says the same thing more directly.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Carried from the 09-18 deck so the inv_chain numbers earlier are not read as a win. review_2026-09-09 item 12B has the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 Id="rId3"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Reproducing the real gate from the IBIS file</a:t>
            </a:r>
          </a:p>
        </p:txBody>
      </p:sp>
      <p:sp>
        <p:nvSpPr>
          <p:cNvPr id="3" name="Content Placeholder 2"/>
          <p:cNvSpPr>
            <a:spLocks noGrp="1"/>
          </p:cNvSpPr>
          <p:nvPr>
            <p:ph idx="10"/>
          </p:nvPr>
        </p:nvSpPr>
        <p:spPr>
          <a:xfrm>
            <a:off x="411480" y="987552"/>
            <a:ext cx="11384280" cy="2862072"/>
          </a:xfrm>
        </p:spPr>
        <p:txBody>
          <a:bodyPr/>
          <a:lstStyle/>
          <a:p>
            <a:pPr>
              <a:spcAft>
                <a:spcPts val="400"/>
              </a:spcAft>
            </a:pPr>
            <a:r>
              <a:rPr sz="1800"/>
              <a:t>Simon Huang    ·    24 September 2026</a:t>
            </a:r>
          </a:p>
          <a:p>
            <a:pPr>
              <a:spcAft>
                <a:spcPts val="400"/>
              </a:spcAft>
            </a:pPr>
          </a:p>
          <a:p>
            <a:pPr>
              <a:spcAft>
                <a:spcPts val="400"/>
              </a:spcAft>
            </a:pPr>
            <a:r>
              <a:rPr sz="1800"/>
              <a:t>The output stage is a static map of its own gate, so a stressed pad is right when the gate's shape is right — and the gate is the one thing an IBIS file does not record.</a:t>
            </a:r>
          </a:p>
          <a:p>
            <a:pPr>
              <a:spcAft>
                <a:spcPts val="400"/>
              </a:spcAft>
            </a:pPr>
          </a:p>
          <a:p>
            <a:pPr>
              <a:spcAft>
                <a:spcPts val="400"/>
              </a:spcAft>
            </a:pPr>
            <a:r>
              <a:rPr sz="1800" b="1"/>
              <a:t>1  measure the map      2  show it works      3  show why our gate fails</a:t>
            </a:r>
          </a:p>
          <a:p>
            <a:pPr>
              <a:spcAft>
                <a:spcPts val="400"/>
              </a:spcAft>
            </a:pPr>
            <a:r>
              <a:rPr sz="1800" b="1">
                <a:solidFill>
                  <a:srgbClr val="2B7A43"/>
                </a:solidFill>
              </a:rPr>
              <a:t>4  the motivation      5  the method, step by step      6  where it stands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We can look inside our own test chips</a:t>
            </a:r>
          </a:p>
        </p:txBody>
      </p:sp>
      <p:sp>
        <p:nvSpPr>
          <p:cNvPr id="3" name="Content Placeholder 2"/>
          <p:cNvSpPr>
            <a:spLocks noGrp="1"/>
          </p:cNvSpPr>
          <p:nvPr>
            <p:ph idx="10"/>
          </p:nvPr>
        </p:nvSpPr>
        <p:spPr>
          <a:xfrm>
            <a:off x="411480" y="987552"/>
            <a:ext cx="11384280" cy="1819656"/>
          </a:xfrm>
        </p:spPr>
        <p:txBody>
          <a:bodyPr/>
          <a:lstStyle/>
          <a:p>
            <a:pPr>
              <a:spcAft>
                <a:spcPts val="400"/>
              </a:spcAft>
            </a:pPr>
            <a:r>
              <a:rPr sz="1800"/>
              <a:t>These are our designs, so the transistor netlist is available and every internal node can be probed. A customer using a vendor's IBIS file cannot do this — which is the whole problem, and the reason to do it once, carefully.</a:t>
            </a:r>
          </a:p>
          <a:p>
            <a:pPr>
              <a:spcAft>
                <a:spcPts val="400"/>
              </a:spcAft>
            </a:pPr>
            <a:r>
              <a:rPr sz="1800" b="1">
                <a:solidFill>
                  <a:srgbClr val="2B7A43"/>
                </a:solidFill>
              </a:rPr>
              <a:t>The node that matters is the output stage's gate</a:t>
            </a:r>
            <a:r>
              <a:rPr sz="1800"/>
              <a:t> — ex2's n4 below. Everything the pad does is decided there.</a:t>
            </a:r>
          </a:p>
        </p:txBody>
      </p:sp>
      <p:pic>
        <p:nvPicPr>
          <p:cNvPr id="4" name="Picture 3" descr="schematic_ex2.png"/>
          <p:cNvPicPr>
            <a:picLocks noChangeAspect="1"/>
          </p:cNvPicPr>
          <p:nvPr/>
        </p:nvPicPr>
        <p:blipFill>
          <a:blip r:embed="rId2"/>
          <a:stretch>
            <a:fillRect/>
          </a:stretch>
        </p:blipFill>
        <p:spPr>
          <a:xfrm>
            <a:off x="1554480" y="2880360"/>
            <a:ext cx="9098280" cy="363931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Measuring the map: pair Ku(t) with the gate, instant by instant</a:t>
            </a:r>
          </a:p>
        </p:txBody>
      </p:sp>
      <p:sp>
        <p:nvSpPr>
          <p:cNvPr id="3" name="Content Placeholder 2"/>
          <p:cNvSpPr>
            <a:spLocks noGrp="1"/>
          </p:cNvSpPr>
          <p:nvPr>
            <p:ph idx="10"/>
          </p:nvPr>
        </p:nvSpPr>
        <p:spPr>
          <a:xfrm>
            <a:off x="411480" y="987552"/>
            <a:ext cx="11384280" cy="1216152"/>
          </a:xfrm>
        </p:spPr>
        <p:txBody>
          <a:bodyPr/>
          <a:lstStyle/>
          <a:p>
            <a:pPr>
              <a:spcAft>
                <a:spcPts val="400"/>
              </a:spcAft>
            </a:pPr>
            <a:r>
              <a:rPr sz="1800"/>
              <a:t>The IBIS file gives Ku(t) on one full transition. The probe gives the gate on the same run. At each instant we have both numbers — so plot one against the other.</a:t>
            </a:r>
          </a:p>
          <a:p>
            <a:pPr>
              <a:spcAft>
                <a:spcPts val="400"/>
              </a:spcAft>
            </a:pPr>
            <a:r>
              <a:rPr sz="1800" b="1">
                <a:solidFill>
                  <a:srgbClr val="2B7A43"/>
                </a:solidFill>
              </a:rPr>
              <a:t>The pairing is the map.</a:t>
            </a:r>
            <a:r>
              <a:rPr sz="1800"/>
              <a:t> No fitting: it is read off a single full-swing run.</a:t>
            </a:r>
          </a:p>
        </p:txBody>
      </p:sp>
      <p:pic>
        <p:nvPicPr>
          <p:cNvPr id="4" name="Picture 3" descr="map_from_probe_ex2.png"/>
          <p:cNvPicPr>
            <a:picLocks noChangeAspect="1"/>
          </p:cNvPicPr>
          <p:nvPr/>
        </p:nvPicPr>
        <p:blipFill>
          <a:blip r:embed="rId2"/>
          <a:stretch>
            <a:fillRect/>
          </a:stretch>
        </p:blipFill>
        <p:spPr>
          <a:xfrm>
            <a:off x="411480" y="2276856"/>
            <a:ext cx="11384280" cy="402979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ex2</a:t>
            </a:r>
          </a:p>
        </p:txBody>
      </p:sp>
      <p:sp>
        <p:nvSpPr>
          <p:cNvPr id="3" name="Content Placeholder 2"/>
          <p:cNvSpPr>
            <a:spLocks noGrp="1"/>
          </p:cNvSpPr>
          <p:nvPr>
            <p:ph idx="10"/>
          </p:nvPr>
        </p:nvSpPr>
        <p:spPr>
          <a:xfrm>
            <a:off x="411480" y="987552"/>
            <a:ext cx="11384280" cy="1216152"/>
          </a:xfrm>
        </p:spPr>
        <p:txBody>
          <a:bodyPr/>
          <a:lstStyle/>
          <a:p>
            <a:pPr>
              <a:spcAft>
                <a:spcPts val="400"/>
              </a:spcAft>
            </a:pPr>
            <a:r>
              <a:rPr sz="1800"/>
              <a:t>Drive that measured map with the transistor's own gate; compare against the transistor at all five stress levels.</a:t>
            </a:r>
          </a:p>
          <a:p>
            <a:pPr>
              <a:spcAft>
                <a:spcPts val="400"/>
              </a:spcAft>
            </a:pPr>
            <a:r>
              <a:rPr sz="1800" b="1">
                <a:solidFill>
                  <a:srgbClr val="2B7A43"/>
                </a:solidFill>
              </a:rPr>
              <a:t>Within ±5 % at every level. Native IBIS runs +71 % at the deepest, our own gate-state model +74 %.</a:t>
            </a:r>
          </a:p>
        </p:txBody>
      </p:sp>
      <p:pic>
        <p:nvPicPr>
          <p:cNvPr id="4" name="Picture 3" descr="works_levels_ex2.png"/>
          <p:cNvPicPr>
            <a:picLocks noChangeAspect="1"/>
          </p:cNvPicPr>
          <p:nvPr/>
        </p:nvPicPr>
        <p:blipFill>
          <a:blip r:embed="rId2"/>
          <a:stretch>
            <a:fillRect/>
          </a:stretch>
        </p:blipFill>
        <p:spPr>
          <a:xfrm>
            <a:off x="411480" y="2276856"/>
            <a:ext cx="11384280" cy="334231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inv_chain</a:t>
            </a:r>
          </a:p>
        </p:txBody>
      </p:sp>
      <p:sp>
        <p:nvSpPr>
          <p:cNvPr id="3" name="Content Placeholder 2"/>
          <p:cNvSpPr>
            <a:spLocks noGrp="1"/>
          </p:cNvSpPr>
          <p:nvPr>
            <p:ph idx="10"/>
          </p:nvPr>
        </p:nvSpPr>
        <p:spPr>
          <a:xfrm>
            <a:off x="411480" y="987552"/>
            <a:ext cx="11384280" cy="1517904"/>
          </a:xfrm>
        </p:spPr>
        <p:txBody>
          <a:bodyPr/>
          <a:lstStyle/>
          <a:p>
            <a:pPr>
              <a:spcAft>
                <a:spcPts val="400"/>
              </a:spcAft>
            </a:pPr>
            <a:r>
              <a:rPr sz="1800"/>
              <a:t>Drive that measured map with the transistor's own gate; compare against the transistor at all five stress levels.</a:t>
            </a:r>
          </a:p>
          <a:p>
            <a:pPr>
              <a:spcAft>
                <a:spcPts val="400"/>
              </a:spcAft>
            </a:pPr>
            <a:r>
              <a:rPr sz="1800" b="1">
                <a:solidFill>
                  <a:srgbClr val="2B7A43"/>
                </a:solidFill>
              </a:rPr>
              <a:t>Within +2…+9 %, where native IBIS runs +87 %. Our gate-state model looks good at 70–90 % for the wrong reason — see the backup slide on Vinh.</a:t>
            </a:r>
          </a:p>
        </p:txBody>
      </p:sp>
      <p:pic>
        <p:nvPicPr>
          <p:cNvPr id="4" name="Picture 3" descr="works_levels_inv_chain.png"/>
          <p:cNvPicPr>
            <a:picLocks noChangeAspect="1"/>
          </p:cNvPicPr>
          <p:nvPr/>
        </p:nvPicPr>
        <p:blipFill>
          <a:blip r:embed="rId2"/>
          <a:stretch>
            <a:fillRect/>
          </a:stretch>
        </p:blipFill>
        <p:spPr>
          <a:xfrm>
            <a:off x="411480" y="2578608"/>
            <a:ext cx="11384280" cy="336466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So the output stage is not the problem</a:t>
            </a:r>
          </a:p>
        </p:txBody>
      </p:sp>
      <p:sp>
        <p:nvSpPr>
          <p:cNvPr id="3" name="Content Placeholder 2"/>
          <p:cNvSpPr>
            <a:spLocks noGrp="1"/>
          </p:cNvSpPr>
          <p:nvPr>
            <p:ph idx="10"/>
          </p:nvPr>
        </p:nvSpPr>
        <p:spPr>
          <a:xfrm>
            <a:off x="411480" y="987552"/>
            <a:ext cx="11384280" cy="1627632"/>
          </a:xfrm>
        </p:spPr>
        <p:txBody>
          <a:bodyPr/>
          <a:lstStyle/>
          <a:p>
            <a:pPr>
              <a:spcAft>
                <a:spcPts val="400"/>
              </a:spcAft>
            </a:pPr>
            <a:r>
              <a:rPr sz="1800"/>
              <a:t>Given the right gate, the map reproduces the pad at every stress level, on both buffers.</a:t>
            </a:r>
          </a:p>
          <a:p>
            <a:pPr>
              <a:spcAft>
                <a:spcPts val="400"/>
              </a:spcAft>
            </a:pPr>
            <a:r>
              <a:rPr sz="1800"/>
              <a:t>The map itself is a fixed curve — it has no memory, and it does not change with the pulse. Measured hysteresis between the rising and falling branches is 0.07–0.10.</a:t>
            </a:r>
          </a:p>
          <a:p>
            <a:pPr>
              <a:spcAft>
                <a:spcPts val="400"/>
              </a:spcAft>
            </a:pPr>
            <a:r>
              <a:rPr sz="1800" b="1">
                <a:solidFill>
                  <a:srgbClr val="2B7A43"/>
                </a:solidFill>
              </a:rPr>
              <a:t>Everything that is wrong with our model is therefore in the gate.</a:t>
            </a:r>
          </a:p>
        </p:txBody>
      </p:sp>
      <p:pic>
        <p:nvPicPr>
          <p:cNvPr id="4" name="Picture 3" descr="map_summary.png"/>
          <p:cNvPicPr>
            <a:picLocks noChangeAspect="1"/>
          </p:cNvPicPr>
          <p:nvPr/>
        </p:nvPicPr>
        <p:blipFill>
          <a:blip r:embed="rId2"/>
          <a:stretch>
            <a:fillRect/>
          </a:stretch>
        </p:blipFill>
        <p:spPr>
          <a:xfrm>
            <a:off x="899969" y="2688336"/>
            <a:ext cx="10407301" cy="38313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Why our gate fails: the real gate changes shape, GUP does not</a:t>
            </a:r>
          </a:p>
        </p:txBody>
      </p:sp>
      <p:sp>
        <p:nvSpPr>
          <p:cNvPr id="3" name="Content Placeholder 2"/>
          <p:cNvSpPr>
            <a:spLocks noGrp="1"/>
          </p:cNvSpPr>
          <p:nvPr>
            <p:ph idx="10"/>
          </p:nvPr>
        </p:nvSpPr>
        <p:spPr>
          <a:xfrm>
            <a:off x="411480" y="987552"/>
            <a:ext cx="11384280" cy="1325880"/>
          </a:xfrm>
        </p:spPr>
        <p:txBody>
          <a:bodyPr/>
          <a:lstStyle/>
          <a:p>
            <a:pPr>
              <a:spcAft>
                <a:spcPts val="400"/>
              </a:spcAft>
            </a:pPr>
            <a:r>
              <a:rPr sz="1800"/>
              <a:t>Our GUP is a fixed delay then an RC ramp. Truncating the input truncates that one shape.</a:t>
            </a:r>
          </a:p>
          <a:p>
            <a:pPr>
              <a:spcAft>
                <a:spcPts val="400"/>
              </a:spcAft>
            </a:pPr>
            <a:r>
              <a:rPr sz="1800"/>
              <a:t>The real gate is already moving long before GUP starts, and it turns round earlier.</a:t>
            </a:r>
          </a:p>
          <a:p>
            <a:pPr>
              <a:spcAft>
                <a:spcPts val="400"/>
              </a:spcAft>
            </a:pPr>
            <a:r>
              <a:rPr sz="1800" b="1">
                <a:solidFill>
                  <a:srgbClr val="2B7A43"/>
                </a:solidFill>
              </a:rPr>
              <a:t>Compare the two at each stress level — the mismatch grows as the pulse shortens.</a:t>
            </a:r>
          </a:p>
        </p:txBody>
      </p:sp>
      <p:pic>
        <p:nvPicPr>
          <p:cNvPr id="4" name="Picture 3" descr="gate_shape_ex2.png"/>
          <p:cNvPicPr>
            <a:picLocks noChangeAspect="1"/>
          </p:cNvPicPr>
          <p:nvPr/>
        </p:nvPicPr>
        <p:blipFill>
          <a:blip r:embed="rId2"/>
          <a:stretch>
            <a:fillRect/>
          </a:stretch>
        </p:blipFill>
        <p:spPr>
          <a:xfrm>
            <a:off x="411480" y="2386584"/>
            <a:ext cx="11384280" cy="303883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What that shape difference does downstream</a:t>
            </a:r>
          </a:p>
        </p:txBody>
      </p:sp>
      <p:sp>
        <p:nvSpPr>
          <p:cNvPr id="3" name="Content Placeholder 2"/>
          <p:cNvSpPr>
            <a:spLocks noGrp="1"/>
          </p:cNvSpPr>
          <p:nvPr>
            <p:ph idx="10"/>
          </p:nvPr>
        </p:nvSpPr>
        <p:spPr>
          <a:xfrm>
            <a:off x="411480" y="987552"/>
            <a:ext cx="11384280" cy="914400"/>
          </a:xfrm>
        </p:spPr>
        <p:txBody>
          <a:bodyPr/>
          <a:lstStyle/>
          <a:p>
            <a:pPr>
              <a:spcAft>
                <a:spcPts val="400"/>
              </a:spcAft>
            </a:pPr>
            <a:r>
              <a:rPr sz="1800"/>
              <a:t>Same map, two gates: Ku on top, the pad below. Our peak error: +74 % at 50 % stress, +4 % at 90 %.</a:t>
            </a:r>
          </a:p>
          <a:p>
            <a:pPr>
              <a:spcAft>
                <a:spcPts val="400"/>
              </a:spcAft>
            </a:pPr>
            <a:r>
              <a:rPr sz="1800" b="1">
                <a:solidFill>
                  <a:srgbClr val="2B7A43"/>
                </a:solidFill>
              </a:rPr>
              <a:t>GUP holds Ku high after the real gate has let go, and the pad overshoot is exactly that extra area.</a:t>
            </a:r>
          </a:p>
        </p:txBody>
      </p:sp>
      <p:pic>
        <p:nvPicPr>
          <p:cNvPr id="4" name="Picture 3" descr="ku_consequence_ex2.png"/>
          <p:cNvPicPr>
            <a:picLocks noChangeAspect="1"/>
          </p:cNvPicPr>
          <p:nvPr/>
        </p:nvPicPr>
        <p:blipFill>
          <a:blip r:embed="rId2"/>
          <a:stretch>
            <a:fillRect/>
          </a:stretch>
        </p:blipFill>
        <p:spPr>
          <a:xfrm>
            <a:off x="1988349" y="1975104"/>
            <a:ext cx="8230540" cy="454456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So the problem is now a precise one</a:t>
            </a:r>
          </a:p>
        </p:txBody>
      </p:sp>
      <p:sp>
        <p:nvSpPr>
          <p:cNvPr id="3" name="Content Placeholder 2"/>
          <p:cNvSpPr>
            <a:spLocks noGrp="1"/>
          </p:cNvSpPr>
          <p:nvPr>
            <p:ph idx="10"/>
          </p:nvPr>
        </p:nvSpPr>
        <p:spPr>
          <a:xfrm>
            <a:off x="411480" y="987552"/>
            <a:ext cx="11384280" cy="3163824"/>
          </a:xfrm>
        </p:spPr>
        <p:txBody>
          <a:bodyPr/>
          <a:lstStyle/>
          <a:p>
            <a:pPr>
              <a:spcAft>
                <a:spcPts val="400"/>
              </a:spcAft>
            </a:pPr>
            <a:r>
              <a:rPr sz="1800"/>
              <a:t>We know what a correct model needs: </a:t>
            </a:r>
            <a:r>
              <a:rPr sz="1800" b="1"/>
              <a:t>the real gate's shape</a:t>
            </a:r>
            <a:r>
              <a:rPr sz="1800"/>
              <a:t>, and the map.</a:t>
            </a:r>
          </a:p>
          <a:p>
            <a:pPr>
              <a:spcAft>
                <a:spcPts val="400"/>
              </a:spcAft>
            </a:pPr>
            <a:r>
              <a:rPr sz="1800"/>
              <a:t>We have both — by probing. A customer with only the vendor's IBIS file has neither.</a:t>
            </a:r>
          </a:p>
          <a:p>
            <a:pPr>
              <a:spcAft>
                <a:spcPts val="400"/>
              </a:spcAft>
            </a:pPr>
          </a:p>
          <a:p>
            <a:pPr>
              <a:spcAft>
                <a:spcPts val="400"/>
              </a:spcAft>
            </a:pPr>
            <a:r>
              <a:rPr sz="1800" b="1">
                <a:solidFill>
                  <a:srgbClr val="2B7A43"/>
                </a:solidFill>
              </a:rPr>
              <a:t>The question for track 1: how much of that gate shape can be recovered from the IBIS file plus one measurement taken at the pad, with nothing probed inside?</a:t>
            </a:r>
          </a:p>
          <a:p>
            <a:pPr>
              <a:spcAft>
                <a:spcPts val="400"/>
              </a:spcAft>
            </a:pPr>
          </a:p>
          <a:p>
            <a:pPr>
              <a:spcAft>
                <a:spcPts val="400"/>
              </a:spcAft>
            </a:pPr>
            <a:r>
              <a:rPr sz="1800"/>
              <a:t>Two things have to come from somewhere: how fast the gate travels, and the map's shape. The next slides are about where each one can come from.</a:t>
            </a:r>
          </a:p>
        </p:txBody>
      </p:sp>
      <p:pic>
        <p:nvPicPr>
          <p:cNvPr id="4" name="Picture 3" descr="what_we_have.png"/>
          <p:cNvPicPr>
            <a:picLocks noChangeAspect="1"/>
          </p:cNvPicPr>
          <p:nvPr/>
        </p:nvPicPr>
        <p:blipFill>
          <a:blip r:embed="rId2"/>
          <a:stretch>
            <a:fillRect/>
          </a:stretch>
        </p:blipFill>
        <p:spPr>
          <a:xfrm>
            <a:off x="3085310" y="4224528"/>
            <a:ext cx="6036619" cy="229514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What the file fixes, and what it leaves open</a:t>
            </a:r>
          </a:p>
        </p:txBody>
      </p:sp>
      <p:sp>
        <p:nvSpPr>
          <p:cNvPr id="3" name="Content Placeholder 2"/>
          <p:cNvSpPr>
            <a:spLocks noGrp="1"/>
          </p:cNvSpPr>
          <p:nvPr>
            <p:ph idx="10"/>
          </p:nvPr>
        </p:nvSpPr>
        <p:spPr>
          <a:xfrm>
            <a:off x="411480" y="987552"/>
            <a:ext cx="11384280" cy="2340864"/>
          </a:xfrm>
        </p:spPr>
        <p:txBody>
          <a:bodyPr/>
          <a:lstStyle/>
          <a:p>
            <a:pPr>
              <a:spcAft>
                <a:spcPts val="400"/>
              </a:spcAft>
            </a:pPr>
            <a:r>
              <a:rPr sz="1600"/>
              <a:t>The file gives Ku(t) — a complete waveform, with shape at every instant. Shape is not what is missing.</a:t>
            </a:r>
          </a:p>
          <a:p>
            <a:pPr>
              <a:spcAft>
                <a:spcPts val="400"/>
              </a:spcAft>
            </a:pPr>
            <a:r>
              <a:rPr sz="1600" b="1"/>
              <a:t>What is missing is the split.</a:t>
            </a:r>
            <a:r>
              <a:rPr sz="1600"/>
              <a:t> Ku(t) = map(gate(t)) fixes the composition and nothing more: pick any gate trajectory and the map is forced to whatever reproduces Ku(t). Every such pair matches the file exactly.</a:t>
            </a:r>
          </a:p>
          <a:p>
            <a:pPr>
              <a:spcAft>
                <a:spcPts val="400"/>
              </a:spcAft>
            </a:pPr>
            <a:r>
              <a:rPr sz="1600"/>
              <a:t>With no probe the map cannot be measured, so its shape has to be assumed — and the assumed shape is not the measured curve.</a:t>
            </a:r>
          </a:p>
          <a:p>
            <a:pPr>
              <a:spcAft>
                <a:spcPts val="400"/>
              </a:spcAft>
            </a:pPr>
            <a:r>
              <a:rPr sz="1600" b="1">
                <a:solidFill>
                  <a:srgbClr val="2B7A43"/>
                </a:solidFill>
              </a:rPr>
              <a:t>Assume a different map and the fit hands you a different gate. That is the whole difficulty.</a:t>
            </a:r>
          </a:p>
        </p:txBody>
      </p:sp>
      <p:pic>
        <p:nvPicPr>
          <p:cNvPr id="4" name="Picture 3" descr="prior_shape.png"/>
          <p:cNvPicPr>
            <a:picLocks noChangeAspect="1"/>
          </p:cNvPicPr>
          <p:nvPr/>
        </p:nvPicPr>
        <p:blipFill>
          <a:blip r:embed="rId2"/>
          <a:stretch>
            <a:fillRect/>
          </a:stretch>
        </p:blipFill>
        <p:spPr>
          <a:xfrm>
            <a:off x="2840746" y="3401568"/>
            <a:ext cx="6525746" cy="311810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One more measurement, and a stressed pulse is the one</a:t>
            </a:r>
          </a:p>
        </p:txBody>
      </p:sp>
      <p:sp>
        <p:nvSpPr>
          <p:cNvPr id="3" name="Content Placeholder 2"/>
          <p:cNvSpPr>
            <a:spLocks noGrp="1"/>
          </p:cNvSpPr>
          <p:nvPr>
            <p:ph idx="10"/>
          </p:nvPr>
        </p:nvSpPr>
        <p:spPr>
          <a:xfrm>
            <a:off x="411480" y="987552"/>
            <a:ext cx="11384280" cy="1929384"/>
          </a:xfrm>
        </p:spPr>
        <p:txBody>
          <a:bodyPr/>
          <a:lstStyle/>
          <a:p>
            <a:pPr>
              <a:spcAft>
                <a:spcPts val="400"/>
              </a:spcAft>
            </a:pPr>
            <a:r>
              <a:rPr sz="1800"/>
              <a:t>A full transition cannot separate them. A truncated one can: the chain then produces a </a:t>
            </a:r>
            <a:r>
              <a:rPr sz="1800" b="1"/>
              <a:t>different</a:t>
            </a:r>
            <a:r>
              <a:rPr sz="1800"/>
              <a:t> gate trajectory, and where it turns round depends on how fast the gate was really travelling.</a:t>
            </a:r>
          </a:p>
          <a:p>
            <a:pPr>
              <a:spcAft>
                <a:spcPts val="400"/>
              </a:spcAft>
            </a:pPr>
            <a:r>
              <a:rPr sz="1800"/>
              <a:t>Each stressed width stops the gate at a different height on the same path — here at 0.76, 0.80, 0.84, 0.88 and 0.94.</a:t>
            </a:r>
          </a:p>
          <a:p>
            <a:pPr>
              <a:spcAft>
                <a:spcPts val="400"/>
              </a:spcAft>
            </a:pPr>
            <a:r>
              <a:rPr sz="1800" b="1">
                <a:solidFill>
                  <a:srgbClr val="2B7A43"/>
                </a:solidFill>
              </a:rPr>
              <a:t>Five stress levels are five independent tests of the split, and they cost one measurement at the pad.</a:t>
            </a:r>
          </a:p>
        </p:txBody>
      </p:sp>
      <p:pic>
        <p:nvPicPr>
          <p:cNvPr id="4" name="Picture 3" descr="sampling_grid_ex2.png"/>
          <p:cNvPicPr>
            <a:picLocks noChangeAspect="1"/>
          </p:cNvPicPr>
          <p:nvPr/>
        </p:nvPicPr>
        <p:blipFill>
          <a:blip r:embed="rId2"/>
          <a:stretch>
            <a:fillRect/>
          </a:stretch>
        </p:blipFill>
        <p:spPr>
          <a:xfrm>
            <a:off x="1532388" y="2990088"/>
            <a:ext cx="9142463" cy="352958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But a few samples need a family of shapes to choose from</a:t>
            </a:r>
          </a:p>
        </p:txBody>
      </p:sp>
      <p:sp>
        <p:nvSpPr>
          <p:cNvPr id="3" name="Content Placeholder 2"/>
          <p:cNvSpPr>
            <a:spLocks noGrp="1"/>
          </p:cNvSpPr>
          <p:nvPr>
            <p:ph idx="10"/>
          </p:nvPr>
        </p:nvSpPr>
        <p:spPr>
          <a:xfrm>
            <a:off x="411480" y="987552"/>
            <a:ext cx="11384280" cy="2231136"/>
          </a:xfrm>
        </p:spPr>
        <p:txBody>
          <a:bodyPr/>
          <a:lstStyle/>
          <a:p>
            <a:pPr>
              <a:spcAft>
                <a:spcPts val="400"/>
              </a:spcAft>
            </a:pPr>
            <a:r>
              <a:rPr sz="1700"/>
              <a:t>Five samples cannot pick a curve out of all possible curves. They can pick one out of a small family — so what family does this circuit actually produce?</a:t>
            </a:r>
          </a:p>
          <a:p>
            <a:pPr>
              <a:spcAft>
                <a:spcPts val="400"/>
              </a:spcAft>
            </a:pPr>
            <a:r>
              <a:rPr sz="1700"/>
              <a:t>Probe every stage under a short pulse against what a </a:t>
            </a:r>
            <a:r>
              <a:rPr sz="1700" b="1"/>
              <a:t>linear</a:t>
            </a:r>
            <a:r>
              <a:rPr sz="1700"/>
              <a:t> filter would give: its own step response, superposed.</a:t>
            </a:r>
          </a:p>
          <a:p>
            <a:pPr>
              <a:spcAft>
                <a:spcPts val="400"/>
              </a:spcAft>
            </a:pPr>
            <a:r>
              <a:rPr sz="1700" b="1">
                <a:solidFill>
                  <a:srgbClr val="2B7A43"/>
                </a:solidFill>
              </a:rPr>
              <a:t>Every stage under-reaches, and the gap compounds down the chain — at the pad the linear prediction says 1.00 where the transistor does 0.50. So the family is not linear.</a:t>
            </a:r>
          </a:p>
        </p:txBody>
      </p:sp>
      <p:pic>
        <p:nvPicPr>
          <p:cNvPr id="4" name="Picture 3" descr="stage_nonlinear_ex2.png"/>
          <p:cNvPicPr>
            <a:picLocks noChangeAspect="1"/>
          </p:cNvPicPr>
          <p:nvPr/>
        </p:nvPicPr>
        <p:blipFill>
          <a:blip r:embed="rId2"/>
          <a:stretch>
            <a:fillRect/>
          </a:stretch>
        </p:blipFill>
        <p:spPr>
          <a:xfrm>
            <a:off x="1203658" y="3291840"/>
            <a:ext cx="9799922" cy="322783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The family: a stage is a current source with a threshold</a:t>
            </a:r>
          </a:p>
        </p:txBody>
      </p:sp>
      <p:sp>
        <p:nvSpPr>
          <p:cNvPr id="3" name="Content Placeholder 2"/>
          <p:cNvSpPr>
            <a:spLocks noGrp="1"/>
          </p:cNvSpPr>
          <p:nvPr>
            <p:ph idx="10"/>
          </p:nvPr>
        </p:nvSpPr>
        <p:spPr>
          <a:xfrm>
            <a:off x="411480" y="987552"/>
            <a:ext cx="11384280" cy="1819656"/>
          </a:xfrm>
        </p:spPr>
        <p:txBody>
          <a:bodyPr/>
          <a:lstStyle/>
          <a:p>
            <a:pPr>
              <a:spcAft>
                <a:spcPts val="400"/>
              </a:spcAft>
            </a:pPr>
            <a:r>
              <a:rPr sz="1800"/>
              <a:t>A CMOS inverter driving a large load is a </a:t>
            </a:r>
            <a:r>
              <a:rPr sz="1800" b="1"/>
              <a:t>current source</a:t>
            </a:r>
            <a:r>
              <a:rPr sz="1800"/>
              <a:t> while its input sits at the rail, because its conducting device is in saturation. Only near the destination rail does it leave saturation and become a resistor.</a:t>
            </a:r>
          </a:p>
          <a:p>
            <a:pPr>
              <a:spcAft>
                <a:spcPts val="400"/>
              </a:spcAft>
            </a:pPr>
            <a:r>
              <a:rPr sz="1800" b="1">
                <a:solidFill>
                  <a:srgbClr val="2B7A43"/>
                </a:solidFill>
              </a:rPr>
              <a:t>A constant current into a gate capacitance is a ramp, tapering at the end</a:t>
            </a:r>
            <a:r>
              <a:rPr sz="1800"/>
              <a:t> — which is what the measured stages do.</a:t>
            </a:r>
          </a:p>
        </p:txBody>
      </p:sp>
      <p:pic>
        <p:nvPicPr>
          <p:cNvPr id="4" name="Picture 3" descr="stage_law.png"/>
          <p:cNvPicPr>
            <a:picLocks noChangeAspect="1"/>
          </p:cNvPicPr>
          <p:nvPr/>
        </p:nvPicPr>
        <p:blipFill>
          <a:blip r:embed="rId2"/>
          <a:stretch>
            <a:fillRect/>
          </a:stretch>
        </p:blipFill>
        <p:spPr>
          <a:xfrm>
            <a:off x="411480" y="2880360"/>
            <a:ext cx="11384280" cy="350466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The four numbers that picture requires</a:t>
            </a:r>
          </a:p>
        </p:txBody>
      </p:sp>
      <p:sp>
        <p:nvSpPr>
          <p:cNvPr id="3" name="Content Placeholder 2"/>
          <p:cNvSpPr>
            <a:spLocks noGrp="1"/>
          </p:cNvSpPr>
          <p:nvPr>
            <p:ph idx="10"/>
          </p:nvPr>
        </p:nvSpPr>
        <p:spPr>
          <a:xfrm>
            <a:off x="411480" y="987552"/>
            <a:ext cx="11384280" cy="1517904"/>
          </a:xfrm>
        </p:spPr>
        <p:txBody>
          <a:bodyPr/>
          <a:lstStyle/>
          <a:p>
            <a:pPr>
              <a:spcAft>
                <a:spcPts val="400"/>
              </a:spcAft>
            </a:pPr>
            <a:r>
              <a:rPr sz="1800"/>
              <a:t>Written out, the stage law has exactly four free numbers and no more. Each one is a named part of the picture on the last slide, not a fitting coefficient.</a:t>
            </a:r>
          </a:p>
          <a:p>
            <a:pPr>
              <a:spcAft>
                <a:spcPts val="400"/>
              </a:spcAft>
            </a:pPr>
            <a:r>
              <a:rPr sz="1800" b="1">
                <a:solidFill>
                  <a:srgbClr val="2B7A43"/>
                </a:solidFill>
              </a:rPr>
              <a:t>Three are fitted to the file and cost nothing. One, vt, is fitted and then re-set by the single stressed run — that is step 4.</a:t>
            </a:r>
          </a:p>
        </p:txBody>
      </p:sp>
      <p:pic>
        <p:nvPicPr>
          <p:cNvPr id="4" name="Picture 3" descr="four_numbers.png"/>
          <p:cNvPicPr>
            <a:picLocks noChangeAspect="1"/>
          </p:cNvPicPr>
          <p:nvPr/>
        </p:nvPicPr>
        <p:blipFill>
          <a:blip r:embed="rId2"/>
          <a:stretch>
            <a:fillRect/>
          </a:stretch>
        </p:blipFill>
        <p:spPr>
          <a:xfrm>
            <a:off x="1500917" y="2578608"/>
            <a:ext cx="9205404" cy="394106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What each of the four actually does</a:t>
            </a:r>
          </a:p>
        </p:txBody>
      </p:sp>
      <p:sp>
        <p:nvSpPr>
          <p:cNvPr id="3" name="Content Placeholder 2"/>
          <p:cNvSpPr>
            <a:spLocks noGrp="1"/>
          </p:cNvSpPr>
          <p:nvPr>
            <p:ph idx="10"/>
          </p:nvPr>
        </p:nvSpPr>
        <p:spPr>
          <a:xfrm>
            <a:off x="411480" y="987552"/>
            <a:ext cx="11384280" cy="1517904"/>
          </a:xfrm>
        </p:spPr>
        <p:txBody>
          <a:bodyPr/>
          <a:lstStyle/>
          <a:p>
            <a:pPr>
              <a:spcAft>
                <a:spcPts val="400"/>
              </a:spcAft>
            </a:pPr>
            <a:r>
              <a:rPr sz="1800"/>
              <a:t>Each swept on its own about the value the fit chose, on the 810 ps pulse. The thick black trace is the fitted value.</a:t>
            </a:r>
          </a:p>
          <a:p>
            <a:pPr>
              <a:spcAft>
                <a:spcPts val="400"/>
              </a:spcAft>
            </a:pPr>
            <a:r>
              <a:rPr sz="1800" b="1">
                <a:solidFill>
                  <a:srgbClr val="2B7A43"/>
                </a:solidFill>
              </a:rPr>
              <a:t>Look at the vt panel: pushed high enough the gate never leaves the floor — a chain can extinguish a short pulse, not merely shrink it.</a:t>
            </a:r>
          </a:p>
        </p:txBody>
      </p:sp>
      <p:pic>
        <p:nvPicPr>
          <p:cNvPr id="4" name="Picture 3" descr="knobs.png"/>
          <p:cNvPicPr>
            <a:picLocks noChangeAspect="1"/>
          </p:cNvPicPr>
          <p:nvPr/>
        </p:nvPicPr>
        <p:blipFill>
          <a:blip r:embed="rId2"/>
          <a:stretch>
            <a:fillRect/>
          </a:stretch>
        </p:blipFill>
        <p:spPr>
          <a:xfrm>
            <a:off x="1567646" y="2578608"/>
            <a:ext cx="9071947" cy="394106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Why a chain of K of them</a:t>
            </a:r>
          </a:p>
        </p:txBody>
      </p:sp>
      <p:sp>
        <p:nvSpPr>
          <p:cNvPr id="3" name="Content Placeholder 2"/>
          <p:cNvSpPr>
            <a:spLocks noGrp="1"/>
          </p:cNvSpPr>
          <p:nvPr>
            <p:ph idx="10"/>
          </p:nvPr>
        </p:nvSpPr>
        <p:spPr>
          <a:xfrm>
            <a:off x="411480" y="987552"/>
            <a:ext cx="11384280" cy="2231136"/>
          </a:xfrm>
        </p:spPr>
        <p:txBody>
          <a:bodyPr/>
          <a:lstStyle/>
          <a:p>
            <a:pPr>
              <a:spcAft>
                <a:spcPts val="400"/>
              </a:spcAft>
            </a:pPr>
            <a:r>
              <a:rPr sz="1700"/>
              <a:t>The real predriver </a:t>
            </a:r>
            <a:r>
              <a:rPr sz="1700" b="1"/>
              <a:t>is</a:t>
            </a:r>
            <a:r>
              <a:rPr sz="1700"/>
              <a:t> a chain — the schematic earlier showed three inverters between ex2's input and its output gate, and the stage walk watched a pulse lose height at each.</a:t>
            </a:r>
          </a:p>
          <a:p>
            <a:pPr>
              <a:spcAft>
                <a:spcPts val="400"/>
              </a:spcAft>
            </a:pPr>
            <a:r>
              <a:rPr sz="1700"/>
              <a:t>We cannot see how many a vendor's part has, so the count K is a parameter. The stages are held </a:t>
            </a:r>
            <a:r>
              <a:rPr sz="1700" b="1"/>
              <a:t>identical</a:t>
            </a:r>
            <a:r>
              <a:rPr sz="1700"/>
              <a:t>: a real tapered predriver approximately is, and letting them differ makes the fit degenerate.</a:t>
            </a:r>
          </a:p>
          <a:p>
            <a:pPr>
              <a:spcAft>
                <a:spcPts val="400"/>
              </a:spcAft>
            </a:pPr>
            <a:r>
              <a:rPr sz="1700" b="1">
                <a:solidFill>
                  <a:srgbClr val="2B7A43"/>
                </a:solidFill>
              </a:rPr>
              <a:t>Everything to the right of the gate is the file's own, untouched — the map and the I-V tables. We are only building the left-hand box.</a:t>
            </a:r>
          </a:p>
        </p:txBody>
      </p:sp>
      <p:pic>
        <p:nvPicPr>
          <p:cNvPr id="4" name="Picture 3" descr="model_blocks.png"/>
          <p:cNvPicPr>
            <a:picLocks noChangeAspect="1"/>
          </p:cNvPicPr>
          <p:nvPr/>
        </p:nvPicPr>
        <p:blipFill>
          <a:blip r:embed="rId2"/>
          <a:stretch>
            <a:fillRect/>
          </a:stretch>
        </p:blipFill>
        <p:spPr>
          <a:xfrm>
            <a:off x="411480" y="3291840"/>
            <a:ext cx="11384280" cy="3096299"/>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 Step 1 — C_comp, rejected by the file's own arithmetic</a:t>
            </a:r>
          </a:p>
        </p:txBody>
      </p:sp>
      <p:sp>
        <p:nvSpPr>
          <p:cNvPr id="3" name="Content Placeholder 2"/>
          <p:cNvSpPr>
            <a:spLocks noGrp="1"/>
          </p:cNvSpPr>
          <p:nvPr>
            <p:ph idx="10"/>
          </p:nvPr>
        </p:nvSpPr>
        <p:spPr>
          <a:xfrm>
            <a:off x="411480" y="987552"/>
            <a:ext cx="11384280" cy="2532888"/>
          </a:xfrm>
        </p:spPr>
        <p:txBody>
          <a:bodyPr/>
          <a:lstStyle/>
          <a:p>
            <a:pPr>
              <a:spcAft>
                <a:spcPts val="400"/>
              </a:spcAft>
            </a:pPr>
            <a:r>
              <a:rPr sz="1700"/>
              <a:t>Ku is a fraction of the device's own current, so it cannot exceed 1. Solve the file at a range of assumed C_comp and watch what the solve returns.</a:t>
            </a:r>
          </a:p>
          <a:p>
            <a:pPr>
              <a:spcAft>
                <a:spcPts val="400"/>
              </a:spcAft>
            </a:pPr>
            <a:r>
              <a:rPr sz="1700" b="1">
                <a:solidFill>
                  <a:srgbClr val="2B7A43"/>
                </a:solidFill>
              </a:rPr>
              <a:t>ex2's declared 5.0 pF makes the file imply Ku = 1.24 — impossible. The file rejects its own declared value.</a:t>
            </a:r>
          </a:p>
          <a:p>
            <a:pPr>
              <a:spcAft>
                <a:spcPts val="400"/>
              </a:spcAft>
            </a:pPr>
            <a:r>
              <a:rPr sz="1700"/>
              <a:t>So: keep what the file declares unless it implies Ku &gt; 1, then take the value at which Ku just reaches 1. That reads 2.64 pF here, against 1.70 measured with a probe — 55 % off, and it still works, because the stressed peak is not sharp in C_comp.</a:t>
            </a:r>
          </a:p>
        </p:txBody>
      </p:sp>
      <p:pic>
        <p:nvPicPr>
          <p:cNvPr id="4" name="Picture 3" descr="ccomp_reject.png"/>
          <p:cNvPicPr>
            <a:picLocks noChangeAspect="1"/>
          </p:cNvPicPr>
          <p:nvPr/>
        </p:nvPicPr>
        <p:blipFill>
          <a:blip r:embed="rId2"/>
          <a:stretch>
            <a:fillRect/>
          </a:stretch>
        </p:blipFill>
        <p:spPr>
          <a:xfrm>
            <a:off x="2657163" y="3593592"/>
            <a:ext cx="6892913" cy="29260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14 · Step 2 — the four numbers, fitted to the file's Ku(t)</a:t>
            </a:r>
          </a:p>
        </p:txBody>
      </p:sp>
      <p:sp>
        <p:nvSpPr>
          <p:cNvPr id="3" name="Content Placeholder 2"/>
          <p:cNvSpPr>
            <a:spLocks noGrp="1"/>
          </p:cNvSpPr>
          <p:nvPr>
            <p:ph idx="10"/>
          </p:nvPr>
        </p:nvSpPr>
        <p:spPr>
          <a:xfrm>
            <a:off x="411480" y="987552"/>
            <a:ext cx="11384280" cy="1627632"/>
          </a:xfrm>
        </p:spPr>
        <p:txBody>
          <a:bodyPr/>
          <a:lstStyle/>
          <a:p>
            <a:pPr>
              <a:spcAft>
                <a:spcPts val="400"/>
              </a:spcAft>
            </a:pPr>
            <a:r>
              <a:rPr sz="1800"/>
              <a:t>The four are searched until the chain's output, put through the map, reproduces </a:t>
            </a:r>
            <a:r>
              <a:rPr sz="1800" b="1"/>
              <a:t>the file's own full-swing Ku(t)</a:t>
            </a:r>
            <a:r>
              <a:rPr sz="1800"/>
              <a:t> — the black curve. Nelder–Mead, three restarts.</a:t>
            </a:r>
          </a:p>
          <a:p>
            <a:pPr>
              <a:spcAft>
                <a:spcPts val="400"/>
              </a:spcAft>
            </a:pPr>
            <a:r>
              <a:rPr sz="1800"/>
              <a:t>Error 0.284 down to 0.0098, landing on s_up 2.59, s_dn 2.38, vt 0.51, x_lin 0.66.</a:t>
            </a:r>
          </a:p>
          <a:p>
            <a:pPr>
              <a:spcAft>
                <a:spcPts val="400"/>
              </a:spcAft>
            </a:pPr>
            <a:r>
              <a:rPr sz="1800" b="1">
                <a:solidFill>
                  <a:srgbClr val="2B7A43"/>
                </a:solidFill>
              </a:rPr>
              <a:t>No measurement is involved: the target is a curve the file already contains.</a:t>
            </a:r>
          </a:p>
        </p:txBody>
      </p:sp>
      <p:pic>
        <p:nvPicPr>
          <p:cNvPr id="4" name="Picture 3" descr="fit_search.png"/>
          <p:cNvPicPr>
            <a:picLocks noChangeAspect="1"/>
          </p:cNvPicPr>
          <p:nvPr/>
        </p:nvPicPr>
        <p:blipFill>
          <a:blip r:embed="rId2"/>
          <a:stretch>
            <a:fillRect/>
          </a:stretch>
        </p:blipFill>
        <p:spPr>
          <a:xfrm>
            <a:off x="512569" y="2688336"/>
            <a:ext cx="11182100" cy="3831336"/>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15 · Step 3 — what the file cannot choose</a:t>
            </a:r>
          </a:p>
        </p:txBody>
      </p:sp>
      <p:sp>
        <p:nvSpPr>
          <p:cNvPr id="3" name="Content Placeholder 2"/>
          <p:cNvSpPr>
            <a:spLocks noGrp="1"/>
          </p:cNvSpPr>
          <p:nvPr>
            <p:ph idx="10"/>
          </p:nvPr>
        </p:nvSpPr>
        <p:spPr>
          <a:xfrm>
            <a:off x="411480" y="987552"/>
            <a:ext cx="11384280" cy="2231136"/>
          </a:xfrm>
        </p:spPr>
        <p:txBody>
          <a:bodyPr/>
          <a:lstStyle/>
          <a:p>
            <a:pPr>
              <a:spcAft>
                <a:spcPts val="400"/>
              </a:spcAft>
            </a:pPr>
            <a:r>
              <a:rPr sz="1800"/>
              <a:t>Left: the fit error against the file's Ku(t), for every stage count. Past K = 3 it is </a:t>
            </a:r>
            <a:r>
              <a:rPr sz="1800" b="1"/>
              <a:t>flat</a:t>
            </a:r>
            <a:r>
              <a:rPr sz="1800"/>
              <a:t> — the file has nothing left to say.</a:t>
            </a:r>
          </a:p>
          <a:p>
            <a:pPr>
              <a:spcAft>
                <a:spcPts val="400"/>
              </a:spcAft>
            </a:pPr>
            <a:r>
              <a:rPr sz="1800"/>
              <a:t>Right: the three candidates inside that band, on one 810 ps pulse. Same file, same fit quality, </a:t>
            </a:r>
            <a:r>
              <a:rPr sz="1800" b="1"/>
              <a:t>three completely different buffers</a:t>
            </a:r>
            <a:r>
              <a:rPr sz="1800"/>
              <a:t>.</a:t>
            </a:r>
          </a:p>
          <a:p>
            <a:pPr>
              <a:spcAft>
                <a:spcPts val="400"/>
              </a:spcAft>
            </a:pPr>
            <a:r>
              <a:rPr sz="1800" b="1">
                <a:solidFill>
                  <a:srgbClr val="2B7A43"/>
                </a:solidFill>
              </a:rPr>
              <a:t>The map's shape is under-determined in the same way</a:t>
            </a:r>
            <a:r>
              <a:rPr sz="1800"/>
              <a:t> — the degeneracy slide. Three stage counts × three map shapes = nine candidates.</a:t>
            </a:r>
          </a:p>
        </p:txBody>
      </p:sp>
      <p:pic>
        <p:nvPicPr>
          <p:cNvPr id="4" name="Picture 3" descr="k_choice.png"/>
          <p:cNvPicPr>
            <a:picLocks noChangeAspect="1"/>
          </p:cNvPicPr>
          <p:nvPr/>
        </p:nvPicPr>
        <p:blipFill>
          <a:blip r:embed="rId2"/>
          <a:stretch>
            <a:fillRect/>
          </a:stretch>
        </p:blipFill>
        <p:spPr>
          <a:xfrm>
            <a:off x="1397800" y="3291840"/>
            <a:ext cx="9411638" cy="3227832"/>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16 · Step 4 — the stressed run, first job: set the amplitude</a:t>
            </a:r>
          </a:p>
        </p:txBody>
      </p:sp>
      <p:sp>
        <p:nvSpPr>
          <p:cNvPr id="3" name="Content Placeholder 2"/>
          <p:cNvSpPr>
            <a:spLocks noGrp="1"/>
          </p:cNvSpPr>
          <p:nvPr>
            <p:ph idx="10"/>
          </p:nvPr>
        </p:nvSpPr>
        <p:spPr>
          <a:xfrm>
            <a:off x="411480" y="987552"/>
            <a:ext cx="11384280" cy="2231136"/>
          </a:xfrm>
        </p:spPr>
        <p:txBody>
          <a:bodyPr/>
          <a:lstStyle/>
          <a:p>
            <a:pPr>
              <a:spcAft>
                <a:spcPts val="400"/>
              </a:spcAft>
            </a:pPr>
            <a:r>
              <a:rPr sz="1800"/>
              <a:t>Now the measured waveform enters. </a:t>
            </a:r>
            <a:r>
              <a:rPr sz="1800" b="1"/>
              <a:t>Fitted to the file alone the chain leaves the 810 ps pad 28 % low</a:t>
            </a:r>
            <a:r>
              <a:rPr sz="1800"/>
              <a:t> — the file can set the shape, but not the amplitude.</a:t>
            </a:r>
          </a:p>
          <a:p>
            <a:pPr>
              <a:spcAft>
                <a:spcPts val="400"/>
              </a:spcAft>
            </a:pPr>
            <a:r>
              <a:rPr sz="1800"/>
              <a:t>So bisect vt against the measured peak. The two spikes are the bracket being probed first: vt = 0 overshoots by 26 %, vt = 0.7 kills the pulse entirely at −99 %. Then halve. Ten runs, landing on vt 0.487 and +1.4 %.</a:t>
            </a:r>
          </a:p>
          <a:p>
            <a:pPr>
              <a:spcAft>
                <a:spcPts val="400"/>
              </a:spcAft>
            </a:pPr>
            <a:r>
              <a:rPr sz="1800" b="1">
                <a:solidFill>
                  <a:srgbClr val="2B7A43"/>
                </a:solidFill>
              </a:rPr>
              <a:t>Why vt and not the drive rates? The rates were fitted to reproduce the full swing, and moving them breaks it. vt changes when the chain hands off, not how fast it runs.</a:t>
            </a:r>
          </a:p>
        </p:txBody>
      </p:sp>
      <p:pic>
        <p:nvPicPr>
          <p:cNvPr id="4" name="Picture 3" descr="bisection.png"/>
          <p:cNvPicPr>
            <a:picLocks noChangeAspect="1"/>
          </p:cNvPicPr>
          <p:nvPr/>
        </p:nvPicPr>
        <p:blipFill>
          <a:blip r:embed="rId2"/>
          <a:stretch>
            <a:fillRect/>
          </a:stretch>
        </p:blipFill>
        <p:spPr>
          <a:xfrm>
            <a:off x="1395221" y="3291840"/>
            <a:ext cx="9416797" cy="3227832"/>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17 · Step 5 — the stressed run, second job: pick one</a:t>
            </a:r>
          </a:p>
        </p:txBody>
      </p:sp>
      <p:sp>
        <p:nvSpPr>
          <p:cNvPr id="3" name="Content Placeholder 2"/>
          <p:cNvSpPr>
            <a:spLocks noGrp="1"/>
          </p:cNvSpPr>
          <p:nvPr>
            <p:ph idx="10"/>
          </p:nvPr>
        </p:nvSpPr>
        <p:spPr>
          <a:xfrm>
            <a:off x="411480" y="987552"/>
            <a:ext cx="11384280" cy="2231136"/>
          </a:xfrm>
        </p:spPr>
        <p:txBody>
          <a:bodyPr/>
          <a:lstStyle/>
          <a:p>
            <a:pPr>
              <a:spcAft>
                <a:spcPts val="400"/>
              </a:spcAft>
            </a:pPr>
            <a:r>
              <a:rPr sz="1700"/>
              <a:t>All nine candidates are now calibrated, so </a:t>
            </a:r>
            <a:r>
              <a:rPr sz="1700" b="1"/>
              <a:t>all nine hit the measured peak</a:t>
            </a:r>
            <a:r>
              <a:rPr sz="1700"/>
              <a:t> — the calibration put it there. Right-hand panel: ranked on the peak every one is within 2.5 %, in no meaningful order.</a:t>
            </a:r>
          </a:p>
          <a:p>
            <a:pPr>
              <a:spcAft>
                <a:spcPts val="400"/>
              </a:spcAft>
            </a:pPr>
            <a:r>
              <a:rPr sz="1700"/>
              <a:t>Left-hand panel: score each one against the </a:t>
            </a:r>
            <a:r>
              <a:rPr sz="1700" b="1"/>
              <a:t>whole</a:t>
            </a:r>
            <a:r>
              <a:rPr sz="1700"/>
              <a:t> measured waveform instead, over the pulse and its return. Now they separate, from 59 mV to over 200.</a:t>
            </a:r>
          </a:p>
          <a:p>
            <a:pPr>
              <a:spcAft>
                <a:spcPts val="400"/>
              </a:spcAft>
            </a:pPr>
            <a:r>
              <a:rPr sz="1700" b="1">
                <a:solidFill>
                  <a:srgbClr val="2B7A43"/>
                </a:solidFill>
              </a:rPr>
              <a:t>That ranking is the choice. The recipe keeps the top row — here K = 3 with the 0.50/0.70 shape, which is also the best of the nine outright.</a:t>
            </a:r>
          </a:p>
        </p:txBody>
      </p:sp>
      <p:pic>
        <p:nvPicPr>
          <p:cNvPr id="4" name="Picture 3" descr="pick_rank.png"/>
          <p:cNvPicPr>
            <a:picLocks noChangeAspect="1"/>
          </p:cNvPicPr>
          <p:nvPr/>
        </p:nvPicPr>
        <p:blipFill>
          <a:blip r:embed="rId2"/>
          <a:stretch>
            <a:fillRect/>
          </a:stretch>
        </p:blipFill>
        <p:spPr>
          <a:xfrm>
            <a:off x="1734237" y="3291840"/>
            <a:ext cx="8738764" cy="322783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18 · The recipe, end to end</a:t>
            </a:r>
          </a:p>
        </p:txBody>
      </p:sp>
      <p:sp>
        <p:nvSpPr>
          <p:cNvPr id="3" name="Content Placeholder 2"/>
          <p:cNvSpPr>
            <a:spLocks noGrp="1"/>
          </p:cNvSpPr>
          <p:nvPr>
            <p:ph idx="10"/>
          </p:nvPr>
        </p:nvSpPr>
        <p:spPr>
          <a:xfrm>
            <a:off x="411480" y="987552"/>
            <a:ext cx="11384280" cy="2340864"/>
          </a:xfrm>
        </p:spPr>
        <p:txBody>
          <a:bodyPr/>
          <a:lstStyle/>
          <a:p>
            <a:pPr>
              <a:spcAft>
                <a:spcPts val="400"/>
              </a:spcAft>
            </a:pPr>
            <a:r>
              <a:rPr sz="1600" b="1"/>
              <a:t>From the file alone:</a:t>
            </a:r>
            <a:r>
              <a:rPr sz="1600"/>
              <a:t> C_comp, kept unless its own Ku &gt; 1 test rejects it; then s_up, s_dn, vt, x_lin fitted to the file's Ku(t) at each stage count in the band.</a:t>
            </a:r>
          </a:p>
          <a:p>
            <a:pPr>
              <a:spcAft>
                <a:spcPts val="400"/>
              </a:spcAft>
            </a:pPr>
            <a:r>
              <a:rPr sz="1600" b="1"/>
              <a:t>Left undetermined by the file:</a:t>
            </a:r>
            <a:r>
              <a:rPr sz="1600"/>
              <a:t> the stage count and the map's shape — nine candidates in all.</a:t>
            </a:r>
          </a:p>
          <a:p>
            <a:pPr>
              <a:spcAft>
                <a:spcPts val="400"/>
              </a:spcAft>
            </a:pPr>
            <a:r>
              <a:rPr sz="1600" b="1"/>
              <a:t>From one stressed pad run, in order:</a:t>
            </a:r>
            <a:r>
              <a:rPr sz="1600"/>
              <a:t> bisect vt until the peak matches, then pick the candidate whose whole waveform matches.</a:t>
            </a:r>
          </a:p>
          <a:p>
            <a:pPr>
              <a:spcAft>
                <a:spcPts val="400"/>
              </a:spcAft>
            </a:pPr>
            <a:r>
              <a:rPr sz="1600" b="1">
                <a:solidFill>
                  <a:srgbClr val="2B7A43"/>
                </a:solidFill>
              </a:rPr>
              <a:t>Nothing is probed.</a:t>
            </a:r>
            <a:r>
              <a:rPr sz="1600"/>
              <a:t> The only measurement is a pad voltage, from outside the chip.</a:t>
            </a:r>
          </a:p>
        </p:txBody>
      </p:sp>
      <p:pic>
        <p:nvPicPr>
          <p:cNvPr id="4" name="Picture 3" descr="model_blocks.png"/>
          <p:cNvPicPr>
            <a:picLocks noChangeAspect="1"/>
          </p:cNvPicPr>
          <p:nvPr/>
        </p:nvPicPr>
        <p:blipFill>
          <a:blip r:embed="rId2"/>
          <a:stretch>
            <a:fillRect/>
          </a:stretch>
        </p:blipFill>
        <p:spPr>
          <a:xfrm>
            <a:off x="411480" y="3401568"/>
            <a:ext cx="11384280" cy="3096299"/>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where the file-only recipe stands</a:t>
            </a:r>
          </a:p>
        </p:txBody>
      </p:sp>
      <p:sp>
        <p:nvSpPr>
          <p:cNvPr id="3" name="Content Placeholder 2"/>
          <p:cNvSpPr>
            <a:spLocks noGrp="1"/>
          </p:cNvSpPr>
          <p:nvPr>
            <p:ph idx="10"/>
          </p:nvPr>
        </p:nvSpPr>
        <p:spPr>
          <a:xfrm>
            <a:off x="411480" y="987552"/>
            <a:ext cx="11384280" cy="1929384"/>
          </a:xfrm>
        </p:spPr>
        <p:txBody>
          <a:bodyPr/>
          <a:lstStyle/>
          <a:p>
            <a:pPr>
              <a:spcAft>
                <a:spcPts val="400"/>
              </a:spcAft>
            </a:pPr>
            <a:r>
              <a:rPr sz="1800" b="1"/>
              <a:t>12 of 12 buffers within ±10 % on the worst stressed pulse; mean 6.9 %.</a:t>
            </a:r>
          </a:p>
          <a:p>
            <a:pPr>
              <a:spcAft>
                <a:spcPts val="400"/>
              </a:spcAft>
            </a:pPr>
            <a:r>
              <a:rPr sz="1800"/>
              <a:t>On inv_chain the file-only build reaches 5.1 %, against 25.8 % for a build that uses the probed silicon — the shape choice matters more than the measurement.</a:t>
            </a:r>
          </a:p>
          <a:p>
            <a:pPr>
              <a:spcAft>
                <a:spcPts val="400"/>
              </a:spcAft>
            </a:pPr>
            <a:r>
              <a:rPr sz="1800" b="1">
                <a:solidFill>
                  <a:srgbClr val="2B7A43"/>
                </a:solidFill>
              </a:rPr>
              <a:t>What it costs:</a:t>
            </a:r>
            <a:r>
              <a:rPr sz="1800"/>
              <a:t> the full transition is worse than the shipped model on 10 of 12 buffers, and a stressed pulse train is still lost on ex2 and io_buf. We are buying stressed accuracy with full-swing accuracy.</a:t>
            </a:r>
          </a:p>
        </p:txBody>
      </p:sp>
      <p:pic>
        <p:nvPicPr>
          <p:cNvPr id="4" name="Picture 3" descr="endtoend.png"/>
          <p:cNvPicPr>
            <a:picLocks noChangeAspect="1"/>
          </p:cNvPicPr>
          <p:nvPr/>
        </p:nvPicPr>
        <p:blipFill>
          <a:blip r:embed="rId2"/>
          <a:stretch>
            <a:fillRect/>
          </a:stretch>
        </p:blipFill>
        <p:spPr>
          <a:xfrm>
            <a:off x="1507807" y="2990088"/>
            <a:ext cx="9191625" cy="3529584"/>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what this does not cover yet</a:t>
            </a:r>
          </a:p>
        </p:txBody>
      </p:sp>
      <p:sp>
        <p:nvSpPr>
          <p:cNvPr id="3" name="Content Placeholder 2"/>
          <p:cNvSpPr>
            <a:spLocks noGrp="1"/>
          </p:cNvSpPr>
          <p:nvPr>
            <p:ph idx="10"/>
          </p:nvPr>
        </p:nvSpPr>
        <p:spPr>
          <a:xfrm>
            <a:off x="411480" y="987552"/>
            <a:ext cx="11384280" cy="2340864"/>
          </a:xfrm>
        </p:spPr>
        <p:txBody>
          <a:bodyPr/>
          <a:lstStyle/>
          <a:p>
            <a:pPr>
              <a:spcAft>
                <a:spcPts val="400"/>
              </a:spcAft>
            </a:pPr>
            <a:r>
              <a:rPr sz="1800" b="1"/>
              <a:t>Direction.</a:t>
            </a:r>
            <a:r>
              <a:rPr sz="1800"/>
              <a:t> Everything here is a short HIGH pulse. Only io_buf has been run pulling down, where the model is 16–21 points too shallow — its pull-down chain never turns on at all on a short pulse.</a:t>
            </a:r>
          </a:p>
          <a:p>
            <a:pPr>
              <a:spcAft>
                <a:spcPts val="400"/>
              </a:spcAft>
            </a:pPr>
            <a:r>
              <a:rPr sz="1800" b="1"/>
              <a:t>Depth.</a:t>
            </a:r>
            <a:r>
              <a:rPr sz="1800"/>
              <a:t> The ladder samples 50–90 % of the travel. Below 50 % is unsampled.</a:t>
            </a:r>
          </a:p>
          <a:p>
            <a:pPr>
              <a:spcAft>
                <a:spcPts val="400"/>
              </a:spcAft>
            </a:pPr>
            <a:r>
              <a:rPr sz="1800" b="1"/>
              <a:t>Trains.</a:t>
            </a:r>
            <a:r>
              <a:rPr sz="1800"/>
              <a:t> One pulse at a time; a stressed train is still lost on two of three buffers.</a:t>
            </a:r>
          </a:p>
          <a:p>
            <a:pPr>
              <a:spcAft>
                <a:spcPts val="400"/>
              </a:spcAft>
            </a:pPr>
            <a:r>
              <a:rPr sz="1800" b="1">
                <a:solidFill>
                  <a:srgbClr val="2B7A43"/>
                </a:solidFill>
              </a:rPr>
              <a:t>The recipe has seen the answer key.</a:t>
            </a:r>
            <a:r>
              <a:rPr sz="1800"/>
              <a:t> Two of the three candidate map shapes were chosen by looking at results on these same twelve buffers. A thirteenth buffer may need a shape the grid does not contain.</a:t>
            </a:r>
          </a:p>
        </p:txBody>
      </p:sp>
      <p:pic>
        <p:nvPicPr>
          <p:cNvPr id="4" name="Picture 3" descr="coverage.png"/>
          <p:cNvPicPr>
            <a:picLocks noChangeAspect="1"/>
          </p:cNvPicPr>
          <p:nvPr/>
        </p:nvPicPr>
        <p:blipFill>
          <a:blip r:embed="rId2"/>
          <a:stretch>
            <a:fillRect/>
          </a:stretch>
        </p:blipFill>
        <p:spPr>
          <a:xfrm>
            <a:off x="1785954" y="3401568"/>
            <a:ext cx="8635331" cy="3118104"/>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where Ku(t) comes from</a:t>
            </a:r>
          </a:p>
        </p:txBody>
      </p:sp>
      <p:sp>
        <p:nvSpPr>
          <p:cNvPr id="3" name="Content Placeholder 2"/>
          <p:cNvSpPr>
            <a:spLocks noGrp="1"/>
          </p:cNvSpPr>
          <p:nvPr>
            <p:ph idx="10"/>
          </p:nvPr>
        </p:nvSpPr>
        <p:spPr>
          <a:xfrm>
            <a:off x="411480" y="987552"/>
            <a:ext cx="11384280" cy="1517904"/>
          </a:xfrm>
        </p:spPr>
        <p:txBody>
          <a:bodyPr/>
          <a:lstStyle/>
          <a:p>
            <a:pPr>
              <a:spcAft>
                <a:spcPts val="400"/>
              </a:spcAft>
            </a:pPr>
            <a:r>
              <a:rPr sz="1800"/>
              <a:t>The file holds the I-V curves and recordings of one transition into </a:t>
            </a:r>
            <a:r>
              <a:rPr sz="1800" b="1"/>
              <a:t>two different loads</a:t>
            </a:r>
            <a:r>
              <a:rPr sz="1800"/>
              <a:t>. At any instant the pad took some current, and both branches supplied it.</a:t>
            </a:r>
          </a:p>
          <a:p>
            <a:pPr>
              <a:spcAft>
                <a:spcPts val="400"/>
              </a:spcAft>
            </a:pPr>
            <a:r>
              <a:rPr sz="1800"/>
              <a:t>Two loads give two equations in the same two unknowns, so one instant gives Ku and Kd outright — no fitting. Every instant gives Ku(t).</a:t>
            </a:r>
          </a:p>
        </p:txBody>
      </p:sp>
      <p:pic>
        <p:nvPicPr>
          <p:cNvPr id="4" name="Picture 3" descr="solve_ku.png"/>
          <p:cNvPicPr>
            <a:picLocks noChangeAspect="1"/>
          </p:cNvPicPr>
          <p:nvPr/>
        </p:nvPicPr>
        <p:blipFill>
          <a:blip r:embed="rId2"/>
          <a:stretch>
            <a:fillRect/>
          </a:stretch>
        </p:blipFill>
        <p:spPr>
          <a:xfrm>
            <a:off x="462583" y="2578608"/>
            <a:ext cx="11282073" cy="3941064"/>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the nine candidates as waveforms</a:t>
            </a:r>
          </a:p>
        </p:txBody>
      </p:sp>
      <p:sp>
        <p:nvSpPr>
          <p:cNvPr id="3" name="Content Placeholder 2"/>
          <p:cNvSpPr>
            <a:spLocks noGrp="1"/>
          </p:cNvSpPr>
          <p:nvPr>
            <p:ph idx="10"/>
          </p:nvPr>
        </p:nvSpPr>
        <p:spPr>
          <a:xfrm>
            <a:off x="411480" y="987552"/>
            <a:ext cx="11384280" cy="1216152"/>
          </a:xfrm>
        </p:spPr>
        <p:txBody>
          <a:bodyPr/>
          <a:lstStyle/>
          <a:p>
            <a:pPr>
              <a:spcAft>
                <a:spcPts val="400"/>
              </a:spcAft>
            </a:pPr>
            <a:r>
              <a:rPr sz="1800"/>
              <a:t>The same nine as step 5, drawn rather than ranked. Every one reaches the measured peak height — the calibration put it there — and they separate in when that peak arrives, and in the tail.</a:t>
            </a:r>
          </a:p>
          <a:p>
            <a:pPr>
              <a:spcAft>
                <a:spcPts val="400"/>
              </a:spcAft>
            </a:pPr>
            <a:r>
              <a:rPr sz="1800" b="1">
                <a:solidFill>
                  <a:srgbClr val="2B7A43"/>
                </a:solidFill>
              </a:rPr>
              <a:t>The one the recipe picks sits on the transistor.</a:t>
            </a:r>
          </a:p>
        </p:txBody>
      </p:sp>
      <p:pic>
        <p:nvPicPr>
          <p:cNvPr id="4" name="Picture 3" descr="calib_select.png"/>
          <p:cNvPicPr>
            <a:picLocks noChangeAspect="1"/>
          </p:cNvPicPr>
          <p:nvPr/>
        </p:nvPicPr>
        <p:blipFill>
          <a:blip r:embed="rId2"/>
          <a:stretch>
            <a:fillRect/>
          </a:stretch>
        </p:blipFill>
        <p:spPr>
          <a:xfrm>
            <a:off x="483490" y="2276856"/>
            <a:ext cx="11240259" cy="4242816"/>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inv_chain's input threshold</a:t>
            </a:r>
          </a:p>
        </p:txBody>
      </p:sp>
      <p:sp>
        <p:nvSpPr>
          <p:cNvPr id="3" name="Content Placeholder 2"/>
          <p:cNvSpPr>
            <a:spLocks noGrp="1"/>
          </p:cNvSpPr>
          <p:nvPr>
            <p:ph idx="10"/>
          </p:nvPr>
        </p:nvSpPr>
        <p:spPr>
          <a:xfrm>
            <a:off x="411480" y="987552"/>
            <a:ext cx="11384280" cy="2231136"/>
          </a:xfrm>
        </p:spPr>
        <p:txBody>
          <a:bodyPr/>
          <a:lstStyle/>
          <a:p>
            <a:pPr>
              <a:spcAft>
                <a:spcPts val="400"/>
              </a:spcAft>
            </a:pPr>
            <a:r>
              <a:rPr sz="1800"/>
              <a:t>inv_chain's IBIS file declares Vinh 2.0 V on a 1.8 V part, so our input comparator fires late and trims about 29 ps off every pulse.</a:t>
            </a:r>
          </a:p>
          <a:p>
            <a:pPr>
              <a:spcAft>
                <a:spcPts val="400"/>
              </a:spcAft>
            </a:pPr>
            <a:r>
              <a:rPr sz="1800"/>
              <a:t>That trim cancels most of the gate-state model's overshoot, which is why it reads −2 % at 70 % stress on the previous slides while native IBIS reads +32 %.</a:t>
            </a:r>
          </a:p>
          <a:p>
            <a:pPr>
              <a:spcAft>
                <a:spcPts val="400"/>
              </a:spcAft>
            </a:pPr>
            <a:r>
              <a:rPr sz="1800" b="1">
                <a:solidFill>
                  <a:srgbClr val="2B7A43"/>
                </a:solidFill>
              </a:rPr>
              <a:t>It is a defect that flatters us, not a result.</a:t>
            </a:r>
            <a:r>
              <a:rPr sz="1800"/>
              <a:t> With the threshold at mid-supply the shipped error roughly doubles.</a:t>
            </a:r>
          </a:p>
        </p:txBody>
      </p:sp>
      <p:pic>
        <p:nvPicPr>
          <p:cNvPr id="4" name="Picture 3" descr="vinh_inv.png"/>
          <p:cNvPicPr>
            <a:picLocks noChangeAspect="1"/>
          </p:cNvPicPr>
          <p:nvPr/>
        </p:nvPicPr>
        <p:blipFill>
          <a:blip r:embed="rId2"/>
          <a:stretch>
            <a:fillRect/>
          </a:stretch>
        </p:blipFill>
        <p:spPr>
          <a:xfrm>
            <a:off x="2085298" y="3291840"/>
            <a:ext cx="8036642" cy="3227832"/>
          </a:xfrm>
          <a:prstGeom prst="rect">
            <a:avLst/>
          </a:prstGeom>
        </p:spPr>
      </p:pic>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17</Slides>
  <Notes>1</Notes>
  <HiddenSlides>0</HiddenSlides>
  <ScaleCrop>false</ScaleCrop>
  <HeadingPairs>
    <vt:vector size="4" baseType="variant">
      <vt:variant>
        <vt:lpstr>Theme</vt:lpstr>
      </vt:variant>
      <vt:variant>
        <vt:i4>1</vt:i4>
      </vt:variant>
      <vt:variant>
        <vt:lpstr>Slide Titles</vt:lpstr>
      </vt:variant>
      <vt:variant>
        <vt:i4>17</vt:i4>
      </vt:variant>
    </vt:vector>
  </HeadingPairs>
  <TitlesOfParts>
    <vt:vector size="18" baseType="lpstr">
      <vt:lpstr>1_MST_EMC_lab_theme</vt:lpstr>
      <vt:lpstr>IBIS Simulation Short Pulse Handling</vt:lpstr>
      <vt:lpstr>Table of contents</vt:lpstr>
      <vt:lpstr>Recap</vt:lpstr>
      <vt:lpstr>Ex2 (layout extracted output buffer) variants results</vt:lpstr>
      <vt:lpstr>Inv_chain (8-stage inverter chain) variants results</vt:lpstr>
      <vt:lpstr>Internal stages probing – io_buf </vt:lpstr>
      <vt:lpstr>Internal stages probing – ex2</vt:lpstr>
      <vt:lpstr>Internal stages probing – inv_chain</vt:lpstr>
      <vt:lpstr>Probe the internal stages – io_buf</vt:lpstr>
      <vt:lpstr>PowerPoint Presentation</vt:lpstr>
      <vt:lpstr>PowerPoint Presentation</vt:lpstr>
      <vt:lpstr>Probe the internal stages - ex2</vt:lpstr>
      <vt:lpstr>PowerPoint Presentation</vt:lpstr>
      <vt:lpstr>PowerPoint Presentation</vt:lpstr>
      <vt:lpstr>Probe the internal stages – inv_chain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3</cp:revision>
  <dcterms:created xsi:type="dcterms:W3CDTF">2025-07-07T19:11:35Z</dcterms:created>
  <dcterms:modified xsi:type="dcterms:W3CDTF">2026-09-18T17:14:53Z</dcterms:modified>
</cp:coreProperties>
</file>