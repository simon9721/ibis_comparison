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 the real gate under the stressed pulse. Purple: the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is ex2's own predriver from slide 2, with the third inverter picked out. B is that inverter as transistors, driving the next stage's gate capacitance. C is what it reduces to while the output rises: the NMOS off, the PMOS saturated, so a fixed current into a fixed capacitance. The next slide says which of the device's voltages u and v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this slide the next two are unreadable: they plot 'share of full current' against u and against v, and the viewer has no way to know those are the device's own gate and drain voltages. For the PMOS pulling up, source on VDD: |V_GS| = VDD - v_in and |V_DS| = VDD - v_out.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Leventhal &amp; Green, Semiconductor Modeling, section 3.8 printed page 89 (pdf 105): the SPICE Level 1 / Shichman-Hodges equations 3-23 to 3-25. Note the naming trap: a MOSFET's SATURATION region is its constant-current one, the opposite sense to a BJT. The equations beneath are the standard long-channel ones; for 0.6 um devices they are themselves an approximation, and velocity saturation extends the real constant-current region.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 = 1: it is not a claim about the device, it is an admission that the file cannot see p - every value from 1 to 2 fits the full-swing Ku(t) to rms 0.002-0.007. Why the straight line: it keeps the stage law solvable in one expression, and the stressed pulse turns round before the gate is deep into this region on most buffers.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collapse is an identity, not an approximation: I/I_sat = min(1, r(2-r)) with r = V_DS/(V_GS-V_th), checked to 4e-16 over 20 000 random (V_ov, V_DS) in results/model_provenance_2026-09-25/check_factorisation.py. And the normalised saturation current is exactly ((u-vt)/(1-vt))^2, which is h(u) with p = 2. If anyone asks which parts are assumed, it is the three cells in the right-hand column.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the backbone and the threshold are standard device behaviour, the exponent is flattened by necessity, the taper and the chain are chosen by choice. This is the slide to stand behind if someone says the model is derived from physics - it is not, and the results do not depend on it being.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the gate-state model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the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in-house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gate-state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the gate-state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the GUP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The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_nofull.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Two gates, each through its own map: Ku on top, the pad below. Gate-state is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2261597" y="2276856"/>
            <a:ext cx="7684045" cy="424281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three slides are where it, and the two things that modulate it, come from.</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device's two voltages, as the model's two variables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The law is written in </a:t>
            </a:r>
            <a:r>
              <a:rPr sz="1600" b="1"/>
              <a:t>u</a:t>
            </a:r>
            <a:r>
              <a:rPr sz="1600"/>
              <a:t> and </a:t>
            </a:r>
            <a:r>
              <a:rPr sz="1600" b="1"/>
              <a:t>v</a:t>
            </a:r>
            <a:r>
              <a:rPr sz="1600"/>
              <a:t>; the physics is written in </a:t>
            </a:r>
            <a:r>
              <a:rPr sz="1600" b="1"/>
              <a:t>V_GS</a:t>
            </a:r>
            <a:r>
              <a:rPr sz="1600"/>
              <a:t> and </a:t>
            </a:r>
            <a:r>
              <a:rPr sz="1600" b="1"/>
              <a:t>V_DS</a:t>
            </a:r>
            <a:r>
              <a:rPr sz="1600"/>
              <a:t>. Same two quantities, measured down from the rail the device sits on: </a:t>
            </a:r>
            <a:r>
              <a:rPr sz="1600" b="1"/>
              <a:t>u = |V_GS| / swing</a:t>
            </a:r>
            <a:r>
              <a:rPr sz="1600"/>
              <a:t> and </a:t>
            </a:r>
            <a:r>
              <a:rPr sz="1600" b="1"/>
              <a:t>1 − v = |V_DS| / swing</a:t>
            </a:r>
            <a:r>
              <a:rPr sz="1600"/>
              <a:t>.</a:t>
            </a:r>
          </a:p>
          <a:p>
            <a:pPr latinLnBrk="0">
              <a:spcAft>
                <a:spcPts val="400"/>
              </a:spcAft>
            </a:pPr>
            <a:r>
              <a:rPr sz="1600" b="1">
                <a:solidFill>
                  <a:srgbClr val="2B7A43"/>
                </a:solidFill>
              </a:rPr>
              <a:t>u rises as the stage turns on — though this is an inverter and its input fell to do it. Normalising each stage in the direction that turns it on is the whole reason a chain of inverters reads as non-inverting.</a:t>
            </a:r>
          </a:p>
        </p:txBody>
      </p:sp>
      <p:pic>
        <p:nvPicPr>
          <p:cNvPr id="4" name="Picture 3" descr="uv_bridge.png"/>
          <p:cNvPicPr>
            <a:picLocks noChangeAspect="1"/>
          </p:cNvPicPr>
          <p:nvPr/>
        </p:nvPicPr>
        <p:blipFill>
          <a:blip r:embed="rId2"/>
          <a:stretch>
            <a:fillRect/>
          </a:stretch>
        </p:blipFill>
        <p:spPr>
          <a:xfrm>
            <a:off x="411480" y="2578608"/>
            <a:ext cx="11384280" cy="319346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one MOSFET actually does</a:t>
            </a:r>
          </a:p>
        </p:txBody>
      </p:sp>
      <p:sp>
        <p:nvSpPr>
          <p:cNvPr id="3" name="Content Placeholder 2"/>
          <p:cNvSpPr>
            <a:spLocks noGrp="1"/>
          </p:cNvSpPr>
          <p:nvPr>
            <p:ph idx="10"/>
          </p:nvPr>
        </p:nvSpPr>
        <p:spPr>
          <a:xfrm>
            <a:off x="411480" y="987552"/>
            <a:ext cx="11384280" cy="2121408"/>
          </a:xfrm>
        </p:spPr>
        <p:txBody>
          <a:bodyPr/>
          <a:lstStyle/>
          <a:p>
            <a:pPr latinLnBrk="0">
              <a:spcAft>
                <a:spcPts val="400"/>
              </a:spcAft>
            </a:pPr>
            <a:r>
              <a:rPr sz="1700"/>
              <a:t>A transistor has three regimes. </a:t>
            </a:r>
            <a:r>
              <a:rPr sz="1700" b="1"/>
              <a:t>Below threshold</a:t>
            </a:r>
            <a:r>
              <a:rPr sz="1700"/>
              <a:t> it passes nothing. </a:t>
            </a:r>
            <a:r>
              <a:rPr sz="1700" b="1"/>
              <a:t>Saturated</a:t>
            </a:r>
            <a:r>
              <a:rPr sz="1700"/>
              <a:t> — which here means a large voltage across it — its current stops depending on that voltage, so it behaves like a current source. </a:t>
            </a:r>
            <a:r>
              <a:rPr sz="1700" b="1"/>
              <a:t>In triode</a:t>
            </a:r>
            <a:r>
              <a:rPr sz="1700"/>
              <a:t> it is a resistor again, and on these parts that is most of the travel, not a sliver near the rail.</a:t>
            </a:r>
          </a:p>
          <a:p>
            <a:pPr latinLnBrk="0">
              <a:spcAft>
                <a:spcPts val="400"/>
              </a:spcAft>
            </a:pPr>
            <a:r>
              <a:rPr sz="1700" b="1">
                <a:solidFill>
                  <a:srgbClr val="2B7A43"/>
                </a:solidFill>
              </a:rPr>
              <a:t>These three regimes are what the stage law is built from — but the law is a compact stand-in for them, not a derivation of them. The next slide is where it departs, and by how much.</a:t>
            </a:r>
          </a:p>
        </p:txBody>
      </p:sp>
      <p:pic>
        <p:nvPicPr>
          <p:cNvPr id="4" name="Picture 3" descr="mos_regions.png"/>
          <p:cNvPicPr>
            <a:picLocks noChangeAspect="1"/>
          </p:cNvPicPr>
          <p:nvPr/>
        </p:nvPicPr>
        <p:blipFill>
          <a:blip r:embed="rId2"/>
          <a:stretch>
            <a:fillRect/>
          </a:stretch>
        </p:blipFill>
        <p:spPr>
          <a:xfrm>
            <a:off x="1174897" y="3182112"/>
            <a:ext cx="9857444" cy="33375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What we keep of that, and what we replace</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800"/>
              <a:t>The stage law's version of each regime, drawn on top of a real device's. Below threshold we copy it. Saturated we keep the shape and flatten the exponent from 2 to 1. Into triode we put a straight line of </a:t>
            </a:r>
            <a:r>
              <a:rPr sz="1800" b="1"/>
              <a:t>fixed</a:t>
            </a:r>
            <a:r>
              <a:rPr sz="1800"/>
              <a:t> width where the device's width changes with its input.</a:t>
            </a:r>
          </a:p>
          <a:p>
            <a:pPr latinLnBrk="0">
              <a:spcAft>
                <a:spcPts val="400"/>
              </a:spcAft>
            </a:pPr>
            <a:r>
              <a:rPr sz="1800" b="1">
                <a:solidFill>
                  <a:srgbClr val="2B7A43"/>
                </a:solidFill>
              </a:rPr>
              <a:t>What x_lin really says is: the modelled stage keeps pushing at full current for the first 55 % of its travel, where a real device gives up at 12 %.</a:t>
            </a:r>
            <a:r>
              <a:rPr sz="1800"/>
              <a:t> Over the travel we deliver about </a:t>
            </a:r>
            <a:r>
              <a:rPr sz="1800" b="1">
                <a:solidFill>
                  <a:srgbClr val="2B7A43"/>
                </a:solidFill>
              </a:rPr>
              <a:t>10 % more charge</a:t>
            </a:r>
            <a:r>
              <a:rPr sz="1800"/>
              <a:t> than the device would. That is the largest approximation in the model and the first thing to distrust.</a:t>
            </a:r>
          </a:p>
          <a:p>
            <a:pPr latinLnBrk="0">
              <a:spcAft>
                <a:spcPts val="400"/>
              </a:spcAft>
            </a:pPr>
            <a:r>
              <a:rPr sz="1800"/>
              <a:t>In its favour: 0.45 is where a real device's boundary sits when its input is only </a:t>
            </a:r>
            <a:r>
              <a:rPr sz="1800" b="1"/>
              <a:t>57 % on</a:t>
            </a:r>
            <a:r>
              <a:rPr sz="1800"/>
              <a:t> — a partly-driven stage, which is exactly the stressed case.</a:t>
            </a:r>
          </a:p>
        </p:txBody>
      </p:sp>
      <p:pic>
        <p:nvPicPr>
          <p:cNvPr id="4" name="Picture 3" descr="ours_vs_device.png"/>
          <p:cNvPicPr>
            <a:picLocks noChangeAspect="1"/>
          </p:cNvPicPr>
          <p:nvPr/>
        </p:nvPicPr>
        <p:blipFill>
          <a:blip r:embed="rId2"/>
          <a:stretch>
            <a:fillRect/>
          </a:stretch>
        </p:blipFill>
        <p:spPr>
          <a:xfrm>
            <a:off x="1716229" y="3895344"/>
            <a:ext cx="8774780" cy="262432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Term by term: the transistor's equation and the stage law</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Both conducting regions collapse to the same two factors — </a:t>
            </a:r>
            <a:r>
              <a:rPr sz="1600" b="1"/>
              <a:t>how hard it is on</a:t>
            </a:r>
            <a:r>
              <a:rPr sz="1600"/>
              <a:t>, times </a:t>
            </a:r>
            <a:r>
              <a:rPr sz="1600" b="1"/>
              <a:t>how much room is left</a:t>
            </a:r>
            <a:r>
              <a:rPr sz="1600"/>
              <a:t>. The stage law has exactly those two.</a:t>
            </a:r>
          </a:p>
          <a:p>
            <a:pPr latinLnBrk="0">
              <a:spcAft>
                <a:spcPts val="400"/>
              </a:spcAft>
            </a:pPr>
            <a:r>
              <a:rPr sz="1600" b="1">
                <a:solidFill>
                  <a:srgbClr val="2B7A43"/>
                </a:solidFill>
              </a:rPr>
              <a:t>With p = 2 the gate factor is the transistor's own term, exactly.</a:t>
            </a:r>
            <a:r>
              <a:rPr sz="1600"/>
              <a:t> Three things differ, and you can point at each.</a:t>
            </a:r>
          </a:p>
        </p:txBody>
      </p:sp>
      <p:pic>
        <p:nvPicPr>
          <p:cNvPr id="4" name="Picture 3" descr="term_map.png"/>
          <p:cNvPicPr>
            <a:picLocks noChangeAspect="1"/>
          </p:cNvPicPr>
          <p:nvPr/>
        </p:nvPicPr>
        <p:blipFill>
          <a:blip r:embed="rId2"/>
          <a:stretch>
            <a:fillRect/>
          </a:stretch>
        </p:blipFill>
        <p:spPr>
          <a:xfrm>
            <a:off x="1357467" y="2578608"/>
            <a:ext cx="9492304" cy="394106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The law, with where each piece came from</a:t>
            </a:r>
          </a:p>
        </p:txBody>
      </p:sp>
      <p:sp>
        <p:nvSpPr>
          <p:cNvPr id="3" name="Content Placeholder 2"/>
          <p:cNvSpPr>
            <a:spLocks noGrp="1"/>
          </p:cNvSpPr>
          <p:nvPr>
            <p:ph idx="10"/>
          </p:nvPr>
        </p:nvSpPr>
        <p:spPr>
          <a:xfrm>
            <a:off x="411480" y="987552"/>
            <a:ext cx="11384280" cy="2423160"/>
          </a:xfrm>
        </p:spPr>
        <p:txBody>
          <a:bodyPr/>
          <a:lstStyle/>
          <a:p>
            <a:pPr latinLnBrk="0">
              <a:spcAft>
                <a:spcPts val="400"/>
              </a:spcAft>
            </a:pPr>
            <a:r>
              <a:rPr sz="1600"/>
              <a:t>Read the colours: green is standard transistor behaviour taken as it is, amber is that behaviour with one thing simplified for a reason we can state, red has no physical basis at all. K stages in series is a fourth thing in the red category.</a:t>
            </a:r>
          </a:p>
          <a:p>
            <a:pPr latinLnBrk="0">
              <a:spcAft>
                <a:spcPts val="400"/>
              </a:spcAft>
            </a:pPr>
            <a:r>
              <a:rPr sz="1600" b="1">
                <a:solidFill>
                  <a:srgbClr val="2B7A43"/>
                </a:solidFill>
              </a:rPr>
              <a:t>So this is a physically motivated reduced-order model, not one derived from device physics.</a:t>
            </a:r>
            <a:r>
              <a:rPr sz="1600"/>
              <a:t> A transistor gives us the shape to expect — a current-limited phase, then a resistive approach to the rail. It does not hand us the min(), the straight taper, the fixed x_lin or p = 1. Those are assumed, and the case for them is the measured result on the next fifteen slides, not the derivation.</a:t>
            </a:r>
          </a:p>
        </p:txBody>
      </p:sp>
      <p:pic>
        <p:nvPicPr>
          <p:cNvPr id="4" name="Picture 3" descr="law_badged.png"/>
          <p:cNvPicPr>
            <a:picLocks noChangeAspect="1"/>
          </p:cNvPicPr>
          <p:nvPr/>
        </p:nvPicPr>
        <p:blipFill>
          <a:blip r:embed="rId2"/>
          <a:stretch>
            <a:fillRect/>
          </a:stretch>
        </p:blipFill>
        <p:spPr>
          <a:xfrm>
            <a:off x="1696271" y="3483864"/>
            <a:ext cx="8814697" cy="303580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b="1"/>
              <a:t>s_up and s_dn are slopes</a:t>
            </a:r>
            <a:r>
              <a:rPr sz="1700"/>
              <a:t> — ex2 fits 2.59/ns, 0.39 ns to cross a stage's swing flat out. </a:t>
            </a:r>
            <a:r>
              <a:rPr sz="1700" b="1"/>
              <a:t>vt and x_lin are effective parameters</a:t>
            </a:r>
            <a:r>
              <a:rPr sz="1700"/>
              <a:t>, not device quantities: they absorb the real I-V into a two-region approximation.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the input comparator. But vt is not a threshold voltage at all — it is where one modelled stage hands over to the next, and nothing in the file describes that.</a:t>
            </a:r>
          </a:p>
        </p:txBody>
      </p:sp>
      <p:pic>
        <p:nvPicPr>
          <p:cNvPr id="4" name="Picture 3" descr="four_table.png"/>
          <p:cNvPicPr>
            <a:picLocks noChangeAspect="1"/>
          </p:cNvPicPr>
          <p:nvPr/>
        </p:nvPicPr>
        <p:blipFill>
          <a:blip r:embed="rId2"/>
          <a:stretch>
            <a:fillRect/>
          </a:stretch>
        </p:blipFill>
        <p:spPr>
          <a:xfrm>
            <a:off x="411480" y="2880360"/>
            <a:ext cx="11384280" cy="296689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What each of the four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a:t>
            </a:r>
            <a:r>
              <a:rPr sz="1800"/>
              <a:t> In the model that is abrupt; in silicon the current falls off continuously and a short pulse degrades stage by stage until it is gone. The hard threshold is an approximation of that, not the device's behaviour.</a:t>
            </a:r>
          </a:p>
        </p:txBody>
      </p:sp>
      <p:pic>
        <p:nvPicPr>
          <p:cNvPr id="4" name="Picture 3" descr="knobs.png"/>
          <p:cNvPicPr>
            <a:picLocks noChangeAspect="1"/>
          </p:cNvPicPr>
          <p:nvPr/>
        </p:nvPicPr>
        <p:blipFill>
          <a:blip r:embed="rId2"/>
          <a:stretch>
            <a:fillRect/>
          </a:stretch>
        </p:blipFill>
        <p:spPr>
          <a:xfrm>
            <a:off x="1914948" y="2880360"/>
            <a:ext cx="8377343" cy="363931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So: K identical stages, then the file's own map</a:t>
            </a:r>
          </a:p>
        </p:txBody>
      </p:sp>
      <p:sp>
        <p:nvSpPr>
          <p:cNvPr id="3" name="Content Placeholder 2"/>
          <p:cNvSpPr>
            <a:spLocks noGrp="1"/>
          </p:cNvSpPr>
          <p:nvPr>
            <p:ph idx="10"/>
          </p:nvPr>
        </p:nvSpPr>
        <p:spPr>
          <a:xfrm>
            <a:off x="411480" y="987552"/>
            <a:ext cx="11384280" cy="2121408"/>
          </a:xfrm>
        </p:spPr>
        <p:txBody>
          <a:bodyPr/>
          <a:lstStyle/>
          <a:p>
            <a:pPr latinLnBrk="0">
              <a:spcAft>
                <a:spcPts val="400"/>
              </a:spcAft>
            </a:pPr>
            <a:r>
              <a:rPr sz="1800"/>
              <a:t>We cannot see how many stages a vendor's part has, so the count K is a parameter. The stages are held </a:t>
            </a:r>
            <a:r>
              <a:rPr sz="1800" b="1"/>
              <a:t>identical in their normalised dynamics</a:t>
            </a:r>
            <a:r>
              <a:rPr sz="1800"/>
              <a:t> — not in their dimensions, which a real tapered predriver deliberately varies. That is defensible when the taper ratio is roughly constant,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3182112"/>
            <a:ext cx="11384280" cy="309629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Before the recipe: C_comp is an input, and this file's is wrong</a:t>
            </a:r>
          </a:p>
        </p:txBody>
      </p:sp>
      <p:sp>
        <p:nvSpPr>
          <p:cNvPr id="3" name="Content Placeholder 2"/>
          <p:cNvSpPr>
            <a:spLocks noGrp="1"/>
          </p:cNvSpPr>
          <p:nvPr>
            <p:ph idx="10"/>
          </p:nvPr>
        </p:nvSpPr>
        <p:spPr>
          <a:xfrm>
            <a:off x="411480" y="987552"/>
            <a:ext cx="11384280" cy="3136392"/>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defined as a multiplier on the fully-on I-V table, so a solved Ku above 1 means the arithmetic is asking the device for more than it has: ex2's declared 5.0 pF implies </a:t>
            </a:r>
            <a:r>
              <a:rPr sz="1700" b="1"/>
              <a:t>Ku = 1.24</a:t>
            </a:r>
            <a:r>
              <a:rPr sz="1700"/>
              <a:t>. Treat that as a diagnostic rather than a law — extraction noise and fixture error can push it over 1 too.</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3298053" y="4197096"/>
            <a:ext cx="5611132" cy="2322576"/>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the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