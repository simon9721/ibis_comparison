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9"/>
    <p:sldId id="257" r:id="rId10"/>
    <p:sldId id="258" r:id="rId11"/>
    <p:sldId id="259" r:id="rId12"/>
    <p:sldId id="260" r:id="rId13"/>
    <p:sldId id="261" r:id="rId14"/>
    <p:sldId id="262" r:id="rId15"/>
    <p:sldId id="263" r:id="rId16"/>
    <p:sldId id="264" r:id="rId17"/>
    <p:sldId id="265" r:id="rId18"/>
    <p:sldId id="266" r:id="rId8"/>
    <p:sldId id="267" r:id="rId7"/>
    <p:sldId id="268" r:id="rId6"/>
    <p:sldId id="269" r:id="rId5"/>
    <p:sldId id="270" r:id="rId4"/>
    <p:sldId id="271" r:id="rId3"/>
    <p:sldId id="272" r:id="rId2"/>
    <p:sldId id="273" r:id="rId26"/>
    <p:sldId id="274" r:id="rId27"/>
    <p:sldId id="275" r:id="rId28"/>
    <p:sldId id="276" r:id="rId29"/>
    <p:sldId id="277" r:id="rId30"/>
    <p:sldId id="278"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E3D08B1E-3D88-1A97-E8DE-BE8BBEBC7A02}" name="Hwang, Simon (S&amp;T-Student)" initials="HS" userId="S::sh3qm@umsystem.edu::76a09fb8-a1d4-4f76-828e-9524909c17f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21CF"/>
    <a:srgbClr val="FFFFB8"/>
    <a:srgbClr val="FBFB00"/>
    <a:srgbClr val="FFFF29"/>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B5F854-6EE0-1085-1A4B-120A9FE69D43}" v="1" dt="2026-09-18T04:07:12.962"/>
    <p1510:client id="{EE3FB4A7-ED71-7C7F-1029-72FE09E02ECF}" v="15" dt="2026-09-18T17:06:51.781"/>
    <p1510:client id="{EFA4587C-4E70-8C3A-C9F1-251AEC5A864F}" v="105" dt="2026-09-18T17:14:25.1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5/10/relationships/revisionInfo" Target="revisionInfo.xml"/><Relationship Id="rId25" Type="http://schemas.microsoft.com/office/2018/10/relationships/authors" Target="authors.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here: every earlier version started from the method. This one starts from the measurement, because that is how the work went and it makes the method's motivation earned rather than asserted.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ex2's predriver is three stages; n4 (orange) is the gate of the output device. Probes ran on predriver_stages_2026-09-09; the same schematics exist for io_buf and inv_chain on the 09-18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Ku(t) from the file and the probed n4(t), with five instants marked. Right: the same five instants plotted Ku against gate. This is the measured Ku-vs-gate map, and it is what the next slides drive.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of the deck. It licenses spending the rest of the time on the gate's shape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the full-swing gate. Black: the real gate under the stressed pulse. Purple: our GUP. Note that the real gate leaves zero around 0.5 ns while GUP is still flat until 1.1 ns, and that GUP's peak arrives after the real gate's.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causal chain end to end: gate shape -&gt; Ku -&gt; pad. At 90 % stress the two gates nearly coincide and the error nearly vanishes, which is why the failure only shows up under stress.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 slide, and it only works because slides 2-4 have already shown that the gate's shape is the entire error. Earlier versions of this deck asserted the motivation before showing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is the measured form of this - at K = 7 and K = 9 the model fits the file to the same four decimal places and predicts stressed gates running from extinguished to almost intact. Same composition, different split.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the full transition. The five coloured curves follow it and peel off at different points. This is the justification for asking the user for one stressed pad run, and for the 50-90 percent depth ladder.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rules out RC cascades, delay-plus-RC and superposition - which is what the shipped model is built from. Data: predriver_stages_2026-09-09, whose own module computes the superposition.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are not free knobs: each names something the circuit has. x_lin is pinned at 0.45 on most buffers, inside the 0.37-0.63 the real probed stages fitted. This slide answers 'what are the equations and where do the numbers come from'.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saying out loud that the right-hand half is not ours and is not in question. The whole method is about producing a gate.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loop measurement is the hysteresis plot from slide 3, used as an instrument - a wrong C_comp opens the loop because dV/dt flips sign between rise and fall. Track 1 cannot use it, because it needs the probed gate.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x_lin is pinned at 0.45 on most buffers rather than fitted, a value inside the 0.37-0.63 the real probed stages gave. p is assumed at 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shapes are (0.50, 0.70), (0.40, 0.60) and (0.40, 0.90). Note on the right that all three already match the PEAK - that is the calibration of the next slide, and it is why the peak cannot be the thing that chooses.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bracket the bisection starts from, printed in the build log: vt = 0 gives +40.1 %, vt = 0.7 gives -97.1 %. Every one of the nine candidates gets this treatment, which is what makes the peak useless for choosing between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rms numbers are computed in build_0924_deck_figures.calib_select and printed when it runs. On this buffer the rule picks the best of the nine outright.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leave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the shipped model, blue the build using probed silicon, red the file-only one. Full numbers in docs/track1_recipe.md.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Better said than asked. The direction gap is the one that would most change the headline number.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Carried from the 09-18 deck so the inv_chain numbers on slide 3 are not read as a win. review_2026-09-09 item 12B has the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Reproducing the real gate from the IBIS file</a:t>
            </a:r>
          </a:p>
        </p:txBody>
      </p:sp>
      <p:sp>
        <p:nvSpPr>
          <p:cNvPr id="3" name="Content Placeholder 2"/>
          <p:cNvSpPr>
            <a:spLocks noGrp="1"/>
          </p:cNvSpPr>
          <p:nvPr>
            <p:ph idx="10"/>
          </p:nvPr>
        </p:nvSpPr>
        <p:spPr>
          <a:xfrm>
            <a:off x="411480" y="987552"/>
            <a:ext cx="11384280" cy="2450592"/>
          </a:xfrm>
        </p:spPr>
        <p:txBody>
          <a:bodyPr/>
          <a:lstStyle/>
          <a:p>
            <a:pPr>
              <a:spcAft>
                <a:spcPts val="400"/>
              </a:spcAft>
            </a:pPr>
            <a:r>
              <a:rPr sz="1800"/>
              <a:t>Simon Huang  ·  24 September 2026</a:t>
            </a:r>
          </a:p>
          <a:p>
            <a:pPr>
              <a:spcAft>
                <a:spcPts val="400"/>
              </a:spcAft>
            </a:pPr>
            <a:r>
              <a:rPr sz="1800"/>
              <a:t/>
            </a:r>
          </a:p>
          <a:p>
            <a:pPr>
              <a:spcAft>
                <a:spcPts val="400"/>
              </a:spcAft>
            </a:pPr>
            <a:r>
              <a:rPr sz="1800"/>
              <a:t>The story in one line: the output stage is a static map of its own gate, so a stressed pad is right when the gate's shape is right — and the gate is the thing IBIS does not record.</a:t>
            </a:r>
          </a:p>
          <a:p>
            <a:pPr>
              <a:spcAft>
                <a:spcPts val="400"/>
              </a:spcAft>
            </a:pPr>
            <a:r>
              <a:rPr sz="1800"/>
              <a:t/>
            </a:r>
          </a:p>
          <a:p>
            <a:pPr>
              <a:spcAft>
                <a:spcPts val="400"/>
              </a:spcAft>
            </a:pPr>
            <a:r>
              <a:rPr sz="1800" b="1">
                <a:solidFill>
                  <a:srgbClr val="2B7A43"/>
                </a:solidFill>
              </a:rPr>
              <a:t>1  measure the map   2  show it works   3  show why our gate fails   4  reproduce the gate from the 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We can look inside our own test chips</a:t>
            </a:r>
          </a:p>
        </p:txBody>
      </p:sp>
      <p:sp>
        <p:nvSpPr>
          <p:cNvPr id="3" name="Content Placeholder 2"/>
          <p:cNvSpPr>
            <a:spLocks noGrp="1"/>
          </p:cNvSpPr>
          <p:nvPr>
            <p:ph idx="10"/>
          </p:nvPr>
        </p:nvSpPr>
        <p:spPr>
          <a:xfrm>
            <a:off x="411480" y="987552"/>
            <a:ext cx="11384280" cy="1819656"/>
          </a:xfrm>
        </p:spPr>
        <p:txBody>
          <a:bodyPr/>
          <a:lstStyle/>
          <a:p>
            <a:pPr>
              <a:spcAft>
                <a:spcPts val="400"/>
              </a:spcAft>
            </a:pPr>
            <a:r>
              <a:rPr sz="1800"/>
              <a:t>These are our designs, so the transistor netlist is available and every internal node can be probed. A customer using a vendor's IBIS file cannot do this — which is the whole problem, and the reason to do it once, carefully.</a:t>
            </a:r>
          </a:p>
          <a:p>
            <a:pPr>
              <a:spcAft>
                <a:spcPts val="400"/>
              </a:spcAft>
            </a:pPr>
            <a:r>
              <a:rPr sz="1800" b="1">
                <a:solidFill>
                  <a:srgbClr val="2B7A43"/>
                </a:solidFill>
              </a:rPr>
              <a:t>The node that matters is the output stage's gate — ex2's n4 below. Everything the pad does is decided there.</a:t>
            </a:r>
          </a:p>
        </p:txBody>
      </p:sp>
      <p:pic>
        <p:nvPicPr>
          <p:cNvPr id="4" name="Picture 3" descr="schematic_ex2.png"/>
          <p:cNvPicPr>
            <a:picLocks noChangeAspect="1"/>
          </p:cNvPicPr>
          <p:nvPr/>
        </p:nvPicPr>
        <p:blipFill>
          <a:blip r:embed="rId2"/>
          <a:stretch>
            <a:fillRect/>
          </a:stretch>
        </p:blipFill>
        <p:spPr>
          <a:xfrm>
            <a:off x="1554480" y="2880360"/>
            <a:ext cx="9098280" cy="363931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Measuring the map: pair Ku(t) with the gate, instant by instant</a:t>
            </a:r>
          </a:p>
        </p:txBody>
      </p:sp>
      <p:sp>
        <p:nvSpPr>
          <p:cNvPr id="3" name="Content Placeholder 2"/>
          <p:cNvSpPr>
            <a:spLocks noGrp="1"/>
          </p:cNvSpPr>
          <p:nvPr>
            <p:ph idx="10"/>
          </p:nvPr>
        </p:nvSpPr>
        <p:spPr>
          <a:xfrm>
            <a:off x="411480" y="987552"/>
            <a:ext cx="11384280" cy="1216152"/>
          </a:xfrm>
        </p:spPr>
        <p:txBody>
          <a:bodyPr/>
          <a:lstStyle/>
          <a:p>
            <a:pPr>
              <a:spcAft>
                <a:spcPts val="400"/>
              </a:spcAft>
            </a:pPr>
            <a:r>
              <a:rPr sz="1800"/>
              <a:t>The IBIS file gives Ku(t) on one full transition. The probe gives the gate on the same run. At each instant we have both numbers — so plot one against the other.</a:t>
            </a:r>
          </a:p>
          <a:p>
            <a:pPr>
              <a:spcAft>
                <a:spcPts val="400"/>
              </a:spcAft>
            </a:pPr>
            <a:r>
              <a:rPr sz="1800" b="1">
                <a:solidFill>
                  <a:srgbClr val="2B7A43"/>
                </a:solidFill>
              </a:rPr>
              <a:t>The pairing is the map. No fitting: it is read off a single full-swing run.</a:t>
            </a:r>
          </a:p>
        </p:txBody>
      </p:sp>
      <p:pic>
        <p:nvPicPr>
          <p:cNvPr id="4" name="Picture 3" descr="map_from_probe_ex2.png"/>
          <p:cNvPicPr>
            <a:picLocks noChangeAspect="1"/>
          </p:cNvPicPr>
          <p:nvPr/>
        </p:nvPicPr>
        <p:blipFill>
          <a:blip r:embed="rId2"/>
          <a:stretch>
            <a:fillRect/>
          </a:stretch>
        </p:blipFill>
        <p:spPr>
          <a:xfrm>
            <a:off x="411480" y="2276856"/>
            <a:ext cx="11384280" cy="40297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ex2</a:t>
            </a:r>
          </a:p>
        </p:txBody>
      </p:sp>
      <p:sp>
        <p:nvSpPr>
          <p:cNvPr id="3" name="Content Placeholder 2"/>
          <p:cNvSpPr>
            <a:spLocks noGrp="1"/>
          </p:cNvSpPr>
          <p:nvPr>
            <p:ph idx="10"/>
          </p:nvPr>
        </p:nvSpPr>
        <p:spPr>
          <a:xfrm>
            <a:off x="411480" y="987552"/>
            <a:ext cx="11384280" cy="1517904"/>
          </a:xfrm>
        </p:spPr>
        <p:txBody>
          <a:bodyPr/>
          <a:lstStyle/>
          <a:p>
            <a:pPr>
              <a:spcAft>
                <a:spcPts val="400"/>
              </a:spcAft>
            </a:pPr>
            <a:r>
              <a:rPr sz="1800"/>
              <a:t>Drive that measured map with the transistor's own gate, and compare the pad against the transistor at all five stress levels.</a:t>
            </a:r>
          </a:p>
          <a:p>
            <a:pPr>
              <a:spcAft>
                <a:spcPts val="400"/>
              </a:spcAft>
            </a:pPr>
            <a:r>
              <a:rPr sz="1800" b="1">
                <a:solidFill>
                  <a:srgbClr val="2B7A43"/>
                </a:solidFill>
              </a:rPr>
              <a:t>Within ±5 % at every level, where native IBIS runs +71 % at the deepest and our own gate-state model +74 %.</a:t>
            </a:r>
          </a:p>
        </p:txBody>
      </p:sp>
      <p:pic>
        <p:nvPicPr>
          <p:cNvPr id="4" name="Picture 3" descr="works_levels_ex2.png"/>
          <p:cNvPicPr>
            <a:picLocks noChangeAspect="1"/>
          </p:cNvPicPr>
          <p:nvPr/>
        </p:nvPicPr>
        <p:blipFill>
          <a:blip r:embed="rId2"/>
          <a:stretch>
            <a:fillRect/>
          </a:stretch>
        </p:blipFill>
        <p:spPr>
          <a:xfrm>
            <a:off x="411480" y="2578608"/>
            <a:ext cx="11384280" cy="338275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inv_chain</a:t>
            </a:r>
          </a:p>
        </p:txBody>
      </p:sp>
      <p:sp>
        <p:nvSpPr>
          <p:cNvPr id="3" name="Content Placeholder 2"/>
          <p:cNvSpPr>
            <a:spLocks noGrp="1"/>
          </p:cNvSpPr>
          <p:nvPr>
            <p:ph idx="10"/>
          </p:nvPr>
        </p:nvSpPr>
        <p:spPr>
          <a:xfrm>
            <a:off x="411480" y="987552"/>
            <a:ext cx="11384280" cy="1517904"/>
          </a:xfrm>
        </p:spPr>
        <p:txBody>
          <a:bodyPr/>
          <a:lstStyle/>
          <a:p>
            <a:pPr>
              <a:spcAft>
                <a:spcPts val="400"/>
              </a:spcAft>
            </a:pPr>
            <a:r>
              <a:rPr sz="1800"/>
              <a:t>Drive that measured map with the transistor's own gate, and compare the pad against the transistor at all five stress levels.</a:t>
            </a:r>
          </a:p>
          <a:p>
            <a:pPr>
              <a:spcAft>
                <a:spcPts val="400"/>
              </a:spcAft>
            </a:pPr>
            <a:r>
              <a:rPr sz="1800" b="1">
                <a:solidFill>
                  <a:srgbClr val="2B7A43"/>
                </a:solidFill>
              </a:rPr>
              <a:t>Within +2…+9 %, where native IBIS runs +87 % at the deepest. Our gate-state model looks good at 70–90 % for the wrong reason — see the backup slide on Vinh.</a:t>
            </a:r>
          </a:p>
        </p:txBody>
      </p:sp>
      <p:pic>
        <p:nvPicPr>
          <p:cNvPr id="4" name="Picture 3" descr="works_levels_inv_chain.png"/>
          <p:cNvPicPr>
            <a:picLocks noChangeAspect="1"/>
          </p:cNvPicPr>
          <p:nvPr/>
        </p:nvPicPr>
        <p:blipFill>
          <a:blip r:embed="rId2"/>
          <a:stretch>
            <a:fillRect/>
          </a:stretch>
        </p:blipFill>
        <p:spPr>
          <a:xfrm>
            <a:off x="411480" y="2578608"/>
            <a:ext cx="11384280" cy="340104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So the output stage is not the problem</a:t>
            </a:r>
          </a:p>
        </p:txBody>
      </p:sp>
      <p:sp>
        <p:nvSpPr>
          <p:cNvPr id="3" name="Content Placeholder 2"/>
          <p:cNvSpPr>
            <a:spLocks noGrp="1"/>
          </p:cNvSpPr>
          <p:nvPr>
            <p:ph idx="10"/>
          </p:nvPr>
        </p:nvSpPr>
        <p:spPr>
          <a:xfrm>
            <a:off x="411480" y="987552"/>
            <a:ext cx="11384280" cy="1627632"/>
          </a:xfrm>
        </p:spPr>
        <p:txBody>
          <a:bodyPr/>
          <a:lstStyle/>
          <a:p>
            <a:pPr>
              <a:spcAft>
                <a:spcPts val="400"/>
              </a:spcAft>
            </a:pPr>
            <a:r>
              <a:rPr sz="1800"/>
              <a:t>Given the right gate, the map reproduces the pad at every stress level, on both buffers.</a:t>
            </a:r>
          </a:p>
          <a:p>
            <a:pPr>
              <a:spcAft>
                <a:spcPts val="400"/>
              </a:spcAft>
            </a:pPr>
            <a:r>
              <a:rPr sz="1800"/>
              <a:t>The map itself is a fixed curve — it has no memory, and it does not change with the pulse. Measured hysteresis between the rising and falling branches is 0.07–0.10.</a:t>
            </a:r>
          </a:p>
          <a:p>
            <a:pPr>
              <a:spcAft>
                <a:spcPts val="400"/>
              </a:spcAft>
            </a:pPr>
            <a:r>
              <a:rPr sz="1800" b="1">
                <a:solidFill>
                  <a:srgbClr val="2B7A43"/>
                </a:solidFill>
              </a:rPr>
              <a:t>Everything that is wrong with our model is therefore in the gate.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Why our gate fails: the real gate changes shape, GUP does not</a:t>
            </a:r>
          </a:p>
        </p:txBody>
      </p:sp>
      <p:sp>
        <p:nvSpPr>
          <p:cNvPr id="3" name="Content Placeholder 2"/>
          <p:cNvSpPr>
            <a:spLocks noGrp="1"/>
          </p:cNvSpPr>
          <p:nvPr>
            <p:ph idx="10"/>
          </p:nvPr>
        </p:nvSpPr>
        <p:spPr>
          <a:xfrm>
            <a:off x="411480" y="987552"/>
            <a:ext cx="11384280" cy="1325880"/>
          </a:xfrm>
        </p:spPr>
        <p:txBody>
          <a:bodyPr/>
          <a:lstStyle/>
          <a:p>
            <a:pPr>
              <a:spcAft>
                <a:spcPts val="400"/>
              </a:spcAft>
            </a:pPr>
            <a:r>
              <a:rPr sz="1800"/>
              <a:t>Our GUP is a fixed delay then an RC ramp. Truncating the input truncates that one shape.</a:t>
            </a:r>
          </a:p>
          <a:p>
            <a:pPr>
              <a:spcAft>
                <a:spcPts val="400"/>
              </a:spcAft>
            </a:pPr>
            <a:r>
              <a:rPr sz="1800"/>
              <a:t>The real gate is already moving long before GUP starts, and it turns round earlier.</a:t>
            </a:r>
          </a:p>
          <a:p>
            <a:pPr>
              <a:spcAft>
                <a:spcPts val="400"/>
              </a:spcAft>
            </a:pPr>
            <a:r>
              <a:rPr sz="1800" b="1">
                <a:solidFill>
                  <a:srgbClr val="2B7A43"/>
                </a:solidFill>
              </a:rPr>
              <a:t>Compare the two at each stress level — the mismatch grows as the pulse shortens.</a:t>
            </a:r>
          </a:p>
        </p:txBody>
      </p:sp>
      <p:pic>
        <p:nvPicPr>
          <p:cNvPr id="4" name="Picture 3" descr="gate_shape_ex2.png"/>
          <p:cNvPicPr>
            <a:picLocks noChangeAspect="1"/>
          </p:cNvPicPr>
          <p:nvPr/>
        </p:nvPicPr>
        <p:blipFill>
          <a:blip r:embed="rId2"/>
          <a:stretch>
            <a:fillRect/>
          </a:stretch>
        </p:blipFill>
        <p:spPr>
          <a:xfrm>
            <a:off x="411480" y="2386584"/>
            <a:ext cx="11384280" cy="303883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What that shape difference does downstream</a:t>
            </a:r>
          </a:p>
        </p:txBody>
      </p:sp>
      <p:sp>
        <p:nvSpPr>
          <p:cNvPr id="3" name="Content Placeholder 2"/>
          <p:cNvSpPr>
            <a:spLocks noGrp="1"/>
          </p:cNvSpPr>
          <p:nvPr>
            <p:ph idx="10"/>
          </p:nvPr>
        </p:nvSpPr>
        <p:spPr>
          <a:xfrm>
            <a:off x="411480" y="987552"/>
            <a:ext cx="11384280" cy="1216152"/>
          </a:xfrm>
        </p:spPr>
        <p:txBody>
          <a:bodyPr/>
          <a:lstStyle/>
          <a:p>
            <a:pPr>
              <a:spcAft>
                <a:spcPts val="400"/>
              </a:spcAft>
            </a:pPr>
            <a:r>
              <a:rPr sz="1800"/>
              <a:t>Same map, two gates. The top row is Ku, the bottom row the pad.</a:t>
            </a:r>
          </a:p>
          <a:p>
            <a:pPr>
              <a:spcAft>
                <a:spcPts val="400"/>
              </a:spcAft>
            </a:pPr>
            <a:r>
              <a:rPr sz="1800" b="1">
                <a:solidFill>
                  <a:srgbClr val="2B7A43"/>
                </a:solidFill>
              </a:rPr>
              <a:t>GUP holds Ku high long after the real gate has let go — and the pad overshoot is exactly that extra area. +74 % at 50 % stress, +4 % at 90 %.</a:t>
            </a:r>
          </a:p>
        </p:txBody>
      </p:sp>
      <p:pic>
        <p:nvPicPr>
          <p:cNvPr id="4" name="Picture 3" descr="ku_consequence_ex2.png"/>
          <p:cNvPicPr>
            <a:picLocks noChangeAspect="1"/>
          </p:cNvPicPr>
          <p:nvPr/>
        </p:nvPicPr>
        <p:blipFill>
          <a:blip r:embed="rId2"/>
          <a:stretch>
            <a:fillRect/>
          </a:stretch>
        </p:blipFill>
        <p:spPr>
          <a:xfrm>
            <a:off x="2121632" y="2276856"/>
            <a:ext cx="7963974" cy="424281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So the problem is now a precise one</a:t>
            </a:r>
          </a:p>
        </p:txBody>
      </p:sp>
      <p:sp>
        <p:nvSpPr>
          <p:cNvPr id="3" name="Content Placeholder 2"/>
          <p:cNvSpPr>
            <a:spLocks noGrp="1"/>
          </p:cNvSpPr>
          <p:nvPr>
            <p:ph idx="10"/>
          </p:nvPr>
        </p:nvSpPr>
        <p:spPr>
          <a:xfrm>
            <a:off x="411480" y="987552"/>
            <a:ext cx="11384280" cy="3163824"/>
          </a:xfrm>
        </p:spPr>
        <p:txBody>
          <a:bodyPr/>
          <a:lstStyle/>
          <a:p>
            <a:pPr>
              <a:spcAft>
                <a:spcPts val="400"/>
              </a:spcAft>
            </a:pPr>
            <a:r>
              <a:rPr sz="1800"/>
              <a:t>We know what a correct model needs: the real gate's shape, and the map.</a:t>
            </a:r>
          </a:p>
          <a:p>
            <a:pPr>
              <a:spcAft>
                <a:spcPts val="400"/>
              </a:spcAft>
            </a:pPr>
            <a:r>
              <a:rPr sz="1800"/>
              <a:t>We have both — by probing. A customer with only the vendor's IBIS file has neither.</a:t>
            </a:r>
          </a:p>
          <a:p>
            <a:pPr>
              <a:spcAft>
                <a:spcPts val="400"/>
              </a:spcAft>
            </a:pPr>
            <a:r>
              <a:rPr sz="1800"/>
              <a:t/>
            </a:r>
          </a:p>
          <a:p>
            <a:pPr>
              <a:spcAft>
                <a:spcPts val="400"/>
              </a:spcAft>
            </a:pPr>
            <a:r>
              <a:rPr sz="1800" b="1">
                <a:solidFill>
                  <a:srgbClr val="2B7A43"/>
                </a:solidFill>
              </a:rPr>
              <a:t>The question for track 1: how much of that gate shape can be recovered from the IBIS file plus one measurement taken at the pad, with nothing probed inside?</a:t>
            </a:r>
          </a:p>
          <a:p>
            <a:pPr>
              <a:spcAft>
                <a:spcPts val="400"/>
              </a:spcAft>
            </a:pPr>
            <a:r>
              <a:rPr sz="1800"/>
              <a:t/>
            </a:r>
          </a:p>
          <a:p>
            <a:pPr>
              <a:spcAft>
                <a:spcPts val="400"/>
              </a:spcAft>
            </a:pPr>
            <a:r>
              <a:rPr sz="1800"/>
              <a:t>Two things have to come from somewhere: how fast the gate travels, and the map's shape. The next slides are about where each one can come from.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What the file gives, and what is missing</a:t>
            </a:r>
          </a:p>
        </p:txBody>
      </p:sp>
      <p:sp>
        <p:nvSpPr>
          <p:cNvPr id="3" name="Content Placeholder 2"/>
          <p:cNvSpPr>
            <a:spLocks noGrp="1"/>
          </p:cNvSpPr>
          <p:nvPr>
            <p:ph idx="10"/>
          </p:nvPr>
        </p:nvSpPr>
        <p:spPr>
          <a:xfrm>
            <a:off x="411480" y="987552"/>
            <a:ext cx="11384280" cy="3547872"/>
          </a:xfrm>
        </p:spPr>
        <p:txBody>
          <a:bodyPr/>
          <a:lstStyle/>
          <a:p>
            <a:pPr>
              <a:spcAft>
                <a:spcPts val="400"/>
              </a:spcAft>
            </a:pPr>
            <a:r>
              <a:rPr sz="1700"/>
              <a:t>The file records Ku(t) on one full transition. That is a complete waveform — it has shape at every instant, not just at its ends. Shape is not what is missing.</a:t>
            </a:r>
          </a:p>
          <a:p>
            <a:pPr>
              <a:spcAft>
                <a:spcPts val="400"/>
              </a:spcAft>
            </a:pPr>
            <a:r>
              <a:rPr sz="1700" b="1">
                <a:solidFill>
                  <a:srgbClr val="2B7A43"/>
                </a:solidFill>
              </a:rPr>
              <a:t>What is missing is the split. Ku(t) = map(gate(t)) fixes the composition and nothing more: pick any gate trajectory you like, and the map is forced to be whatever reproduces Ku(t). Every such pair matches the file exactly.</a:t>
            </a:r>
          </a:p>
          <a:p>
            <a:pPr>
              <a:spcAft>
                <a:spcPts val="400"/>
              </a:spcAft>
            </a:pPr>
            <a:r>
              <a:rPr sz="1700" b="1">
                <a:solidFill>
                  <a:srgbClr val="2B7A43"/>
                </a:solidFill>
              </a:rPr>
              <a:t>A truncated pulse breaks the tie — because the chain then produces a different gate trajectory, and where it turns round depends on how fast the gate was really travelling. A fast gate is near the rail at the reversal, a slow one is only halfway, and the same static map reads different values off them.</a:t>
            </a:r>
          </a:p>
          <a:p>
            <a:pPr>
              <a:spcAft>
                <a:spcPts val="400"/>
              </a:spcAft>
            </a:pPr>
            <a:r>
              <a:rPr sz="1700" b="1">
                <a:solidFill>
                  <a:srgbClr val="2B7A43"/>
                </a:solidFill>
              </a:rPr>
              <a:t>That is why our GUP passes the full-swing check and fails under stress: it is one legal split, and not the right 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One stressed pulse is the measurement that reaches the gate</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800"/>
              <a:t>Cutting the input short stops the clock partway through the gate's travel. What the pad does next depends on where the gate had got to.</a:t>
            </a:r>
          </a:p>
          <a:p>
            <a:pPr>
              <a:spcAft>
                <a:spcPts val="400"/>
              </a:spcAft>
            </a:pPr>
            <a:r>
              <a:rPr sz="1800" b="1">
                <a:solidFill>
                  <a:srgbClr val="2B7A43"/>
                </a:solidFill>
              </a:rPr>
              <a:t>Each stressed width is one sample of the interior of the same path — here the five widths stop the gate at 0.76, 0.80, 0.84, 0.88 and 0.94.</a:t>
            </a:r>
          </a:p>
          <a:p>
            <a:pPr>
              <a:spcAft>
                <a:spcPts val="400"/>
              </a:spcAft>
            </a:pPr>
            <a:r>
              <a:rPr sz="1800"/>
              <a:t>So the stress sweep is a sampling grid, not a robustness check — and one pad measurement per buffer, taken from outside the chip, is the extra input track 1 needs.</a:t>
            </a:r>
          </a:p>
        </p:txBody>
      </p:sp>
      <p:pic>
        <p:nvPicPr>
          <p:cNvPr id="4" name="Picture 3" descr="sampling_grid_ex2.png"/>
          <p:cNvPicPr>
            <a:picLocks noChangeAspect="1"/>
          </p:cNvPicPr>
          <p:nvPr/>
        </p:nvPicPr>
        <p:blipFill>
          <a:blip r:embed="rId2"/>
          <a:stretch>
            <a:fillRect/>
          </a:stretch>
        </p:blipFill>
        <p:spPr>
          <a:xfrm>
            <a:off x="1923192" y="3291840"/>
            <a:ext cx="8360854" cy="322783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What shape may the gate be?  Measure a stage</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800"/>
              <a:t>A sample only helps if we know what gate shapes are possible — five samples cannot pick a curve out of all curves.</a:t>
            </a:r>
          </a:p>
          <a:p>
            <a:pPr>
              <a:spcAft>
                <a:spcPts val="400"/>
              </a:spcAft>
            </a:pPr>
            <a:r>
              <a:rPr sz="1800"/>
              <a:t>So probe every stage under a short pulse and compare with what a linear filter would give (its own step response, superposed).</a:t>
            </a:r>
          </a:p>
          <a:p>
            <a:pPr>
              <a:spcAft>
                <a:spcPts val="400"/>
              </a:spcAft>
            </a:pPr>
            <a:r>
              <a:rPr sz="1800" b="1">
                <a:solidFill>
                  <a:srgbClr val="2B7A43"/>
                </a:solidFill>
              </a:rPr>
              <a:t>Every stage under-reaches, and the gap compounds down the chain: at the pad the linear prediction says 1.00 where the transistor does 0.50.</a:t>
            </a:r>
          </a:p>
        </p:txBody>
      </p:sp>
      <p:pic>
        <p:nvPicPr>
          <p:cNvPr id="4" name="Picture 3" descr="stage_nonlinear_ex2.png"/>
          <p:cNvPicPr>
            <a:picLocks noChangeAspect="1"/>
          </p:cNvPicPr>
          <p:nvPr/>
        </p:nvPicPr>
        <p:blipFill>
          <a:blip r:embed="rId2"/>
          <a:stretch>
            <a:fillRect/>
          </a:stretch>
        </p:blipFill>
        <p:spPr>
          <a:xfrm>
            <a:off x="1203658" y="3291840"/>
            <a:ext cx="9799922" cy="32278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The physics that explains it, and the four numbers it forces</a:t>
            </a:r>
          </a:p>
        </p:txBody>
      </p:sp>
      <p:sp>
        <p:nvSpPr>
          <p:cNvPr id="3" name="Content Placeholder 2"/>
          <p:cNvSpPr>
            <a:spLocks noGrp="1"/>
          </p:cNvSpPr>
          <p:nvPr>
            <p:ph idx="10"/>
          </p:nvPr>
        </p:nvSpPr>
        <p:spPr>
          <a:xfrm>
            <a:off x="411480" y="987552"/>
            <a:ext cx="11384280" cy="2532888"/>
          </a:xfrm>
        </p:spPr>
        <p:txBody>
          <a:bodyPr/>
          <a:lstStyle/>
          <a:p>
            <a:pPr>
              <a:spcAft>
                <a:spcPts val="400"/>
              </a:spcAft>
            </a:pPr>
            <a:r>
              <a:rPr sz="1800"/>
              <a:t>A CMOS inverter driving a large load is a current source while its input sits at the rail — its device is in saturation — and becomes a resistor only near the destination rail, in triode. A constant current into a gate capacitance is a ramp.</a:t>
            </a:r>
          </a:p>
          <a:p>
            <a:pPr>
              <a:spcAft>
                <a:spcPts val="400"/>
              </a:spcAft>
            </a:pPr>
            <a:r>
              <a:rPr sz="1800" b="1">
                <a:solidFill>
                  <a:srgbClr val="2B7A43"/>
                </a:solidFill>
              </a:rPr>
              <a:t>That picture forces exactly four numbers per stage, and no more — named below. s_dn is the same picture on the way back.</a:t>
            </a:r>
          </a:p>
          <a:p>
            <a:pPr>
              <a:spcAft>
                <a:spcPts val="400"/>
              </a:spcAft>
            </a:pPr>
            <a:r>
              <a:rPr sz="1800" b="1">
                <a:solidFill>
                  <a:srgbClr val="2B7A43"/>
                </a:solidFill>
              </a:rPr>
              <a:t>All four are fitted to the file's own Ku(t), so they cost no measurement. (p, the drive's curvature under a partial input, is assumed: full swing cannot see it.)</a:t>
            </a:r>
          </a:p>
        </p:txBody>
      </p:sp>
      <p:pic>
        <p:nvPicPr>
          <p:cNvPr id="4" name="Picture 3" descr="stage_law.png"/>
          <p:cNvPicPr>
            <a:picLocks noChangeAspect="1"/>
          </p:cNvPicPr>
          <p:nvPr/>
        </p:nvPicPr>
        <p:blipFill>
          <a:blip r:embed="rId2"/>
          <a:stretch>
            <a:fillRect/>
          </a:stretch>
        </p:blipFill>
        <p:spPr>
          <a:xfrm>
            <a:off x="1351194" y="3593592"/>
            <a:ext cx="9504850" cy="29260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model we build</a:t>
            </a:r>
          </a:p>
        </p:txBody>
      </p:sp>
      <p:sp>
        <p:nvSpPr>
          <p:cNvPr id="3" name="Content Placeholder 2"/>
          <p:cNvSpPr>
            <a:spLocks noGrp="1"/>
          </p:cNvSpPr>
          <p:nvPr>
            <p:ph idx="10"/>
          </p:nvPr>
        </p:nvSpPr>
        <p:spPr>
          <a:xfrm>
            <a:off x="411480" y="987552"/>
            <a:ext cx="11384280" cy="1517904"/>
          </a:xfrm>
        </p:spPr>
        <p:txBody>
          <a:bodyPr/>
          <a:lstStyle/>
          <a:p>
            <a:pPr>
              <a:spcAft>
                <a:spcPts val="400"/>
              </a:spcAft>
            </a:pPr>
            <a:r>
              <a:rPr sz="1800"/>
              <a:t>Everything to the right of the gate is the file's own, untouched: the map turns the gate into Ku, and Ku scales the file's I-V tables. That part we have already shown is right.</a:t>
            </a:r>
          </a:p>
          <a:p>
            <a:pPr>
              <a:spcAft>
                <a:spcPts val="400"/>
              </a:spcAft>
            </a:pPr>
            <a:r>
              <a:rPr sz="1800" b="1">
                <a:solidFill>
                  <a:srgbClr val="2B7A43"/>
                </a:solidFill>
              </a:rPr>
              <a:t>What we are building is the left-hand box — a chain of K identical current-limited stages standing in for the predriver we cannot see.</a:t>
            </a:r>
          </a:p>
        </p:txBody>
      </p:sp>
      <p:pic>
        <p:nvPicPr>
          <p:cNvPr id="4" name="Picture 3" descr="model_blocks.png"/>
          <p:cNvPicPr>
            <a:picLocks noChangeAspect="1"/>
          </p:cNvPicPr>
          <p:nvPr/>
        </p:nvPicPr>
        <p:blipFill>
          <a:blip r:embed="rId2"/>
          <a:stretch>
            <a:fillRect/>
          </a:stretch>
        </p:blipFill>
        <p:spPr>
          <a:xfrm>
            <a:off x="411480" y="2578608"/>
            <a:ext cx="11384280" cy="314540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1 — C_comp, from the file's own arithmetic</a:t>
            </a:r>
          </a:p>
        </p:txBody>
      </p:sp>
      <p:sp>
        <p:nvSpPr>
          <p:cNvPr id="3" name="Content Placeholder 2"/>
          <p:cNvSpPr>
            <a:spLocks noGrp="1"/>
          </p:cNvSpPr>
          <p:nvPr>
            <p:ph idx="10"/>
          </p:nvPr>
        </p:nvSpPr>
        <p:spPr>
          <a:xfrm>
            <a:off x="411480" y="987552"/>
            <a:ext cx="11384280" cy="2944368"/>
          </a:xfrm>
        </p:spPr>
        <p:txBody>
          <a:bodyPr/>
          <a:lstStyle/>
          <a:p>
            <a:pPr>
              <a:spcAft>
                <a:spcPts val="400"/>
              </a:spcAft>
            </a:pPr>
            <a:r>
              <a:rPr sz="1700"/>
              <a:t>C_comp is not a model parameter. It is a number in the file that the file's own Ku tables were solved with, so a wrong value inflates the curve everything downstream is fitted to.</a:t>
            </a:r>
          </a:p>
          <a:p>
            <a:pPr>
              <a:spcAft>
                <a:spcPts val="400"/>
              </a:spcAft>
            </a:pPr>
            <a:r>
              <a:rPr sz="1700"/>
              <a:t>Ku is a conducting fraction, so it cannot exceed 1. ex2's declared 5.0 pF implies Ku = 1.24 — impossible, so the file rejects its own declared value.</a:t>
            </a:r>
          </a:p>
          <a:p>
            <a:pPr>
              <a:spcAft>
                <a:spcPts val="400"/>
              </a:spcAft>
            </a:pPr>
            <a:r>
              <a:rPr sz="1700"/>
              <a:t>Rule: keep what the file declares unless it implies Ku &gt; 1; then take the value at which Ku just reaches 1. On ex2 that reads 2.64 pF, against 1.70 measured by the loop.</a:t>
            </a:r>
          </a:p>
          <a:p>
            <a:pPr>
              <a:spcAft>
                <a:spcPts val="400"/>
              </a:spcAft>
            </a:pPr>
            <a:r>
              <a:rPr sz="1700" b="1">
                <a:solidFill>
                  <a:srgbClr val="2B7A43"/>
                </a:solidFill>
              </a:rPr>
              <a:t>55 % off the measured value, and it still works — the stressed peak is not sharp in C_comp once it is in the right range.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2 — the four numbers, fitted to the file</a:t>
            </a:r>
          </a:p>
        </p:txBody>
      </p:sp>
      <p:sp>
        <p:nvSpPr>
          <p:cNvPr id="3" name="Content Placeholder 2"/>
          <p:cNvSpPr>
            <a:spLocks noGrp="1"/>
          </p:cNvSpPr>
          <p:nvPr>
            <p:ph idx="10"/>
          </p:nvPr>
        </p:nvSpPr>
        <p:spPr>
          <a:xfrm>
            <a:off x="411480" y="987552"/>
            <a:ext cx="11384280" cy="2752344"/>
          </a:xfrm>
        </p:spPr>
        <p:txBody>
          <a:bodyPr/>
          <a:lstStyle/>
          <a:p>
            <a:pPr>
              <a:spcAft>
                <a:spcPts val="400"/>
              </a:spcAft>
            </a:pPr>
            <a:r>
              <a:rPr sz="1700"/>
              <a:t>For a given number of stages, the four numbers are fitted so that the chain's output, put through the map, reproduces the file's own full-swing Ku(t).</a:t>
            </a:r>
          </a:p>
          <a:p>
            <a:pPr>
              <a:spcAft>
                <a:spcPts val="400"/>
              </a:spcAft>
            </a:pPr>
            <a:r>
              <a:rPr sz="1700"/>
              <a:t>Nelder–Mead, three restarts. No measurement is involved — the target is a curve the file already contains.</a:t>
            </a:r>
          </a:p>
          <a:p>
            <a:pPr>
              <a:spcAft>
                <a:spcPts val="400"/>
              </a:spcAft>
            </a:pPr>
            <a:r>
              <a:rPr sz="1700" b="1">
                <a:solidFill>
                  <a:srgbClr val="2B7A43"/>
                </a:solidFill>
              </a:rPr>
              <a:t>So the stage law costs nothing. What it does not give us is K, or the map's shape.</a:t>
            </a:r>
          </a:p>
          <a:p>
            <a:pPr>
              <a:spcAft>
                <a:spcPts val="400"/>
              </a:spcAft>
            </a:pPr>
            <a:r>
              <a:rPr sz="1700"/>
              <a:t/>
            </a:r>
          </a:p>
          <a:p>
            <a:pPr>
              <a:spcAft>
                <a:spcPts val="400"/>
              </a:spcAft>
            </a:pPr>
            <a:r>
              <a:rPr sz="1700"/>
              <a:t>Why not? Because a stage count that fits the file worse by a few per cent can behave completely differently under stress — which is the next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3 — what the file cannot choose</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800"/>
              <a:t>Left: the fit error against the file's Ku(t), for every stage count. Past K = 3 it is flat — the file has nothing left to say.</a:t>
            </a:r>
          </a:p>
          <a:p>
            <a:pPr>
              <a:spcAft>
                <a:spcPts val="400"/>
              </a:spcAft>
            </a:pPr>
            <a:r>
              <a:rPr sz="1800"/>
              <a:t>Right: the three candidates inside that band, on one 810 ps stressed pulse. Same file, same fit quality, three completely different buffers.</a:t>
            </a:r>
          </a:p>
          <a:p>
            <a:pPr>
              <a:spcAft>
                <a:spcPts val="400"/>
              </a:spcAft>
            </a:pPr>
            <a:r>
              <a:rPr sz="1800" b="1">
                <a:solidFill>
                  <a:srgbClr val="2B7A43"/>
                </a:solidFill>
              </a:rPr>
              <a:t>So the file gives a band of three, and the map's shape is under-determined in exactly the same way. Three stage counts × three map shapes = nine candidates.</a:t>
            </a:r>
          </a:p>
        </p:txBody>
      </p:sp>
      <p:pic>
        <p:nvPicPr>
          <p:cNvPr id="4" name="Picture 3" descr="k_choice.png"/>
          <p:cNvPicPr>
            <a:picLocks noChangeAspect="1"/>
          </p:cNvPicPr>
          <p:nvPr/>
        </p:nvPicPr>
        <p:blipFill>
          <a:blip r:embed="rId2"/>
          <a:stretch>
            <a:fillRect/>
          </a:stretch>
        </p:blipFill>
        <p:spPr>
          <a:xfrm>
            <a:off x="1397800" y="3291840"/>
            <a:ext cx="9411638" cy="322783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4 — the stressed run, first job: set the amplitude</a:t>
            </a:r>
          </a:p>
        </p:txBody>
      </p:sp>
      <p:sp>
        <p:nvSpPr>
          <p:cNvPr id="3" name="Content Placeholder 2"/>
          <p:cNvSpPr>
            <a:spLocks noGrp="1"/>
          </p:cNvSpPr>
          <p:nvPr>
            <p:ph idx="10"/>
          </p:nvPr>
        </p:nvSpPr>
        <p:spPr>
          <a:xfrm>
            <a:off x="411480" y="987552"/>
            <a:ext cx="11384280" cy="2340864"/>
          </a:xfrm>
        </p:spPr>
        <p:txBody>
          <a:bodyPr/>
          <a:lstStyle/>
          <a:p>
            <a:pPr>
              <a:spcAft>
                <a:spcPts val="400"/>
              </a:spcAft>
            </a:pPr>
            <a:r>
              <a:rPr sz="1700"/>
              <a:t>Now the one measured waveform enters. Its first job is to fix how hard the chain drives.</a:t>
            </a:r>
          </a:p>
          <a:p>
            <a:pPr>
              <a:spcAft>
                <a:spcPts val="400"/>
              </a:spcAft>
            </a:pPr>
            <a:r>
              <a:rPr sz="1700" b="1">
                <a:solidFill>
                  <a:srgbClr val="2B7A43"/>
                </a:solidFill>
              </a:rPr>
              <a:t>The parameters fitted to the file alone are nowhere near right under stress. On ex2 at K = 3 the fitted threshold vt = 0.700 gives a pad 97 % too low on the 810 ps pulse.</a:t>
            </a:r>
          </a:p>
          <a:p>
            <a:pPr>
              <a:spcAft>
                <a:spcPts val="400"/>
              </a:spcAft>
            </a:pPr>
            <a:r>
              <a:rPr sz="1700"/>
              <a:t>So bisect vt until the model's peak matches the measured one — seven ngspice runs, 0.700 → 0.632.</a:t>
            </a:r>
          </a:p>
          <a:p>
            <a:pPr>
              <a:spcAft>
                <a:spcPts val="400"/>
              </a:spcAft>
            </a:pPr>
            <a:r>
              <a:rPr sz="1700" b="1">
                <a:solidFill>
                  <a:srgbClr val="2B7A43"/>
                </a:solidFill>
              </a:rPr>
              <a:t>Why vt and not the drive rates? The rates were fitted to reproduce the full swing, and moving them breaks it. vt changes *when* the chain hands off, not how fast it runs.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5 — the stressed run, second job: pick one</a:t>
            </a:r>
          </a:p>
        </p:txBody>
      </p:sp>
      <p:sp>
        <p:nvSpPr>
          <p:cNvPr id="3" name="Content Placeholder 2"/>
          <p:cNvSpPr>
            <a:spLocks noGrp="1"/>
          </p:cNvSpPr>
          <p:nvPr>
            <p:ph idx="10"/>
          </p:nvPr>
        </p:nvSpPr>
        <p:spPr>
          <a:xfrm>
            <a:off x="411480" y="987552"/>
            <a:ext cx="11384280" cy="2532888"/>
          </a:xfrm>
        </p:spPr>
        <p:txBody>
          <a:bodyPr/>
          <a:lstStyle/>
          <a:p>
            <a:pPr>
              <a:spcAft>
                <a:spcPts val="400"/>
              </a:spcAft>
            </a:pPr>
            <a:r>
              <a:rPr sz="1800"/>
              <a:t>All nine candidates have now been calibrated, so all nine hit the measured peak — the calibration put it there. The peak has no information left in it.</a:t>
            </a:r>
          </a:p>
          <a:p>
            <a:pPr>
              <a:spcAft>
                <a:spcPts val="400"/>
              </a:spcAft>
            </a:pPr>
            <a:r>
              <a:rPr sz="1800"/>
              <a:t>They differ everywhere else. Compare the whole measured waveform instead, over the pulse and its return, and one candidate wins: K = 3 with the 0.50/0.70 shape, at 59 mV rms against 84, 140 and worse for the rest.</a:t>
            </a:r>
          </a:p>
          <a:p>
            <a:pPr>
              <a:spcAft>
                <a:spcPts val="400"/>
              </a:spcAft>
            </a:pPr>
            <a:r>
              <a:rPr sz="1800" b="1">
                <a:solidFill>
                  <a:srgbClr val="2B7A43"/>
                </a:solidFill>
              </a:rPr>
              <a:t>Ranking on the peak instead picks a chain that arrives up to 300 ps late with four times the waveform error.</a:t>
            </a:r>
          </a:p>
        </p:txBody>
      </p:sp>
      <p:pic>
        <p:nvPicPr>
          <p:cNvPr id="4" name="Picture 3" descr="calib_select.png"/>
          <p:cNvPicPr>
            <a:picLocks noChangeAspect="1"/>
          </p:cNvPicPr>
          <p:nvPr/>
        </p:nvPicPr>
        <p:blipFill>
          <a:blip r:embed="rId2"/>
          <a:stretch>
            <a:fillRect/>
          </a:stretch>
        </p:blipFill>
        <p:spPr>
          <a:xfrm>
            <a:off x="2227668" y="3593592"/>
            <a:ext cx="7751902" cy="29260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recipe, on one slide</a:t>
            </a:r>
          </a:p>
        </p:txBody>
      </p:sp>
      <p:sp>
        <p:nvSpPr>
          <p:cNvPr id="3" name="Content Placeholder 2"/>
          <p:cNvSpPr>
            <a:spLocks noGrp="1"/>
          </p:cNvSpPr>
          <p:nvPr>
            <p:ph idx="10"/>
          </p:nvPr>
        </p:nvSpPr>
        <p:spPr>
          <a:xfrm>
            <a:off x="411480" y="987552"/>
            <a:ext cx="11384280" cy="2944368"/>
          </a:xfrm>
        </p:spPr>
        <p:txBody>
          <a:bodyPr/>
          <a:lstStyle/>
          <a:p>
            <a:pPr>
              <a:spcAft>
                <a:spcPts val="400"/>
              </a:spcAft>
            </a:pPr>
            <a:r>
              <a:rPr sz="1700" b="1">
                <a:solidFill>
                  <a:srgbClr val="2B7A43"/>
                </a:solidFill>
              </a:rPr>
              <a:t>From the file alone: C_comp, kept unless the file's own Ku &gt; 1 test rejects it; then s_up, s_dn, vt and x_lin fitted to the file's Ku(t), for each stage count in the band.</a:t>
            </a:r>
          </a:p>
          <a:p>
            <a:pPr>
              <a:spcAft>
                <a:spcPts val="400"/>
              </a:spcAft>
            </a:pPr>
            <a:r>
              <a:rPr sz="1700" b="1">
                <a:solidFill>
                  <a:srgbClr val="2B7A43"/>
                </a:solidFill>
              </a:rPr>
              <a:t>From the file, but undetermined by it: the stage count K (a band of three) and the map's shape (three candidates) — nine models in all.</a:t>
            </a:r>
          </a:p>
          <a:p>
            <a:pPr>
              <a:spcAft>
                <a:spcPts val="400"/>
              </a:spcAft>
            </a:pPr>
            <a:r>
              <a:rPr sz="1700" b="1">
                <a:solidFill>
                  <a:srgbClr val="2B7A43"/>
                </a:solidFill>
              </a:rPr>
              <a:t>From one stressed pad run, in order: bisect vt until the peak matches; then pick the candidate whose whole waveform matches.</a:t>
            </a:r>
          </a:p>
          <a:p>
            <a:pPr>
              <a:spcAft>
                <a:spcPts val="400"/>
              </a:spcAft>
            </a:pPr>
            <a:r>
              <a:rPr sz="1700" b="1">
                <a:solidFill>
                  <a:srgbClr val="2B7A43"/>
                </a:solidFill>
              </a:rPr>
              <a:t>Nothing is probed. The only measurement is a pad voltage, taken from outside the chip with ordinary equipment.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the file-only recipe stands</a:t>
            </a:r>
          </a:p>
        </p:txBody>
      </p:sp>
      <p:sp>
        <p:nvSpPr>
          <p:cNvPr id="3" name="Content Placeholder 2"/>
          <p:cNvSpPr>
            <a:spLocks noGrp="1"/>
          </p:cNvSpPr>
          <p:nvPr>
            <p:ph idx="10"/>
          </p:nvPr>
        </p:nvSpPr>
        <p:spPr>
          <a:xfrm>
            <a:off x="411480" y="987552"/>
            <a:ext cx="11384280" cy="1929384"/>
          </a:xfrm>
        </p:spPr>
        <p:txBody>
          <a:bodyPr/>
          <a:lstStyle/>
          <a:p>
            <a:pPr>
              <a:spcAft>
                <a:spcPts val="400"/>
              </a:spcAft>
            </a:pPr>
            <a:r>
              <a:rPr sz="1800" b="1">
                <a:solidFill>
                  <a:srgbClr val="2B7A43"/>
                </a:solidFill>
              </a:rPr>
              <a:t>12 of 12 buffers within ±10 % on the worst stressed pulse; mean 6.9 %.</a:t>
            </a:r>
          </a:p>
          <a:p>
            <a:pPr>
              <a:spcAft>
                <a:spcPts val="400"/>
              </a:spcAft>
            </a:pPr>
            <a:r>
              <a:rPr sz="1800"/>
              <a:t>On inv_chain the file-only build reaches 5.1 %, against 25.8 % for a build that uses the probed silicon — the shape choice matters more than the measurement.</a:t>
            </a:r>
          </a:p>
          <a:p>
            <a:pPr>
              <a:spcAft>
                <a:spcPts val="400"/>
              </a:spcAft>
            </a:pPr>
            <a:r>
              <a:rPr sz="1800" b="1">
                <a:solidFill>
                  <a:srgbClr val="2B7A43"/>
                </a:solidFill>
              </a:rPr>
              <a:t>What it costs: the full transition is worse than the shipped model on 10 of 12 buffers, and a stressed pulse train is still lost on ex2 and io_buf. We buy accuracy in stressed accuracy with full-swing accuracy.</a:t>
            </a:r>
          </a:p>
        </p:txBody>
      </p:sp>
      <p:pic>
        <p:nvPicPr>
          <p:cNvPr id="4" name="Picture 3" descr="endtoend.png"/>
          <p:cNvPicPr>
            <a:picLocks noChangeAspect="1"/>
          </p:cNvPicPr>
          <p:nvPr/>
        </p:nvPicPr>
        <p:blipFill>
          <a:blip r:embed="rId2"/>
          <a:stretch>
            <a:fillRect/>
          </a:stretch>
        </p:blipFill>
        <p:spPr>
          <a:xfrm>
            <a:off x="1507807" y="2990088"/>
            <a:ext cx="9191625" cy="3529584"/>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does not cover yet</a:t>
            </a:r>
          </a:p>
        </p:txBody>
      </p:sp>
      <p:sp>
        <p:nvSpPr>
          <p:cNvPr id="3" name="Content Placeholder 2"/>
          <p:cNvSpPr>
            <a:spLocks noGrp="1"/>
          </p:cNvSpPr>
          <p:nvPr>
            <p:ph idx="10"/>
          </p:nvPr>
        </p:nvSpPr>
        <p:spPr>
          <a:xfrm>
            <a:off x="411480" y="987552"/>
            <a:ext cx="11384280" cy="2340864"/>
          </a:xfrm>
        </p:spPr>
        <p:txBody>
          <a:bodyPr/>
          <a:lstStyle/>
          <a:p>
            <a:pPr>
              <a:spcAft>
                <a:spcPts val="400"/>
              </a:spcAft>
            </a:pPr>
            <a:r>
              <a:rPr sz="1800" b="1">
                <a:solidFill>
                  <a:srgbClr val="2B7A43"/>
                </a:solidFill>
              </a:rPr>
              <a:t>Direction. Everything here is a short HIGH pulse. Only io_buf has been run pulling down, where the model is 16–21 points too shallow — its pull-down chain never turns on at all on a short pulse.</a:t>
            </a:r>
          </a:p>
          <a:p>
            <a:pPr>
              <a:spcAft>
                <a:spcPts val="400"/>
              </a:spcAft>
            </a:pPr>
            <a:r>
              <a:rPr sz="1800" b="1">
                <a:solidFill>
                  <a:srgbClr val="2B7A43"/>
                </a:solidFill>
              </a:rPr>
              <a:t>Depth. The ladder samples 50–90 % of the travel. Below 50 % is unsampled.</a:t>
            </a:r>
          </a:p>
          <a:p>
            <a:pPr>
              <a:spcAft>
                <a:spcPts val="400"/>
              </a:spcAft>
            </a:pPr>
            <a:r>
              <a:rPr sz="1800" b="1">
                <a:solidFill>
                  <a:srgbClr val="2B7A43"/>
                </a:solidFill>
              </a:rPr>
              <a:t>Trains. One pulse at a time; a stressed train is still lost on two of three buffers.</a:t>
            </a:r>
          </a:p>
          <a:p>
            <a:pPr>
              <a:spcAft>
                <a:spcPts val="400"/>
              </a:spcAft>
            </a:pPr>
            <a:r>
              <a:rPr sz="1800" b="1">
                <a:solidFill>
                  <a:srgbClr val="2B7A43"/>
                </a:solidFill>
              </a:rPr>
              <a:t>The recipe has seen the answer key. Two of the three candidate map shapes were chosen by looking at results on these same twelve buffers. A thirteenth buffer may need a shape the grid does not contain.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inv_chain's input threshold</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800"/>
              <a:t>inv_chain's IBIS file declares Vinh 2.0 V on a 1.8 V part, so our input comparator fires late and trims about 29 ps off every pulse.</a:t>
            </a:r>
          </a:p>
          <a:p>
            <a:pPr>
              <a:spcAft>
                <a:spcPts val="400"/>
              </a:spcAft>
            </a:pPr>
            <a:r>
              <a:rPr sz="1800"/>
              <a:t>That trim cancels most of the gate-state model's overshoot, which is why it reads −2 % at 70 % stress on the previous slides while native IBIS reads +32 %.</a:t>
            </a:r>
          </a:p>
          <a:p>
            <a:pPr>
              <a:spcAft>
                <a:spcPts val="400"/>
              </a:spcAft>
            </a:pPr>
            <a:r>
              <a:rPr sz="1800" b="1">
                <a:solidFill>
                  <a:srgbClr val="2B7A43"/>
                </a:solidFill>
              </a:rPr>
              <a:t>It is a defect that flatters us, not a result. With the threshold at mid-supply the shipped error roughly doubles.</a:t>
            </a:r>
          </a:p>
        </p:txBody>
      </p:sp>
      <p:pic>
        <p:nvPicPr>
          <p:cNvPr id="4" name="Picture 3" descr="vinh_inv.png"/>
          <p:cNvPicPr>
            <a:picLocks noChangeAspect="1"/>
          </p:cNvPicPr>
          <p:nvPr/>
        </p:nvPicPr>
        <p:blipFill>
          <a:blip r:embed="rId2"/>
          <a:stretch>
            <a:fillRect/>
          </a:stretch>
        </p:blipFill>
        <p:spPr>
          <a:xfrm>
            <a:off x="2085298" y="3291840"/>
            <a:ext cx="8036642" cy="3227832"/>
          </a:xfrm>
          <a:prstGeom prst="rect">
            <a:avLst/>
          </a:prstGeom>
        </p:spPr>
      </p:pic>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17</Slides>
  <Notes>1</Notes>
  <HiddenSlides>0</HiddenSlide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1_MST_EMC_lab_theme</vt:lpstr>
      <vt:lpstr>IBIS Simulation Short Pulse Handling</vt:lpstr>
      <vt:lpstr>Table of contents</vt:lpstr>
      <vt:lpstr>Recap</vt:lpstr>
      <vt:lpstr>Ex2 (layout extracted output buffer) variants results</vt:lpstr>
      <vt:lpstr>Inv_chain (8-stage inverter chain) variants results</vt:lpstr>
      <vt:lpstr>Internal stages probing – io_buf </vt:lpstr>
      <vt:lpstr>Internal stages probing – ex2</vt:lpstr>
      <vt:lpstr>Internal stages probing – inv_chain</vt:lpstr>
      <vt:lpstr>Probe the internal stages – io_buf</vt:lpstr>
      <vt:lpstr>PowerPoint Presentation</vt:lpstr>
      <vt:lpstr>PowerPoint Presentation</vt:lpstr>
      <vt:lpstr>Probe the internal stages - ex2</vt:lpstr>
      <vt:lpstr>PowerPoint Presentation</vt:lpstr>
      <vt:lpstr>PowerPoint Presentation</vt:lpstr>
      <vt:lpstr>Probe the internal stages – inv_chain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3</cp:revision>
  <dcterms:created xsi:type="dcterms:W3CDTF">2025-07-07T19:11:35Z</dcterms:created>
  <dcterms:modified xsi:type="dcterms:W3CDTF">2026-09-18T17:14:53Z</dcterms:modified>
</cp:coreProperties>
</file>