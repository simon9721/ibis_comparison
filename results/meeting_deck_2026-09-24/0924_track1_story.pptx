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slides 2-4 have already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piece the written doc calls the sampling argument. It is the bridge from the motivation to the method, and it explains why one extra measurement is both necessary and sufficient in principle.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short. The user's own feedback was that the method needs a proper walkthrough rather than a circuit diagram and a ramp; that is the next piece of work, and docs/track1_recipe.md carries the full procedure meanwhile.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on slide 3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450592"/>
          </a:xfrm>
        </p:spPr>
        <p:txBody>
          <a:bodyPr/>
          <a:lstStyle/>
          <a:p>
            <a:pPr>
              <a:spcAft>
                <a:spcPts val="400"/>
              </a:spcAft>
            </a:pPr>
            <a:r>
              <a:rPr sz="1800"/>
              <a:t>Simon Huang  ·  24 September 2026</a:t>
            </a:r>
          </a:p>
          <a:p>
            <a:pPr>
              <a:spcAft>
                <a:spcPts val="400"/>
              </a:spcAft>
            </a:pPr>
            <a:r>
              <a:rPr sz="1800"/>
              <a:t/>
            </a:r>
          </a:p>
          <a:p>
            <a:pPr>
              <a:spcAft>
                <a:spcPts val="400"/>
              </a:spcAft>
            </a:pPr>
            <a:r>
              <a:rPr sz="1800"/>
              <a:t>The story in one line: the output stage is a static map of its own gate, so a stressed pad is right when the gate's shape is right — and the gate is the thing IBIS does not record.</a:t>
            </a:r>
          </a:p>
          <a:p>
            <a:pPr>
              <a:spcAft>
                <a:spcPts val="400"/>
              </a:spcAft>
            </a:pPr>
            <a:r>
              <a:rPr sz="1800"/>
              <a:t/>
            </a:r>
          </a:p>
          <a:p>
            <a:pPr>
              <a:spcAft>
                <a:spcPts val="400"/>
              </a:spcAft>
            </a:pPr>
            <a:r>
              <a:rPr sz="1800" b="1">
                <a:solidFill>
                  <a:srgbClr val="2B7A43"/>
                </a:solidFill>
              </a:rPr>
              <a:t>1  measure the map   2  show it works   3  show why our gate fails   4  reproduce the gate from the 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a:spcAft>
                <a:spcPts val="400"/>
              </a:spcAft>
            </a:pPr>
            <a:r>
              <a:rPr sz="1800" b="1">
                <a:solidFill>
                  <a:srgbClr val="2B7A43"/>
                </a:solidFill>
              </a:rPr>
              <a:t>The node that matters is the output stage's gate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The IBIS file gives Ku(t) on one full transition. The probe gives the gate on the same run. At each instant we have both numbers — so plot one against the other.</a:t>
            </a:r>
          </a:p>
          <a:p>
            <a:pPr>
              <a:spcAft>
                <a:spcPts val="400"/>
              </a:spcAft>
            </a:pPr>
            <a:r>
              <a:rPr sz="1800" b="1">
                <a:solidFill>
                  <a:srgbClr val="2B7A43"/>
                </a:solidFill>
              </a:rPr>
              <a:t>The pairing is the map.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Drive that measured map with the transistor's own gate, and compare the pad against the transistor at all five stress levels.</a:t>
            </a:r>
          </a:p>
          <a:p>
            <a:pPr>
              <a:spcAft>
                <a:spcPts val="400"/>
              </a:spcAft>
            </a:pPr>
            <a:r>
              <a:rPr sz="1800" b="1">
                <a:solidFill>
                  <a:srgbClr val="2B7A43"/>
                </a:solidFill>
              </a:rPr>
              <a:t>Within ±5 % at every level, where native IBIS runs +71 % at the deepest and our own gate-state model +74 %.</a:t>
            </a:r>
          </a:p>
        </p:txBody>
      </p:sp>
      <p:pic>
        <p:nvPicPr>
          <p:cNvPr id="4" name="Picture 3" descr="works_levels_ex2.png"/>
          <p:cNvPicPr>
            <a:picLocks noChangeAspect="1"/>
          </p:cNvPicPr>
          <p:nvPr/>
        </p:nvPicPr>
        <p:blipFill>
          <a:blip r:embed="rId2"/>
          <a:stretch>
            <a:fillRect/>
          </a:stretch>
        </p:blipFill>
        <p:spPr>
          <a:xfrm>
            <a:off x="411480" y="2578608"/>
            <a:ext cx="11384280" cy="338275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Drive that measured map with the transistor's own gate, and compare the pad against the transistor at all five stress levels.</a:t>
            </a:r>
          </a:p>
          <a:p>
            <a:pPr>
              <a:spcAft>
                <a:spcPts val="400"/>
              </a:spcAft>
            </a:pPr>
            <a:r>
              <a:rPr sz="1800" b="1">
                <a:solidFill>
                  <a:srgbClr val="2B7A43"/>
                </a:solidFill>
              </a:rPr>
              <a:t>Within +2…+9 %, where native IBIS runs +87 % at the deepest.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40104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a:spcAft>
                <a:spcPts val="400"/>
              </a:spcAft>
            </a:pPr>
            <a:r>
              <a:rPr sz="1800"/>
              <a:t>Given the right gate, the map reproduces the pad at every stress level, on both buffers.</a:t>
            </a:r>
          </a:p>
          <a:p>
            <a:pPr>
              <a:spcAft>
                <a:spcPts val="400"/>
              </a:spcAft>
            </a:pPr>
            <a:r>
              <a:rPr sz="1800"/>
              <a:t>The map itself is a fixed curve — it has no memory, and it does not change with the pulse. Measured hysteresis between the rising and falling branches is 0.07–0.10.</a:t>
            </a:r>
          </a:p>
          <a:p>
            <a:pPr>
              <a:spcAft>
                <a:spcPts val="400"/>
              </a:spcAft>
            </a:pPr>
            <a:r>
              <a:rPr sz="1800" b="1">
                <a:solidFill>
                  <a:srgbClr val="2B7A43"/>
                </a:solidFill>
              </a:rPr>
              <a:t>Everything that is wrong with our model is therefore in the gate.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a:spcAft>
                <a:spcPts val="400"/>
              </a:spcAft>
            </a:pPr>
            <a:r>
              <a:rPr sz="1800"/>
              <a:t>Our GUP is a fixed delay then an RC ramp. Truncating the input truncates that one shape.</a:t>
            </a:r>
          </a:p>
          <a:p>
            <a:pPr>
              <a:spcAft>
                <a:spcPts val="400"/>
              </a:spcAft>
            </a:pPr>
            <a:r>
              <a:rPr sz="1800"/>
              <a:t>The real gate is already moving long before GUP starts, and it turns round earlier.</a:t>
            </a:r>
          </a:p>
          <a:p>
            <a:pPr>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Same map, two gates. The top row is Ku, the bottom row the pad.</a:t>
            </a:r>
          </a:p>
          <a:p>
            <a:pPr>
              <a:spcAft>
                <a:spcPts val="400"/>
              </a:spcAft>
            </a:pPr>
            <a:r>
              <a:rPr sz="1800" b="1">
                <a:solidFill>
                  <a:srgbClr val="2B7A43"/>
                </a:solidFill>
              </a:rPr>
              <a:t>GUP holds Ku high long after the real gate has let go — and the pad overshoot is exactly that extra area. +74 % at 50 % stress, +4 % at 90 %.</a:t>
            </a:r>
          </a:p>
        </p:txBody>
      </p:sp>
      <p:pic>
        <p:nvPicPr>
          <p:cNvPr id="4" name="Picture 3" descr="ku_consequence_ex2.png"/>
          <p:cNvPicPr>
            <a:picLocks noChangeAspect="1"/>
          </p:cNvPicPr>
          <p:nvPr/>
        </p:nvPicPr>
        <p:blipFill>
          <a:blip r:embed="rId2"/>
          <a:stretch>
            <a:fillRect/>
          </a:stretch>
        </p:blipFill>
        <p:spPr>
          <a:xfrm>
            <a:off x="2121632" y="2276856"/>
            <a:ext cx="7963974" cy="424281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a:spcAft>
                <a:spcPts val="400"/>
              </a:spcAft>
            </a:pPr>
            <a:r>
              <a:rPr sz="1800"/>
              <a:t>We know what a correct model needs: the real gate's shape, and the map.</a:t>
            </a:r>
          </a:p>
          <a:p>
            <a:pPr>
              <a:spcAft>
                <a:spcPts val="400"/>
              </a:spcAft>
            </a:pPr>
            <a:r>
              <a:rPr sz="1800"/>
              <a:t>We have both — by probing. A customer with only the vendor's IBIS file has neither.</a:t>
            </a:r>
          </a:p>
          <a:p>
            <a:pPr>
              <a:spcAft>
                <a:spcPts val="400"/>
              </a:spcAft>
            </a:pPr>
            <a:r>
              <a:rPr sz="1800"/>
              <a:t/>
            </a:r>
          </a:p>
          <a:p>
            <a:pPr>
              <a:spcAft>
                <a:spcPts val="400"/>
              </a:spcAft>
            </a:pPr>
            <a:r>
              <a:rPr sz="1800" b="1">
                <a:solidFill>
                  <a:srgbClr val="2B7A43"/>
                </a:solidFill>
              </a:rPr>
              <a:t>The question for track 1: how much of that gate shape can be recovered from the IBIS file plus one measurement taken at the pad, with nothing probed inside?</a:t>
            </a:r>
          </a:p>
          <a:p>
            <a:pPr>
              <a:spcAft>
                <a:spcPts val="400"/>
              </a:spcAft>
            </a:pPr>
            <a:r>
              <a:rPr sz="1800"/>
              <a:t/>
            </a:r>
          </a:p>
          <a:p>
            <a:pPr>
              <a:spcAft>
                <a:spcPts val="400"/>
              </a:spcAft>
            </a:pPr>
            <a:r>
              <a:rPr sz="1800"/>
              <a:t>Two things have to come from somewhere: how fast the gate travels, and the map's shape. The next slides are about where each one can come from.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can and cannot give</a:t>
            </a:r>
          </a:p>
        </p:txBody>
      </p:sp>
      <p:sp>
        <p:nvSpPr>
          <p:cNvPr id="3" name="Content Placeholder 2"/>
          <p:cNvSpPr>
            <a:spLocks noGrp="1"/>
          </p:cNvSpPr>
          <p:nvPr>
            <p:ph idx="10"/>
          </p:nvPr>
        </p:nvSpPr>
        <p:spPr>
          <a:xfrm>
            <a:off x="411480" y="987552"/>
            <a:ext cx="11384280" cy="2944368"/>
          </a:xfrm>
        </p:spPr>
        <p:txBody>
          <a:bodyPr/>
          <a:lstStyle/>
          <a:p>
            <a:pPr>
              <a:spcAft>
                <a:spcPts val="400"/>
              </a:spcAft>
            </a:pPr>
            <a:r>
              <a:rPr sz="1800"/>
              <a:t>The file records Ku(t) on one full transition. Ku(t) is the map applied to the gate — a product of the two things we need separately.</a:t>
            </a:r>
          </a:p>
          <a:p>
            <a:pPr>
              <a:spcAft>
                <a:spcPts val="400"/>
              </a:spcAft>
            </a:pPr>
            <a:r>
              <a:rPr sz="1800" b="1">
                <a:solidFill>
                  <a:srgbClr val="2B7A43"/>
                </a:solidFill>
              </a:rPr>
              <a:t>A full transition only ever visits the two ends of the gate's travel, so any gate and map that agree at the ends reproduce the whole full-swing waveform. The file cannot separate them.</a:t>
            </a:r>
          </a:p>
          <a:p>
            <a:pPr>
              <a:spcAft>
                <a:spcPts val="400"/>
              </a:spcAft>
            </a:pPr>
            <a:r>
              <a:rPr sz="1800" b="1">
                <a:solidFill>
                  <a:srgbClr val="2B7A43"/>
                </a:solidFill>
              </a:rPr>
              <a:t>A truncated pulse stops the clock partway — it is the only measurement that reaches the interior of the gate's path from outside the chip.</a:t>
            </a:r>
          </a:p>
          <a:p>
            <a:pPr>
              <a:spcAft>
                <a:spcPts val="400"/>
              </a:spcAft>
            </a:pPr>
            <a:r>
              <a:rPr sz="1800"/>
              <a:t>That is why track 1 needs exactly one stressed pad run, and why the five stress levels are a sampling grid rather than a robustness sweep.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Status of the file-only recipe</a:t>
            </a:r>
          </a:p>
        </p:txBody>
      </p:sp>
      <p:sp>
        <p:nvSpPr>
          <p:cNvPr id="3" name="Content Placeholder 2"/>
          <p:cNvSpPr>
            <a:spLocks noGrp="1"/>
          </p:cNvSpPr>
          <p:nvPr>
            <p:ph idx="10"/>
          </p:nvPr>
        </p:nvSpPr>
        <p:spPr>
          <a:xfrm>
            <a:off x="411480" y="987552"/>
            <a:ext cx="11384280" cy="3355848"/>
          </a:xfrm>
        </p:spPr>
        <p:txBody>
          <a:bodyPr/>
          <a:lstStyle/>
          <a:p>
            <a:pPr>
              <a:spcAft>
                <a:spcPts val="400"/>
              </a:spcAft>
            </a:pPr>
            <a:r>
              <a:rPr sz="1800"/>
              <a:t>Built from the IBIS file plus one stressed pad run: C_comp from the file's own Ku ≤ 1 bound, a chain of current-limited stages fitted to the file's Ku(t), and two choices — the stage count and the map's shape — made by the one stressed run.</a:t>
            </a:r>
          </a:p>
          <a:p>
            <a:pPr>
              <a:spcAft>
                <a:spcPts val="400"/>
              </a:spcAft>
            </a:pPr>
            <a:r>
              <a:rPr sz="1800" b="1">
                <a:solidFill>
                  <a:srgbClr val="2B7A43"/>
                </a:solidFill>
              </a:rPr>
              <a:t>12 of 12 buffers within ±10 % on the worst stressed pulse; mean 6.9 %.</a:t>
            </a:r>
          </a:p>
          <a:p>
            <a:pPr>
              <a:spcAft>
                <a:spcPts val="400"/>
              </a:spcAft>
            </a:pPr>
            <a:r>
              <a:rPr sz="1800"/>
              <a:t>Cost: the full transition is worse than the shipped model on 10 of 12, and a stressed pulse train is still lost on ex2 and io_buf.</a:t>
            </a:r>
          </a:p>
          <a:p>
            <a:pPr>
              <a:spcAft>
                <a:spcPts val="400"/>
              </a:spcAft>
            </a:pPr>
            <a:r>
              <a:rPr sz="1800"/>
              <a:t/>
            </a:r>
          </a:p>
          <a:p>
            <a:pPr>
              <a:spcAft>
                <a:spcPts val="400"/>
              </a:spcAft>
            </a:pPr>
            <a:r>
              <a:rPr sz="1800" b="1">
                <a:solidFill>
                  <a:srgbClr val="2B7A43"/>
                </a:solidFill>
              </a:rPr>
              <a:t>The method half of this deck needs its own pass — the equations, where each parameter comes from, and why that stage law. Flagged, not hidden.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inv_chain's IBIS file declares Vinh 2.0 V on a 1.8 V part, so our input comparator fires late and trims about 29 ps off every pulse.</a:t>
            </a:r>
          </a:p>
          <a:p>
            <a:pPr>
              <a:spcAft>
                <a:spcPts val="400"/>
              </a:spcAft>
            </a:pPr>
            <a:r>
              <a:rPr sz="1800"/>
              <a:t>That trim cancels most of the gate-state model's overshoot, which is why it reads −2 % at 70 % stress on the previous slides while native IBIS reads +32 %.</a:t>
            </a:r>
          </a:p>
          <a:p>
            <a:pPr>
              <a:spcAft>
                <a:spcPts val="400"/>
              </a:spcAft>
            </a:pPr>
            <a:r>
              <a:rPr sz="1800" b="1">
                <a:solidFill>
                  <a:srgbClr val="2B7A43"/>
                </a:solidFill>
              </a:rPr>
              <a:t>It is a defect that flatters us, not a result.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