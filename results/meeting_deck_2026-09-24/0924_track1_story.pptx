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input and the threshold it must pass. Right: the output the constant current produces. The next slide turns this picture into the four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Colours tie each term of the equation to its row. u is the stage's input, v its output, both on their own 0-to-1 swing.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shipped model, blue the build using probed silicon, red the file-only one. Full numbers in docs/track1_recipe.md.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The family: a stage is a current source with a threshold</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A CMOS inverter driving a large load is a </a:t>
            </a:r>
            <a:r>
              <a:rPr sz="1800" b="1"/>
              <a:t>current source</a:t>
            </a:r>
            <a:r>
              <a:rPr sz="1800"/>
              <a:t> while its input sits at the rail, because its conducting device is in saturation. Only near the destination rail does it leave saturation and become a resistor.</a:t>
            </a:r>
          </a:p>
          <a:p>
            <a:pPr latinLnBrk="0">
              <a:spcAft>
                <a:spcPts val="400"/>
              </a:spcAft>
            </a:pPr>
            <a:r>
              <a:rPr sz="1800" b="1">
                <a:solidFill>
                  <a:srgbClr val="2B7A43"/>
                </a:solidFill>
              </a:rPr>
              <a:t>A constant current into a gate capacitance is a ramp, tapering at the end</a:t>
            </a:r>
            <a:r>
              <a:rPr sz="1800"/>
              <a:t> — which is what the measured stages do.</a:t>
            </a:r>
          </a:p>
        </p:txBody>
      </p:sp>
      <p:pic>
        <p:nvPicPr>
          <p:cNvPr id="4" name="Picture 3" descr="stage_law.png"/>
          <p:cNvPicPr>
            <a:picLocks noChangeAspect="1"/>
          </p:cNvPicPr>
          <p:nvPr/>
        </p:nvPicPr>
        <p:blipFill>
          <a:blip r:embed="rId2"/>
          <a:stretch>
            <a:fillRect/>
          </a:stretch>
        </p:blipFill>
        <p:spPr>
          <a:xfrm>
            <a:off x="411480" y="2880360"/>
            <a:ext cx="11384280" cy="350466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four numbers that picture requires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Written out, the stage law has exactly four free numbers and no more. Each one is a named part of the picture on the last slide, not a fitting coefficient.</a:t>
            </a:r>
          </a:p>
          <a:p>
            <a:pPr latinLnBrk="0">
              <a:spcAft>
                <a:spcPts val="400"/>
              </a:spcAft>
            </a:pPr>
            <a:r>
              <a:rPr sz="1800" b="1">
                <a:solidFill>
                  <a:srgbClr val="2B7A43"/>
                </a:solidFill>
              </a:rPr>
              <a:t>Three are fitted to the file and cost nothing. One, vt, is fitted and then re-set by the single stressed run — that is step 4.</a:t>
            </a:r>
          </a:p>
        </p:txBody>
      </p:sp>
      <p:pic>
        <p:nvPicPr>
          <p:cNvPr id="4" name="Picture 3" descr="four_numbers.png"/>
          <p:cNvPicPr>
            <a:picLocks noChangeAspect="1"/>
          </p:cNvPicPr>
          <p:nvPr/>
        </p:nvPicPr>
        <p:blipFill>
          <a:blip r:embed="rId2"/>
          <a:stretch>
            <a:fillRect/>
          </a:stretch>
        </p:blipFill>
        <p:spPr>
          <a:xfrm>
            <a:off x="1500917" y="2578608"/>
            <a:ext cx="9205404" cy="394106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each of the four actually does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Why a chain of K of them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The real predriver </a:t>
            </a:r>
            <a:r>
              <a:rPr sz="1700" b="1"/>
              <a:t>is</a:t>
            </a:r>
            <a:r>
              <a:rPr sz="1700"/>
              <a:t> a chain — the schematic earlier showed three inverters between ex2's input and its output gate, and the stage walk watched a pulse lose height at each.</a:t>
            </a:r>
          </a:p>
          <a:p>
            <a:pPr latinLnBrk="0">
              <a:spcAft>
                <a:spcPts val="400"/>
              </a:spcAft>
            </a:pPr>
            <a:r>
              <a:rPr sz="1700"/>
              <a:t>We cannot see how many a vendor's part has, so the count K is a parameter. The stages are held </a:t>
            </a:r>
            <a:r>
              <a:rPr sz="1700" b="1"/>
              <a:t>identical</a:t>
            </a:r>
            <a:r>
              <a:rPr sz="1700"/>
              <a:t>: a real tapered predriver approximately is, and letting them differ makes the fit degenerate.</a:t>
            </a:r>
          </a:p>
          <a:p>
            <a:pPr latinLnBrk="0">
              <a:spcAft>
                <a:spcPts val="400"/>
              </a:spcAft>
            </a:pPr>
            <a:r>
              <a:rPr sz="17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3291840"/>
            <a:ext cx="11384280" cy="309629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Step 1 — C_comp, rejected by the file's own arithmetic</a:t>
            </a:r>
          </a:p>
        </p:txBody>
      </p:sp>
      <p:sp>
        <p:nvSpPr>
          <p:cNvPr id="3" name="Content Placeholder 2"/>
          <p:cNvSpPr>
            <a:spLocks noGrp="1"/>
          </p:cNvSpPr>
          <p:nvPr>
            <p:ph idx="10"/>
          </p:nvPr>
        </p:nvSpPr>
        <p:spPr>
          <a:xfrm>
            <a:off x="411480" y="987552"/>
            <a:ext cx="11384280" cy="2532888"/>
          </a:xfrm>
        </p:spPr>
        <p:txBody>
          <a:bodyPr/>
          <a:lstStyle/>
          <a:p>
            <a:pPr latinLnBrk="0">
              <a:spcAft>
                <a:spcPts val="400"/>
              </a:spcAft>
            </a:pPr>
            <a:r>
              <a:rPr sz="1700"/>
              <a:t>Ku is a fraction of the device's own current, so it cannot exceed 1. Solve the file at a range of assumed C_comp and watch what the solve returns.</a:t>
            </a:r>
          </a:p>
          <a:p>
            <a:pPr latinLnBrk="0">
              <a:spcAft>
                <a:spcPts val="400"/>
              </a:spcAft>
            </a:pPr>
            <a:r>
              <a:rPr sz="1700" b="1">
                <a:solidFill>
                  <a:srgbClr val="2B7A43"/>
                </a:solidFill>
              </a:rPr>
              <a:t>ex2's declared 5.0 pF makes the file imply Ku = 1.24 — impossible. The file rejects its own declared value.</a:t>
            </a:r>
          </a:p>
          <a:p>
            <a:pPr latinLnBrk="0">
              <a:spcAft>
                <a:spcPts val="400"/>
              </a:spcAft>
            </a:pPr>
            <a:r>
              <a:rPr sz="1700"/>
              <a:t>So: keep what the file declares unless it implies Ku &gt; 1, then take the value at which Ku just reaches 1. That reads 2.64 pF here, against 1.70 measured with a probe —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657163" y="3593592"/>
            <a:ext cx="6892913" cy="29260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Step 2 — the four numbers, fitted to the file's Ku(t)</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The four are searched until the chain's output, put through the map,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512569" y="2688336"/>
            <a:ext cx="11182100" cy="38313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Step 3 — what the file cannot choose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Left: the fit error against the file's Ku(t), for every stage count. Past K = 3 it is </a:t>
            </a:r>
            <a:r>
              <a:rPr sz="1800" b="1"/>
              <a:t>flat</a:t>
            </a:r>
            <a:r>
              <a:rPr sz="1800"/>
              <a:t> — the file has nothing left to say.</a:t>
            </a:r>
          </a:p>
          <a:p>
            <a:pPr latinLnBrk="0">
              <a:spcAft>
                <a:spcPts val="400"/>
              </a:spcAft>
            </a:pPr>
            <a:r>
              <a:rPr sz="1800"/>
              <a:t>Right: the three candidates inside that band, on one 810 ps pulse. Same file, same fit quality, </a:t>
            </a:r>
            <a:r>
              <a:rPr sz="1800" b="1"/>
              <a:t>three completely different buffers</a:t>
            </a:r>
            <a:r>
              <a:rPr sz="1800"/>
              <a:t>.</a:t>
            </a:r>
          </a:p>
          <a:p>
            <a:pPr latinLnBrk="0">
              <a:spcAft>
                <a:spcPts val="400"/>
              </a:spcAft>
            </a:pPr>
            <a:r>
              <a:rPr sz="1800" b="1">
                <a:solidFill>
                  <a:srgbClr val="2B7A43"/>
                </a:solidFill>
              </a:rPr>
              <a:t>The map's shape is under-determined in the same way</a:t>
            </a:r>
            <a:r>
              <a:rPr sz="1800"/>
              <a:t> — the degeneracy slide. Three stage counts × three map shapes = nine candidates.</a:t>
            </a:r>
          </a:p>
        </p:txBody>
      </p:sp>
      <p:pic>
        <p:nvPicPr>
          <p:cNvPr id="4" name="Picture 3" descr="k_choice.png"/>
          <p:cNvPicPr>
            <a:picLocks noChangeAspect="1"/>
          </p:cNvPicPr>
          <p:nvPr/>
        </p:nvPicPr>
        <p:blipFill>
          <a:blip r:embed="rId2"/>
          <a:stretch>
            <a:fillRect/>
          </a:stretch>
        </p:blipFill>
        <p:spPr>
          <a:xfrm>
            <a:off x="1397800" y="3291840"/>
            <a:ext cx="9411638" cy="322783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Step 4 — the stressed run, first job: set the amplitude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Now the measured waveform enters. </a:t>
            </a:r>
            <a:r>
              <a:rPr sz="1800" b="1"/>
              <a:t>Fitted to the file alone the chain leaves the 810 ps pad 28 % low</a:t>
            </a:r>
            <a:r>
              <a:rPr sz="1800"/>
              <a:t> — the file can set the shape, but not the amplitude.</a:t>
            </a:r>
          </a:p>
          <a:p>
            <a:pPr latinLnBrk="0">
              <a:spcAft>
                <a:spcPts val="400"/>
              </a:spcAft>
            </a:pPr>
            <a:r>
              <a:rPr sz="1800"/>
              <a:t>So bisect vt against the measured peak. The two spikes are the bracket being probed first: vt = 0 overshoots by 26 %, vt = 0.7 kills the pulse entirely at −99 %. Then halve. Ten runs, landing on vt 0.487 and +1.4 %.</a:t>
            </a:r>
          </a:p>
          <a:p>
            <a:pPr latinLnBrk="0">
              <a:spcAft>
                <a:spcPts val="400"/>
              </a:spcAft>
            </a:pPr>
            <a:r>
              <a:rPr sz="1800" b="1">
                <a:solidFill>
                  <a:srgbClr val="2B7A43"/>
                </a:solidFill>
              </a:rPr>
              <a:t>Why vt and not the drive rates? The rates were fitted to reproduce the full swing, and moving them breaks it. vt changes when the chain hands off, not how fast it runs.</a:t>
            </a:r>
          </a:p>
        </p:txBody>
      </p:sp>
      <p:pic>
        <p:nvPicPr>
          <p:cNvPr id="4" name="Picture 3" descr="bisection.png"/>
          <p:cNvPicPr>
            <a:picLocks noChangeAspect="1"/>
          </p:cNvPicPr>
          <p:nvPr/>
        </p:nvPicPr>
        <p:blipFill>
          <a:blip r:embed="rId2"/>
          <a:stretch>
            <a:fillRect/>
          </a:stretch>
        </p:blipFill>
        <p:spPr>
          <a:xfrm>
            <a:off x="1395221" y="3291840"/>
            <a:ext cx="9416797" cy="322783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Step 5 — the stressed run, second job: pick one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From the file alone:</a:t>
            </a:r>
            <a:r>
              <a:rPr sz="1600"/>
              <a:t> C_comp, kept unless its own Ku &gt; 1 test rejects it; then s_up, s_dn, vt, x_lin fitted to the file's Ku(t) at each stage count in the band.</a:t>
            </a:r>
          </a:p>
          <a:p>
            <a:pPr latinLnBrk="0">
              <a:spcAft>
                <a:spcPts val="400"/>
              </a:spcAft>
            </a:pPr>
            <a:r>
              <a:rPr sz="1600" b="1"/>
              <a:t>Left undetermined by the file:</a:t>
            </a:r>
            <a:r>
              <a:rPr sz="1600"/>
              <a:t> the stage count and the map's shape — nine candidates in all.</a:t>
            </a:r>
          </a:p>
          <a:p>
            <a:pPr latinLnBrk="0">
              <a:spcAft>
                <a:spcPts val="400"/>
              </a:spcAft>
            </a:pPr>
            <a:r>
              <a:rPr sz="1600" b="1"/>
              <a:t>From one stressed pad run, in order:</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where the file-only recipe stands</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12 of 12 buffers within ±10 % on the worst stressed pulse; mean 6.9 %.</a:t>
            </a:r>
          </a:p>
          <a:p>
            <a:pPr latinLnBrk="0">
              <a:spcAft>
                <a:spcPts val="400"/>
              </a:spcAft>
            </a:pPr>
            <a:r>
              <a:rPr sz="1800"/>
              <a:t>On inv_chain the file-only build reaches 5.1 %, against 25.8 % for a build that uses the probed silicon — the shape choice matters more than the measurement.</a:t>
            </a:r>
          </a:p>
          <a:p>
            <a:pPr latinLnBrk="0">
              <a:spcAft>
                <a:spcPts val="400"/>
              </a:spcAft>
            </a:pPr>
            <a:r>
              <a:rPr sz="1800" b="1">
                <a:solidFill>
                  <a:srgbClr val="2B7A43"/>
                </a:solidFill>
              </a:rPr>
              <a:t>What it costs:</a:t>
            </a:r>
            <a:r>
              <a:rPr sz="1800"/>
              <a:t> the full transition is worse than the shipped model on 10 of 12 buffers, and a stressed pulse train is still lost on ex2 and io_buf. We are buying stressed accuracy with full-swing accuracy.</a:t>
            </a:r>
          </a:p>
        </p:txBody>
      </p:sp>
      <p:pic>
        <p:nvPicPr>
          <p:cNvPr id="4" name="Picture 3" descr="endtoend.png"/>
          <p:cNvPicPr>
            <a:picLocks noChangeAspect="1"/>
          </p:cNvPicPr>
          <p:nvPr/>
        </p:nvPicPr>
        <p:blipFill>
          <a:blip r:embed="rId2"/>
          <a:stretch>
            <a:fillRect/>
          </a:stretch>
        </p:blipFill>
        <p:spPr>
          <a:xfrm>
            <a:off x="1507807" y="2990088"/>
            <a:ext cx="9191625" cy="352958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