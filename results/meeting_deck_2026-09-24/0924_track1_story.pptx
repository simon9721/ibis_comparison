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9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8"/>
    <p:sldId id="267" r:id="rId7"/>
    <p:sldId id="268" r:id="rId6"/>
    <p:sldId id="269" r:id="rId5"/>
    <p:sldId id="270" r:id="rId4"/>
    <p:sldId id="271" r:id="rId3"/>
    <p:sldId id="272" r:id="rId2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3D08B1E-3D88-1A97-E8DE-BE8BBEBC7A02}" name="Hwang, Simon (S&amp;T-Student)" initials="HS" userId="S::sh3qm@umsystem.edu::76a09fb8-a1d4-4f76-828e-9524909c17f1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321CF"/>
    <a:srgbClr val="FFFFB8"/>
    <a:srgbClr val="FBFB00"/>
    <a:srgbClr val="FFFF29"/>
    <a:srgbClr val="C52BA8"/>
    <a:srgbClr val="99CCFF"/>
    <a:srgbClr val="6699FF"/>
    <a:srgbClr val="FFCC99"/>
    <a:srgbClr val="33CCFF"/>
    <a:srgbClr val="00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AB5F854-6EE0-1085-1A4B-120A9FE69D43}" v="1" dt="2026-09-18T04:07:12.962"/>
    <p1510:client id="{EE3FB4A7-ED71-7C7F-1029-72FE09E02ECF}" v="15" dt="2026-09-18T17:06:51.781"/>
    <p1510:client id="{EFA4587C-4E70-8C3A-C9F1-251AEC5A864F}" v="105" dt="2026-09-18T17:14:25.13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7.xml"/><Relationship Id="rId3" Type="http://schemas.openxmlformats.org/officeDocument/2006/relationships/slide" Target="slides/slide16.xml"/><Relationship Id="rId4" Type="http://schemas.openxmlformats.org/officeDocument/2006/relationships/slide" Target="slides/slide15.xml"/><Relationship Id="rId5" Type="http://schemas.openxmlformats.org/officeDocument/2006/relationships/slide" Target="slides/slide14.xml"/><Relationship Id="rId6" Type="http://schemas.openxmlformats.org/officeDocument/2006/relationships/slide" Target="slides/slide13.xml"/><Relationship Id="rId7" Type="http://schemas.openxmlformats.org/officeDocument/2006/relationships/slide" Target="slides/slide12.xml"/><Relationship Id="rId8" Type="http://schemas.openxmlformats.org/officeDocument/2006/relationships/slide" Target="slides/slide11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microsoft.com/office/2015/10/relationships/revisionInfo" Target="revisionInfo.xml"/><Relationship Id="rId25" Type="http://schemas.microsoft.com/office/2018/10/relationships/authors" Target="authors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4FF5152-AD57-4057-A738-BC536A645BFF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FBD6F9-9B61-4F1F-A828-501CEB5BCF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9444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Order matters here: every earlier version started from the method. This one starts from the measurement, because that is how the work went and it makes the method's motivation earned rather than asserted.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ex2's predriver is three stages; n4 (orange) is the gate of the output device. Probes ran on predriver_stages_2026-09-09; the same schematics exist for io_buf and inv_chain on the 09-18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Left: Ku(t) from the file and the probed n4(t), with five instants marked. Right: the same five instants plotted Ku against gate. This is the measured Ku-vs-gate map, and it is what the next slides drive.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Build: gate_replay_silicon_full in gate_cascade_prototype_2026-09-09 — the real gate replayed through the map measured at full swing. The same replay through the IBIS-implied map is fine on ex2 (-3…-6 %) and collapses on inv_chain (-14 to -69 %), which is why the measured map is the one shown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Build: gate_replay_silicon_full in gate_cascade_prototype_2026-09-09 — the real gate replayed through the map measured at full swing. The same replay through the IBIS-implied map is fine on ex2 (-3…-6 %) and collapses on inv_chain (-14 to -69 %), which is why the measured map is the one shown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pivot of the deck. It licenses spending the rest of the time on the gate's shape and nothing else.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Grey: the full-swing gate. Black: the real gate under the stressed pulse. Purple: our GUP. Note that the real gate leaves zero around 0.5 ns while GUP is still flat until 1.1 ns, and that GUP's peak arrives after the real gate's.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causal chain end to end: gate shape -&gt; Ku -&gt; pad. At 90 % stress the two gates nearly coincide and the error nearly vanishes, which is why the failure only shows up under stress.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motivation slide, and it only works because slides 2-4 have already shown that the gate's shape is the entire error. Earlier versions of this deck asserted the motivation before showing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 from the 09-17 method film's export. This is the beat the film spends most time on, and the deck previously skipped: Ku(t) is solved, not fitted.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figure is the same point in the other factor: with no probe the map's shape has to be assumed, and the assumed shape and the measured one differ. Which shape you assume forces which gate the fit produces.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Grey is the full transition; the coloured curves follow it and peel off at different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rules out RC cascades, delay-plus-RC and superposition, which is what the shipped model is built from.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left panel is the input and its threshold; the right is the output the constant current produces. The next slide shows what each of the four actually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Simulated with the project's own stage model from the fitted values the film exported. Note the vt panel: at the top of its range the pulse dies completely.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Worth saying out loud that the right-hand half is not ours and is not in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loop measurement is slide 3's hysteresis plot used as an instrument - a wrong C_comp opens the loop, because dV/dt flips sign between rise and fall. Track 1 cannot use it, since it needs the probed gate.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trial the optimiser actually took, exported live by the 09-17 film. What this does NOT give us is K or the map's shape -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 shapes are (0.50, 0.70), (0.40, 0.60) and (0.40, 0.90). Note on the right that all three already match the peak - that is the calibration, and it is why the peak cannot be what chooses.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iteration the calibration actually wrote, recovered from the netlists it emitted. The vt here is the film's ex2 case; the deck's own K = 3 build lands on 0.632 from a different starting 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this buffer the rule picks the best of the nine outright.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same block diagram as slide 12, now with the recipe attached to it. This is the slide to leave up during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Grey is the shipped model, blue the build using probed silicon, red the file-only one. Full numbers in docs/track1_recipe.md.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Better said than asked. The direction gap is the one that would most change the headline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Carried from the 09-18 deck so the inv_chain numbers on slide 3 are not read as a win. review_2026-09-09 item 12B has the measurement.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8" descr="new_logo_final"/>
          <p:cNvPicPr>
            <a:picLocks noChangeAspect="1" noChangeArrowheads="1"/>
          </p:cNvPicPr>
          <p:nvPr/>
        </p:nvPicPr>
        <p:blipFill>
          <a:blip r:embed="rId2" cstate="print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572000"/>
            <a:ext cx="3048000" cy="228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Picture 17" descr="new_logo_final"/>
          <p:cNvPicPr>
            <a:picLocks noChangeAspect="1" noChangeArrowheads="1"/>
          </p:cNvPicPr>
          <p:nvPr/>
        </p:nvPicPr>
        <p:blipFill>
          <a:blip r:embed="rId2" cstate="print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286000"/>
            <a:ext cx="3048000" cy="228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16" descr="new_logo_final"/>
          <p:cNvPicPr>
            <a:picLocks noChangeAspect="1" noChangeArrowheads="1"/>
          </p:cNvPicPr>
          <p:nvPr/>
        </p:nvPicPr>
        <p:blipFill>
          <a:blip r:embed="rId3" cstate="print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3048000" cy="228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Rectangle 11"/>
          <p:cNvSpPr>
            <a:spLocks noChangeArrowheads="1"/>
          </p:cNvSpPr>
          <p:nvPr/>
        </p:nvSpPr>
        <p:spPr bwMode="auto">
          <a:xfrm>
            <a:off x="609600" y="2971800"/>
            <a:ext cx="10871200" cy="152400"/>
          </a:xfrm>
          <a:prstGeom prst="rect">
            <a:avLst/>
          </a:prstGeom>
          <a:gradFill rotWithShape="1">
            <a:gsLst>
              <a:gs pos="0">
                <a:srgbClr val="287F3D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 sz="1350">
              <a:solidFill>
                <a:srgbClr val="000000"/>
              </a:solidFill>
            </a:endParaRPr>
          </a:p>
        </p:txBody>
      </p:sp>
      <p:sp>
        <p:nvSpPr>
          <p:cNvPr id="3379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914400" y="1057275"/>
            <a:ext cx="10363200" cy="1828800"/>
          </a:xfrm>
        </p:spPr>
        <p:txBody>
          <a:bodyPr anchor="ctr"/>
          <a:lstStyle>
            <a:lvl1pPr algn="ctr">
              <a:defRPr sz="4400"/>
            </a:lvl1pPr>
          </a:lstStyle>
          <a:p>
            <a:r>
              <a:rPr lang="ko-KR" altLang="en-US"/>
              <a:t>마스터 제목 스타일 편집</a:t>
            </a:r>
            <a:endParaRPr lang="en-US" altLang="zh-CN"/>
          </a:p>
        </p:txBody>
      </p:sp>
      <p:sp>
        <p:nvSpPr>
          <p:cNvPr id="33795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828800" y="3657600"/>
            <a:ext cx="8534400" cy="1981200"/>
          </a:xfrm>
        </p:spPr>
        <p:txBody>
          <a:bodyPr/>
          <a:lstStyle>
            <a:lvl1pPr marL="0" indent="0" algn="ctr">
              <a:buFont typeface="Times New Roman" pitchFamily="18" charset="0"/>
              <a:buNone/>
              <a:defRPr sz="2800"/>
            </a:lvl1pPr>
          </a:lstStyle>
          <a:p>
            <a:r>
              <a:rPr lang="ko-KR" altLang="en-US"/>
              <a:t>클릭하여 마스터 부제목 스타일 편집</a:t>
            </a:r>
            <a:endParaRPr lang="en-US" altLang="zh-CN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185D946-0A64-0C7F-AA63-488808319B35}"/>
              </a:ext>
            </a:extLst>
          </p:cNvPr>
          <p:cNvSpPr/>
          <p:nvPr/>
        </p:nvSpPr>
        <p:spPr>
          <a:xfrm>
            <a:off x="11381117" y="6288658"/>
            <a:ext cx="684363" cy="483079"/>
          </a:xfrm>
          <a:prstGeom prst="ellipse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</p:spTree>
    <p:extLst>
      <p:ext uri="{BB962C8B-B14F-4D97-AF65-F5344CB8AC3E}">
        <p14:creationId xmlns:p14="http://schemas.microsoft.com/office/powerpoint/2010/main" val="4203716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0"/>
            <a:ext cx="11277600" cy="762000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8C6936E-D099-1BE8-8BB3-AAFCF768FD35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304800" y="1038225"/>
            <a:ext cx="11277600" cy="5438775"/>
          </a:xfrm>
        </p:spPr>
        <p:txBody>
          <a:bodyPr/>
          <a:lstStyle>
            <a:lvl1pPr marL="432000" indent="-432000">
              <a:spcBef>
                <a:spcPts val="0"/>
              </a:spcBef>
              <a:spcAft>
                <a:spcPts val="600"/>
              </a:spcAft>
              <a:buClrTx/>
              <a:buSzPct val="100000"/>
              <a:buFont typeface="Wingdings" panose="05000000000000000000" pitchFamily="2" charset="2"/>
              <a:buChar char="v"/>
              <a:defRPr sz="2400"/>
            </a:lvl1pPr>
            <a:lvl2pPr marL="720000" indent="-252000">
              <a:spcBef>
                <a:spcPts val="0"/>
              </a:spcBef>
              <a:spcAft>
                <a:spcPts val="600"/>
              </a:spcAft>
              <a:buClrTx/>
              <a:buSzPct val="100000"/>
              <a:buFont typeface="Wingdings" panose="05000000000000000000" pitchFamily="2" charset="2"/>
              <a:buChar char="§"/>
              <a:defRPr lang="ko-KR" altLang="en-US" sz="2000" dirty="0" smtClean="0">
                <a:solidFill>
                  <a:schemeClr val="tx1"/>
                </a:solidFill>
                <a:latin typeface="+mn-lt"/>
                <a:cs typeface="+mn-cs"/>
              </a:defRPr>
            </a:lvl2pPr>
            <a:lvl3pPr marL="1080000" indent="-324000">
              <a:spcAft>
                <a:spcPts val="600"/>
              </a:spcAft>
              <a:buClrTx/>
              <a:buSzPct val="100000"/>
              <a:buFont typeface="Arial" panose="020B0604020202020204" pitchFamily="34" charset="0"/>
              <a:buChar char="•"/>
              <a:defRPr sz="1800"/>
            </a:lvl3pPr>
            <a:lvl4pPr marL="1200150" indent="-171450">
              <a:buClrTx/>
              <a:buFont typeface="Arial" panose="020B0604020202020204" pitchFamily="34" charset="0"/>
              <a:buChar char="•"/>
              <a:defRPr sz="1200"/>
            </a:lvl4pPr>
            <a:lvl5pPr marL="1543050" indent="-171450">
              <a:buClrTx/>
              <a:buFont typeface="Courier New" panose="02070309020205020404" pitchFamily="49" charset="0"/>
              <a:buChar char="o"/>
              <a:defRPr sz="105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  <a:endParaRPr lang="en-US" altLang="ko-KR"/>
          </a:p>
          <a:p>
            <a:pPr lvl="2"/>
            <a:r>
              <a:rPr lang="ko-KR" altLang="en-US"/>
              <a:t>세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1220102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0"/>
            <a:ext cx="11277600" cy="762000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AA6B0B8-599D-92DF-18BE-0154789C50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5279366"/>
            <a:ext cx="11277600" cy="1197634"/>
          </a:xfrm>
        </p:spPr>
        <p:txBody>
          <a:bodyPr/>
          <a:lstStyle>
            <a:lvl1pPr marL="432000" indent="-432000">
              <a:spcBef>
                <a:spcPts val="0"/>
              </a:spcBef>
              <a:spcAft>
                <a:spcPts val="600"/>
              </a:spcAft>
              <a:buClrTx/>
              <a:buSzPct val="100000"/>
              <a:buFont typeface="Wingdings" panose="05000000000000000000" pitchFamily="2" charset="2"/>
              <a:buChar char="v"/>
              <a:defRPr sz="2400"/>
            </a:lvl1pPr>
            <a:lvl2pPr marL="720000" indent="-252000">
              <a:spcBef>
                <a:spcPts val="0"/>
              </a:spcBef>
              <a:spcAft>
                <a:spcPts val="600"/>
              </a:spcAft>
              <a:buClrTx/>
              <a:buSzPct val="100000"/>
              <a:buFont typeface="Wingdings" panose="05000000000000000000" pitchFamily="2" charset="2"/>
              <a:buChar char="§"/>
              <a:defRPr lang="ko-KR" altLang="en-US" sz="2000" dirty="0" smtClean="0">
                <a:solidFill>
                  <a:schemeClr val="tx1"/>
                </a:solidFill>
                <a:latin typeface="+mn-lt"/>
                <a:cs typeface="+mn-cs"/>
              </a:defRPr>
            </a:lvl2pPr>
            <a:lvl3pPr marL="1080000" indent="-324000">
              <a:spcAft>
                <a:spcPts val="600"/>
              </a:spcAft>
              <a:buClrTx/>
              <a:buSzPct val="100000"/>
              <a:buFont typeface="Arial" panose="020B0604020202020204" pitchFamily="34" charset="0"/>
              <a:buChar char="•"/>
              <a:defRPr sz="1800"/>
            </a:lvl3pPr>
            <a:lvl4pPr marL="1200150" indent="-171450">
              <a:buClrTx/>
              <a:buFont typeface="Arial" panose="020B0604020202020204" pitchFamily="34" charset="0"/>
              <a:buChar char="•"/>
              <a:defRPr sz="1200"/>
            </a:lvl4pPr>
            <a:lvl5pPr marL="1543050" indent="-171450">
              <a:buClrTx/>
              <a:buFont typeface="Courier New" panose="02070309020205020404" pitchFamily="49" charset="0"/>
              <a:buChar char="o"/>
              <a:defRPr sz="105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  <a:endParaRPr lang="en-US" altLang="ko-KR"/>
          </a:p>
          <a:p>
            <a:pPr lvl="2"/>
            <a:r>
              <a:rPr lang="ko-KR" altLang="en-US"/>
              <a:t>세 번째 수준</a:t>
            </a:r>
          </a:p>
        </p:txBody>
      </p:sp>
    </p:spTree>
    <p:extLst>
      <p:ext uri="{BB962C8B-B14F-4D97-AF65-F5344CB8AC3E}">
        <p14:creationId xmlns:p14="http://schemas.microsoft.com/office/powerpoint/2010/main" val="30497197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content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0"/>
            <a:ext cx="11277600" cy="762000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AA6B0B8-599D-92DF-18BE-0154789C509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04800" y="5279366"/>
            <a:ext cx="11277600" cy="1197634"/>
          </a:xfrm>
        </p:spPr>
        <p:txBody>
          <a:bodyPr/>
          <a:lstStyle>
            <a:lvl1pPr marL="432000" indent="-432000">
              <a:spcBef>
                <a:spcPts val="0"/>
              </a:spcBef>
              <a:spcAft>
                <a:spcPts val="600"/>
              </a:spcAft>
              <a:buClrTx/>
              <a:buSzPct val="100000"/>
              <a:buFont typeface="Wingdings" panose="05000000000000000000" pitchFamily="2" charset="2"/>
              <a:buChar char="§"/>
              <a:defRPr sz="2000"/>
            </a:lvl1pPr>
            <a:lvl2pPr marL="720000" indent="-252000">
              <a:spcBef>
                <a:spcPts val="0"/>
              </a:spcBef>
              <a:spcAft>
                <a:spcPts val="600"/>
              </a:spcAft>
              <a:buClrTx/>
              <a:buSzPct val="100000"/>
              <a:buFont typeface="Arial" panose="020B0604020202020204" pitchFamily="34" charset="0"/>
              <a:buChar char="•"/>
              <a:defRPr lang="ko-KR" altLang="en-US" sz="1800" dirty="0" smtClean="0">
                <a:solidFill>
                  <a:schemeClr val="tx1"/>
                </a:solidFill>
                <a:latin typeface="+mn-lt"/>
                <a:cs typeface="+mn-cs"/>
              </a:defRPr>
            </a:lvl2pPr>
            <a:lvl3pPr marL="1080000" indent="-324000">
              <a:spcAft>
                <a:spcPts val="600"/>
              </a:spcAft>
              <a:buClrTx/>
              <a:buSzPct val="100000"/>
              <a:buFont typeface="Arial" panose="020B0604020202020204" pitchFamily="34" charset="0"/>
              <a:buChar char="•"/>
              <a:defRPr sz="1800"/>
            </a:lvl3pPr>
            <a:lvl4pPr marL="1200150" indent="-171450">
              <a:buClrTx/>
              <a:buFont typeface="Arial" panose="020B0604020202020204" pitchFamily="34" charset="0"/>
              <a:buChar char="•"/>
              <a:defRPr sz="1200"/>
            </a:lvl4pPr>
            <a:lvl5pPr marL="1543050" indent="-171450">
              <a:buClrTx/>
              <a:buFont typeface="Courier New" panose="02070309020205020404" pitchFamily="49" charset="0"/>
              <a:buChar char="o"/>
              <a:defRPr sz="1050"/>
            </a:lvl5pPr>
          </a:lstStyle>
          <a:p>
            <a:pPr lvl="0"/>
            <a:r>
              <a:rPr lang="ko-KR" altLang="en-US"/>
              <a:t>두 번째 수준</a:t>
            </a:r>
            <a:endParaRPr lang="en-US" altLang="ko-KR"/>
          </a:p>
          <a:p>
            <a:pPr lvl="1"/>
            <a:r>
              <a:rPr lang="ko-KR" altLang="en-US"/>
              <a:t>세 번째 수준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87424F-3297-D95B-C851-77D5FA265A69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304800" y="964541"/>
            <a:ext cx="11277600" cy="445159"/>
          </a:xfrm>
        </p:spPr>
        <p:txBody>
          <a:bodyPr/>
          <a:lstStyle>
            <a:lvl1pPr marL="432000" indent="-432000">
              <a:spcBef>
                <a:spcPts val="0"/>
              </a:spcBef>
              <a:spcAft>
                <a:spcPts val="600"/>
              </a:spcAft>
              <a:buClrTx/>
              <a:buSzPct val="100000"/>
              <a:buFont typeface="Wingdings" panose="05000000000000000000" pitchFamily="2" charset="2"/>
              <a:buChar char="v"/>
              <a:defRPr sz="2400"/>
            </a:lvl1pPr>
            <a:lvl2pPr marL="720000" indent="-252000">
              <a:spcBef>
                <a:spcPts val="0"/>
              </a:spcBef>
              <a:spcAft>
                <a:spcPts val="600"/>
              </a:spcAft>
              <a:buClrTx/>
              <a:buSzPct val="100000"/>
              <a:buFont typeface="Wingdings" panose="05000000000000000000" pitchFamily="2" charset="2"/>
              <a:buChar char="§"/>
              <a:defRPr lang="ko-KR" altLang="en-US" sz="2000" dirty="0" smtClean="0">
                <a:solidFill>
                  <a:schemeClr val="tx1"/>
                </a:solidFill>
                <a:latin typeface="+mn-lt"/>
                <a:cs typeface="+mn-cs"/>
              </a:defRPr>
            </a:lvl2pPr>
            <a:lvl3pPr marL="1080000" indent="-324000">
              <a:spcAft>
                <a:spcPts val="600"/>
              </a:spcAft>
              <a:buClrTx/>
              <a:buSzPct val="100000"/>
              <a:buFont typeface="Arial" panose="020B0604020202020204" pitchFamily="34" charset="0"/>
              <a:buChar char="•"/>
              <a:defRPr sz="1800"/>
            </a:lvl3pPr>
            <a:lvl4pPr marL="1200150" indent="-171450">
              <a:buClrTx/>
              <a:buFont typeface="Arial" panose="020B0604020202020204" pitchFamily="34" charset="0"/>
              <a:buChar char="•"/>
              <a:defRPr sz="1200"/>
            </a:lvl4pPr>
            <a:lvl5pPr marL="1543050" indent="-171450">
              <a:buClrTx/>
              <a:buFont typeface="Courier New" panose="02070309020205020404" pitchFamily="49" charset="0"/>
              <a:buChar char="o"/>
              <a:defRPr sz="105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12702699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ontent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551" y="0"/>
            <a:ext cx="11024559" cy="762000"/>
          </a:xfrm>
        </p:spPr>
        <p:txBody>
          <a:bodyPr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75966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content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A3150C2-20D0-A45F-5462-61690D25671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551239" y="4124506"/>
            <a:ext cx="5089525" cy="507881"/>
          </a:xfrm>
        </p:spPr>
        <p:txBody>
          <a:bodyPr/>
          <a:lstStyle>
            <a:lvl1pPr marL="0" indent="0" algn="ctr">
              <a:buNone/>
              <a:defRPr sz="2100"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28ADDEF-87C0-B90A-6505-6A3A384B7EE8}"/>
              </a:ext>
            </a:extLst>
          </p:cNvPr>
          <p:cNvSpPr txBox="1"/>
          <p:nvPr/>
        </p:nvSpPr>
        <p:spPr>
          <a:xfrm>
            <a:off x="3623209" y="2313750"/>
            <a:ext cx="4945585" cy="141961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altLang="zh-CN" sz="8625"/>
              <a:t>Thank you</a:t>
            </a:r>
            <a:endParaRPr lang="ko-KR" altLang="en-US" sz="8625"/>
          </a:p>
        </p:txBody>
      </p:sp>
    </p:spTree>
    <p:extLst>
      <p:ext uri="{BB962C8B-B14F-4D97-AF65-F5344CB8AC3E}">
        <p14:creationId xmlns:p14="http://schemas.microsoft.com/office/powerpoint/2010/main" val="19419346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04800" y="0"/>
            <a:ext cx="11277600" cy="76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  <a:endParaRPr lang="en-US" altLang="zh-CN"/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304800" y="914400"/>
            <a:ext cx="11277600" cy="5562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</p:txBody>
      </p:sp>
      <p:sp>
        <p:nvSpPr>
          <p:cNvPr id="3277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750">
                <a:latin typeface="Verdana" pitchFamily="34" charset="0"/>
                <a:ea typeface="宋体" pitchFamily="2" charset="-122"/>
              </a:defRPr>
            </a:lvl1pPr>
          </a:lstStyle>
          <a:p>
            <a:endParaRPr lang="ko-KR" altLang="en-US"/>
          </a:p>
        </p:txBody>
      </p:sp>
      <p:sp>
        <p:nvSpPr>
          <p:cNvPr id="1030" name="Rectangle 12"/>
          <p:cNvSpPr>
            <a:spLocks noChangeArrowheads="1"/>
          </p:cNvSpPr>
          <p:nvPr/>
        </p:nvSpPr>
        <p:spPr bwMode="auto">
          <a:xfrm>
            <a:off x="304800" y="762000"/>
            <a:ext cx="10058400" cy="152400"/>
          </a:xfrm>
          <a:prstGeom prst="rect">
            <a:avLst/>
          </a:prstGeom>
          <a:gradFill rotWithShape="0">
            <a:gsLst>
              <a:gs pos="0">
                <a:srgbClr val="297F3D">
                  <a:alpha val="99001"/>
                </a:srgbClr>
              </a:gs>
              <a:gs pos="100000">
                <a:srgbClr val="FFFF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 sz="1350">
              <a:solidFill>
                <a:srgbClr val="00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7E8E0A-D232-4C57-7AD9-EBC41A1AA7E2}"/>
              </a:ext>
            </a:extLst>
          </p:cNvPr>
          <p:cNvSpPr txBox="1"/>
          <p:nvPr/>
        </p:nvSpPr>
        <p:spPr>
          <a:xfrm>
            <a:off x="11582400" y="6373649"/>
            <a:ext cx="386644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B6F15528-21DE-4FAA-801E-634DDDAF4B2B}" type="slidenum">
              <a:rPr lang="en-US" altLang="ko-KR" sz="1350" smtClean="0">
                <a:solidFill>
                  <a:srgbClr val="000000"/>
                </a:solidFill>
              </a:rPr>
              <a:pPr/>
              <a:t>‹#›</a:t>
            </a:fld>
            <a:endParaRPr lang="ko-KR" altLang="en-US" sz="1350"/>
          </a:p>
        </p:txBody>
      </p:sp>
    </p:spTree>
    <p:extLst>
      <p:ext uri="{BB962C8B-B14F-4D97-AF65-F5344CB8AC3E}">
        <p14:creationId xmlns:p14="http://schemas.microsoft.com/office/powerpoint/2010/main" val="6314961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txStyles>
    <p:titleStyle>
      <a:lvl1pPr algn="l" rtl="0" eaLnBrk="1" fontAlgn="base" latinLnBrk="1" hangingPunct="1">
        <a:spcBef>
          <a:spcPct val="0"/>
        </a:spcBef>
        <a:spcAft>
          <a:spcPct val="0"/>
        </a:spcAft>
        <a:defRPr sz="28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latinLnBrk="1" hangingPunct="1">
        <a:spcBef>
          <a:spcPct val="0"/>
        </a:spcBef>
        <a:spcAft>
          <a:spcPct val="0"/>
        </a:spcAft>
        <a:defRPr sz="2400">
          <a:solidFill>
            <a:schemeClr val="tx1"/>
          </a:solidFill>
          <a:latin typeface="Times New Roman" pitchFamily="18" charset="0"/>
          <a:cs typeface="Arial" charset="0"/>
        </a:defRPr>
      </a:lvl2pPr>
      <a:lvl3pPr algn="l" rtl="0" eaLnBrk="1" fontAlgn="base" latinLnBrk="1" hangingPunct="1">
        <a:spcBef>
          <a:spcPct val="0"/>
        </a:spcBef>
        <a:spcAft>
          <a:spcPct val="0"/>
        </a:spcAft>
        <a:defRPr sz="2400">
          <a:solidFill>
            <a:schemeClr val="tx1"/>
          </a:solidFill>
          <a:latin typeface="Times New Roman" pitchFamily="18" charset="0"/>
          <a:cs typeface="Arial" charset="0"/>
        </a:defRPr>
      </a:lvl3pPr>
      <a:lvl4pPr algn="l" rtl="0" eaLnBrk="1" fontAlgn="base" latinLnBrk="1" hangingPunct="1">
        <a:spcBef>
          <a:spcPct val="0"/>
        </a:spcBef>
        <a:spcAft>
          <a:spcPct val="0"/>
        </a:spcAft>
        <a:defRPr sz="2400">
          <a:solidFill>
            <a:schemeClr val="tx1"/>
          </a:solidFill>
          <a:latin typeface="Times New Roman" pitchFamily="18" charset="0"/>
          <a:cs typeface="Arial" charset="0"/>
        </a:defRPr>
      </a:lvl4pPr>
      <a:lvl5pPr algn="l" rtl="0" eaLnBrk="1" fontAlgn="base" latinLnBrk="1" hangingPunct="1">
        <a:spcBef>
          <a:spcPct val="0"/>
        </a:spcBef>
        <a:spcAft>
          <a:spcPct val="0"/>
        </a:spcAft>
        <a:defRPr sz="2400">
          <a:solidFill>
            <a:schemeClr val="tx1"/>
          </a:solidFill>
          <a:latin typeface="Times New Roman" pitchFamily="18" charset="0"/>
          <a:cs typeface="Arial" charset="0"/>
        </a:defRPr>
      </a:lvl5pPr>
      <a:lvl6pPr marL="342900" algn="l" rtl="0" eaLnBrk="1" fontAlgn="base" latinLnBrk="1" hangingPunct="1">
        <a:spcBef>
          <a:spcPct val="0"/>
        </a:spcBef>
        <a:spcAft>
          <a:spcPct val="0"/>
        </a:spcAft>
        <a:defRPr sz="2400">
          <a:solidFill>
            <a:schemeClr val="tx1"/>
          </a:solidFill>
          <a:latin typeface="Times New Roman" pitchFamily="18" charset="0"/>
          <a:cs typeface="Arial" charset="0"/>
        </a:defRPr>
      </a:lvl6pPr>
      <a:lvl7pPr marL="685800" algn="l" rtl="0" eaLnBrk="1" fontAlgn="base" latinLnBrk="1" hangingPunct="1">
        <a:spcBef>
          <a:spcPct val="0"/>
        </a:spcBef>
        <a:spcAft>
          <a:spcPct val="0"/>
        </a:spcAft>
        <a:defRPr sz="2400">
          <a:solidFill>
            <a:schemeClr val="tx1"/>
          </a:solidFill>
          <a:latin typeface="Times New Roman" pitchFamily="18" charset="0"/>
          <a:cs typeface="Arial" charset="0"/>
        </a:defRPr>
      </a:lvl7pPr>
      <a:lvl8pPr marL="1028700" algn="l" rtl="0" eaLnBrk="1" fontAlgn="base" latinLnBrk="1" hangingPunct="1">
        <a:spcBef>
          <a:spcPct val="0"/>
        </a:spcBef>
        <a:spcAft>
          <a:spcPct val="0"/>
        </a:spcAft>
        <a:defRPr sz="2400">
          <a:solidFill>
            <a:schemeClr val="tx1"/>
          </a:solidFill>
          <a:latin typeface="Times New Roman" pitchFamily="18" charset="0"/>
          <a:cs typeface="Arial" charset="0"/>
        </a:defRPr>
      </a:lvl8pPr>
      <a:lvl9pPr marL="1371600" algn="l" rtl="0" eaLnBrk="1" fontAlgn="base" latinLnBrk="1" hangingPunct="1">
        <a:spcBef>
          <a:spcPct val="0"/>
        </a:spcBef>
        <a:spcAft>
          <a:spcPct val="0"/>
        </a:spcAft>
        <a:defRPr sz="2400">
          <a:solidFill>
            <a:schemeClr val="tx1"/>
          </a:solidFill>
          <a:latin typeface="Times New Roman" pitchFamily="18" charset="0"/>
          <a:cs typeface="Arial" charset="0"/>
        </a:defRPr>
      </a:lvl9pPr>
    </p:titleStyle>
    <p:bodyStyle>
      <a:lvl1pPr marL="257175" indent="-257175" algn="l" rtl="0" eaLnBrk="1" fontAlgn="base" latinLnBrk="1" hangingPunct="1">
        <a:spcBef>
          <a:spcPts val="0"/>
        </a:spcBef>
        <a:spcAft>
          <a:spcPts val="450"/>
        </a:spcAft>
        <a:buClr>
          <a:schemeClr val="tx1"/>
        </a:buClr>
        <a:buSzPct val="75000"/>
        <a:buFont typeface="Times New Roman" pitchFamily="18" charset="0"/>
        <a:buChar char="●"/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80060" indent="-205740" algn="l" rtl="0" eaLnBrk="1" fontAlgn="base" latinLnBrk="1" hangingPunct="1">
        <a:spcBef>
          <a:spcPts val="0"/>
        </a:spcBef>
        <a:spcAft>
          <a:spcPts val="450"/>
        </a:spcAft>
        <a:buClrTx/>
        <a:buSzPct val="75000"/>
        <a:buFont typeface="Arial" charset="0"/>
        <a:buChar char="–"/>
        <a:defRPr lang="en-US" altLang="zh-CN" sz="1650" dirty="0" smtClean="0">
          <a:solidFill>
            <a:schemeClr val="tx1"/>
          </a:solidFill>
          <a:latin typeface="+mn-lt"/>
          <a:cs typeface="+mn-cs"/>
        </a:defRPr>
      </a:lvl2pPr>
      <a:lvl3pPr marL="754380" indent="-205740" algn="l" rtl="0" eaLnBrk="1" fontAlgn="base" latinLnBrk="1" hangingPunct="1">
        <a:spcBef>
          <a:spcPts val="0"/>
        </a:spcBef>
        <a:spcAft>
          <a:spcPts val="450"/>
        </a:spcAft>
        <a:buClrTx/>
        <a:buSzPct val="65000"/>
        <a:buFont typeface="Wingdings" pitchFamily="2" charset="2"/>
        <a:buChar char="§"/>
        <a:defRPr lang="en-US" altLang="zh-CN" sz="1500" dirty="0">
          <a:solidFill>
            <a:schemeClr val="tx1"/>
          </a:solidFill>
          <a:latin typeface="+mn-lt"/>
          <a:cs typeface="+mn-cs"/>
        </a:defRPr>
      </a:lvl3pPr>
      <a:lvl4pPr marL="1200150" indent="-171450" algn="l" rtl="0" eaLnBrk="1" fontAlgn="base" latinLnBrk="1" hangingPunct="1">
        <a:spcBef>
          <a:spcPct val="20000"/>
        </a:spcBef>
        <a:spcAft>
          <a:spcPct val="0"/>
        </a:spcAft>
        <a:buClr>
          <a:schemeClr val="bg2"/>
        </a:buClr>
        <a:buFont typeface="Arial" panose="020B0604020202020204" pitchFamily="34" charset="0"/>
        <a:buChar char="•"/>
        <a:defRPr sz="1200">
          <a:solidFill>
            <a:schemeClr val="tx1"/>
          </a:solidFill>
          <a:latin typeface="+mn-lt"/>
          <a:cs typeface="+mn-cs"/>
        </a:defRPr>
      </a:lvl4pPr>
      <a:lvl5pPr marL="1543050" indent="-171450" algn="l" rtl="0" eaLnBrk="1" fontAlgn="base" latinLnBrk="1" hangingPunct="1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 sz="1350">
          <a:solidFill>
            <a:schemeClr val="tx1"/>
          </a:solidFill>
          <a:latin typeface="+mn-lt"/>
          <a:cs typeface="+mn-cs"/>
        </a:defRPr>
      </a:lvl5pPr>
      <a:lvl6pPr marL="1885950" indent="-171450" algn="l" rtl="0" eaLnBrk="1" fontAlgn="base" latinLnBrk="1" hangingPunct="1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228850" indent="-171450" algn="l" rtl="0" eaLnBrk="1" fontAlgn="base" latinLnBrk="1" hangingPunct="1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2571750" indent="-171450" algn="l" rtl="0" eaLnBrk="1" fontAlgn="base" latinLnBrk="1" hangingPunct="1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2914650" indent="-171450" algn="l" rtl="0" eaLnBrk="1" fontAlgn="base" latinLnBrk="1" hangingPunct="1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Reproducing the real gate from the IBIS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/>
          </p:nvPr>
        </p:nvSpPr>
        <p:spPr>
          <a:xfrm>
            <a:off x="411480" y="987552"/>
            <a:ext cx="11384280" cy="2450592"/>
          </a:xfrm>
        </p:spPr>
        <p:txBody>
          <a:bodyPr/>
          <a:lstStyle/>
          <a:p>
            <a:pPr>
              <a:spcAft>
                <a:spcPts val="400"/>
              </a:spcAft>
            </a:pPr>
            <a:r>
              <a:rPr sz="1800"/>
              <a:t>Simon Huang  ·  24 September 2026</a:t>
            </a:r>
          </a:p>
          <a:p>
            <a:pPr>
              <a:spcAft>
                <a:spcPts val="400"/>
              </a:spcAft>
            </a:pPr>
            <a:r>
              <a:rPr sz="1800"/>
              <a:t/>
            </a:r>
          </a:p>
          <a:p>
            <a:pPr>
              <a:spcAft>
                <a:spcPts val="400"/>
              </a:spcAft>
            </a:pPr>
            <a:r>
              <a:rPr sz="1800"/>
              <a:t>The story in one line: the output stage is a static map of its own gate, so a stressed pad is right when the gate's shape is right — and the gate is the thing IBIS does not record.</a:t>
            </a:r>
          </a:p>
          <a:p>
            <a:pPr>
              <a:spcAft>
                <a:spcPts val="400"/>
              </a:spcAft>
            </a:pPr>
            <a:r>
              <a:rPr sz="1800"/>
              <a:t/>
            </a:r>
          </a:p>
          <a:p>
            <a:pPr>
              <a:spcAft>
                <a:spcPts val="400"/>
              </a:spcAft>
            </a:pPr>
            <a:r>
              <a:rPr sz="1800" b="1">
                <a:solidFill>
                  <a:srgbClr val="2B7A43"/>
                </a:solidFill>
              </a:rPr>
              <a:t>1  measure the map   2  show it works   3  show why our gate fails   4  reproduce the gate from the file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 · We can look inside our own test chips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/>
          </p:nvPr>
        </p:nvSpPr>
        <p:spPr>
          <a:xfrm>
            <a:off x="411480" y="987552"/>
            <a:ext cx="11384280" cy="1819656"/>
          </a:xfrm>
        </p:spPr>
        <p:txBody>
          <a:bodyPr/>
          <a:lstStyle/>
          <a:p>
            <a:pPr>
              <a:spcAft>
                <a:spcPts val="400"/>
              </a:spcAft>
            </a:pPr>
            <a:r>
              <a:rPr sz="1800"/>
              <a:t>These are our designs, so the transistor netlist is available and every internal node can be probed. A customer using a vendor's IBIS file cannot do this — which is the whole problem, and the reason to do it once, carefully.</a:t>
            </a:r>
          </a:p>
          <a:p>
            <a:pPr>
              <a:spcAft>
                <a:spcPts val="400"/>
              </a:spcAft>
            </a:pPr>
            <a:r>
              <a:rPr sz="1800" b="1">
                <a:solidFill>
                  <a:srgbClr val="2B7A43"/>
                </a:solidFill>
              </a:rPr>
              <a:t>The node that matters is the output stage's gate — ex2's n4 below. Everything the pad does is decided there.</a:t>
            </a:r>
          </a:p>
        </p:txBody>
      </p:sp>
      <p:pic>
        <p:nvPicPr>
          <p:cNvPr id="4" name="Picture 3" descr="schematic_ex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2880360"/>
            <a:ext cx="9098280" cy="363931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 · Measuring the map: pair Ku(t) with the gate, instant by instant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/>
          </p:nvPr>
        </p:nvSpPr>
        <p:spPr>
          <a:xfrm>
            <a:off x="411480" y="987552"/>
            <a:ext cx="11384280" cy="1216152"/>
          </a:xfrm>
        </p:spPr>
        <p:txBody>
          <a:bodyPr/>
          <a:lstStyle/>
          <a:p>
            <a:pPr>
              <a:spcAft>
                <a:spcPts val="400"/>
              </a:spcAft>
            </a:pPr>
            <a:r>
              <a:rPr sz="1800"/>
              <a:t>The IBIS file gives Ku(t) on one full transition. The probe gives the gate on the same run. At each instant we have both numbers — so plot one against the other.</a:t>
            </a:r>
          </a:p>
          <a:p>
            <a:pPr>
              <a:spcAft>
                <a:spcPts val="400"/>
              </a:spcAft>
            </a:pPr>
            <a:r>
              <a:rPr sz="1800" b="1">
                <a:solidFill>
                  <a:srgbClr val="2B7A43"/>
                </a:solidFill>
              </a:rPr>
              <a:t>The pairing is the map. No fitting: it is read off a single full-swing run.</a:t>
            </a:r>
          </a:p>
        </p:txBody>
      </p:sp>
      <p:pic>
        <p:nvPicPr>
          <p:cNvPr id="4" name="Picture 3" descr="map_from_probe_ex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276856"/>
            <a:ext cx="11384280" cy="402979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 · Does the measured map work?  ex2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/>
          </p:nvPr>
        </p:nvSpPr>
        <p:spPr>
          <a:xfrm>
            <a:off x="411480" y="987552"/>
            <a:ext cx="11384280" cy="1517904"/>
          </a:xfrm>
        </p:spPr>
        <p:txBody>
          <a:bodyPr/>
          <a:lstStyle/>
          <a:p>
            <a:pPr>
              <a:spcAft>
                <a:spcPts val="400"/>
              </a:spcAft>
            </a:pPr>
            <a:r>
              <a:rPr sz="1800"/>
              <a:t>Drive that measured map with the transistor's own gate, and compare the pad against the transistor at all five stress levels.</a:t>
            </a:r>
          </a:p>
          <a:p>
            <a:pPr>
              <a:spcAft>
                <a:spcPts val="400"/>
              </a:spcAft>
            </a:pPr>
            <a:r>
              <a:rPr sz="1800" b="1">
                <a:solidFill>
                  <a:srgbClr val="2B7A43"/>
                </a:solidFill>
              </a:rPr>
              <a:t>Within ±5 % at every level, where native IBIS runs +71 % at the deepest and our own gate-state model +74 %.</a:t>
            </a:r>
          </a:p>
        </p:txBody>
      </p:sp>
      <p:pic>
        <p:nvPicPr>
          <p:cNvPr id="4" name="Picture 3" descr="works_levels_ex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578608"/>
            <a:ext cx="11384280" cy="338275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 · Does the measured map work?  inv_chain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/>
          </p:nvPr>
        </p:nvSpPr>
        <p:spPr>
          <a:xfrm>
            <a:off x="411480" y="987552"/>
            <a:ext cx="11384280" cy="1517904"/>
          </a:xfrm>
        </p:spPr>
        <p:txBody>
          <a:bodyPr/>
          <a:lstStyle/>
          <a:p>
            <a:pPr>
              <a:spcAft>
                <a:spcPts val="400"/>
              </a:spcAft>
            </a:pPr>
            <a:r>
              <a:rPr sz="1800"/>
              <a:t>Drive that measured map with the transistor's own gate, and compare the pad against the transistor at all five stress levels.</a:t>
            </a:r>
          </a:p>
          <a:p>
            <a:pPr>
              <a:spcAft>
                <a:spcPts val="400"/>
              </a:spcAft>
            </a:pPr>
            <a:r>
              <a:rPr sz="1800" b="1">
                <a:solidFill>
                  <a:srgbClr val="2B7A43"/>
                </a:solidFill>
              </a:rPr>
              <a:t>Within +2…+9 %, where native IBIS runs +87 % at the deepest. Our gate-state model looks good at 70–90 % for the wrong reason — see the backup slide on Vinh.</a:t>
            </a:r>
          </a:p>
        </p:txBody>
      </p:sp>
      <p:pic>
        <p:nvPicPr>
          <p:cNvPr id="4" name="Picture 3" descr="works_levels_inv_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578608"/>
            <a:ext cx="11384280" cy="340104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 · So the output stage is not 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/>
          </p:nvPr>
        </p:nvSpPr>
        <p:spPr>
          <a:xfrm>
            <a:off x="411480" y="987552"/>
            <a:ext cx="11384280" cy="1627632"/>
          </a:xfrm>
        </p:spPr>
        <p:txBody>
          <a:bodyPr/>
          <a:lstStyle/>
          <a:p>
            <a:pPr>
              <a:spcAft>
                <a:spcPts val="400"/>
              </a:spcAft>
            </a:pPr>
            <a:r>
              <a:rPr sz="1800"/>
              <a:t>Given the right gate, the map reproduces the pad at every stress level, on both buffers.</a:t>
            </a:r>
          </a:p>
          <a:p>
            <a:pPr>
              <a:spcAft>
                <a:spcPts val="400"/>
              </a:spcAft>
            </a:pPr>
            <a:r>
              <a:rPr sz="1800"/>
              <a:t>The map itself is a fixed curve — it has no memory, and it does not change with the pulse. Measured hysteresis between the rising and falling branches is 0.07–0.10.</a:t>
            </a:r>
          </a:p>
          <a:p>
            <a:pPr>
              <a:spcAft>
                <a:spcPts val="400"/>
              </a:spcAft>
            </a:pPr>
            <a:r>
              <a:rPr sz="1800" b="1">
                <a:solidFill>
                  <a:srgbClr val="2B7A43"/>
                </a:solidFill>
              </a:rPr>
              <a:t>Everything that is wrong with our model is therefore in the gate.</a:t>
            </a:r>
          </a:p>
        </p:txBody>
      </p:sp>
      <p:pic>
        <p:nvPicPr>
          <p:cNvPr id="4" name="Picture 3" descr="map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969" y="2688336"/>
            <a:ext cx="10407301" cy="38313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 · Why our gate fails: the real gate changes shape, GUP does 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/>
          </p:nvPr>
        </p:nvSpPr>
        <p:spPr>
          <a:xfrm>
            <a:off x="411480" y="987552"/>
            <a:ext cx="11384280" cy="1325880"/>
          </a:xfrm>
        </p:spPr>
        <p:txBody>
          <a:bodyPr/>
          <a:lstStyle/>
          <a:p>
            <a:pPr>
              <a:spcAft>
                <a:spcPts val="400"/>
              </a:spcAft>
            </a:pPr>
            <a:r>
              <a:rPr sz="1800"/>
              <a:t>Our GUP is a fixed delay then an RC ramp. Truncating the input truncates that one shape.</a:t>
            </a:r>
          </a:p>
          <a:p>
            <a:pPr>
              <a:spcAft>
                <a:spcPts val="400"/>
              </a:spcAft>
            </a:pPr>
            <a:r>
              <a:rPr sz="1800"/>
              <a:t>The real gate is already moving long before GUP starts, and it turns round earlier.</a:t>
            </a:r>
          </a:p>
          <a:p>
            <a:pPr>
              <a:spcAft>
                <a:spcPts val="400"/>
              </a:spcAft>
            </a:pPr>
            <a:r>
              <a:rPr sz="1800" b="1">
                <a:solidFill>
                  <a:srgbClr val="2B7A43"/>
                </a:solidFill>
              </a:rPr>
              <a:t>Compare the two at each stress level — the mismatch grows as the pulse shortens.</a:t>
            </a:r>
          </a:p>
        </p:txBody>
      </p:sp>
      <p:pic>
        <p:nvPicPr>
          <p:cNvPr id="4" name="Picture 3" descr="gate_shape_ex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386584"/>
            <a:ext cx="11384280" cy="303883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 · What that shape difference does downstream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/>
          </p:nvPr>
        </p:nvSpPr>
        <p:spPr>
          <a:xfrm>
            <a:off x="411480" y="987552"/>
            <a:ext cx="11384280" cy="1216152"/>
          </a:xfrm>
        </p:spPr>
        <p:txBody>
          <a:bodyPr/>
          <a:lstStyle/>
          <a:p>
            <a:pPr>
              <a:spcAft>
                <a:spcPts val="400"/>
              </a:spcAft>
            </a:pPr>
            <a:r>
              <a:rPr sz="1800"/>
              <a:t>Same map, two gates. The top row is Ku, the bottom row the pad.</a:t>
            </a:r>
          </a:p>
          <a:p>
            <a:pPr>
              <a:spcAft>
                <a:spcPts val="400"/>
              </a:spcAft>
            </a:pPr>
            <a:r>
              <a:rPr sz="1800" b="1">
                <a:solidFill>
                  <a:srgbClr val="2B7A43"/>
                </a:solidFill>
              </a:rPr>
              <a:t>GUP holds Ku high long after the real gate has let go — and the pad overshoot is exactly that extra area. +74 % at 50 % stress, +4 % at 90 %.</a:t>
            </a:r>
          </a:p>
        </p:txBody>
      </p:sp>
      <p:pic>
        <p:nvPicPr>
          <p:cNvPr id="4" name="Picture 3" descr="ku_consequence_ex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1632" y="2276856"/>
            <a:ext cx="7963974" cy="42428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 · So the problem is now a precise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/>
          </p:nvPr>
        </p:nvSpPr>
        <p:spPr>
          <a:xfrm>
            <a:off x="411480" y="987552"/>
            <a:ext cx="11384280" cy="3163824"/>
          </a:xfrm>
        </p:spPr>
        <p:txBody>
          <a:bodyPr/>
          <a:lstStyle/>
          <a:p>
            <a:pPr>
              <a:spcAft>
                <a:spcPts val="400"/>
              </a:spcAft>
            </a:pPr>
            <a:r>
              <a:rPr sz="1800"/>
              <a:t>We know what a correct model needs: the real gate's shape, and the map.</a:t>
            </a:r>
          </a:p>
          <a:p>
            <a:pPr>
              <a:spcAft>
                <a:spcPts val="400"/>
              </a:spcAft>
            </a:pPr>
            <a:r>
              <a:rPr sz="1800"/>
              <a:t>We have both — by probing. A customer with only the vendor's IBIS file has neither.</a:t>
            </a:r>
          </a:p>
          <a:p>
            <a:pPr>
              <a:spcAft>
                <a:spcPts val="400"/>
              </a:spcAft>
            </a:pPr>
            <a:r>
              <a:rPr sz="1800"/>
              <a:t/>
            </a:r>
          </a:p>
          <a:p>
            <a:pPr>
              <a:spcAft>
                <a:spcPts val="400"/>
              </a:spcAft>
            </a:pPr>
            <a:r>
              <a:rPr sz="1800" b="1">
                <a:solidFill>
                  <a:srgbClr val="2B7A43"/>
                </a:solidFill>
              </a:rPr>
              <a:t>The question for track 1: how much of that gate shape can be recovered from the IBIS file plus one measurement taken at the pad, with nothing probed inside?</a:t>
            </a:r>
          </a:p>
          <a:p>
            <a:pPr>
              <a:spcAft>
                <a:spcPts val="400"/>
              </a:spcAft>
            </a:pPr>
            <a:r>
              <a:rPr sz="1800"/>
              <a:t/>
            </a:r>
          </a:p>
          <a:p>
            <a:pPr>
              <a:spcAft>
                <a:spcPts val="400"/>
              </a:spcAft>
            </a:pPr>
            <a:r>
              <a:rPr sz="1800"/>
              <a:t>Two things have to come from somewhere: how fast the gate travels, and the map's shape. The next slides are about where each one can come from.</a:t>
            </a:r>
          </a:p>
        </p:txBody>
      </p:sp>
      <p:pic>
        <p:nvPicPr>
          <p:cNvPr id="4" name="Picture 3" descr="what_we_ha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5310" y="4224528"/>
            <a:ext cx="6036619" cy="229514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 · Where Ku(t) comes from, and what it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/>
          </p:nvPr>
        </p:nvSpPr>
        <p:spPr>
          <a:xfrm>
            <a:off x="411480" y="987552"/>
            <a:ext cx="11384280" cy="2231136"/>
          </a:xfrm>
        </p:spPr>
        <p:txBody>
          <a:bodyPr/>
          <a:lstStyle/>
          <a:p>
            <a:pPr>
              <a:spcAft>
                <a:spcPts val="400"/>
              </a:spcAft>
            </a:pPr>
            <a:r>
              <a:rPr sz="1800"/>
              <a:t>Before asking what the file cannot give, be clear about what it does. The file holds the pull-up and pull-down I-V curves, and recordings of one transition into two different loads.</a:t>
            </a:r>
          </a:p>
          <a:p>
            <a:pPr>
              <a:spcAft>
                <a:spcPts val="400"/>
              </a:spcAft>
            </a:pPr>
            <a:r>
              <a:rPr sz="1800"/>
              <a:t>At any instant the pad took some current, and it is the two branches together that supplied it. Two loads give two equations in the same two unknowns.</a:t>
            </a:r>
          </a:p>
          <a:p>
            <a:pPr>
              <a:spcAft>
                <a:spcPts val="400"/>
              </a:spcAft>
            </a:pPr>
            <a:r>
              <a:rPr sz="1800" b="1">
                <a:solidFill>
                  <a:srgbClr val="2B7A43"/>
                </a:solidFill>
              </a:rPr>
              <a:t>Solve them at every instant and you have Ku(t) and Kd(t) — the fraction of each branch that was conducting. No fitting anywhere.</a:t>
            </a:r>
          </a:p>
        </p:txBody>
      </p:sp>
      <p:pic>
        <p:nvPicPr>
          <p:cNvPr id="4" name="Picture 3" descr="solve_k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3466" y="3291840"/>
            <a:ext cx="9240306" cy="322783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 · What Ku(t) fixes, and what it leaves open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/>
          </p:nvPr>
        </p:nvSpPr>
        <p:spPr>
          <a:xfrm>
            <a:off x="411480" y="987552"/>
            <a:ext cx="11384280" cy="2944368"/>
          </a:xfrm>
        </p:spPr>
        <p:txBody>
          <a:bodyPr/>
          <a:lstStyle/>
          <a:p>
            <a:pPr>
              <a:spcAft>
                <a:spcPts val="400"/>
              </a:spcAft>
            </a:pPr>
            <a:r>
              <a:rPr sz="1600"/>
              <a:t>Ku(t) has shape at every instant — shape is not what is missing.</a:t>
            </a:r>
          </a:p>
          <a:p>
            <a:pPr>
              <a:spcAft>
                <a:spcPts val="400"/>
              </a:spcAft>
            </a:pPr>
            <a:r>
              <a:rPr sz="1600" b="1"/>
              <a:t>What is missing is the split. Ku(t) = map(gate(t)) fixes the composition and nothing more: pick any gate trajectory, and the map is forced to be whatever reproduces Ku(t). Every such pair matches the file exactly.</a:t>
            </a:r>
          </a:p>
          <a:p>
            <a:pPr>
              <a:spcAft>
                <a:spcPts val="400"/>
              </a:spcAft>
            </a:pPr>
            <a:r>
              <a:rPr sz="1600" b="1"/>
              <a:t>A truncated pulse breaks the tie — the chain then makes a different gate trajectory, and where it turns round depends on how fast the gate was really travelling.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2B7A43"/>
                </a:solidFill>
              </a:rPr>
              <a:t>That is why our GUP passes the full-swing check and fails under stress: it is one legal split, and not the right one.</a:t>
            </a:r>
          </a:p>
        </p:txBody>
      </p:sp>
      <p:pic>
        <p:nvPicPr>
          <p:cNvPr id="4" name="Picture 3" descr="prior_sha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2270" y="4005072"/>
            <a:ext cx="5262698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 · One stressed pulse is the measurement that reaches the gate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/>
          </p:nvPr>
        </p:nvSpPr>
        <p:spPr>
          <a:xfrm>
            <a:off x="411480" y="987552"/>
            <a:ext cx="11384280" cy="2231136"/>
          </a:xfrm>
        </p:spPr>
        <p:txBody>
          <a:bodyPr/>
          <a:lstStyle/>
          <a:p>
            <a:pPr>
              <a:spcAft>
                <a:spcPts val="400"/>
              </a:spcAft>
            </a:pPr>
            <a:r>
              <a:rPr sz="1800"/>
              <a:t>Cutting the input short stops the clock partway through the gate's travel. What the pad does next depends on where the gate had got to.</a:t>
            </a:r>
          </a:p>
          <a:p>
            <a:pPr>
              <a:spcAft>
                <a:spcPts val="400"/>
              </a:spcAft>
            </a:pPr>
            <a:r>
              <a:rPr sz="1800" b="1">
                <a:solidFill>
                  <a:srgbClr val="2B7A43"/>
                </a:solidFill>
              </a:rPr>
              <a:t>Each stressed width is one sample of the same path — here the five widths stop the gate at 0.76, 0.80, 0.84, 0.88 and 0.94.</a:t>
            </a:r>
          </a:p>
          <a:p>
            <a:pPr>
              <a:spcAft>
                <a:spcPts val="400"/>
              </a:spcAft>
            </a:pPr>
            <a:r>
              <a:rPr sz="1800"/>
              <a:t>So the stress sweep is a sampling grid, and one pad measurement per buffer, taken from outside the chip, is the extra input track 1 needs.</a:t>
            </a:r>
          </a:p>
        </p:txBody>
      </p:sp>
      <p:pic>
        <p:nvPicPr>
          <p:cNvPr id="4" name="Picture 3" descr="sampling_grid_ex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3192" y="3291840"/>
            <a:ext cx="8360854" cy="322783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 · What shape may the gate be?  Measure a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/>
          </p:nvPr>
        </p:nvSpPr>
        <p:spPr>
          <a:xfrm>
            <a:off x="411480" y="987552"/>
            <a:ext cx="11384280" cy="2231136"/>
          </a:xfrm>
        </p:spPr>
        <p:txBody>
          <a:bodyPr/>
          <a:lstStyle/>
          <a:p>
            <a:pPr>
              <a:spcAft>
                <a:spcPts val="400"/>
              </a:spcAft>
            </a:pPr>
            <a:r>
              <a:rPr sz="1800"/>
              <a:t>A sample only helps if we know what gate shapes are possible — five samples cannot pick a curve out of all curves.</a:t>
            </a:r>
          </a:p>
          <a:p>
            <a:pPr>
              <a:spcAft>
                <a:spcPts val="400"/>
              </a:spcAft>
            </a:pPr>
            <a:r>
              <a:rPr sz="1800"/>
              <a:t>So probe every stage under a short pulse, and compare with what a linear filter would give: its own step response, superposed.</a:t>
            </a:r>
          </a:p>
          <a:p>
            <a:pPr>
              <a:spcAft>
                <a:spcPts val="400"/>
              </a:spcAft>
            </a:pPr>
            <a:r>
              <a:rPr sz="1800" b="1">
                <a:solidFill>
                  <a:srgbClr val="2B7A43"/>
                </a:solidFill>
              </a:rPr>
              <a:t>Every stage under-reaches, and the gap compounds down the chain — at the pad the linear prediction says 1.00 where the transistor does 0.50.</a:t>
            </a:r>
          </a:p>
        </p:txBody>
      </p:sp>
      <p:pic>
        <p:nvPicPr>
          <p:cNvPr id="4" name="Picture 3" descr="stage_nonlinear_ex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658" y="3291840"/>
            <a:ext cx="9799922" cy="322783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 · The physics behind it — a stage is a current source with a threshold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/>
          </p:nvPr>
        </p:nvSpPr>
        <p:spPr>
          <a:xfrm>
            <a:off x="411480" y="987552"/>
            <a:ext cx="11384280" cy="2231136"/>
          </a:xfrm>
        </p:spPr>
        <p:txBody>
          <a:bodyPr/>
          <a:lstStyle/>
          <a:p>
            <a:pPr>
              <a:spcAft>
                <a:spcPts val="400"/>
              </a:spcAft>
            </a:pPr>
            <a:r>
              <a:rPr sz="1800"/>
              <a:t>A CMOS inverter driving a large load is a current source while its input sits at the rail, because its conducting device is in saturation. Only near the destination rail does it leave saturation and become a resistor.</a:t>
            </a:r>
          </a:p>
          <a:p>
            <a:pPr>
              <a:spcAft>
                <a:spcPts val="400"/>
              </a:spcAft>
            </a:pPr>
            <a:r>
              <a:rPr sz="1800"/>
              <a:t>A constant current into a gate capacitance is a ramp, tapering at the end.</a:t>
            </a:r>
          </a:p>
          <a:p>
            <a:pPr>
              <a:spcAft>
                <a:spcPts val="400"/>
              </a:spcAft>
            </a:pPr>
            <a:r>
              <a:rPr sz="1800" b="1">
                <a:solidFill>
                  <a:srgbClr val="2B7A43"/>
                </a:solidFill>
              </a:rPr>
              <a:t>So a stage needs four numbers, and the picture says which four: how hard it charges and discharges, how much input it needs before it does anything, and how near the rail the current gives way.</a:t>
            </a:r>
          </a:p>
        </p:txBody>
      </p:sp>
      <p:pic>
        <p:nvPicPr>
          <p:cNvPr id="4" name="Picture 3" descr="stage_l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100" y="3291840"/>
            <a:ext cx="10485038" cy="322783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11 · What each of the four numbers does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/>
          </p:nvPr>
        </p:nvSpPr>
        <p:spPr>
          <a:xfrm>
            <a:off x="411480" y="987552"/>
            <a:ext cx="11384280" cy="1517904"/>
          </a:xfrm>
        </p:spPr>
        <p:txBody>
          <a:bodyPr/>
          <a:lstStyle/>
          <a:p>
            <a:pPr>
              <a:spcAft>
                <a:spcPts val="400"/>
              </a:spcAft>
            </a:pPr>
            <a:r>
              <a:rPr sz="1600"/>
              <a:t>Each swept on its own about the value the fit chose, on the 810 ps pulse. The thick black trace is the fitted value.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2B7A43"/>
                </a:solidFill>
              </a:rPr>
              <a:t>Look at the vt panel: pushed high enough the gate never leaves the floor — a chain can extinguish a short pulse, not merely shrink it.</a:t>
            </a:r>
          </a:p>
        </p:txBody>
      </p:sp>
      <p:pic>
        <p:nvPicPr>
          <p:cNvPr id="4" name="Picture 3" descr="kno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7646" y="2578608"/>
            <a:ext cx="9071947" cy="394106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12 · What we build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/>
          </p:nvPr>
        </p:nvSpPr>
        <p:spPr>
          <a:xfrm>
            <a:off x="411480" y="987552"/>
            <a:ext cx="11384280" cy="1517904"/>
          </a:xfrm>
        </p:spPr>
        <p:txBody>
          <a:bodyPr/>
          <a:lstStyle/>
          <a:p>
            <a:pPr>
              <a:spcAft>
                <a:spcPts val="400"/>
              </a:spcAft>
            </a:pPr>
            <a:r>
              <a:rPr sz="1800"/>
              <a:t>Everything to the right of the gate is the file's own, untouched: the map turns the gate into Ku, and Ku scales the file's I-V tables. That half we have already shown is right.</a:t>
            </a:r>
          </a:p>
          <a:p>
            <a:pPr>
              <a:spcAft>
                <a:spcPts val="400"/>
              </a:spcAft>
            </a:pPr>
            <a:r>
              <a:rPr sz="1800" b="1">
                <a:solidFill>
                  <a:srgbClr val="2B7A43"/>
                </a:solidFill>
              </a:rPr>
              <a:t>What we build is the left-hand box — K identical stages of the kind the last two slides measured, standing in for the predriver we cannot see.</a:t>
            </a:r>
          </a:p>
        </p:txBody>
      </p:sp>
      <p:pic>
        <p:nvPicPr>
          <p:cNvPr id="4" name="Picture 3" descr="model_bloc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578608"/>
            <a:ext cx="11384280" cy="314540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13 · Step 1 — C_comp, rejected by the file's own arithmetic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/>
          </p:nvPr>
        </p:nvSpPr>
        <p:spPr>
          <a:xfrm>
            <a:off x="411480" y="987552"/>
            <a:ext cx="11384280" cy="2944368"/>
          </a:xfrm>
        </p:spPr>
        <p:txBody>
          <a:bodyPr/>
          <a:lstStyle/>
          <a:p>
            <a:pPr>
              <a:spcAft>
                <a:spcPts val="400"/>
              </a:spcAft>
            </a:pPr>
            <a:r>
              <a:rPr sz="1600"/>
              <a:t>C_comp is not a model parameter. It is a number in the file that the file's own Ku tables were solved with — the solve on slide 6 subtracts it — so a wrong value inflates the curve everything downstream is fitted to.</a:t>
            </a:r>
          </a:p>
          <a:p>
            <a:pPr>
              <a:spcAft>
                <a:spcPts val="400"/>
              </a:spcAft>
            </a:pPr>
            <a:r>
              <a:rPr sz="1600"/>
              <a:t>Ku is a conducting fraction, so it cannot exceed 1. ex2's declared 5.0 pF implies Ku = 1.24: the file rejects its own declared value.</a:t>
            </a:r>
          </a:p>
          <a:p>
            <a:pPr>
              <a:spcAft>
                <a:spcPts val="400"/>
              </a:spcAft>
            </a:pPr>
            <a:r>
              <a:rPr sz="1600"/>
              <a:t>Rule: keep what the file declares unless it implies Ku &gt; 1, then take the value at which Ku just reaches 1 — 2.64 pF here, against 1.70 measured by the loop.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2B7A43"/>
                </a:solidFill>
              </a:rPr>
              <a:t>55 % off, and it still works: the stressed peak is not sharp in C_comp once it is in the right range.</a:t>
            </a:r>
          </a:p>
        </p:txBody>
      </p:sp>
      <p:pic>
        <p:nvPicPr>
          <p:cNvPr id="4" name="Picture 3" descr="cco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1745" y="4005072"/>
            <a:ext cx="7143750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14 · Step 2 — the four numbers, fitted to the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/>
          </p:nvPr>
        </p:nvSpPr>
        <p:spPr>
          <a:xfrm>
            <a:off x="411480" y="987552"/>
            <a:ext cx="11384280" cy="2231136"/>
          </a:xfrm>
        </p:spPr>
        <p:txBody>
          <a:bodyPr/>
          <a:lstStyle/>
          <a:p>
            <a:pPr>
              <a:spcAft>
                <a:spcPts val="400"/>
              </a:spcAft>
            </a:pPr>
            <a:r>
              <a:rPr sz="1800"/>
              <a:t>The four are searched until the chain's output, put through the map, reproduces the file's own full-swing Ku(t). Nelder–Mead, three restarts.</a:t>
            </a:r>
          </a:p>
          <a:p>
            <a:pPr>
              <a:spcAft>
                <a:spcPts val="400"/>
              </a:spcAft>
            </a:pPr>
            <a:r>
              <a:rPr sz="1800" b="1">
                <a:solidFill>
                  <a:srgbClr val="2B7A43"/>
                </a:solidFill>
              </a:rPr>
              <a:t>No measurement is involved. The target is a curve the file already contains, so the stage law costs nothing.</a:t>
            </a:r>
          </a:p>
          <a:p>
            <a:pPr>
              <a:spcAft>
                <a:spcPts val="400"/>
              </a:spcAft>
            </a:pPr>
            <a:r>
              <a:rPr sz="1800"/>
              <a:t>Here the search runs from an error of 0.28 down to 0.0098, landing on s_up 2.59, s_dn 2.38, vt 0.51, x_lin 0.66.</a:t>
            </a:r>
          </a:p>
        </p:txBody>
      </p:sp>
      <p:pic>
        <p:nvPicPr>
          <p:cNvPr id="4" name="Picture 3" descr="fit_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3260" y="3291840"/>
            <a:ext cx="9420719" cy="322783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15 · Step 3 — what the file cannot choose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/>
          </p:nvPr>
        </p:nvSpPr>
        <p:spPr>
          <a:xfrm>
            <a:off x="411480" y="987552"/>
            <a:ext cx="11384280" cy="2231136"/>
          </a:xfrm>
        </p:spPr>
        <p:txBody>
          <a:bodyPr/>
          <a:lstStyle/>
          <a:p>
            <a:pPr>
              <a:spcAft>
                <a:spcPts val="400"/>
              </a:spcAft>
            </a:pPr>
            <a:r>
              <a:rPr sz="1800"/>
              <a:t>Left: the fit error against the file's Ku(t), for every stage count. Past K = 3 it is flat — the file has nothing left to say.</a:t>
            </a:r>
          </a:p>
          <a:p>
            <a:pPr>
              <a:spcAft>
                <a:spcPts val="400"/>
              </a:spcAft>
            </a:pPr>
            <a:r>
              <a:rPr sz="1800"/>
              <a:t>Right: the three candidates inside that band, on one 810 ps pulse. Same file, same fit quality, three completely different buffers.</a:t>
            </a:r>
          </a:p>
          <a:p>
            <a:pPr>
              <a:spcAft>
                <a:spcPts val="400"/>
              </a:spcAft>
            </a:pPr>
            <a:r>
              <a:rPr sz="1800" b="1">
                <a:solidFill>
                  <a:srgbClr val="2B7A43"/>
                </a:solidFill>
              </a:rPr>
              <a:t>The map's shape is under-determined in the same way (slide 7). Three stage counts × three map shapes = nine candidates.</a:t>
            </a:r>
          </a:p>
        </p:txBody>
      </p:sp>
      <p:pic>
        <p:nvPicPr>
          <p:cNvPr id="4" name="Picture 3" descr="k_cho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7800" y="3291840"/>
            <a:ext cx="9411638" cy="3227832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16 · Step 4 — the stressed run, first job: set the amplitude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/>
          </p:nvPr>
        </p:nvSpPr>
        <p:spPr>
          <a:xfrm>
            <a:off x="411480" y="987552"/>
            <a:ext cx="11384280" cy="1929384"/>
          </a:xfrm>
        </p:spPr>
        <p:txBody>
          <a:bodyPr/>
          <a:lstStyle/>
          <a:p>
            <a:pPr>
              <a:spcAft>
                <a:spcPts val="400"/>
              </a:spcAft>
            </a:pPr>
            <a:r>
              <a:rPr sz="1800"/>
              <a:t>Now the measured waveform enters. The parameters fitted to the file alone are nowhere near right under stress: on ex2 the fitted threshold leaves the 810 ps pad 97 % low.</a:t>
            </a:r>
          </a:p>
          <a:p>
            <a:pPr>
              <a:spcAft>
                <a:spcPts val="400"/>
              </a:spcAft>
            </a:pPr>
            <a:r>
              <a:rPr sz="1800"/>
              <a:t>So bisect vt against the measured peak — bracket 0 to 0.7, then halve. Ten runs, landing on 0.487.</a:t>
            </a:r>
          </a:p>
          <a:p>
            <a:pPr>
              <a:spcAft>
                <a:spcPts val="400"/>
              </a:spcAft>
            </a:pPr>
            <a:r>
              <a:rPr sz="1800" b="1">
                <a:solidFill>
                  <a:srgbClr val="2B7A43"/>
                </a:solidFill>
              </a:rPr>
              <a:t>Why vt and not the drive rates? The rates were fitted to reproduce the full swing, and moving them breaks it. vt changes *when* the chain hands off, not how fast it runs.</a:t>
            </a:r>
          </a:p>
        </p:txBody>
      </p:sp>
      <p:pic>
        <p:nvPicPr>
          <p:cNvPr id="4" name="Picture 3" descr="bi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059" y="2990088"/>
            <a:ext cx="10297121" cy="352958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17 · Step 5 — the stressed run, second job: pick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/>
          </p:nvPr>
        </p:nvSpPr>
        <p:spPr>
          <a:xfrm>
            <a:off x="411480" y="987552"/>
            <a:ext cx="11384280" cy="2231136"/>
          </a:xfrm>
        </p:spPr>
        <p:txBody>
          <a:bodyPr/>
          <a:lstStyle/>
          <a:p>
            <a:pPr>
              <a:spcAft>
                <a:spcPts val="400"/>
              </a:spcAft>
            </a:pPr>
            <a:r>
              <a:rPr sz="1800"/>
              <a:t>All nine candidates have been calibrated, so all nine hit the measured peak — the calibration put it there. The peak has no information left in it.</a:t>
            </a:r>
          </a:p>
          <a:p>
            <a:pPr>
              <a:spcAft>
                <a:spcPts val="400"/>
              </a:spcAft>
            </a:pPr>
            <a:r>
              <a:rPr sz="1800"/>
              <a:t>They differ everywhere else. Compare the whole measured waveform and one wins: K = 3 with the 0.50/0.70 shape, 59 mV rms against 84, 140 and worse.</a:t>
            </a:r>
          </a:p>
          <a:p>
            <a:pPr>
              <a:spcAft>
                <a:spcPts val="400"/>
              </a:spcAft>
            </a:pPr>
            <a:r>
              <a:rPr sz="1800" b="1">
                <a:solidFill>
                  <a:srgbClr val="2B7A43"/>
                </a:solidFill>
              </a:rPr>
              <a:t>Ranking on the peak instead picks a chain that arrives up to 300 ps late with four times the waveform error.</a:t>
            </a:r>
          </a:p>
        </p:txBody>
      </p:sp>
      <p:pic>
        <p:nvPicPr>
          <p:cNvPr id="4" name="Picture 3" descr="calib_sel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7961" y="3291840"/>
            <a:ext cx="8551317" cy="3227832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18 · The recipe, end to 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/>
          </p:nvPr>
        </p:nvSpPr>
        <p:spPr>
          <a:xfrm>
            <a:off x="411480" y="987552"/>
            <a:ext cx="11384280" cy="2340864"/>
          </a:xfrm>
        </p:spPr>
        <p:txBody>
          <a:bodyPr/>
          <a:lstStyle/>
          <a:p>
            <a:pPr>
              <a:spcAft>
                <a:spcPts val="400"/>
              </a:spcAft>
            </a:pPr>
            <a:r>
              <a:rPr sz="1600" b="1"/>
              <a:t>From the file alone: C_comp, kept unless its own Ku &gt; 1 test rejects it; then s_up, s_dn, vt, x_lin fitted to the file's Ku(t) at each stage count in the band.</a:t>
            </a:r>
          </a:p>
          <a:p>
            <a:pPr>
              <a:spcAft>
                <a:spcPts val="400"/>
              </a:spcAft>
            </a:pPr>
            <a:r>
              <a:rPr sz="1600" b="1"/>
              <a:t>Left undetermined by the file: the stage count and the map's shape — nine candidates in all.</a:t>
            </a:r>
          </a:p>
          <a:p>
            <a:pPr>
              <a:spcAft>
                <a:spcPts val="400"/>
              </a:spcAft>
            </a:pPr>
            <a:r>
              <a:rPr sz="1600" b="1"/>
              <a:t>From one stressed pad run, in order: bisect vt until the peak matches, then pick the candidate whose whole waveform matches.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2B7A43"/>
                </a:solidFill>
              </a:rPr>
              <a:t>Nothing is probed. The only measurement is a pad voltage, from outside the chip.</a:t>
            </a:r>
          </a:p>
        </p:txBody>
      </p:sp>
      <p:pic>
        <p:nvPicPr>
          <p:cNvPr id="4" name="Picture 3" descr="model_bloc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87" y="3401568"/>
            <a:ext cx="11285464" cy="311810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Where the file-only recipe stands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/>
          </p:nvPr>
        </p:nvSpPr>
        <p:spPr>
          <a:xfrm>
            <a:off x="411480" y="987552"/>
            <a:ext cx="11384280" cy="1929384"/>
          </a:xfrm>
        </p:spPr>
        <p:txBody>
          <a:bodyPr/>
          <a:lstStyle/>
          <a:p>
            <a:pPr>
              <a:spcAft>
                <a:spcPts val="400"/>
              </a:spcAft>
            </a:pPr>
            <a:r>
              <a:rPr sz="1800" b="1"/>
              <a:t>12 of 12 buffers within ±10 % on the worst stressed pulse; mean 6.9 %.</a:t>
            </a:r>
          </a:p>
          <a:p>
            <a:pPr>
              <a:spcAft>
                <a:spcPts val="400"/>
              </a:spcAft>
            </a:pPr>
            <a:r>
              <a:rPr sz="1800"/>
              <a:t>On inv_chain the file-only build reaches 5.1 %, against 25.8 % for a build that uses the probed silicon — the shape choice matters more than the measurement.</a:t>
            </a:r>
          </a:p>
          <a:p>
            <a:pPr>
              <a:spcAft>
                <a:spcPts val="400"/>
              </a:spcAft>
            </a:pPr>
            <a:r>
              <a:rPr sz="1800" b="1">
                <a:solidFill>
                  <a:srgbClr val="2B7A43"/>
                </a:solidFill>
              </a:rPr>
              <a:t>What it costs: the full transition is worse than the shipped model on 10 of 12 buffers, and a stressed pulse train is still lost on ex2 and io_buf. We buy accuracy in stressed accuracy with full-swing accuracy.</a:t>
            </a:r>
          </a:p>
        </p:txBody>
      </p:sp>
      <p:pic>
        <p:nvPicPr>
          <p:cNvPr id="4" name="Picture 3" descr="endto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7807" y="2990088"/>
            <a:ext cx="9191625" cy="3529584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this does not cover yet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/>
          </p:nvPr>
        </p:nvSpPr>
        <p:spPr>
          <a:xfrm>
            <a:off x="411480" y="987552"/>
            <a:ext cx="11384280" cy="2340864"/>
          </a:xfrm>
        </p:spPr>
        <p:txBody>
          <a:bodyPr/>
          <a:lstStyle/>
          <a:p>
            <a:pPr>
              <a:spcAft>
                <a:spcPts val="400"/>
              </a:spcAft>
            </a:pPr>
            <a:r>
              <a:rPr sz="1800" b="1"/>
              <a:t>Direction. Everything here is a short HIGH pulse. Only io_buf has been run pulling down, where the model is 16–21 points too shallow — its pull-down chain never turns on at all on a short pulse.</a:t>
            </a:r>
          </a:p>
          <a:p>
            <a:pPr>
              <a:spcAft>
                <a:spcPts val="400"/>
              </a:spcAft>
            </a:pPr>
            <a:r>
              <a:rPr sz="1800" b="1"/>
              <a:t>Depth. The ladder samples 50–90 % of the travel. Below 50 % is unsampled.</a:t>
            </a:r>
          </a:p>
          <a:p>
            <a:pPr>
              <a:spcAft>
                <a:spcPts val="400"/>
              </a:spcAft>
            </a:pPr>
            <a:r>
              <a:rPr sz="1800" b="1"/>
              <a:t>Trains. One pulse at a time; a stressed train is still lost on two of three buffers.</a:t>
            </a:r>
          </a:p>
          <a:p>
            <a:pPr>
              <a:spcAft>
                <a:spcPts val="400"/>
              </a:spcAft>
            </a:pPr>
            <a:r>
              <a:rPr sz="1800" b="1">
                <a:solidFill>
                  <a:srgbClr val="2B7A43"/>
                </a:solidFill>
              </a:rPr>
              <a:t>The recipe has seen the answer key. Two of the three candidate map shapes were chosen by looking at results on these same twelve buffers. A thirteenth buffer may need a shape the grid does not contain.</a:t>
            </a:r>
          </a:p>
        </p:txBody>
      </p:sp>
      <p:pic>
        <p:nvPicPr>
          <p:cNvPr id="4" name="Picture 3" descr="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5954" y="3401568"/>
            <a:ext cx="8635331" cy="311810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Backup · inv_chain's input threshold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/>
          </p:nvPr>
        </p:nvSpPr>
        <p:spPr>
          <a:xfrm>
            <a:off x="411480" y="987552"/>
            <a:ext cx="11384280" cy="2231136"/>
          </a:xfrm>
        </p:spPr>
        <p:txBody>
          <a:bodyPr/>
          <a:lstStyle/>
          <a:p>
            <a:pPr>
              <a:spcAft>
                <a:spcPts val="400"/>
              </a:spcAft>
            </a:pPr>
            <a:r>
              <a:rPr sz="1800"/>
              <a:t>inv_chain's IBIS file declares Vinh 2.0 V on a 1.8 V part, so our input comparator fires late and trims about 29 ps off every pulse.</a:t>
            </a:r>
          </a:p>
          <a:p>
            <a:pPr>
              <a:spcAft>
                <a:spcPts val="400"/>
              </a:spcAft>
            </a:pPr>
            <a:r>
              <a:rPr sz="1800"/>
              <a:t>That trim cancels most of the gate-state model's overshoot, which is why it reads −2 % at 70 % stress on the previous slides while native IBIS reads +32 %.</a:t>
            </a:r>
          </a:p>
          <a:p>
            <a:pPr>
              <a:spcAft>
                <a:spcPts val="400"/>
              </a:spcAft>
            </a:pPr>
            <a:r>
              <a:rPr sz="1800" b="1">
                <a:solidFill>
                  <a:srgbClr val="2B7A43"/>
                </a:solidFill>
              </a:rPr>
              <a:t>It is a defect that flatters us, not a result. With the threshold at mid-supply the shipped error roughly doubles.</a:t>
            </a:r>
          </a:p>
        </p:txBody>
      </p:sp>
      <p:pic>
        <p:nvPicPr>
          <p:cNvPr id="4" name="Picture 3" descr="vinh_in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5298" y="3291840"/>
            <a:ext cx="8036642" cy="32278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1_MST_EMC_lab_theme">
  <a:themeElements>
    <a:clrScheme name="Level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Level">
      <a:majorFont>
        <a:latin typeface="Times New Roman"/>
        <a:ea typeface=""/>
        <a:cs typeface="Arial"/>
      </a:majorFont>
      <a:minorFont>
        <a:latin typeface="Times New Roman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 w="12700">
          <a:solidFill>
            <a:schemeClr val="tx1"/>
          </a:solidFill>
        </a:ln>
      </a:spPr>
      <a:bodyPr rtlCol="0" anchor="ctr"/>
      <a:lstStyle>
        <a:defPPr algn="ctr">
          <a:defRPr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>
    <a:extraClrScheme>
      <a:clrScheme name="Level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vel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vel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vel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vel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vel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vel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vel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MST_EMC_lab_theme" id="{F84A9E38-8E53-459B-962B-D11E178A4856}" vid="{AF41A44A-DCC1-4496-8938-47400BABA38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17</Slides>
  <Notes>1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8" baseType="lpstr">
      <vt:lpstr>1_MST_EMC_lab_theme</vt:lpstr>
      <vt:lpstr>IBIS Simulation Short Pulse Handling</vt:lpstr>
      <vt:lpstr>Table of contents</vt:lpstr>
      <vt:lpstr>Recap</vt:lpstr>
      <vt:lpstr>Ex2 (layout extracted output buffer) variants results</vt:lpstr>
      <vt:lpstr>Inv_chain (8-stage inverter chain) variants results</vt:lpstr>
      <vt:lpstr>Internal stages probing – io_buf </vt:lpstr>
      <vt:lpstr>Internal stages probing – ex2</vt:lpstr>
      <vt:lpstr>Internal stages probing – inv_chain</vt:lpstr>
      <vt:lpstr>Probe the internal stages – io_buf</vt:lpstr>
      <vt:lpstr>PowerPoint Presentation</vt:lpstr>
      <vt:lpstr>PowerPoint Presentation</vt:lpstr>
      <vt:lpstr>Probe the internal stages - ex2</vt:lpstr>
      <vt:lpstr>PowerPoint Presentation</vt:lpstr>
      <vt:lpstr>PowerPoint Presentation</vt:lpstr>
      <vt:lpstr>Probe the internal stages – inv_chain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Lee, Seonghi</dc:creator>
  <cp:revision>3</cp:revision>
  <dcterms:created xsi:type="dcterms:W3CDTF">2025-07-07T19:11:35Z</dcterms:created>
  <dcterms:modified xsi:type="dcterms:W3CDTF">2026-09-18T17:14:53Z</dcterms:modified>
</cp:coreProperties>
</file>