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slides 2-4 have already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in the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input and the threshold it must pass. Right: the output the constant current produces. The next slide turns this picture into the four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Colours tie each term of the equation to its row. u is the stage's input, v its output, both on their own 0-to-1 swing.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slide 12, now with the recipe attached to it.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shipped model, blue the build using probed silicon, red the file-only one. Full numbers in docs/track1_recipe.md.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on slide 3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450592"/>
          </a:xfrm>
        </p:spPr>
        <p:txBody>
          <a:bodyPr/>
          <a:lstStyle/>
          <a:p>
            <a:pPr>
              <a:spcAft>
                <a:spcPts val="400"/>
              </a:spcAft>
            </a:pPr>
            <a:r>
              <a:rPr sz="1800"/>
              <a:t>Simon Huang  ·  24 September 2026</a:t>
            </a:r>
          </a:p>
          <a:p>
            <a:pPr>
              <a:spcAft>
                <a:spcPts val="400"/>
              </a:spcAft>
            </a:pPr>
            <a:r>
              <a:rPr sz="1800"/>
              <a:t/>
            </a:r>
          </a:p>
          <a:p>
            <a:pPr>
              <a:spcAft>
                <a:spcPts val="400"/>
              </a:spcAft>
            </a:pPr>
            <a:r>
              <a:rPr sz="1800"/>
              <a:t>The story in one line: the output stage is a static map of its own gate, so a stressed pad is right when the gate's shape is right — and the gate is the thing IBIS does not record.</a:t>
            </a:r>
          </a:p>
          <a:p>
            <a:pPr>
              <a:spcAft>
                <a:spcPts val="400"/>
              </a:spcAft>
            </a:pPr>
            <a:r>
              <a:rPr sz="1800"/>
              <a:t/>
            </a:r>
          </a:p>
          <a:p>
            <a:pPr>
              <a:spcAft>
                <a:spcPts val="400"/>
              </a:spcAft>
            </a:pPr>
            <a:r>
              <a:rPr sz="1800" b="1">
                <a:solidFill>
                  <a:srgbClr val="2B7A43"/>
                </a:solidFill>
              </a:rPr>
              <a:t>1  measure the map   2  show it works   3  show why our gate fails   4  reproduce the gate from the 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a:spcAft>
                <a:spcPts val="400"/>
              </a:spcAft>
            </a:pPr>
            <a:r>
              <a:rPr sz="1800" b="1">
                <a:solidFill>
                  <a:srgbClr val="2B7A43"/>
                </a:solidFill>
              </a:rPr>
              <a:t>The node that matters is the output stage's gate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The IBIS file gives Ku(t) on one full transition. The probe gives the gate on the same run. At each instant we have both numbers — so plot one against the other.</a:t>
            </a:r>
          </a:p>
          <a:p>
            <a:pPr>
              <a:spcAft>
                <a:spcPts val="400"/>
              </a:spcAft>
            </a:pPr>
            <a:r>
              <a:rPr sz="1800" b="1">
                <a:solidFill>
                  <a:srgbClr val="2B7A43"/>
                </a:solidFill>
              </a:rPr>
              <a:t>The pairing is the map.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and compare the pad against the transistor at all five stress levels.</a:t>
            </a:r>
          </a:p>
          <a:p>
            <a:pPr>
              <a:spcAft>
                <a:spcPts val="400"/>
              </a:spcAft>
            </a:pPr>
            <a:r>
              <a:rPr sz="1800" b="1">
                <a:solidFill>
                  <a:srgbClr val="2B7A43"/>
                </a:solidFill>
              </a:rPr>
              <a:t>Within ±5 % at every level, where native IBIS runs +71 % at the deepest and our own gate-state model +74 %.</a:t>
            </a:r>
          </a:p>
        </p:txBody>
      </p:sp>
      <p:pic>
        <p:nvPicPr>
          <p:cNvPr id="4" name="Picture 3" descr="works_levels_ex2.png"/>
          <p:cNvPicPr>
            <a:picLocks noChangeAspect="1"/>
          </p:cNvPicPr>
          <p:nvPr/>
        </p:nvPicPr>
        <p:blipFill>
          <a:blip r:embed="rId2"/>
          <a:stretch>
            <a:fillRect/>
          </a:stretch>
        </p:blipFill>
        <p:spPr>
          <a:xfrm>
            <a:off x="411480" y="2578608"/>
            <a:ext cx="11384280" cy="338275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and compare the pad against the transistor at all five stress levels.</a:t>
            </a:r>
          </a:p>
          <a:p>
            <a:pPr>
              <a:spcAft>
                <a:spcPts val="400"/>
              </a:spcAft>
            </a:pPr>
            <a:r>
              <a:rPr sz="1800" b="1">
                <a:solidFill>
                  <a:srgbClr val="2B7A43"/>
                </a:solidFill>
              </a:rPr>
              <a:t>Within +2…+9 %, where native IBIS runs +87 % at the deepest.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40104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a:spcAft>
                <a:spcPts val="400"/>
              </a:spcAft>
            </a:pPr>
            <a:r>
              <a:rPr sz="1800"/>
              <a:t>Given the right gate, the map reproduces the pad at every stress level, on both buffers.</a:t>
            </a:r>
          </a:p>
          <a:p>
            <a:pPr>
              <a:spcAft>
                <a:spcPts val="400"/>
              </a:spcAft>
            </a:pPr>
            <a:r>
              <a:rPr sz="1800"/>
              <a:t>The map itself is a fixed curve — it has no memory, and it does not change with the pulse. Measured hysteresis between the rising and falling branches is 0.07–0.10.</a:t>
            </a:r>
          </a:p>
          <a:p>
            <a:pPr>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a:spcAft>
                <a:spcPts val="400"/>
              </a:spcAft>
            </a:pPr>
            <a:r>
              <a:rPr sz="1800"/>
              <a:t>Our GUP is a fixed delay then an RC ramp. Truncating the input truncates that one shape.</a:t>
            </a:r>
          </a:p>
          <a:p>
            <a:pPr>
              <a:spcAft>
                <a:spcPts val="400"/>
              </a:spcAft>
            </a:pPr>
            <a:r>
              <a:rPr sz="1800"/>
              <a:t>The real gate is already moving long before GUP starts, and it turns round earlier.</a:t>
            </a:r>
          </a:p>
          <a:p>
            <a:pPr>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Same map, two gates. The top row is Ku, the bottom row the pad.</a:t>
            </a:r>
          </a:p>
          <a:p>
            <a:pPr>
              <a:spcAft>
                <a:spcPts val="400"/>
              </a:spcAft>
            </a:pPr>
            <a:r>
              <a:rPr sz="1800" b="1">
                <a:solidFill>
                  <a:srgbClr val="2B7A43"/>
                </a:solidFill>
              </a:rPr>
              <a:t>GUP holds Ku high long after the real gate has let go — and the pad overshoot is exactly that extra area. +74 % at 50 % stress, +4 % at 90 %.</a:t>
            </a:r>
          </a:p>
        </p:txBody>
      </p:sp>
      <p:pic>
        <p:nvPicPr>
          <p:cNvPr id="4" name="Picture 3" descr="ku_consequence_ex2.png"/>
          <p:cNvPicPr>
            <a:picLocks noChangeAspect="1"/>
          </p:cNvPicPr>
          <p:nvPr/>
        </p:nvPicPr>
        <p:blipFill>
          <a:blip r:embed="rId2"/>
          <a:stretch>
            <a:fillRect/>
          </a:stretch>
        </p:blipFill>
        <p:spPr>
          <a:xfrm>
            <a:off x="2121632" y="2276856"/>
            <a:ext cx="7963974" cy="424281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a:spcAft>
                <a:spcPts val="400"/>
              </a:spcAft>
            </a:pPr>
            <a:r>
              <a:rPr sz="1800"/>
              <a:t>We know what a correct model needs: the real gate's shape, and the map.</a:t>
            </a:r>
          </a:p>
          <a:p>
            <a:pPr>
              <a:spcAft>
                <a:spcPts val="400"/>
              </a:spcAft>
            </a:pPr>
            <a:r>
              <a:rPr sz="1800"/>
              <a:t>We have both — by probing. A customer with only the vendor's IBIS file has neither.</a:t>
            </a:r>
          </a:p>
          <a:p>
            <a:pPr>
              <a:spcAft>
                <a:spcPts val="400"/>
              </a:spcAft>
            </a:pPr>
            <a:r>
              <a:rPr sz="1800"/>
              <a:t/>
            </a:r>
          </a:p>
          <a:p>
            <a:pPr>
              <a:spcAft>
                <a:spcPts val="400"/>
              </a:spcAft>
            </a:pPr>
            <a:r>
              <a:rPr sz="1800" b="1">
                <a:solidFill>
                  <a:srgbClr val="2B7A43"/>
                </a:solidFill>
              </a:rPr>
              <a:t>The question for track 1: how much of that gate shape can be recovered from the IBIS file plus one measurement taken at the pad, with nothing probed inside?</a:t>
            </a:r>
          </a:p>
          <a:p>
            <a:pPr>
              <a:spcAft>
                <a:spcPts val="400"/>
              </a:spcAft>
            </a:pPr>
            <a:r>
              <a:rPr sz="1800"/>
              <a:t/>
            </a:r>
          </a:p>
          <a:p>
            <a:pPr>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642616"/>
          </a:xfrm>
        </p:spPr>
        <p:txBody>
          <a:bodyPr/>
          <a:lstStyle/>
          <a:p>
            <a:pPr>
              <a:spcAft>
                <a:spcPts val="400"/>
              </a:spcAft>
            </a:pPr>
            <a:r>
              <a:rPr sz="1600"/>
              <a:t>The file gives Ku(t) — a complete waveform, with shape at every instant. Shape is not what is missing.</a:t>
            </a:r>
          </a:p>
          <a:p>
            <a:pPr>
              <a:spcAft>
                <a:spcPts val="400"/>
              </a:spcAft>
            </a:pPr>
            <a:r>
              <a:rPr sz="1600" b="1"/>
              <a:t>What is missing is the split. Ku(t) = map(gate(t)) fixes the composition and nothing more: pick any gate trajectory, and the map is forced to be whatever reproduces Ku(t). Every such pair matches the file exactly.</a:t>
            </a:r>
          </a:p>
          <a:p>
            <a:pPr>
              <a:spcAft>
                <a:spcPts val="400"/>
              </a:spcAft>
            </a:pPr>
            <a:r>
              <a:rPr sz="1600"/>
              <a:t>With no probe we cannot measure the map, so its shape has to be assumed — and the assumed shape and the measured one are not the same curve.</a:t>
            </a:r>
          </a:p>
          <a:p>
            <a:pPr>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3156508" y="3703320"/>
            <a:ext cx="5894222" cy="2816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So we need one more measurement — and a stressed pulse is the one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A full transition cannot separate them. A truncated one can: the chain then produces a different gate trajectory, and where it turns round depends on how fast the gate was really travelling.</a:t>
            </a:r>
          </a:p>
          <a:p>
            <a:pPr>
              <a:spcAft>
                <a:spcPts val="400"/>
              </a:spcAft>
            </a:pPr>
            <a:r>
              <a:rPr sz="1800"/>
              <a:t>Each stressed width stops the gate at a different height on the same path — here at 0.76, 0.80, 0.84, 0.88 and 0.94.</a:t>
            </a:r>
          </a:p>
          <a:p>
            <a:pPr>
              <a:spcAft>
                <a:spcPts val="400"/>
              </a:spcAft>
            </a:pPr>
            <a:r>
              <a:rPr sz="1800" b="1">
                <a:solidFill>
                  <a:srgbClr val="2B7A43"/>
                </a:solidFill>
              </a:rPr>
              <a:t>So the five stress levels are five independent tests of the split, and one pad measurement is what track 1 asks the user for.</a:t>
            </a:r>
          </a:p>
        </p:txBody>
      </p:sp>
      <p:pic>
        <p:nvPicPr>
          <p:cNvPr id="4" name="Picture 3" descr="sampling_grid_ex2.png"/>
          <p:cNvPicPr>
            <a:picLocks noChangeAspect="1"/>
          </p:cNvPicPr>
          <p:nvPr/>
        </p:nvPicPr>
        <p:blipFill>
          <a:blip r:embed="rId2"/>
          <a:stretch>
            <a:fillRect/>
          </a:stretch>
        </p:blipFill>
        <p:spPr>
          <a:xfrm>
            <a:off x="1923192" y="3291840"/>
            <a:ext cx="8360854" cy="322783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700"/>
              <a:t>Five samples cannot pick a curve out of all possible curves. They can pick one out of a small family — so what family does this circuit actually produce?</a:t>
            </a:r>
          </a:p>
          <a:p>
            <a:pPr>
              <a:spcAft>
                <a:spcPts val="400"/>
              </a:spcAft>
            </a:pPr>
            <a:r>
              <a:rPr sz="1700"/>
              <a:t>Probe every stage under a short pulse and compare against what a linear filter would give: its own step response, superposed.</a:t>
            </a:r>
          </a:p>
          <a:p>
            <a:pPr>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The family: a stage is a current source with a threshold</a:t>
            </a:r>
          </a:p>
        </p:txBody>
      </p:sp>
      <p:sp>
        <p:nvSpPr>
          <p:cNvPr id="3" name="Content Placeholder 2"/>
          <p:cNvSpPr>
            <a:spLocks noGrp="1"/>
          </p:cNvSpPr>
          <p:nvPr>
            <p:ph idx="10"/>
          </p:nvPr>
        </p:nvSpPr>
        <p:spPr>
          <a:xfrm>
            <a:off x="411480" y="987552"/>
            <a:ext cx="11384280" cy="1819656"/>
          </a:xfrm>
        </p:spPr>
        <p:txBody>
          <a:bodyPr/>
          <a:lstStyle/>
          <a:p>
            <a:pPr>
              <a:spcAft>
                <a:spcPts val="400"/>
              </a:spcAft>
            </a:pPr>
            <a:r>
              <a:rPr sz="1800"/>
              <a:t>A CMOS inverter driving a large load is a current source while its input sits at the rail, because its conducting device is in saturation. Only near the destination rail does it leave saturation and become a resistor.</a:t>
            </a:r>
          </a:p>
          <a:p>
            <a:pPr>
              <a:spcAft>
                <a:spcPts val="400"/>
              </a:spcAft>
            </a:pPr>
            <a:r>
              <a:rPr sz="1800" b="1">
                <a:solidFill>
                  <a:srgbClr val="2B7A43"/>
                </a:solidFill>
              </a:rPr>
              <a:t>A constant current into a gate capacitance is a ramp, tapering at the end — which is what the measured stages do.</a:t>
            </a:r>
          </a:p>
        </p:txBody>
      </p:sp>
      <p:pic>
        <p:nvPicPr>
          <p:cNvPr id="4" name="Picture 3" descr="stage_law.png"/>
          <p:cNvPicPr>
            <a:picLocks noChangeAspect="1"/>
          </p:cNvPicPr>
          <p:nvPr/>
        </p:nvPicPr>
        <p:blipFill>
          <a:blip r:embed="rId2"/>
          <a:stretch>
            <a:fillRect/>
          </a:stretch>
        </p:blipFill>
        <p:spPr>
          <a:xfrm>
            <a:off x="411480" y="2880360"/>
            <a:ext cx="11384280" cy="350466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four numbers that picture requires</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Written out, the stage law has exactly four free numbers and no more. Each one is a named part of the picture on the last slide, not a fitting coefficient.</a:t>
            </a:r>
          </a:p>
          <a:p>
            <a:pPr>
              <a:spcAft>
                <a:spcPts val="400"/>
              </a:spcAft>
            </a:pPr>
            <a:r>
              <a:rPr sz="1800" b="1">
                <a:solidFill>
                  <a:srgbClr val="2B7A43"/>
                </a:solidFill>
              </a:rPr>
              <a:t>Three are fitted to the file and cost nothing. One, vt, is fitted and then re-set by the single stressed run — that is step 4.</a:t>
            </a:r>
          </a:p>
        </p:txBody>
      </p:sp>
      <p:pic>
        <p:nvPicPr>
          <p:cNvPr id="4" name="Picture 3" descr="four_numbers.png"/>
          <p:cNvPicPr>
            <a:picLocks noChangeAspect="1"/>
          </p:cNvPicPr>
          <p:nvPr/>
        </p:nvPicPr>
        <p:blipFill>
          <a:blip r:embed="rId2"/>
          <a:stretch>
            <a:fillRect/>
          </a:stretch>
        </p:blipFill>
        <p:spPr>
          <a:xfrm>
            <a:off x="1500917" y="2578608"/>
            <a:ext cx="9205404" cy="394106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each of the four actually does</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Each swept on its own about the value the fit chose, on the 810 ps pulse. The thick black trace is the fitted value.</a:t>
            </a:r>
          </a:p>
          <a:p>
            <a:pPr>
              <a:spcAft>
                <a:spcPts val="400"/>
              </a:spcAft>
            </a:pPr>
            <a:r>
              <a:rPr sz="1800" b="1">
                <a:solidFill>
                  <a:srgbClr val="2B7A43"/>
                </a:solidFill>
              </a:rPr>
              <a:t>Look at the vt panel: pushed high enough the gate never leaves the floor — a chain can extinguish a short pulse, not merely shrink it.</a:t>
            </a:r>
          </a:p>
        </p:txBody>
      </p:sp>
      <p:pic>
        <p:nvPicPr>
          <p:cNvPr id="4" name="Picture 3" descr="knobs.png"/>
          <p:cNvPicPr>
            <a:picLocks noChangeAspect="1"/>
          </p:cNvPicPr>
          <p:nvPr/>
        </p:nvPicPr>
        <p:blipFill>
          <a:blip r:embed="rId2"/>
          <a:stretch>
            <a:fillRect/>
          </a:stretch>
        </p:blipFill>
        <p:spPr>
          <a:xfrm>
            <a:off x="1567646" y="2578608"/>
            <a:ext cx="9071947" cy="39410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Why a chain of K of them</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700"/>
              <a:t>The real predriver is a chain — the schematic earlier showed three inverters between ex2's input and its output gate, and the stage walk watched a pulse lose height at each.</a:t>
            </a:r>
          </a:p>
          <a:p>
            <a:pPr>
              <a:spcAft>
                <a:spcPts val="400"/>
              </a:spcAft>
            </a:pPr>
            <a:r>
              <a:rPr sz="1700"/>
              <a:t>We cannot see how many a vendor's part has, so the count K is a parameter. The stages are held identical: a real tapered predriver approximately is, and letting them differ makes the fit degenerate.</a:t>
            </a:r>
          </a:p>
          <a:p>
            <a:pPr>
              <a:spcAft>
                <a:spcPts val="400"/>
              </a:spcAft>
            </a:pPr>
            <a:r>
              <a:rPr sz="17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3291840"/>
            <a:ext cx="11384280" cy="3096299"/>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Step 1 — C_comp, rejected by the file's own arithmetic</a:t>
            </a:r>
          </a:p>
        </p:txBody>
      </p:sp>
      <p:sp>
        <p:nvSpPr>
          <p:cNvPr id="3" name="Content Placeholder 2"/>
          <p:cNvSpPr>
            <a:spLocks noGrp="1"/>
          </p:cNvSpPr>
          <p:nvPr>
            <p:ph idx="10"/>
          </p:nvPr>
        </p:nvSpPr>
        <p:spPr>
          <a:xfrm>
            <a:off x="411480" y="987552"/>
            <a:ext cx="11384280" cy="2532888"/>
          </a:xfrm>
        </p:spPr>
        <p:txBody>
          <a:bodyPr/>
          <a:lstStyle/>
          <a:p>
            <a:pPr>
              <a:spcAft>
                <a:spcPts val="400"/>
              </a:spcAft>
            </a:pPr>
            <a:r>
              <a:rPr sz="1700"/>
              <a:t>Ku is a fraction of the device's own current, so it cannot exceed 1. Solve the file at a range of assumed C_comp and watch what the solve returns.</a:t>
            </a:r>
          </a:p>
          <a:p>
            <a:pPr>
              <a:spcAft>
                <a:spcPts val="400"/>
              </a:spcAft>
            </a:pPr>
            <a:r>
              <a:rPr sz="1700" b="1">
                <a:solidFill>
                  <a:srgbClr val="2B7A43"/>
                </a:solidFill>
              </a:rPr>
              <a:t>ex2's declared 5.0 pF makes the file imply Ku = 1.24 — impossible. The file rejects its own declared value.</a:t>
            </a:r>
          </a:p>
          <a:p>
            <a:pPr>
              <a:spcAft>
                <a:spcPts val="400"/>
              </a:spcAft>
            </a:pPr>
            <a:r>
              <a:rPr sz="1700"/>
              <a:t>So: keep what the file declares unless it implies Ku &gt; 1, then take the value at which Ku just reaches 1. That reads 2.64 pF here, against 1.70 measured with a probe —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2725718" y="3593592"/>
            <a:ext cx="6755802" cy="29260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Step 2 — the four numbers, fitted to the file's Ku(t)</a:t>
            </a:r>
          </a:p>
        </p:txBody>
      </p:sp>
      <p:sp>
        <p:nvSpPr>
          <p:cNvPr id="3" name="Content Placeholder 2"/>
          <p:cNvSpPr>
            <a:spLocks noGrp="1"/>
          </p:cNvSpPr>
          <p:nvPr>
            <p:ph idx="10"/>
          </p:nvPr>
        </p:nvSpPr>
        <p:spPr>
          <a:xfrm>
            <a:off x="411480" y="987552"/>
            <a:ext cx="11384280" cy="1627632"/>
          </a:xfrm>
        </p:spPr>
        <p:txBody>
          <a:bodyPr/>
          <a:lstStyle/>
          <a:p>
            <a:pPr>
              <a:spcAft>
                <a:spcPts val="400"/>
              </a:spcAft>
            </a:pPr>
            <a:r>
              <a:rPr sz="1800"/>
              <a:t>The four are searched until the chain's output, put through the map, reproduces the file's own full-swing Ku(t) — the black curve. Nelder–Mead, three restarts.</a:t>
            </a:r>
          </a:p>
          <a:p>
            <a:pPr>
              <a:spcAft>
                <a:spcPts val="400"/>
              </a:spcAft>
            </a:pPr>
            <a:r>
              <a:rPr sz="1800"/>
              <a:t>Error 0.284 down to 0.0098, landing on s_up 2.59, s_dn 2.38, vt 0.51, x_lin 0.66.</a:t>
            </a:r>
          </a:p>
          <a:p>
            <a:pPr>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512569" y="2688336"/>
            <a:ext cx="11182100" cy="38313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Step 3 — what the file cannot choose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Left: the fit error against the file's Ku(t), for every stage count. Past K = 3 it is flat — the file has nothing left to say.</a:t>
            </a:r>
          </a:p>
          <a:p>
            <a:pPr>
              <a:spcAft>
                <a:spcPts val="400"/>
              </a:spcAft>
            </a:pPr>
            <a:r>
              <a:rPr sz="1800"/>
              <a:t>Right: the three candidates inside that band, on one 810 ps pulse. Same file, same fit quality, three completely different buffers.</a:t>
            </a:r>
          </a:p>
          <a:p>
            <a:pPr>
              <a:spcAft>
                <a:spcPts val="400"/>
              </a:spcAft>
            </a:pPr>
            <a:r>
              <a:rPr sz="1800" b="1">
                <a:solidFill>
                  <a:srgbClr val="2B7A43"/>
                </a:solidFill>
              </a:rPr>
              <a:t>The map's shape is under-determined in the same way (slide 7). Three stage counts × three map shapes = nine candidates.</a:t>
            </a:r>
          </a:p>
        </p:txBody>
      </p:sp>
      <p:pic>
        <p:nvPicPr>
          <p:cNvPr id="4" name="Picture 3" descr="k_choice.png"/>
          <p:cNvPicPr>
            <a:picLocks noChangeAspect="1"/>
          </p:cNvPicPr>
          <p:nvPr/>
        </p:nvPicPr>
        <p:blipFill>
          <a:blip r:embed="rId2"/>
          <a:stretch>
            <a:fillRect/>
          </a:stretch>
        </p:blipFill>
        <p:spPr>
          <a:xfrm>
            <a:off x="1397800" y="3291840"/>
            <a:ext cx="9411638" cy="322783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Step 4 — the stressed run, first job: set the amplitude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Now the measured waveform enters. Fitted to the file alone the chain leaves the 810 ps pad 28 % low — the file can set the shape, but not the amplitude.</a:t>
            </a:r>
          </a:p>
          <a:p>
            <a:pPr>
              <a:spcAft>
                <a:spcPts val="400"/>
              </a:spcAft>
            </a:pPr>
            <a:r>
              <a:rPr sz="1800"/>
              <a:t>So bisect vt against the measured peak. The two spikes are the bracket being probed first: vt = 0 overshoots by 26 %, vt = 0.7 kills the pulse entirely at −99 %. Then halve. Ten runs, landing on vt 0.487 and +1.4 %.</a:t>
            </a:r>
          </a:p>
          <a:p>
            <a:pPr>
              <a:spcAft>
                <a:spcPts val="400"/>
              </a:spcAft>
            </a:pPr>
            <a:r>
              <a:rPr sz="1800" b="1">
                <a:solidFill>
                  <a:srgbClr val="2B7A43"/>
                </a:solidFill>
              </a:rPr>
              <a:t>Why vt and not the drive rates? The rates were fitted to reproduce the full swing, and moving them breaks it. vt changes when the chain hands off, not how fast it runs.</a:t>
            </a:r>
          </a:p>
        </p:txBody>
      </p:sp>
      <p:pic>
        <p:nvPicPr>
          <p:cNvPr id="4" name="Picture 3" descr="bisection.png"/>
          <p:cNvPicPr>
            <a:picLocks noChangeAspect="1"/>
          </p:cNvPicPr>
          <p:nvPr/>
        </p:nvPicPr>
        <p:blipFill>
          <a:blip r:embed="rId2"/>
          <a:stretch>
            <a:fillRect/>
          </a:stretch>
        </p:blipFill>
        <p:spPr>
          <a:xfrm>
            <a:off x="1395221" y="3291840"/>
            <a:ext cx="9416797" cy="322783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Step 5 — the stressed run, second job: pick one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700"/>
              <a:t>All nine candidates are now calibrated, so all nine hit the measured peak — the calibration put it there. Right-hand panel: ranked on the peak every one is within 2.5 %, in no meaningful order.</a:t>
            </a:r>
          </a:p>
          <a:p>
            <a:pPr>
              <a:spcAft>
                <a:spcPts val="400"/>
              </a:spcAft>
            </a:pPr>
            <a:r>
              <a:rPr sz="1700"/>
              <a:t>Left-hand panel: score each one against the whole measured waveform instead, over the pulse and its return. Now they separate, from 59 mV to over 200.</a:t>
            </a:r>
          </a:p>
          <a:p>
            <a:pPr>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The recipe, end to end</a:t>
            </a:r>
          </a:p>
        </p:txBody>
      </p:sp>
      <p:sp>
        <p:nvSpPr>
          <p:cNvPr id="3" name="Content Placeholder 2"/>
          <p:cNvSpPr>
            <a:spLocks noGrp="1"/>
          </p:cNvSpPr>
          <p:nvPr>
            <p:ph idx="10"/>
          </p:nvPr>
        </p:nvSpPr>
        <p:spPr>
          <a:xfrm>
            <a:off x="411480" y="987552"/>
            <a:ext cx="11384280" cy="2340864"/>
          </a:xfrm>
        </p:spPr>
        <p:txBody>
          <a:bodyPr/>
          <a:lstStyle/>
          <a:p>
            <a:pPr>
              <a:spcAft>
                <a:spcPts val="400"/>
              </a:spcAft>
            </a:pPr>
            <a:r>
              <a:rPr sz="1600" b="1"/>
              <a:t>From the file alone: C_comp, kept unless its own Ku &gt; 1 test rejects it; then s_up, s_dn, vt, x_lin fitted to the file's Ku(t) at each stage count in the band.</a:t>
            </a:r>
          </a:p>
          <a:p>
            <a:pPr>
              <a:spcAft>
                <a:spcPts val="400"/>
              </a:spcAft>
            </a:pPr>
            <a:r>
              <a:rPr sz="1600" b="1"/>
              <a:t>Left undetermined by the file: the stage count and the map's shape — nine candidates in all.</a:t>
            </a:r>
          </a:p>
          <a:p>
            <a:pPr>
              <a:spcAft>
                <a:spcPts val="400"/>
              </a:spcAft>
            </a:pPr>
            <a:r>
              <a:rPr sz="1600" b="1"/>
              <a:t>From one stressed pad run, in order: bisect vt until the peak matches, then pick the candidate whose whole waveform matches.</a:t>
            </a:r>
          </a:p>
          <a:p>
            <a:pPr>
              <a:spcAft>
                <a:spcPts val="400"/>
              </a:spcAft>
            </a:pPr>
            <a:r>
              <a:rPr sz="1600" b="1">
                <a:solidFill>
                  <a:srgbClr val="2B7A43"/>
                </a:solidFill>
              </a:rPr>
              <a:t>Nothing is probed.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file-only recipe stands</a:t>
            </a:r>
          </a:p>
        </p:txBody>
      </p:sp>
      <p:sp>
        <p:nvSpPr>
          <p:cNvPr id="3" name="Content Placeholder 2"/>
          <p:cNvSpPr>
            <a:spLocks noGrp="1"/>
          </p:cNvSpPr>
          <p:nvPr>
            <p:ph idx="10"/>
          </p:nvPr>
        </p:nvSpPr>
        <p:spPr>
          <a:xfrm>
            <a:off x="411480" y="987552"/>
            <a:ext cx="11384280" cy="1929384"/>
          </a:xfrm>
        </p:spPr>
        <p:txBody>
          <a:bodyPr/>
          <a:lstStyle/>
          <a:p>
            <a:pPr>
              <a:spcAft>
                <a:spcPts val="400"/>
              </a:spcAft>
            </a:pPr>
            <a:r>
              <a:rPr sz="1800" b="1"/>
              <a:t>12 of 12 buffers within ±10 % on the worst stressed pulse; mean 6.9 %.</a:t>
            </a:r>
          </a:p>
          <a:p>
            <a:pPr>
              <a:spcAft>
                <a:spcPts val="400"/>
              </a:spcAft>
            </a:pPr>
            <a:r>
              <a:rPr sz="1800"/>
              <a:t>On inv_chain the file-only build reaches 5.1 %, against 25.8 % for a build that uses the probed silicon — the shape choice matters more than the measurement.</a:t>
            </a:r>
          </a:p>
          <a:p>
            <a:pPr>
              <a:spcAft>
                <a:spcPts val="400"/>
              </a:spcAft>
            </a:pPr>
            <a:r>
              <a:rPr sz="1800" b="1">
                <a:solidFill>
                  <a:srgbClr val="2B7A43"/>
                </a:solidFill>
              </a:rPr>
              <a:t>What it costs: the full transition is worse than the shipped model on 10 of 12 buffers, and a stressed pulse train is still lost on ex2 and io_buf. We buy accuracy in stressed accuracy with full-swing accuracy.</a:t>
            </a:r>
          </a:p>
        </p:txBody>
      </p:sp>
      <p:pic>
        <p:nvPicPr>
          <p:cNvPr id="4" name="Picture 3" descr="endtoend.png"/>
          <p:cNvPicPr>
            <a:picLocks noChangeAspect="1"/>
          </p:cNvPicPr>
          <p:nvPr/>
        </p:nvPicPr>
        <p:blipFill>
          <a:blip r:embed="rId2"/>
          <a:stretch>
            <a:fillRect/>
          </a:stretch>
        </p:blipFill>
        <p:spPr>
          <a:xfrm>
            <a:off x="1507807" y="2990088"/>
            <a:ext cx="9191625" cy="352958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does not cover yet</a:t>
            </a:r>
          </a:p>
        </p:txBody>
      </p:sp>
      <p:sp>
        <p:nvSpPr>
          <p:cNvPr id="3" name="Content Placeholder 2"/>
          <p:cNvSpPr>
            <a:spLocks noGrp="1"/>
          </p:cNvSpPr>
          <p:nvPr>
            <p:ph idx="10"/>
          </p:nvPr>
        </p:nvSpPr>
        <p:spPr>
          <a:xfrm>
            <a:off x="411480" y="987552"/>
            <a:ext cx="11384280" cy="2340864"/>
          </a:xfrm>
        </p:spPr>
        <p:txBody>
          <a:bodyPr/>
          <a:lstStyle/>
          <a:p>
            <a:pPr>
              <a:spcAft>
                <a:spcPts val="400"/>
              </a:spcAft>
            </a:pPr>
            <a:r>
              <a:rPr sz="1800" b="1"/>
              <a:t>Direction. Everything here is a short HIGH pulse. Only io_buf has been run pulling down, where the model is 16–21 points too shallow — its pull-down chain never turns on at all on a short pulse.</a:t>
            </a:r>
          </a:p>
          <a:p>
            <a:pPr>
              <a:spcAft>
                <a:spcPts val="400"/>
              </a:spcAft>
            </a:pPr>
            <a:r>
              <a:rPr sz="1800" b="1"/>
              <a:t>Depth. The ladder samples 50–90 % of the travel. Below 50 % is unsampled.</a:t>
            </a:r>
          </a:p>
          <a:p>
            <a:pPr>
              <a:spcAft>
                <a:spcPts val="400"/>
              </a:spcAft>
            </a:pPr>
            <a:r>
              <a:rPr sz="1800" b="1"/>
              <a:t>Trains. One pulse at a time; a stressed train is still lost on two of three buffers.</a:t>
            </a:r>
          </a:p>
          <a:p>
            <a:pPr>
              <a:spcAft>
                <a:spcPts val="400"/>
              </a:spcAft>
            </a:pPr>
            <a:r>
              <a:rPr sz="1800" b="1">
                <a:solidFill>
                  <a:srgbClr val="2B7A43"/>
                </a:solidFill>
              </a:rPr>
              <a:t>The recipe has seen the answer key.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The file holds the I-V curves and recordings of one transition into two different loads. At any instant the pad took some current, and both branches supplied it.</a:t>
            </a:r>
          </a:p>
          <a:p>
            <a:pPr>
              <a:spcAft>
                <a:spcPts val="400"/>
              </a:spcAft>
            </a:pPr>
            <a:r>
              <a:rPr sz="1800"/>
              <a:t>Two loads give two equations in the same two unknowns, so one instant gives Ku and Kd outright — no fitting. Repeat at every instant and the result is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The same nine as step 5, drawn rather than ranked: all sharing the measured peak because the calibration put it there, and separating in the tail.</a:t>
            </a:r>
          </a:p>
          <a:p>
            <a:pPr>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inv_chain's IBIS file declares Vinh 2.0 V on a 1.8 V part, so our input comparator fires late and trims about 29 ps off every pulse.</a:t>
            </a:r>
          </a:p>
          <a:p>
            <a:pPr>
              <a:spcAft>
                <a:spcPts val="400"/>
              </a:spcAft>
            </a:pPr>
            <a:r>
              <a:rPr sz="1800"/>
              <a:t>That trim cancels most of the gate-state model's overshoot, which is why it reads −2 % at 70 % stress on the previous slides while native IBIS reads +32 %.</a:t>
            </a:r>
          </a:p>
          <a:p>
            <a:pPr>
              <a:spcAft>
                <a:spcPts val="400"/>
              </a:spcAft>
            </a:pPr>
            <a:r>
              <a:rPr sz="1800" b="1">
                <a:solidFill>
                  <a:srgbClr val="2B7A43"/>
                </a:solidFill>
              </a:rPr>
              <a:t>It is a defect that flatters us, not a result.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