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slides 2-4 have already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is not wrong; it is blind in a specific way. Our GUP reproduces the vendor's own full-swing waveform - that is how it was built - and the endpoints are all the full swing constrains.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five coloured curves follow it and peel off at different points. This is the justification for asking the user for one stressed pad run, and for the 50-90 percent depth ladder.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 Data: predriver_stages_2026-09-09, whose own module computes the superposition.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are not free knobs: each names something the circuit has. x_lin is pinned at 0.45 on most buffers, inside the 0.37-0.63 the real probed stages fitted. This slide answers 'what are the equations and where do the numbers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here is the two-parameter MOSFET-shaped curve, not the measured one: track 1 has no probe. Its shape is one of the two things the stressed run selects.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 point is the one that cost a night's work: ranking on the peak selects chains that turn on 155-300 ps late and hit the right height with the wrong pulse under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shipped model, blue the build using probed silicon, red the file-only one. Full numbers in docs/track1_recipe.md.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on slide 3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450592"/>
          </a:xfrm>
        </p:spPr>
        <p:txBody>
          <a:bodyPr/>
          <a:lstStyle/>
          <a:p>
            <a:pPr>
              <a:spcAft>
                <a:spcPts val="400"/>
              </a:spcAft>
            </a:pPr>
            <a:r>
              <a:rPr sz="1800"/>
              <a:t>Simon Huang  ·  24 September 2026</a:t>
            </a:r>
          </a:p>
          <a:p>
            <a:pPr>
              <a:spcAft>
                <a:spcPts val="400"/>
              </a:spcAft>
            </a:pPr>
            <a:r>
              <a:rPr sz="1800"/>
              <a:t/>
            </a:r>
          </a:p>
          <a:p>
            <a:pPr>
              <a:spcAft>
                <a:spcPts val="400"/>
              </a:spcAft>
            </a:pPr>
            <a:r>
              <a:rPr sz="1800"/>
              <a:t>The story in one line: the output stage is a static map of its own gate, so a stressed pad is right when the gate's shape is right — and the gate is the thing IBIS does not record.</a:t>
            </a:r>
          </a:p>
          <a:p>
            <a:pPr>
              <a:spcAft>
                <a:spcPts val="400"/>
              </a:spcAft>
            </a:pPr>
            <a:r>
              <a:rPr sz="1800"/>
              <a:t/>
            </a:r>
          </a:p>
          <a:p>
            <a:pPr>
              <a:spcAft>
                <a:spcPts val="400"/>
              </a:spcAft>
            </a:pPr>
            <a:r>
              <a:rPr sz="1800" b="1">
                <a:solidFill>
                  <a:srgbClr val="2B7A43"/>
                </a:solidFill>
              </a:rPr>
              <a:t>1  measure the map   2  show it works   3  show why our gate fails   4  reproduce the gate from the 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a:spcAft>
                <a:spcPts val="400"/>
              </a:spcAft>
            </a:pPr>
            <a:r>
              <a:rPr sz="1800" b="1">
                <a:solidFill>
                  <a:srgbClr val="2B7A43"/>
                </a:solidFill>
              </a:rPr>
              <a:t>The node that matters is the output stage's gate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IBIS file gives Ku(t) on one full transition. The probe gives the gate on the same run. At each instant we have both numbers — so plot one against the other.</a:t>
            </a:r>
          </a:p>
          <a:p>
            <a:pPr>
              <a:spcAft>
                <a:spcPts val="400"/>
              </a:spcAft>
            </a:pPr>
            <a:r>
              <a:rPr sz="1800" b="1">
                <a:solidFill>
                  <a:srgbClr val="2B7A43"/>
                </a:solidFill>
              </a:rPr>
              <a:t>The pairing is the map.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±5 % at every level, where native IBIS runs +71 % at the deepest and our own gate-state model +74 %.</a:t>
            </a:r>
          </a:p>
        </p:txBody>
      </p:sp>
      <p:pic>
        <p:nvPicPr>
          <p:cNvPr id="4" name="Picture 3" descr="works_levels_ex2.png"/>
          <p:cNvPicPr>
            <a:picLocks noChangeAspect="1"/>
          </p:cNvPicPr>
          <p:nvPr/>
        </p:nvPicPr>
        <p:blipFill>
          <a:blip r:embed="rId2"/>
          <a:stretch>
            <a:fillRect/>
          </a:stretch>
        </p:blipFill>
        <p:spPr>
          <a:xfrm>
            <a:off x="411480" y="2578608"/>
            <a:ext cx="11384280" cy="33827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+2…+9 %, where native IBIS runs +87 % at the deepest.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401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Given the right gate, the map reproduces the pad at every stress level, on both buffers.</a:t>
            </a:r>
          </a:p>
          <a:p>
            <a:pPr>
              <a:spcAft>
                <a:spcPts val="400"/>
              </a:spcAft>
            </a:pPr>
            <a:r>
              <a:rPr sz="1800"/>
              <a:t>The map itself is a fixed curve — it has no memory, and it does not change with the pulse. Measured hysteresis between the rising and falling branches is 0.07–0.10.</a:t>
            </a:r>
          </a:p>
          <a:p>
            <a:pPr>
              <a:spcAft>
                <a:spcPts val="400"/>
              </a:spcAft>
            </a:pPr>
            <a:r>
              <a:rPr sz="1800" b="1">
                <a:solidFill>
                  <a:srgbClr val="2B7A43"/>
                </a:solidFill>
              </a:rPr>
              <a:t>Everything that is wrong with our model is therefore in the gate.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a:spcAft>
                <a:spcPts val="400"/>
              </a:spcAft>
            </a:pPr>
            <a:r>
              <a:rPr sz="1800"/>
              <a:t>Our GUP is a fixed delay then an RC ramp. Truncating the input truncates that one shape.</a:t>
            </a:r>
          </a:p>
          <a:p>
            <a:pPr>
              <a:spcAft>
                <a:spcPts val="400"/>
              </a:spcAft>
            </a:pPr>
            <a:r>
              <a:rPr sz="1800"/>
              <a:t>The real gate is already moving long before GUP starts, and it turns round earlier.</a:t>
            </a:r>
          </a:p>
          <a:p>
            <a:pPr>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Same map, two gates. The top row is Ku, the bottom row the pad.</a:t>
            </a:r>
          </a:p>
          <a:p>
            <a:pPr>
              <a:spcAft>
                <a:spcPts val="400"/>
              </a:spcAft>
            </a:pPr>
            <a:r>
              <a:rPr sz="1800" b="1">
                <a:solidFill>
                  <a:srgbClr val="2B7A43"/>
                </a:solidFill>
              </a:rPr>
              <a:t>GUP holds Ku high long after the real gate has let go — and the pad overshoot is exactly that extra area. +74 % at 50 % stress, +4 % at 90 %.</a:t>
            </a:r>
          </a:p>
        </p:txBody>
      </p:sp>
      <p:pic>
        <p:nvPicPr>
          <p:cNvPr id="4" name="Picture 3" descr="ku_consequence_ex2.png"/>
          <p:cNvPicPr>
            <a:picLocks noChangeAspect="1"/>
          </p:cNvPicPr>
          <p:nvPr/>
        </p:nvPicPr>
        <p:blipFill>
          <a:blip r:embed="rId2"/>
          <a:stretch>
            <a:fillRect/>
          </a:stretch>
        </p:blipFill>
        <p:spPr>
          <a:xfrm>
            <a:off x="2121632" y="2276856"/>
            <a:ext cx="7963974" cy="42428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a:spcAft>
                <a:spcPts val="400"/>
              </a:spcAft>
            </a:pPr>
            <a:r>
              <a:rPr sz="1800"/>
              <a:t>We know what a correct model needs: the real gate's shape, and the map.</a:t>
            </a:r>
          </a:p>
          <a:p>
            <a:pPr>
              <a:spcAft>
                <a:spcPts val="400"/>
              </a:spcAft>
            </a:pPr>
            <a:r>
              <a:rPr sz="1800"/>
              <a:t>We have both — by probing. A customer with only the vendor's IBIS file has neither.</a:t>
            </a:r>
          </a:p>
          <a:p>
            <a:pPr>
              <a:spcAft>
                <a:spcPts val="400"/>
              </a:spcAft>
            </a:pPr>
            <a:r>
              <a:rPr sz="1800"/>
              <a:t/>
            </a:r>
          </a:p>
          <a:p>
            <a:pPr>
              <a:spcAft>
                <a:spcPts val="400"/>
              </a:spcAft>
            </a:pPr>
            <a:r>
              <a:rPr sz="1800" b="1">
                <a:solidFill>
                  <a:srgbClr val="2B7A43"/>
                </a:solidFill>
              </a:rPr>
              <a:t>The question for track 1: how much of that gate shape can be recovered from the IBIS file plus one measurement taken at the pad, with nothing probed inside?</a:t>
            </a:r>
          </a:p>
          <a:p>
            <a:pPr>
              <a:spcAft>
                <a:spcPts val="400"/>
              </a:spcAft>
            </a:pPr>
            <a:r>
              <a:rPr sz="1800"/>
              <a:t/>
            </a:r>
          </a:p>
          <a:p>
            <a:pPr>
              <a:spcAft>
                <a:spcPts val="400"/>
              </a:spcAft>
            </a:pPr>
            <a:r>
              <a:rPr sz="1800"/>
              <a:t>Two things have to come from somewhere: how fast the gate travels, and the map's shape. The next slides are about where each one can come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gives, and what is missing</a:t>
            </a:r>
          </a:p>
        </p:txBody>
      </p:sp>
      <p:sp>
        <p:nvSpPr>
          <p:cNvPr id="3" name="Content Placeholder 2"/>
          <p:cNvSpPr>
            <a:spLocks noGrp="1"/>
          </p:cNvSpPr>
          <p:nvPr>
            <p:ph idx="10"/>
          </p:nvPr>
        </p:nvSpPr>
        <p:spPr>
          <a:xfrm>
            <a:off x="411480" y="987552"/>
            <a:ext cx="11384280" cy="2642616"/>
          </a:xfrm>
        </p:spPr>
        <p:txBody>
          <a:bodyPr/>
          <a:lstStyle/>
          <a:p>
            <a:pPr>
              <a:spcAft>
                <a:spcPts val="400"/>
              </a:spcAft>
            </a:pPr>
            <a:r>
              <a:rPr sz="1800"/>
              <a:t>The file records Ku(t) on one full transition — and Ku(t) is the map applied to the gate. One curve, two unknowns.</a:t>
            </a:r>
          </a:p>
          <a:p>
            <a:pPr>
              <a:spcAft>
                <a:spcPts val="400"/>
              </a:spcAft>
            </a:pPr>
            <a:r>
              <a:rPr sz="1800"/>
              <a:t>We now know the map is a real, fixed, measurable curve. So the missing factor is the gate's trajectory.</a:t>
            </a:r>
          </a:p>
          <a:p>
            <a:pPr>
              <a:spcAft>
                <a:spcPts val="400"/>
              </a:spcAft>
            </a:pPr>
            <a:r>
              <a:rPr sz="1800" b="1">
                <a:solidFill>
                  <a:srgbClr val="2B7A43"/>
                </a:solidFill>
              </a:rPr>
              <a:t>A full transition only ever visits the two ends of the gate's travel — it starts at rest and finishes at the rail. Any gate that agrees at the ends reproduces the whole full-swing waveform, so the file cannot pick one.</a:t>
            </a:r>
          </a:p>
          <a:p>
            <a:pPr>
              <a:spcAft>
                <a:spcPts val="400"/>
              </a:spcAft>
            </a:pPr>
            <a:r>
              <a:rPr sz="1800" b="1">
                <a:solidFill>
                  <a:srgbClr val="2B7A43"/>
                </a:solidFill>
              </a:rPr>
              <a:t>That is exactly why our GUP passes the full-swing check and fails under stress.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stressed pulse is the measurement that reaches the gate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Cutting the input short stops the clock partway through the gate's travel. What the pad does next depends on where the gate had got to.</a:t>
            </a:r>
          </a:p>
          <a:p>
            <a:pPr>
              <a:spcAft>
                <a:spcPts val="400"/>
              </a:spcAft>
            </a:pPr>
            <a:r>
              <a:rPr sz="1800" b="1">
                <a:solidFill>
                  <a:srgbClr val="2B7A43"/>
                </a:solidFill>
              </a:rPr>
              <a:t>Each stressed width is one sample of the interior of the same path — here the five widths stop the gate at 0.76, 0.80, 0.84, 0.88 and 0.94.</a:t>
            </a:r>
          </a:p>
          <a:p>
            <a:pPr>
              <a:spcAft>
                <a:spcPts val="400"/>
              </a:spcAft>
            </a:pPr>
            <a:r>
              <a:rPr sz="1800"/>
              <a:t>So the stress sweep is a sampling grid, not a robustness check — and one pad measurement per buffer, taken from outside the chip, is the extra input track 1 needs.</a:t>
            </a:r>
          </a:p>
        </p:txBody>
      </p:sp>
      <p:pic>
        <p:nvPicPr>
          <p:cNvPr id="4" name="Picture 3" descr="sampling_grid_ex2.png"/>
          <p:cNvPicPr>
            <a:picLocks noChangeAspect="1"/>
          </p:cNvPicPr>
          <p:nvPr/>
        </p:nvPicPr>
        <p:blipFill>
          <a:blip r:embed="rId2"/>
          <a:stretch>
            <a:fillRect/>
          </a:stretch>
        </p:blipFill>
        <p:spPr>
          <a:xfrm>
            <a:off x="1923192" y="3291840"/>
            <a:ext cx="8360854" cy="32278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What shape may the gate be?  Measure a stage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A sample only helps if we know what gate shapes are possible — five samples cannot pick a curve out of all curves.</a:t>
            </a:r>
          </a:p>
          <a:p>
            <a:pPr>
              <a:spcAft>
                <a:spcPts val="400"/>
              </a:spcAft>
            </a:pPr>
            <a:r>
              <a:rPr sz="1800"/>
              <a:t>So probe every stage under a short pulse and compare with what a linear filter would give (its own step response, superposed).</a:t>
            </a:r>
          </a:p>
          <a:p>
            <a:pPr>
              <a:spcAft>
                <a:spcPts val="400"/>
              </a:spcAft>
            </a:pPr>
            <a:r>
              <a:rPr sz="1800" b="1">
                <a:solidFill>
                  <a:srgbClr val="2B7A43"/>
                </a:solidFill>
              </a:rPr>
              <a:t>Every stage under-reaches, and the gap compounds down the chain: at the pad the linear prediction says 1.00 where the transistor does 0.50.</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The physics that explains it, and the four numbers it forces</a:t>
            </a:r>
          </a:p>
        </p:txBody>
      </p:sp>
      <p:sp>
        <p:nvSpPr>
          <p:cNvPr id="3" name="Content Placeholder 2"/>
          <p:cNvSpPr>
            <a:spLocks noGrp="1"/>
          </p:cNvSpPr>
          <p:nvPr>
            <p:ph idx="10"/>
          </p:nvPr>
        </p:nvSpPr>
        <p:spPr>
          <a:xfrm>
            <a:off x="411480" y="987552"/>
            <a:ext cx="11384280" cy="2532888"/>
          </a:xfrm>
        </p:spPr>
        <p:txBody>
          <a:bodyPr/>
          <a:lstStyle/>
          <a:p>
            <a:pPr>
              <a:spcAft>
                <a:spcPts val="400"/>
              </a:spcAft>
            </a:pPr>
            <a:r>
              <a:rPr sz="1800"/>
              <a:t>A CMOS inverter driving a large load is a current source while its input sits at the rail — its device is in saturation — and becomes a resistor only near the destination rail, in triode. A constant current into a gate capacitance is a ramp.</a:t>
            </a:r>
          </a:p>
          <a:p>
            <a:pPr>
              <a:spcAft>
                <a:spcPts val="400"/>
              </a:spcAft>
            </a:pPr>
            <a:r>
              <a:rPr sz="1800" b="1">
                <a:solidFill>
                  <a:srgbClr val="2B7A43"/>
                </a:solidFill>
              </a:rPr>
              <a:t>That picture forces exactly four numbers per stage, and no more — named below. s_dn is the same picture on the way back.</a:t>
            </a:r>
          </a:p>
          <a:p>
            <a:pPr>
              <a:spcAft>
                <a:spcPts val="400"/>
              </a:spcAft>
            </a:pPr>
            <a:r>
              <a:rPr sz="1800" b="1">
                <a:solidFill>
                  <a:srgbClr val="2B7A43"/>
                </a:solidFill>
              </a:rPr>
              <a:t>All four are fitted to the file's own Ku(t), so they cost no measurement. (p, the drive's curvature under a partial input, is assumed: full swing cannot see it.)</a:t>
            </a:r>
          </a:p>
        </p:txBody>
      </p:sp>
      <p:pic>
        <p:nvPicPr>
          <p:cNvPr id="4" name="Picture 3" descr="stage_law.png"/>
          <p:cNvPicPr>
            <a:picLocks noChangeAspect="1"/>
          </p:cNvPicPr>
          <p:nvPr/>
        </p:nvPicPr>
        <p:blipFill>
          <a:blip r:embed="rId2"/>
          <a:stretch>
            <a:fillRect/>
          </a:stretch>
        </p:blipFill>
        <p:spPr>
          <a:xfrm>
            <a:off x="1351194" y="3593592"/>
            <a:ext cx="9504850" cy="29260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What we build</a:t>
            </a:r>
          </a:p>
        </p:txBody>
      </p:sp>
      <p:sp>
        <p:nvSpPr>
          <p:cNvPr id="3" name="Content Placeholder 2"/>
          <p:cNvSpPr>
            <a:spLocks noGrp="1"/>
          </p:cNvSpPr>
          <p:nvPr>
            <p:ph idx="10"/>
          </p:nvPr>
        </p:nvSpPr>
        <p:spPr>
          <a:xfrm>
            <a:off x="411480" y="987552"/>
            <a:ext cx="11384280" cy="3767328"/>
          </a:xfrm>
        </p:spPr>
        <p:txBody>
          <a:bodyPr/>
          <a:lstStyle/>
          <a:p>
            <a:pPr>
              <a:spcAft>
                <a:spcPts val="400"/>
              </a:spcAft>
            </a:pPr>
            <a:r>
              <a:rPr sz="1700" b="1">
                <a:solidFill>
                  <a:srgbClr val="2B7A43"/>
                </a:solidFill>
              </a:rPr>
              <a:t>input  →  K identical current-limited stages  →  gate g  →  the map  →  Ku  →  the file's own I-V tables  →  the pad</a:t>
            </a:r>
          </a:p>
          <a:p>
            <a:pPr>
              <a:spcAft>
                <a:spcPts val="400"/>
              </a:spcAft>
            </a:pPr>
            <a:r>
              <a:rPr sz="1700"/>
              <a:t/>
            </a:r>
          </a:p>
          <a:p>
            <a:pPr>
              <a:spcAft>
                <a:spcPts val="400"/>
              </a:spcAft>
            </a:pPr>
            <a:r>
              <a:rPr sz="1700"/>
              <a:t>Each stage:   dv/dt = s_up·h(u)·min(1, (1−v)/x_lin)  −  s_dn·h(1−u)·min(1, v/x_lin),   with h(u) = clip((u − vt)/(1 − vt), 0, 1)</a:t>
            </a:r>
          </a:p>
          <a:p>
            <a:pPr>
              <a:spcAft>
                <a:spcPts val="400"/>
              </a:spcAft>
            </a:pPr>
            <a:r>
              <a:rPr sz="1700"/>
              <a:t/>
            </a:r>
          </a:p>
          <a:p>
            <a:pPr>
              <a:spcAft>
                <a:spcPts val="400"/>
              </a:spcAft>
            </a:pPr>
            <a:r>
              <a:rPr sz="1700"/>
              <a:t>All K stages share one set of the four numbers — a real tapered predriver is approximately that, and letting them differ makes the fit degenerate.</a:t>
            </a:r>
          </a:p>
          <a:p>
            <a:pPr>
              <a:spcAft>
                <a:spcPts val="400"/>
              </a:spcAft>
            </a:pPr>
            <a:r>
              <a:rPr sz="1700" b="1">
                <a:solidFill>
                  <a:srgbClr val="2B7A43"/>
                </a:solidFill>
              </a:rPr>
              <a:t>Two things are still unknown: how many stages, and the shape of the map. Neither can be fitted to the file — that is what the stressed run is spent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Where every number comes from</a:t>
            </a:r>
          </a:p>
        </p:txBody>
      </p:sp>
      <p:sp>
        <p:nvSpPr>
          <p:cNvPr id="3" name="Content Placeholder 2"/>
          <p:cNvSpPr>
            <a:spLocks noGrp="1"/>
          </p:cNvSpPr>
          <p:nvPr>
            <p:ph idx="10"/>
          </p:nvPr>
        </p:nvSpPr>
        <p:spPr>
          <a:xfrm>
            <a:off x="411480" y="987552"/>
            <a:ext cx="11384280" cy="3246120"/>
          </a:xfrm>
        </p:spPr>
        <p:txBody>
          <a:bodyPr/>
          <a:lstStyle/>
          <a:p>
            <a:pPr>
              <a:spcAft>
                <a:spcPts val="400"/>
              </a:spcAft>
            </a:pPr>
            <a:r>
              <a:rPr sz="1700" b="1">
                <a:solidFill>
                  <a:srgbClr val="2B7A43"/>
                </a:solidFill>
              </a:rPr>
              <a:t>From the file alone: C_comp — kept unless the file's own arithmetic rejects it, since Ku cannot exceed 1 and ex2's declared 5.0 pF implies 1.24 — and s_up, s_dn, vt, x_lin, fitted to the file's Ku(t).</a:t>
            </a:r>
          </a:p>
          <a:p>
            <a:pPr>
              <a:spcAft>
                <a:spcPts val="400"/>
              </a:spcAft>
            </a:pPr>
            <a:r>
              <a:rPr sz="1700" b="1">
                <a:solidFill>
                  <a:srgbClr val="2B7A43"/>
                </a:solidFill>
              </a:rPr>
              <a:t>From the one stressed pad run: the stage count K and the map's shape. The file narrows K to a band of about three and cannot choose inside it: at K = 7 and K = 9 it fits to the same four decimal places, while the gate they predict runs from extinguished to almost intact.</a:t>
            </a:r>
          </a:p>
          <a:p>
            <a:pPr>
              <a:spcAft>
                <a:spcPts val="400"/>
              </a:spcAft>
            </a:pPr>
            <a:r>
              <a:rPr sz="1700" b="1">
                <a:solidFill>
                  <a:srgbClr val="2B7A43"/>
                </a:solidFill>
              </a:rPr>
              <a:t>The run is spent twice, in order: first it sets the amplitude by moving vt, then it picks among the nine candidates (3 stage counts × 3 shapes) on the whole pad waveform.</a:t>
            </a:r>
          </a:p>
          <a:p>
            <a:pPr>
              <a:spcAft>
                <a:spcPts val="400"/>
              </a:spcAft>
            </a:pPr>
            <a:r>
              <a:rPr sz="1700" b="1">
                <a:solidFill>
                  <a:srgbClr val="2B7A43"/>
                </a:solidFill>
              </a:rPr>
              <a:t>Not on the peak — the first step has just matched the peak for every candidate, so the peak has no information left to rank them with.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Where the file-only recipe stands</a:t>
            </a:r>
          </a:p>
        </p:txBody>
      </p:sp>
      <p:sp>
        <p:nvSpPr>
          <p:cNvPr id="3" name="Content Placeholder 2"/>
          <p:cNvSpPr>
            <a:spLocks noGrp="1"/>
          </p:cNvSpPr>
          <p:nvPr>
            <p:ph idx="10"/>
          </p:nvPr>
        </p:nvSpPr>
        <p:spPr>
          <a:xfrm>
            <a:off x="411480" y="987552"/>
            <a:ext cx="11384280" cy="1929384"/>
          </a:xfrm>
        </p:spPr>
        <p:txBody>
          <a:bodyPr/>
          <a:lstStyle/>
          <a:p>
            <a:pPr>
              <a:spcAft>
                <a:spcPts val="400"/>
              </a:spcAft>
            </a:pPr>
            <a:r>
              <a:rPr sz="1800" b="1">
                <a:solidFill>
                  <a:srgbClr val="2B7A43"/>
                </a:solidFill>
              </a:rPr>
              <a:t>12 of 12 buffers within ±10 % on the worst stressed pulse; mean 6.9 %.</a:t>
            </a:r>
          </a:p>
          <a:p>
            <a:pPr>
              <a:spcAft>
                <a:spcPts val="400"/>
              </a:spcAft>
            </a:pPr>
            <a:r>
              <a:rPr sz="1800"/>
              <a:t>On inv_chain the file-only build reaches 5.1 %, against 25.8 % for a build that uses the probed silicon — the shape choice matters more than the measurement.</a:t>
            </a:r>
          </a:p>
          <a:p>
            <a:pPr>
              <a:spcAft>
                <a:spcPts val="400"/>
              </a:spcAft>
            </a:pPr>
            <a:r>
              <a:rPr sz="1800" b="1">
                <a:solidFill>
                  <a:srgbClr val="2B7A43"/>
                </a:solidFill>
              </a:rPr>
              <a:t>What it costs: the full transition is worse than the shipped model on 10 of 12 buffers, and a stressed pulse train is still lost on ex2 and io_buf. We buy accuracy in the interior with accuracy at the endpoints.</a:t>
            </a:r>
          </a:p>
        </p:txBody>
      </p:sp>
      <p:pic>
        <p:nvPicPr>
          <p:cNvPr id="4" name="Picture 3" descr="endtoend.png"/>
          <p:cNvPicPr>
            <a:picLocks noChangeAspect="1"/>
          </p:cNvPicPr>
          <p:nvPr/>
        </p:nvPicPr>
        <p:blipFill>
          <a:blip r:embed="rId2"/>
          <a:stretch>
            <a:fillRect/>
          </a:stretch>
        </p:blipFill>
        <p:spPr>
          <a:xfrm>
            <a:off x="1507807" y="2990088"/>
            <a:ext cx="9191625" cy="352958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What this does not cover yet</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800" b="1">
                <a:solidFill>
                  <a:srgbClr val="2B7A43"/>
                </a:solidFill>
              </a:rPr>
              <a:t>Direction. Everything here is a short HIGH pulse. Only io_buf has been run pulling down, where the model is 16–21 points too shallow — its pull-down chain never turns on at all on a short pulse.</a:t>
            </a:r>
          </a:p>
          <a:p>
            <a:pPr>
              <a:spcAft>
                <a:spcPts val="400"/>
              </a:spcAft>
            </a:pPr>
            <a:r>
              <a:rPr sz="1800" b="1">
                <a:solidFill>
                  <a:srgbClr val="2B7A43"/>
                </a:solidFill>
              </a:rPr>
              <a:t>Depth. The ladder samples 50–90 % of the travel. Below 50 % is unsampled.</a:t>
            </a:r>
          </a:p>
          <a:p>
            <a:pPr>
              <a:spcAft>
                <a:spcPts val="400"/>
              </a:spcAft>
            </a:pPr>
            <a:r>
              <a:rPr sz="1800" b="1">
                <a:solidFill>
                  <a:srgbClr val="2B7A43"/>
                </a:solidFill>
              </a:rPr>
              <a:t>Trains. One pulse at a time; a stressed train is still lost on two of three buffers.</a:t>
            </a:r>
          </a:p>
          <a:p>
            <a:pPr>
              <a:spcAft>
                <a:spcPts val="400"/>
              </a:spcAft>
            </a:pPr>
            <a:r>
              <a:rPr sz="1800" b="1">
                <a:solidFill>
                  <a:srgbClr val="2B7A43"/>
                </a:solidFill>
              </a:rPr>
              <a:t>The recipe has seen the answer key. Two of the three candidate map shapes were chosen by looking at results on these same twelve buffers. A thirteenth buffer may need a shape the grid does not contain.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inv_chain's IBIS file declares Vinh 2.0 V on a 1.8 V part, so our input comparator fires late and trims about 29 ps off every pulse.</a:t>
            </a:r>
          </a:p>
          <a:p>
            <a:pPr>
              <a:spcAft>
                <a:spcPts val="400"/>
              </a:spcAft>
            </a:pPr>
            <a:r>
              <a:rPr sz="1800"/>
              <a:t>That trim cancels most of the gate-state model's overshoot, which is why it reads −2 % at 70 % stress on the previous slides while native IBIS reads +32 %.</a:t>
            </a:r>
          </a:p>
          <a:p>
            <a:pPr>
              <a:spcAft>
                <a:spcPts val="400"/>
              </a:spcAft>
            </a:pPr>
            <a:r>
              <a:rPr sz="1800" b="1">
                <a:solidFill>
                  <a:srgbClr val="2B7A43"/>
                </a:solidFill>
              </a:rPr>
              <a:t>It is a defect that flatters us, not a result.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