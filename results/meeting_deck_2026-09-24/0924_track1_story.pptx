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Leventhal &amp; Green, Semiconductor Modeling, section 3.8 printed page 89 (pdf 105): the SPICE Level 1 / Shichman-Hodges equations 3-23 to 3-25. Note the naming trap: a MOSFET's SATURATION region is its constant-current one, the opposite sense to a BJT (the book makes the same point on p.63).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 = 1: it is not a claim about the device, it is an admission that the file cannot see p - every value from 1 to 2 fits the full-swing Ku(t) to rms 0.002-0.007. Why the straight line: it keeps the stage law solvable in one expression, and the stressed pulse turns round before the gate is deep into this region on most buffers.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the backbone and the threshold come from the book, the exponent is ours by necessity, the taper and the chain are ours by choice.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slide is where it, and the two things that modulate it, come from.</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What one MOSFET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A transistor has three regimes, and the book writes an equation for each. </a:t>
            </a:r>
            <a:r>
              <a:rPr sz="1700" b="1"/>
              <a:t>Below threshold</a:t>
            </a:r>
            <a:r>
              <a:rPr sz="1700"/>
              <a:t> it passes nothing. </a:t>
            </a:r>
            <a:r>
              <a:rPr sz="1700" b="1"/>
              <a:t>Saturated</a:t>
            </a:r>
            <a:r>
              <a:rPr sz="1700"/>
              <a:t> — which here means a large voltage across it — the current stops depending on that voltage. </a:t>
            </a:r>
            <a:r>
              <a:rPr sz="1700" b="1"/>
              <a:t>In triode</a:t>
            </a:r>
            <a:r>
              <a:rPr sz="1700"/>
              <a:t>, close to the rail, it is a resistor again.</a:t>
            </a:r>
          </a:p>
          <a:p>
            <a:pPr latinLnBrk="0">
              <a:spcAft>
                <a:spcPts val="400"/>
              </a:spcAft>
            </a:pPr>
            <a:r>
              <a:rPr sz="1700" b="1">
                <a:solidFill>
                  <a:srgbClr val="2B7A43"/>
                </a:solidFill>
              </a:rPr>
              <a:t>Those three regimes are the whole of the stage law. Everything after this slide is either taken from them or is an admitted substitute for them.</a:t>
            </a:r>
          </a:p>
        </p:txBody>
      </p:sp>
      <p:pic>
        <p:nvPicPr>
          <p:cNvPr id="4" name="Picture 3" descr="mos_regions.png"/>
          <p:cNvPicPr>
            <a:picLocks noChangeAspect="1"/>
          </p:cNvPicPr>
          <p:nvPr/>
        </p:nvPicPr>
        <p:blipFill>
          <a:blip r:embed="rId2"/>
          <a:stretch>
            <a:fillRect/>
          </a:stretch>
        </p:blipFill>
        <p:spPr>
          <a:xfrm>
            <a:off x="756793" y="2880360"/>
            <a:ext cx="10693652" cy="363931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we keep of that, and what we replace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Same three regimes, our version of each, drawn on top of the book's.</a:t>
            </a:r>
          </a:p>
          <a:p>
            <a:pPr latinLnBrk="0">
              <a:spcAft>
                <a:spcPts val="400"/>
              </a:spcAft>
            </a:pPr>
            <a:r>
              <a:rPr sz="1800" b="1">
                <a:solidFill>
                  <a:srgbClr val="2B7A43"/>
                </a:solidFill>
              </a:rPr>
              <a:t>Below threshold we copy the book. Saturated we keep its form but flatten the exponent from 2 to 1. Into triode we replace its parabola with a straight line — that one is ours, and it is the biggest liberty in the model.</a:t>
            </a:r>
          </a:p>
        </p:txBody>
      </p:sp>
      <p:pic>
        <p:nvPicPr>
          <p:cNvPr id="4" name="Picture 3" descr="ours_vs_book.png"/>
          <p:cNvPicPr>
            <a:picLocks noChangeAspect="1"/>
          </p:cNvPicPr>
          <p:nvPr/>
        </p:nvPicPr>
        <p:blipFill>
          <a:blip r:embed="rId2"/>
          <a:stretch>
            <a:fillRect/>
          </a:stretch>
        </p:blipFill>
        <p:spPr>
          <a:xfrm>
            <a:off x="411480" y="2578608"/>
            <a:ext cx="11384280" cy="340476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The law, with where each piece came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Read the colours: green has a source, amber is the source's own form with one thing changed, red has no source at all.</a:t>
            </a:r>
          </a:p>
          <a:p>
            <a:pPr latinLnBrk="0">
              <a:spcAft>
                <a:spcPts val="400"/>
              </a:spcAft>
            </a:pPr>
            <a:r>
              <a:rPr sz="1800" b="1">
                <a:solidFill>
                  <a:srgbClr val="2B7A43"/>
                </a:solidFill>
              </a:rPr>
              <a:t>One more thing carries no source: putting K of these in series. That is a modelling choice, and the next slide is the evidence for it.</a:t>
            </a:r>
          </a:p>
        </p:txBody>
      </p:sp>
      <p:pic>
        <p:nvPicPr>
          <p:cNvPr id="4" name="Picture 3" descr="law_badged.png"/>
          <p:cNvPicPr>
            <a:picLocks noChangeAspect="1"/>
          </p:cNvPicPr>
          <p:nvPr/>
        </p:nvPicPr>
        <p:blipFill>
          <a:blip r:embed="rId2"/>
          <a:stretch>
            <a:fillRect/>
          </a:stretch>
        </p:blipFill>
        <p:spPr>
          <a:xfrm>
            <a:off x="411480" y="2578608"/>
            <a:ext cx="11384280" cy="39207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Four free numbers and no more. </a:t>
            </a:r>
            <a:r>
              <a:rPr sz="1700" b="1"/>
              <a:t>s_up and s_dn are slopes</a:t>
            </a:r>
            <a:r>
              <a:rPr sz="1700"/>
              <a:t> — ex2 fits 2.59/ns, 0.39 ns to cross a stage's swing flat out. </a:t>
            </a:r>
            <a:r>
              <a:rPr sz="1700" b="1"/>
              <a:t>x_lin</a:t>
            </a:r>
            <a:r>
              <a:rPr sz="1700"/>
              <a:t> is named for the MOSFET's linear (triode) region.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our input comparator. vt is an </a:t>
            </a:r>
            <a:r>
              <a:rPr sz="1700" b="1">
                <a:solidFill>
                  <a:srgbClr val="2B7A43"/>
                </a:solidFill>
              </a:rPr>
              <a:t>internal</a:t>
            </a:r>
            <a:r>
              <a:rPr sz="1700"/>
              <a:t> stage's threshold — the file never describes that node.</a:t>
            </a:r>
          </a:p>
        </p:txBody>
      </p:sp>
      <p:pic>
        <p:nvPicPr>
          <p:cNvPr id="4" name="Picture 3" descr="four_table.png"/>
          <p:cNvPicPr>
            <a:picLocks noChangeAspect="1"/>
          </p:cNvPicPr>
          <p:nvPr/>
        </p:nvPicPr>
        <p:blipFill>
          <a:blip r:embed="rId2"/>
          <a:stretch>
            <a:fillRect/>
          </a:stretch>
        </p:blipFill>
        <p:spPr>
          <a:xfrm>
            <a:off x="411480" y="2880360"/>
            <a:ext cx="11384280" cy="320361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What each of the four actually does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So: K identical stages, then the file's own map</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We cannot see how many stages a vendor's part has, so the count K is a parameter. The stages are held </a:t>
            </a:r>
            <a:r>
              <a:rPr sz="1800" b="1"/>
              <a:t>identical</a:t>
            </a:r>
            <a:r>
              <a:rPr sz="1800"/>
              <a:t>: a real tapered predriver approximately is,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2578608"/>
            <a:ext cx="11384280" cy="309629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Before the recipe: C_comp is an input, and this file's is wrong</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a fraction of the device's own current, so it cannot exceed 1; ex2's declared 5.0 pF makes the file imply </a:t>
            </a:r>
            <a:r>
              <a:rPr sz="1700" b="1"/>
              <a:t>Ku = 1.24</a:t>
            </a:r>
            <a:r>
              <a:rPr sz="1700"/>
              <a:t>, which is impossible.</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933551" y="3895344"/>
            <a:ext cx="6340137" cy="262432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