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9"/>
    <p:sldId id="257" r:id="rId10"/>
    <p:sldId id="258" r:id="rId11"/>
    <p:sldId id="259" r:id="rId12"/>
    <p:sldId id="260" r:id="rId13"/>
    <p:sldId id="261" r:id="rId14"/>
    <p:sldId id="262" r:id="rId15"/>
    <p:sldId id="263" r:id="rId16"/>
    <p:sldId id="264" r:id="rId17"/>
    <p:sldId id="265" r:id="rId18"/>
    <p:sldId id="266" r:id="rId8"/>
    <p:sldId id="267" r:id="rId7"/>
    <p:sldId id="268" r:id="rId6"/>
    <p:sldId id="269" r:id="rId5"/>
    <p:sldId id="270" r:id="rId4"/>
    <p:sldId id="271" r:id="rId3"/>
    <p:sldId id="272" r:id="rId2"/>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3D08B1E-3D88-1A97-E8DE-BE8BBEBC7A02}" name="Hwang, Simon (S&amp;T-Student)" initials="HS" userId="S::sh3qm@umsystem.edu::76a09fb8-a1d4-4f76-828e-9524909c17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21CF"/>
    <a:srgbClr val="FFFFB8"/>
    <a:srgbClr val="FBFB00"/>
    <a:srgbClr val="FFFF29"/>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5F854-6EE0-1085-1A4B-120A9FE69D43}" v="1" dt="2026-09-18T04:07:12.962"/>
    <p1510:client id="{EE3FB4A7-ED71-7C7F-1029-72FE09E02ECF}" v="15" dt="2026-09-18T17:06:51.781"/>
    <p1510:client id="{EFA4587C-4E70-8C3A-C9F1-251AEC5A864F}" v="105" dt="2026-09-18T17:14:25.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matters here: every earlier version started from the method. This one starts from the measurement, because that is how the work went and it makes the method's motivation earned rather than asserted.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ex2's predriver is three stages; n4 (orange) is the gate of the output device. Probes ran on predriver_stages_2026-09-09; the same schematics exist for io_buf and inv_chain on the 09-18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Ku(t) from the file and the probed n4(t), with five instants marked. Right: the same five instants plotted Ku against gate. This is the measured Ku-vs-gate map, and it is what the next slides drive.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gate_replay_silicon_full in gate_cascade_prototype_2026-09-09 — the real gate replayed through the map measured at full swing. The same replay through the IBIS-implied map is fine on ex2 (-3…-6 %) and collapses on inv_chain (-14 to -69 %), which is why the measured map is the one shown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gate_replay_silicon_full in gate_cascade_prototype_2026-09-09 — the real gate replayed through the map measured at full swing. The same replay through the IBIS-implied map is fine on ex2 (-3…-6 %) and collapses on inv_chain (-14 to -69 %), which is why the measured map is the one shown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of the deck. It licenses spending the rest of the time on the gate's shape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the full-swing gate. Black: the real gate under the stressed pulse. Purple: our GUP. Note that the real gate leaves zero around 0.5 ns while GUP is still flat until 1.1 ns, and that GUP's peak arrives after the real gate's.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causal chain end to end: gate shape -&gt; Ku -&gt; pad. At 90 % stress the two gates nearly coincide and the error nearly vanishes, which is why the failure only shows up under stress.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motivation slide, and it only works because the evidence half has shown that the gate's shape is the entire error. Earlier versions of this deck asserted the motivation before showing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earlier cut explained where Ku(t) itself comes from - the two-fixture solve. It is now a backup slide: this audience knows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is the full transition; the coloured curves follow it and peel off at different points. This is why the recipe needs exactly one extra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rules out RC cascades, delay-plus-RC and superposition - which is what the shipped model is built from.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is ex2's own predriver from slide 2, with the third inverter picked out. B is that inverter as transistors, driving the next stage's gate capacitance. C is what it reduces to while the output rises: the NMOS off, the PMOS saturated, so a fixed current into a fixed capacitance. The next slide says which of the device's voltages u and v actually 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this slide the next two are unreadable: they plot 'share of full current' against u and against v, and the viewer has no way to know those are the device's own gate and drain voltages. For the PMOS pulling up, source on VDD: |V_GS| = VDD - v_in and |V_DS| = VDD - v_out.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Leventhal &amp; Green, Semiconductor Modeling, section 3.8 printed page 89 (pdf 105): the SPICE Level 1 / Shichman-Hodges equations 3-23 to 3-25. Note the naming trap: a MOSFET's SATURATION region is its constant-current one, the opposite sense to a BJT. The equations beneath are the standard long-channel ones; for 0.6 um devices they are themselves an approximation, and velocity saturation extends the real constant-current region.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 = 1: it is not a claim about the device, it is an admission that the file cannot see p - every value from 1 to 2 fits the full-swing Ku(t) to rms 0.002-0.007. Why the straight line: it keeps the stage law solvable in one expression, and the stressed pulse turns round before the gate is deep into this region on most buffers.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summary: the backbone and the threshold are standard device behaviour, the exponent is ours by necessity, the taper and the chain are ours by choice. This is the slide to stand behind if someone says the model is derived from physics - it is not, and the results do not depend on it being.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inv_chain the file's Vinh is 2.0 V on a 1.8 V part, which is why the converter guards it - the backup slide. p is assumed 1 because it is invisible at full swing: every p from 1 to 2 fits to rms 0.002-0.007.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with the project's own stage model from the fitted values the 09-17 film exported.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est_knee fit, ex2 pull-up: K=1 rms 0.0920, K=2 0.0360, K=3 0.0233, best (K=6) 0.0202. The real predriver is a chain too - ex2's schematic showed three inverters - but this is the file saying so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Degenerate: a free fit splits the delay into one sluggish stage plus one quick one, reproduces the full swing slightly better, and predicts a stressed gate of 0.23 against a measured 0.76.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C_comp is not a model parameter: it is a number the file's own Ku tables were solved with, so a wrong value inflates the curve everything downstream is fitted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trial the optimiser actually took, exported live by the 09-17 film. What it does NOT give us is K, or the map's shape.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shapes are (0.50, 0.70), (0.40, 0.60) and (0.40, 0.90). Note on the right that all three already match the peak - that is the calibration, and it is why the peak cannot be what chooses.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iteration the calibration actually wrote, recovered from the netlists it emitted. The vt here is the film's ex2 case; the deck's own K = 3 build lands on 0.632 from a different starting fit.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Ranking on the peak instead picks a chain that arrives up to 300 ps late with four times the waveform error. The nine waveforms themselves are the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block diagram as the chain slide, with the recipe attached. This is the slide to leave up during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from the delay_cmd waveform set, track 1 from the selector's pick for ex2. The calibration used the deepest rung only, so the milder two are out-of-sample.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from the delay_cmd waveform set, track 1 from the selector's pick for inv_chain. The calibration used the deepest rung only, so the milder two are out-of-sample.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from the delay_cmd waveform set, track 1 from the selector's pick for io_buf. The calibration used the deepest rung only, so the milder two are out-of-sample.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from gate_cascade_prototype_2026-09-09 sweeps, track 1 from selector_from_one_run_2026-09-23. Same five widths per buffer in both. The tr1ps death is documented in docs/native_vt_waveform_modes.md.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said than asked. The direction gap is the one that would most change the headline number.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Moved out of the main line: this audience knows where Ku comes from.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main slide before; the ranking says the same thing more directly.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Carried from the 09-18 deck so the inv_chain numbers earlier are not read as a win. review_2026-09-09 item 12B has the measurement.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Reproducing the real gate from the IBIS file</a:t>
            </a:r>
          </a:p>
        </p:txBody>
      </p:sp>
      <p:sp>
        <p:nvSpPr>
          <p:cNvPr id="3" name="Content Placeholder 2"/>
          <p:cNvSpPr>
            <a:spLocks noGrp="1"/>
          </p:cNvSpPr>
          <p:nvPr>
            <p:ph idx="10"/>
          </p:nvPr>
        </p:nvSpPr>
        <p:spPr>
          <a:xfrm>
            <a:off x="411480" y="987552"/>
            <a:ext cx="11384280" cy="2862072"/>
          </a:xfrm>
        </p:spPr>
        <p:txBody>
          <a:bodyPr/>
          <a:lstStyle/>
          <a:p>
            <a:pPr latinLnBrk="0">
              <a:spcAft>
                <a:spcPts val="400"/>
              </a:spcAft>
            </a:pPr>
            <a:r>
              <a:rPr sz="1800"/>
              <a:t>Simon Huang    ·    24 September 2026</a:t>
            </a:r>
          </a:p>
          <a:p>
            <a:pPr latinLnBrk="0">
              <a:spcAft>
                <a:spcPts val="400"/>
              </a:spcAft>
            </a:pPr>
          </a:p>
          <a:p>
            <a:pPr latinLnBrk="0">
              <a:spcAft>
                <a:spcPts val="400"/>
              </a:spcAft>
            </a:pPr>
            <a:r>
              <a:rPr sz="1800"/>
              <a:t>The output stage is a static map of its own gate, so a stressed pad is right when the gate's shape is right — and the gate is the one thing an IBIS file does not record.</a:t>
            </a:r>
          </a:p>
          <a:p>
            <a:pPr latinLnBrk="0">
              <a:spcAft>
                <a:spcPts val="400"/>
              </a:spcAft>
            </a:pPr>
          </a:p>
          <a:p>
            <a:pPr latinLnBrk="0">
              <a:spcAft>
                <a:spcPts val="400"/>
              </a:spcAft>
            </a:pPr>
            <a:r>
              <a:rPr sz="1800" b="1"/>
              <a:t>1  measure the map      2  show it works      3  show why our gate fails</a:t>
            </a:r>
          </a:p>
          <a:p>
            <a:pPr latinLnBrk="0">
              <a:spcAft>
                <a:spcPts val="400"/>
              </a:spcAft>
            </a:pPr>
            <a:r>
              <a:rPr sz="1800" b="1">
                <a:solidFill>
                  <a:srgbClr val="2B7A43"/>
                </a:solidFill>
              </a:rPr>
              <a:t>4  the motivation      5  the method, step by step      6  where it stands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 We can look inside our own test chips</a:t>
            </a:r>
          </a:p>
        </p:txBody>
      </p:sp>
      <p:sp>
        <p:nvSpPr>
          <p:cNvPr id="3" name="Content Placeholder 2"/>
          <p:cNvSpPr>
            <a:spLocks noGrp="1"/>
          </p:cNvSpPr>
          <p:nvPr>
            <p:ph idx="10"/>
          </p:nvPr>
        </p:nvSpPr>
        <p:spPr>
          <a:xfrm>
            <a:off x="411480" y="987552"/>
            <a:ext cx="11384280" cy="1819656"/>
          </a:xfrm>
        </p:spPr>
        <p:txBody>
          <a:bodyPr/>
          <a:lstStyle/>
          <a:p>
            <a:pPr latinLnBrk="0">
              <a:spcAft>
                <a:spcPts val="400"/>
              </a:spcAft>
            </a:pPr>
            <a:r>
              <a:rPr sz="1800"/>
              <a:t>These are our designs, so the transistor netlist is available and every internal node can be probed. A customer using a vendor's IBIS file cannot do this — which is the whole problem, and the reason to do it once, carefully.</a:t>
            </a:r>
          </a:p>
          <a:p>
            <a:pPr latinLnBrk="0">
              <a:spcAft>
                <a:spcPts val="400"/>
              </a:spcAft>
            </a:pPr>
            <a:r>
              <a:rPr sz="1800" b="1">
                <a:solidFill>
                  <a:srgbClr val="2B7A43"/>
                </a:solidFill>
              </a:rPr>
              <a:t>The node that matters is the output stage's gate</a:t>
            </a:r>
            <a:r>
              <a:rPr sz="1800"/>
              <a:t> — ex2's n4 below. Everything the pad does is decided there.</a:t>
            </a:r>
          </a:p>
        </p:txBody>
      </p:sp>
      <p:pic>
        <p:nvPicPr>
          <p:cNvPr id="4" name="Picture 3" descr="schematic_ex2.png"/>
          <p:cNvPicPr>
            <a:picLocks noChangeAspect="1"/>
          </p:cNvPicPr>
          <p:nvPr/>
        </p:nvPicPr>
        <p:blipFill>
          <a:blip r:embed="rId2"/>
          <a:stretch>
            <a:fillRect/>
          </a:stretch>
        </p:blipFill>
        <p:spPr>
          <a:xfrm>
            <a:off x="1554480" y="2880360"/>
            <a:ext cx="9098280" cy="363931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 Measuring the map: pair Ku(t) with the gate, instant by instant</a:t>
            </a:r>
          </a:p>
        </p:txBody>
      </p:sp>
      <p:sp>
        <p:nvSpPr>
          <p:cNvPr id="3" name="Content Placeholder 2"/>
          <p:cNvSpPr>
            <a:spLocks noGrp="1"/>
          </p:cNvSpPr>
          <p:nvPr>
            <p:ph idx="10"/>
          </p:nvPr>
        </p:nvSpPr>
        <p:spPr>
          <a:xfrm>
            <a:off x="411480" y="987552"/>
            <a:ext cx="11384280" cy="1216152"/>
          </a:xfrm>
        </p:spPr>
        <p:txBody>
          <a:bodyPr/>
          <a:lstStyle/>
          <a:p>
            <a:pPr latinLnBrk="0">
              <a:spcAft>
                <a:spcPts val="400"/>
              </a:spcAft>
            </a:pPr>
            <a:r>
              <a:rPr sz="1800"/>
              <a:t>The IBIS file gives Ku(t) on one full transition. The probe gives the gate on the same run. At each instant we have both numbers — so plot one against the other.</a:t>
            </a:r>
          </a:p>
          <a:p>
            <a:pPr latinLnBrk="0">
              <a:spcAft>
                <a:spcPts val="400"/>
              </a:spcAft>
            </a:pPr>
            <a:r>
              <a:rPr sz="1800" b="1">
                <a:solidFill>
                  <a:srgbClr val="2B7A43"/>
                </a:solidFill>
              </a:rPr>
              <a:t>The pairing is the map.</a:t>
            </a:r>
            <a:r>
              <a:rPr sz="1800"/>
              <a:t> No fitting: it is read off a single full-swing run.</a:t>
            </a:r>
          </a:p>
        </p:txBody>
      </p:sp>
      <p:pic>
        <p:nvPicPr>
          <p:cNvPr id="4" name="Picture 3" descr="map_from_probe_ex2.png"/>
          <p:cNvPicPr>
            <a:picLocks noChangeAspect="1"/>
          </p:cNvPicPr>
          <p:nvPr/>
        </p:nvPicPr>
        <p:blipFill>
          <a:blip r:embed="rId2"/>
          <a:stretch>
            <a:fillRect/>
          </a:stretch>
        </p:blipFill>
        <p:spPr>
          <a:xfrm>
            <a:off x="411480" y="2276856"/>
            <a:ext cx="11384280" cy="402979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Does the measured map work?  ex2</a:t>
            </a:r>
          </a:p>
        </p:txBody>
      </p:sp>
      <p:sp>
        <p:nvSpPr>
          <p:cNvPr id="3" name="Content Placeholder 2"/>
          <p:cNvSpPr>
            <a:spLocks noGrp="1"/>
          </p:cNvSpPr>
          <p:nvPr>
            <p:ph idx="10"/>
          </p:nvPr>
        </p:nvSpPr>
        <p:spPr>
          <a:xfrm>
            <a:off x="411480" y="987552"/>
            <a:ext cx="11384280" cy="1216152"/>
          </a:xfrm>
        </p:spPr>
        <p:txBody>
          <a:bodyPr/>
          <a:lstStyle/>
          <a:p>
            <a:pPr latinLnBrk="0">
              <a:spcAft>
                <a:spcPts val="400"/>
              </a:spcAft>
            </a:pPr>
            <a:r>
              <a:rPr sz="1800"/>
              <a:t>Drive that measured map with the transistor's own gate; compare against the transistor at all five stress levels.</a:t>
            </a:r>
          </a:p>
          <a:p>
            <a:pPr latinLnBrk="0">
              <a:spcAft>
                <a:spcPts val="400"/>
              </a:spcAft>
            </a:pPr>
            <a:r>
              <a:rPr sz="1800" b="1">
                <a:solidFill>
                  <a:srgbClr val="2B7A43"/>
                </a:solidFill>
              </a:rPr>
              <a:t>Within ±5 % at every level. Native IBIS runs +71 % at the deepest, our own gate-state model +74 %.</a:t>
            </a:r>
          </a:p>
        </p:txBody>
      </p:sp>
      <p:pic>
        <p:nvPicPr>
          <p:cNvPr id="4" name="Picture 3" descr="works_levels_ex2.png"/>
          <p:cNvPicPr>
            <a:picLocks noChangeAspect="1"/>
          </p:cNvPicPr>
          <p:nvPr/>
        </p:nvPicPr>
        <p:blipFill>
          <a:blip r:embed="rId2"/>
          <a:stretch>
            <a:fillRect/>
          </a:stretch>
        </p:blipFill>
        <p:spPr>
          <a:xfrm>
            <a:off x="411480" y="2276856"/>
            <a:ext cx="11384280" cy="33423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Does the measured map work?  inv_chain</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Drive that measured map with the transistor's own gate; compare against the transistor at all five stress levels.</a:t>
            </a:r>
          </a:p>
          <a:p>
            <a:pPr latinLnBrk="0">
              <a:spcAft>
                <a:spcPts val="400"/>
              </a:spcAft>
            </a:pPr>
            <a:r>
              <a:rPr sz="1800" b="1">
                <a:solidFill>
                  <a:srgbClr val="2B7A43"/>
                </a:solidFill>
              </a:rPr>
              <a:t>Within +2…+9 %, where native IBIS runs +87 %. Our gate-state model looks good at 70–90 % for the wrong reason — see the backup slide on Vinh.</a:t>
            </a:r>
          </a:p>
        </p:txBody>
      </p:sp>
      <p:pic>
        <p:nvPicPr>
          <p:cNvPr id="4" name="Picture 3" descr="works_levels_inv_chain.png"/>
          <p:cNvPicPr>
            <a:picLocks noChangeAspect="1"/>
          </p:cNvPicPr>
          <p:nvPr/>
        </p:nvPicPr>
        <p:blipFill>
          <a:blip r:embed="rId2"/>
          <a:stretch>
            <a:fillRect/>
          </a:stretch>
        </p:blipFill>
        <p:spPr>
          <a:xfrm>
            <a:off x="411480" y="2578608"/>
            <a:ext cx="11384280" cy="336466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 So the output stage is not the problem</a:t>
            </a:r>
          </a:p>
        </p:txBody>
      </p:sp>
      <p:sp>
        <p:nvSpPr>
          <p:cNvPr id="3" name="Content Placeholder 2"/>
          <p:cNvSpPr>
            <a:spLocks noGrp="1"/>
          </p:cNvSpPr>
          <p:nvPr>
            <p:ph idx="10"/>
          </p:nvPr>
        </p:nvSpPr>
        <p:spPr>
          <a:xfrm>
            <a:off x="411480" y="987552"/>
            <a:ext cx="11384280" cy="1627632"/>
          </a:xfrm>
        </p:spPr>
        <p:txBody>
          <a:bodyPr/>
          <a:lstStyle/>
          <a:p>
            <a:pPr latinLnBrk="0">
              <a:spcAft>
                <a:spcPts val="400"/>
              </a:spcAft>
            </a:pPr>
            <a:r>
              <a:rPr sz="1800"/>
              <a:t>Given the right gate, the map reproduces the pad at every stress level, on both buffers.</a:t>
            </a:r>
          </a:p>
          <a:p>
            <a:pPr latinLnBrk="0">
              <a:spcAft>
                <a:spcPts val="400"/>
              </a:spcAft>
            </a:pPr>
            <a:r>
              <a:rPr sz="1800"/>
              <a:t>The map itself is a fixed curve — it has no memory, and it does not change with the pulse. Measured hysteresis between the rising and falling branches is 0.07–0.10.</a:t>
            </a:r>
          </a:p>
          <a:p>
            <a:pPr latinLnBrk="0">
              <a:spcAft>
                <a:spcPts val="400"/>
              </a:spcAft>
            </a:pPr>
            <a:r>
              <a:rPr sz="1800" b="1">
                <a:solidFill>
                  <a:srgbClr val="2B7A43"/>
                </a:solidFill>
              </a:rPr>
              <a:t>Everything that is wrong with our model is therefore in the gate.</a:t>
            </a:r>
          </a:p>
        </p:txBody>
      </p:sp>
      <p:pic>
        <p:nvPicPr>
          <p:cNvPr id="4" name="Picture 3" descr="map_summary.png"/>
          <p:cNvPicPr>
            <a:picLocks noChangeAspect="1"/>
          </p:cNvPicPr>
          <p:nvPr/>
        </p:nvPicPr>
        <p:blipFill>
          <a:blip r:embed="rId2"/>
          <a:stretch>
            <a:fillRect/>
          </a:stretch>
        </p:blipFill>
        <p:spPr>
          <a:xfrm>
            <a:off x="899969" y="2688336"/>
            <a:ext cx="10407301" cy="383133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Why our gate fails: the real gate changes shape, GUP does not</a:t>
            </a:r>
          </a:p>
        </p:txBody>
      </p:sp>
      <p:sp>
        <p:nvSpPr>
          <p:cNvPr id="3" name="Content Placeholder 2"/>
          <p:cNvSpPr>
            <a:spLocks noGrp="1"/>
          </p:cNvSpPr>
          <p:nvPr>
            <p:ph idx="10"/>
          </p:nvPr>
        </p:nvSpPr>
        <p:spPr>
          <a:xfrm>
            <a:off x="411480" y="987552"/>
            <a:ext cx="11384280" cy="1325880"/>
          </a:xfrm>
        </p:spPr>
        <p:txBody>
          <a:bodyPr/>
          <a:lstStyle/>
          <a:p>
            <a:pPr latinLnBrk="0">
              <a:spcAft>
                <a:spcPts val="400"/>
              </a:spcAft>
            </a:pPr>
            <a:r>
              <a:rPr sz="1800"/>
              <a:t>Our GUP is a fixed delay then an RC ramp. Truncating the input truncates that one shape.</a:t>
            </a:r>
          </a:p>
          <a:p>
            <a:pPr latinLnBrk="0">
              <a:spcAft>
                <a:spcPts val="400"/>
              </a:spcAft>
            </a:pPr>
            <a:r>
              <a:rPr sz="1800"/>
              <a:t>The real gate is already moving long before GUP starts, and it turns round earlier.</a:t>
            </a:r>
          </a:p>
          <a:p>
            <a:pPr latinLnBrk="0">
              <a:spcAft>
                <a:spcPts val="400"/>
              </a:spcAft>
            </a:pPr>
            <a:r>
              <a:rPr sz="1800" b="1">
                <a:solidFill>
                  <a:srgbClr val="2B7A43"/>
                </a:solidFill>
              </a:rPr>
              <a:t>Compare the two at each stress level — the mismatch grows as the pulse shortens.</a:t>
            </a:r>
          </a:p>
        </p:txBody>
      </p:sp>
      <p:pic>
        <p:nvPicPr>
          <p:cNvPr id="4" name="Picture 3" descr="gate_shape_ex2.png"/>
          <p:cNvPicPr>
            <a:picLocks noChangeAspect="1"/>
          </p:cNvPicPr>
          <p:nvPr/>
        </p:nvPicPr>
        <p:blipFill>
          <a:blip r:embed="rId2"/>
          <a:stretch>
            <a:fillRect/>
          </a:stretch>
        </p:blipFill>
        <p:spPr>
          <a:xfrm>
            <a:off x="411480" y="2386584"/>
            <a:ext cx="11384280" cy="303883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 What that shape difference does downstream</a:t>
            </a:r>
          </a:p>
        </p:txBody>
      </p:sp>
      <p:sp>
        <p:nvSpPr>
          <p:cNvPr id="3" name="Content Placeholder 2"/>
          <p:cNvSpPr>
            <a:spLocks noGrp="1"/>
          </p:cNvSpPr>
          <p:nvPr>
            <p:ph idx="10"/>
          </p:nvPr>
        </p:nvSpPr>
        <p:spPr>
          <a:xfrm>
            <a:off x="411480" y="987552"/>
            <a:ext cx="11384280" cy="914400"/>
          </a:xfrm>
        </p:spPr>
        <p:txBody>
          <a:bodyPr/>
          <a:lstStyle/>
          <a:p>
            <a:pPr latinLnBrk="0">
              <a:spcAft>
                <a:spcPts val="400"/>
              </a:spcAft>
            </a:pPr>
            <a:r>
              <a:rPr sz="1800"/>
              <a:t>Same map, two gates: Ku on top, the pad below. Our peak error: +74 % at 50 % stress, +4 % at 90 %.</a:t>
            </a:r>
          </a:p>
          <a:p>
            <a:pPr latinLnBrk="0">
              <a:spcAft>
                <a:spcPts val="400"/>
              </a:spcAft>
            </a:pPr>
            <a:r>
              <a:rPr sz="1800" b="1">
                <a:solidFill>
                  <a:srgbClr val="2B7A43"/>
                </a:solidFill>
              </a:rPr>
              <a:t>GUP holds Ku high after the real gate has let go, and the pad overshoot is exactly that extra area.</a:t>
            </a:r>
          </a:p>
        </p:txBody>
      </p:sp>
      <p:pic>
        <p:nvPicPr>
          <p:cNvPr id="4" name="Picture 3" descr="ku_consequence_ex2.png"/>
          <p:cNvPicPr>
            <a:picLocks noChangeAspect="1"/>
          </p:cNvPicPr>
          <p:nvPr/>
        </p:nvPicPr>
        <p:blipFill>
          <a:blip r:embed="rId2"/>
          <a:stretch>
            <a:fillRect/>
          </a:stretch>
        </p:blipFill>
        <p:spPr>
          <a:xfrm>
            <a:off x="1988349" y="1975104"/>
            <a:ext cx="8230540" cy="454456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 So the problem is now a precise one</a:t>
            </a:r>
          </a:p>
        </p:txBody>
      </p:sp>
      <p:sp>
        <p:nvSpPr>
          <p:cNvPr id="3" name="Content Placeholder 2"/>
          <p:cNvSpPr>
            <a:spLocks noGrp="1"/>
          </p:cNvSpPr>
          <p:nvPr>
            <p:ph idx="10"/>
          </p:nvPr>
        </p:nvSpPr>
        <p:spPr>
          <a:xfrm>
            <a:off x="411480" y="987552"/>
            <a:ext cx="11384280" cy="3163824"/>
          </a:xfrm>
        </p:spPr>
        <p:txBody>
          <a:bodyPr/>
          <a:lstStyle/>
          <a:p>
            <a:pPr latinLnBrk="0">
              <a:spcAft>
                <a:spcPts val="400"/>
              </a:spcAft>
            </a:pPr>
            <a:r>
              <a:rPr sz="1800"/>
              <a:t>We know what a correct model needs: </a:t>
            </a:r>
            <a:r>
              <a:rPr sz="1800" b="1"/>
              <a:t>the real gate's shape</a:t>
            </a:r>
            <a:r>
              <a:rPr sz="1800"/>
              <a:t>, and the map.</a:t>
            </a:r>
          </a:p>
          <a:p>
            <a:pPr latinLnBrk="0">
              <a:spcAft>
                <a:spcPts val="400"/>
              </a:spcAft>
            </a:pPr>
            <a:r>
              <a:rPr sz="1800"/>
              <a:t>We have both — by probing. A customer with only the vendor's IBIS file has neither.</a:t>
            </a:r>
          </a:p>
          <a:p>
            <a:pPr latinLnBrk="0">
              <a:spcAft>
                <a:spcPts val="400"/>
              </a:spcAft>
            </a:pPr>
          </a:p>
          <a:p>
            <a:pPr latinLnBrk="0">
              <a:spcAft>
                <a:spcPts val="400"/>
              </a:spcAft>
            </a:pPr>
            <a:r>
              <a:rPr sz="1800" b="1">
                <a:solidFill>
                  <a:srgbClr val="2B7A43"/>
                </a:solidFill>
              </a:rPr>
              <a:t>The question for track 1: how much of that gate shape can be recovered from the IBIS file plus one measurement taken at the pad, with nothing probed inside?</a:t>
            </a:r>
          </a:p>
          <a:p>
            <a:pPr latinLnBrk="0">
              <a:spcAft>
                <a:spcPts val="400"/>
              </a:spcAft>
            </a:pPr>
          </a:p>
          <a:p>
            <a:pPr latinLnBrk="0">
              <a:spcAft>
                <a:spcPts val="400"/>
              </a:spcAft>
            </a:pPr>
            <a:r>
              <a:rPr sz="1800"/>
              <a:t>Two things have to come from somewhere: how fast the gate travels, and the map's shape. The next slides are about where each one can come from.</a:t>
            </a:r>
          </a:p>
        </p:txBody>
      </p:sp>
      <p:pic>
        <p:nvPicPr>
          <p:cNvPr id="4" name="Picture 3" descr="what_we_have.png"/>
          <p:cNvPicPr>
            <a:picLocks noChangeAspect="1"/>
          </p:cNvPicPr>
          <p:nvPr/>
        </p:nvPicPr>
        <p:blipFill>
          <a:blip r:embed="rId2"/>
          <a:stretch>
            <a:fillRect/>
          </a:stretch>
        </p:blipFill>
        <p:spPr>
          <a:xfrm>
            <a:off x="3085310" y="4224528"/>
            <a:ext cx="6036619" cy="229514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 What the file fixes, and what it leaves open</a:t>
            </a:r>
          </a:p>
        </p:txBody>
      </p:sp>
      <p:sp>
        <p:nvSpPr>
          <p:cNvPr id="3" name="Content Placeholder 2"/>
          <p:cNvSpPr>
            <a:spLocks noGrp="1"/>
          </p:cNvSpPr>
          <p:nvPr>
            <p:ph idx="10"/>
          </p:nvPr>
        </p:nvSpPr>
        <p:spPr>
          <a:xfrm>
            <a:off x="411480" y="987552"/>
            <a:ext cx="11384280" cy="2340864"/>
          </a:xfrm>
        </p:spPr>
        <p:txBody>
          <a:bodyPr/>
          <a:lstStyle/>
          <a:p>
            <a:pPr latinLnBrk="0">
              <a:spcAft>
                <a:spcPts val="400"/>
              </a:spcAft>
            </a:pPr>
            <a:r>
              <a:rPr sz="1600"/>
              <a:t>The file gives Ku(t) — a complete waveform, with shape at every instant. Shape is not what is missing.</a:t>
            </a:r>
          </a:p>
          <a:p>
            <a:pPr latinLnBrk="0">
              <a:spcAft>
                <a:spcPts val="400"/>
              </a:spcAft>
            </a:pPr>
            <a:r>
              <a:rPr sz="1600" b="1"/>
              <a:t>What is missing is the split.</a:t>
            </a:r>
            <a:r>
              <a:rPr sz="1600"/>
              <a:t> Ku(t) = map(gate(t)) fixes the composition and nothing more: pick any gate trajectory and the map is forced to whatever reproduces Ku(t). Every such pair matches the file exactly.</a:t>
            </a:r>
          </a:p>
          <a:p>
            <a:pPr latinLnBrk="0">
              <a:spcAft>
                <a:spcPts val="400"/>
              </a:spcAft>
            </a:pPr>
            <a:r>
              <a:rPr sz="1600"/>
              <a:t>With no probe the map cannot be measured, so its shape has to be assumed — and the assumed shape is not the measured curve.</a:t>
            </a:r>
          </a:p>
          <a:p>
            <a:pPr latinLnBrk="0">
              <a:spcAft>
                <a:spcPts val="400"/>
              </a:spcAft>
            </a:pPr>
            <a:r>
              <a:rPr sz="1600" b="1">
                <a:solidFill>
                  <a:srgbClr val="2B7A43"/>
                </a:solidFill>
              </a:rPr>
              <a:t>Assume a different map and the fit hands you a different gate. That is the whole difficulty.</a:t>
            </a:r>
          </a:p>
        </p:txBody>
      </p:sp>
      <p:pic>
        <p:nvPicPr>
          <p:cNvPr id="4" name="Picture 3" descr="prior_shape.png"/>
          <p:cNvPicPr>
            <a:picLocks noChangeAspect="1"/>
          </p:cNvPicPr>
          <p:nvPr/>
        </p:nvPicPr>
        <p:blipFill>
          <a:blip r:embed="rId2"/>
          <a:stretch>
            <a:fillRect/>
          </a:stretch>
        </p:blipFill>
        <p:spPr>
          <a:xfrm>
            <a:off x="2840746" y="3401568"/>
            <a:ext cx="6525746" cy="311810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 One more measurement, and a stressed pulse is the one</a:t>
            </a:r>
          </a:p>
        </p:txBody>
      </p:sp>
      <p:sp>
        <p:nvSpPr>
          <p:cNvPr id="3" name="Content Placeholder 2"/>
          <p:cNvSpPr>
            <a:spLocks noGrp="1"/>
          </p:cNvSpPr>
          <p:nvPr>
            <p:ph idx="10"/>
          </p:nvPr>
        </p:nvSpPr>
        <p:spPr>
          <a:xfrm>
            <a:off x="411480" y="987552"/>
            <a:ext cx="11384280" cy="1929384"/>
          </a:xfrm>
        </p:spPr>
        <p:txBody>
          <a:bodyPr/>
          <a:lstStyle/>
          <a:p>
            <a:pPr latinLnBrk="0">
              <a:spcAft>
                <a:spcPts val="400"/>
              </a:spcAft>
            </a:pPr>
            <a:r>
              <a:rPr sz="1800"/>
              <a:t>A full transition cannot separate them. A truncated one can: the chain then produces a </a:t>
            </a:r>
            <a:r>
              <a:rPr sz="1800" b="1"/>
              <a:t>different</a:t>
            </a:r>
            <a:r>
              <a:rPr sz="1800"/>
              <a:t> gate trajectory, and where it turns round depends on how fast the gate was really travelling.</a:t>
            </a:r>
          </a:p>
          <a:p>
            <a:pPr latinLnBrk="0">
              <a:spcAft>
                <a:spcPts val="400"/>
              </a:spcAft>
            </a:pPr>
            <a:r>
              <a:rPr sz="1800"/>
              <a:t>Each stressed width stops the gate at a different height on the same path — here at 0.76, 0.80, 0.84, 0.88 and 0.94.</a:t>
            </a:r>
          </a:p>
          <a:p>
            <a:pPr latinLnBrk="0">
              <a:spcAft>
                <a:spcPts val="400"/>
              </a:spcAft>
            </a:pPr>
            <a:r>
              <a:rPr sz="1800" b="1">
                <a:solidFill>
                  <a:srgbClr val="2B7A43"/>
                </a:solidFill>
              </a:rPr>
              <a:t>Five stress levels are five independent tests of the split, and they cost one measurement at the pad.</a:t>
            </a:r>
          </a:p>
        </p:txBody>
      </p:sp>
      <p:pic>
        <p:nvPicPr>
          <p:cNvPr id="4" name="Picture 3" descr="sampling_grid_ex2.png"/>
          <p:cNvPicPr>
            <a:picLocks noChangeAspect="1"/>
          </p:cNvPicPr>
          <p:nvPr/>
        </p:nvPicPr>
        <p:blipFill>
          <a:blip r:embed="rId2"/>
          <a:stretch>
            <a:fillRect/>
          </a:stretch>
        </p:blipFill>
        <p:spPr>
          <a:xfrm>
            <a:off x="1532388" y="2990088"/>
            <a:ext cx="9142463" cy="352958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 But a few samples need a family of shapes to choose from</a:t>
            </a:r>
          </a:p>
        </p:txBody>
      </p:sp>
      <p:sp>
        <p:nvSpPr>
          <p:cNvPr id="3" name="Content Placeholder 2"/>
          <p:cNvSpPr>
            <a:spLocks noGrp="1"/>
          </p:cNvSpPr>
          <p:nvPr>
            <p:ph idx="10"/>
          </p:nvPr>
        </p:nvSpPr>
        <p:spPr>
          <a:xfrm>
            <a:off x="411480" y="987552"/>
            <a:ext cx="11384280" cy="2231136"/>
          </a:xfrm>
        </p:spPr>
        <p:txBody>
          <a:bodyPr/>
          <a:lstStyle/>
          <a:p>
            <a:pPr latinLnBrk="0">
              <a:spcAft>
                <a:spcPts val="400"/>
              </a:spcAft>
            </a:pPr>
            <a:r>
              <a:rPr sz="1700"/>
              <a:t>Five samples cannot pick a curve out of all possible curves. They can pick one out of a small family — so what family does this circuit actually produce?</a:t>
            </a:r>
          </a:p>
          <a:p>
            <a:pPr latinLnBrk="0">
              <a:spcAft>
                <a:spcPts val="400"/>
              </a:spcAft>
            </a:pPr>
            <a:r>
              <a:rPr sz="1700"/>
              <a:t>Probe every stage under a short pulse against what a </a:t>
            </a:r>
            <a:r>
              <a:rPr sz="1700" b="1"/>
              <a:t>linear</a:t>
            </a:r>
            <a:r>
              <a:rPr sz="1700"/>
              <a:t> filter would give: its own step response, superposed.</a:t>
            </a:r>
          </a:p>
          <a:p>
            <a:pPr latinLnBrk="0">
              <a:spcAft>
                <a:spcPts val="400"/>
              </a:spcAft>
            </a:pPr>
            <a:r>
              <a:rPr sz="1700" b="1">
                <a:solidFill>
                  <a:srgbClr val="2B7A43"/>
                </a:solidFill>
              </a:rPr>
              <a:t>Every stage under-reaches, and the gap compounds down the chain — at the pad the linear prediction says 1.00 where the transistor does 0.50. So the family is not linear.</a:t>
            </a:r>
          </a:p>
        </p:txBody>
      </p:sp>
      <p:pic>
        <p:nvPicPr>
          <p:cNvPr id="4" name="Picture 3" descr="stage_nonlinear_ex2.png"/>
          <p:cNvPicPr>
            <a:picLocks noChangeAspect="1"/>
          </p:cNvPicPr>
          <p:nvPr/>
        </p:nvPicPr>
        <p:blipFill>
          <a:blip r:embed="rId2"/>
          <a:stretch>
            <a:fillRect/>
          </a:stretch>
        </p:blipFill>
        <p:spPr>
          <a:xfrm>
            <a:off x="1203658" y="3291840"/>
            <a:ext cx="9799922" cy="32278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 What the stage law is a model of</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Take one inverter out of ex2's predriver and draw it as transistors. While its output is rising the NMOS is off and the PMOS is </a:t>
            </a:r>
            <a:r>
              <a:rPr sz="1800" b="1"/>
              <a:t>saturated</a:t>
            </a:r>
            <a:r>
              <a:rPr sz="1800"/>
              <a:t>, so the current it passes does not depend on how far the output has got.</a:t>
            </a:r>
          </a:p>
          <a:p>
            <a:pPr latinLnBrk="0">
              <a:spcAft>
                <a:spcPts val="400"/>
              </a:spcAft>
            </a:pPr>
            <a:r>
              <a:rPr sz="1800" b="1">
                <a:solidFill>
                  <a:srgbClr val="2B7A43"/>
                </a:solidFill>
              </a:rPr>
              <a:t>A fixed current into a fixed capacitance is a straight ramp.</a:t>
            </a:r>
            <a:r>
              <a:rPr sz="1800"/>
              <a:t> That ramp is the backbone of the law. The next three slides are where it, and the two things that modulate it, come from.</a:t>
            </a:r>
          </a:p>
        </p:txBody>
      </p:sp>
      <p:pic>
        <p:nvPicPr>
          <p:cNvPr id="4" name="Picture 3" descr="stage_law.png"/>
          <p:cNvPicPr>
            <a:picLocks noChangeAspect="1"/>
          </p:cNvPicPr>
          <p:nvPr/>
        </p:nvPicPr>
        <p:blipFill>
          <a:blip r:embed="rId2"/>
          <a:stretch>
            <a:fillRect/>
          </a:stretch>
        </p:blipFill>
        <p:spPr>
          <a:xfrm>
            <a:off x="411480" y="2578608"/>
            <a:ext cx="11384280" cy="369572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 The device's two voltages, in our two variables</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600"/>
              <a:t>The law is written in </a:t>
            </a:r>
            <a:r>
              <a:rPr sz="1600" b="1"/>
              <a:t>u</a:t>
            </a:r>
            <a:r>
              <a:rPr sz="1600"/>
              <a:t> and </a:t>
            </a:r>
            <a:r>
              <a:rPr sz="1600" b="1"/>
              <a:t>v</a:t>
            </a:r>
            <a:r>
              <a:rPr sz="1600"/>
              <a:t>; the physics is written in </a:t>
            </a:r>
            <a:r>
              <a:rPr sz="1600" b="1"/>
              <a:t>V_GS</a:t>
            </a:r>
            <a:r>
              <a:rPr sz="1600"/>
              <a:t> and </a:t>
            </a:r>
            <a:r>
              <a:rPr sz="1600" b="1"/>
              <a:t>V_DS</a:t>
            </a:r>
            <a:r>
              <a:rPr sz="1600"/>
              <a:t>. Same two quantities, measured down from the rail the device sits on: </a:t>
            </a:r>
            <a:r>
              <a:rPr sz="1600" b="1"/>
              <a:t>u = |V_GS| / swing</a:t>
            </a:r>
            <a:r>
              <a:rPr sz="1600"/>
              <a:t> and </a:t>
            </a:r>
            <a:r>
              <a:rPr sz="1600" b="1"/>
              <a:t>1 − v = |V_DS| / swing</a:t>
            </a:r>
            <a:r>
              <a:rPr sz="1600"/>
              <a:t>.</a:t>
            </a:r>
          </a:p>
          <a:p>
            <a:pPr latinLnBrk="0">
              <a:spcAft>
                <a:spcPts val="400"/>
              </a:spcAft>
            </a:pPr>
            <a:r>
              <a:rPr sz="1600" b="1">
                <a:solidFill>
                  <a:srgbClr val="2B7A43"/>
                </a:solidFill>
              </a:rPr>
              <a:t>u rises as the stage turns on — though this is an inverter and its input fell to do it. Normalising each stage in the direction that turns it on is the whole reason a chain of inverters reads as non-inverting.</a:t>
            </a:r>
          </a:p>
        </p:txBody>
      </p:sp>
      <p:pic>
        <p:nvPicPr>
          <p:cNvPr id="4" name="Picture 3" descr="uv_bridge.png"/>
          <p:cNvPicPr>
            <a:picLocks noChangeAspect="1"/>
          </p:cNvPicPr>
          <p:nvPr/>
        </p:nvPicPr>
        <p:blipFill>
          <a:blip r:embed="rId2"/>
          <a:stretch>
            <a:fillRect/>
          </a:stretch>
        </p:blipFill>
        <p:spPr>
          <a:xfrm>
            <a:off x="411480" y="2578608"/>
            <a:ext cx="11384280" cy="319346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 What one MOSFET actually does</a:t>
            </a:r>
          </a:p>
        </p:txBody>
      </p:sp>
      <p:sp>
        <p:nvSpPr>
          <p:cNvPr id="3" name="Content Placeholder 2"/>
          <p:cNvSpPr>
            <a:spLocks noGrp="1"/>
          </p:cNvSpPr>
          <p:nvPr>
            <p:ph idx="10"/>
          </p:nvPr>
        </p:nvSpPr>
        <p:spPr>
          <a:xfrm>
            <a:off x="411480" y="987552"/>
            <a:ext cx="11384280" cy="2121408"/>
          </a:xfrm>
        </p:spPr>
        <p:txBody>
          <a:bodyPr/>
          <a:lstStyle/>
          <a:p>
            <a:pPr latinLnBrk="0">
              <a:spcAft>
                <a:spcPts val="400"/>
              </a:spcAft>
            </a:pPr>
            <a:r>
              <a:rPr sz="1700"/>
              <a:t>A transistor has three regimes. </a:t>
            </a:r>
            <a:r>
              <a:rPr sz="1700" b="1"/>
              <a:t>Below threshold</a:t>
            </a:r>
            <a:r>
              <a:rPr sz="1700"/>
              <a:t> it passes nothing. </a:t>
            </a:r>
            <a:r>
              <a:rPr sz="1700" b="1"/>
              <a:t>Saturated</a:t>
            </a:r>
            <a:r>
              <a:rPr sz="1700"/>
              <a:t> — which here means a large voltage across it — its current stops depending on that voltage, so it behaves like a current source. </a:t>
            </a:r>
            <a:r>
              <a:rPr sz="1700" b="1"/>
              <a:t>In triode</a:t>
            </a:r>
            <a:r>
              <a:rPr sz="1700"/>
              <a:t> it is a resistor again, and on these parts that is most of the travel, not a sliver near the rail.</a:t>
            </a:r>
          </a:p>
          <a:p>
            <a:pPr latinLnBrk="0">
              <a:spcAft>
                <a:spcPts val="400"/>
              </a:spcAft>
            </a:pPr>
            <a:r>
              <a:rPr sz="1700" b="1">
                <a:solidFill>
                  <a:srgbClr val="2B7A43"/>
                </a:solidFill>
              </a:rPr>
              <a:t>These three regimes are what the stage law is built from — but the law is a compact stand-in for them, not a derivation of them. The next slide is where it departs, and by how much.</a:t>
            </a:r>
          </a:p>
        </p:txBody>
      </p:sp>
      <p:pic>
        <p:nvPicPr>
          <p:cNvPr id="4" name="Picture 3" descr="mos_regions.png"/>
          <p:cNvPicPr>
            <a:picLocks noChangeAspect="1"/>
          </p:cNvPicPr>
          <p:nvPr/>
        </p:nvPicPr>
        <p:blipFill>
          <a:blip r:embed="rId2"/>
          <a:stretch>
            <a:fillRect/>
          </a:stretch>
        </p:blipFill>
        <p:spPr>
          <a:xfrm>
            <a:off x="1174897" y="3182112"/>
            <a:ext cx="9857444" cy="33375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 What we keep of that, and what we replace</a:t>
            </a:r>
          </a:p>
        </p:txBody>
      </p:sp>
      <p:sp>
        <p:nvSpPr>
          <p:cNvPr id="3" name="Content Placeholder 2"/>
          <p:cNvSpPr>
            <a:spLocks noGrp="1"/>
          </p:cNvSpPr>
          <p:nvPr>
            <p:ph idx="10"/>
          </p:nvPr>
        </p:nvSpPr>
        <p:spPr>
          <a:xfrm>
            <a:off x="411480" y="987552"/>
            <a:ext cx="11384280" cy="2834640"/>
          </a:xfrm>
        </p:spPr>
        <p:txBody>
          <a:bodyPr/>
          <a:lstStyle/>
          <a:p>
            <a:pPr latinLnBrk="0">
              <a:spcAft>
                <a:spcPts val="400"/>
              </a:spcAft>
            </a:pPr>
            <a:r>
              <a:rPr sz="1800"/>
              <a:t>Our version of each regime, drawn on top of a real device's. Below threshold we copy it. Saturated we keep the shape and flatten the exponent from 2 to 1. Into triode we put a straight line of </a:t>
            </a:r>
            <a:r>
              <a:rPr sz="1800" b="1"/>
              <a:t>fixed</a:t>
            </a:r>
            <a:r>
              <a:rPr sz="1800"/>
              <a:t> width where the device's width changes with its input.</a:t>
            </a:r>
          </a:p>
          <a:p>
            <a:pPr latinLnBrk="0">
              <a:spcAft>
                <a:spcPts val="400"/>
              </a:spcAft>
            </a:pPr>
            <a:r>
              <a:rPr sz="1800" b="1">
                <a:solidFill>
                  <a:srgbClr val="2B7A43"/>
                </a:solidFill>
              </a:rPr>
              <a:t>What x_lin really says is: our stage keeps pushing at full current for the first 55 % of its travel, where a real device gives up at 12 %.</a:t>
            </a:r>
            <a:r>
              <a:rPr sz="1800"/>
              <a:t> Over the travel we deliver about </a:t>
            </a:r>
            <a:r>
              <a:rPr sz="1800" b="1">
                <a:solidFill>
                  <a:srgbClr val="2B7A43"/>
                </a:solidFill>
              </a:rPr>
              <a:t>10 % more charge</a:t>
            </a:r>
            <a:r>
              <a:rPr sz="1800"/>
              <a:t> than the device would. That is the largest approximation in the model and the first thing to distrust.</a:t>
            </a:r>
          </a:p>
          <a:p>
            <a:pPr latinLnBrk="0">
              <a:spcAft>
                <a:spcPts val="400"/>
              </a:spcAft>
            </a:pPr>
            <a:r>
              <a:rPr sz="1800"/>
              <a:t>In its favour: 0.45 is where a real device's boundary sits when its input is only </a:t>
            </a:r>
            <a:r>
              <a:rPr sz="1800" b="1"/>
              <a:t>57 % on</a:t>
            </a:r>
            <a:r>
              <a:rPr sz="1800"/>
              <a:t> — a partly-driven stage, which is exactly the stressed case.</a:t>
            </a:r>
          </a:p>
        </p:txBody>
      </p:sp>
      <p:pic>
        <p:nvPicPr>
          <p:cNvPr id="4" name="Picture 3" descr="ours_vs_device.png"/>
          <p:cNvPicPr>
            <a:picLocks noChangeAspect="1"/>
          </p:cNvPicPr>
          <p:nvPr/>
        </p:nvPicPr>
        <p:blipFill>
          <a:blip r:embed="rId2"/>
          <a:stretch>
            <a:fillRect/>
          </a:stretch>
        </p:blipFill>
        <p:spPr>
          <a:xfrm>
            <a:off x="1716229" y="3895344"/>
            <a:ext cx="8774780" cy="262432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 The law, with where each piece came from</a:t>
            </a:r>
          </a:p>
        </p:txBody>
      </p:sp>
      <p:sp>
        <p:nvSpPr>
          <p:cNvPr id="3" name="Content Placeholder 2"/>
          <p:cNvSpPr>
            <a:spLocks noGrp="1"/>
          </p:cNvSpPr>
          <p:nvPr>
            <p:ph idx="10"/>
          </p:nvPr>
        </p:nvSpPr>
        <p:spPr>
          <a:xfrm>
            <a:off x="411480" y="987552"/>
            <a:ext cx="11384280" cy="2423160"/>
          </a:xfrm>
        </p:spPr>
        <p:txBody>
          <a:bodyPr/>
          <a:lstStyle/>
          <a:p>
            <a:pPr latinLnBrk="0">
              <a:spcAft>
                <a:spcPts val="400"/>
              </a:spcAft>
            </a:pPr>
            <a:r>
              <a:rPr sz="1600"/>
              <a:t>Read the colours: green is standard transistor behaviour taken as it is, amber is that behaviour with one thing simplified for a reason we can state, red has no physical basis at all. K stages in series is a fourth thing in the red category.</a:t>
            </a:r>
          </a:p>
          <a:p>
            <a:pPr latinLnBrk="0">
              <a:spcAft>
                <a:spcPts val="400"/>
              </a:spcAft>
            </a:pPr>
            <a:r>
              <a:rPr sz="1600" b="1">
                <a:solidFill>
                  <a:srgbClr val="2B7A43"/>
                </a:solidFill>
              </a:rPr>
              <a:t>So this is a physically motivated reduced-order model, not one derived from device physics.</a:t>
            </a:r>
            <a:r>
              <a:rPr sz="1600"/>
              <a:t> A transistor gives us the shape to expect — a current-limited phase, then a resistive approach to the rail. It does not hand us the min(), the straight taper, the fixed x_lin or p = 1. Those are ours, and the case for them is the measured result on the next fifteen slides, not the derivation.</a:t>
            </a:r>
          </a:p>
        </p:txBody>
      </p:sp>
      <p:pic>
        <p:nvPicPr>
          <p:cNvPr id="4" name="Picture 3" descr="law_badged.png"/>
          <p:cNvPicPr>
            <a:picLocks noChangeAspect="1"/>
          </p:cNvPicPr>
          <p:nvPr/>
        </p:nvPicPr>
        <p:blipFill>
          <a:blip r:embed="rId2"/>
          <a:stretch>
            <a:fillRect/>
          </a:stretch>
        </p:blipFill>
        <p:spPr>
          <a:xfrm>
            <a:off x="1696271" y="3483864"/>
            <a:ext cx="8814697" cy="303580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 The four numbers that leaves</a:t>
            </a:r>
          </a:p>
        </p:txBody>
      </p:sp>
      <p:sp>
        <p:nvSpPr>
          <p:cNvPr id="3" name="Content Placeholder 2"/>
          <p:cNvSpPr>
            <a:spLocks noGrp="1"/>
          </p:cNvSpPr>
          <p:nvPr>
            <p:ph idx="10"/>
          </p:nvPr>
        </p:nvSpPr>
        <p:spPr>
          <a:xfrm>
            <a:off x="411480" y="987552"/>
            <a:ext cx="11384280" cy="1819656"/>
          </a:xfrm>
        </p:spPr>
        <p:txBody>
          <a:bodyPr/>
          <a:lstStyle/>
          <a:p>
            <a:pPr latinLnBrk="0">
              <a:spcAft>
                <a:spcPts val="400"/>
              </a:spcAft>
            </a:pPr>
            <a:r>
              <a:rPr sz="1700" b="1"/>
              <a:t>s_up and s_dn are slopes</a:t>
            </a:r>
            <a:r>
              <a:rPr sz="1700"/>
              <a:t> — ex2 fits 2.59/ns, 0.39 ns to cross a stage's swing flat out. </a:t>
            </a:r>
            <a:r>
              <a:rPr sz="1700" b="1"/>
              <a:t>vt and x_lin are effective parameters</a:t>
            </a:r>
            <a:r>
              <a:rPr sz="1700"/>
              <a:t>, not device quantities: they absorb the real I-V into a two-region approximation.</a:t>
            </a:r>
          </a:p>
          <a:p>
            <a:pPr latinLnBrk="0">
              <a:spcAft>
                <a:spcPts val="400"/>
              </a:spcAft>
            </a:pPr>
            <a:r>
              <a:rPr sz="1700" b="1">
                <a:solidFill>
                  <a:srgbClr val="2B7A43"/>
                </a:solidFill>
              </a:rPr>
              <a:t>Does the file not give vt?</a:t>
            </a:r>
            <a:r>
              <a:rPr sz="1700"/>
              <a:t> Its Vinh/Vinl are the input </a:t>
            </a:r>
            <a:r>
              <a:rPr sz="1700" b="1">
                <a:solidFill>
                  <a:srgbClr val="2B7A43"/>
                </a:solidFill>
              </a:rPr>
              <a:t>pin's</a:t>
            </a:r>
            <a:r>
              <a:rPr sz="1700"/>
              <a:t> thresholds, and the converter does use those, for our input comparator. But vt is not a threshold voltage at all — it is where one modelled stage hands over to the next, and nothing in the file describes that.</a:t>
            </a:r>
          </a:p>
        </p:txBody>
      </p:sp>
      <p:pic>
        <p:nvPicPr>
          <p:cNvPr id="4" name="Picture 3" descr="four_table.png"/>
          <p:cNvPicPr>
            <a:picLocks noChangeAspect="1"/>
          </p:cNvPicPr>
          <p:nvPr/>
        </p:nvPicPr>
        <p:blipFill>
          <a:blip r:embed="rId2"/>
          <a:stretch>
            <a:fillRect/>
          </a:stretch>
        </p:blipFill>
        <p:spPr>
          <a:xfrm>
            <a:off x="411480" y="2880360"/>
            <a:ext cx="11384280" cy="2966897"/>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 What each of the four actually does</a:t>
            </a:r>
          </a:p>
        </p:txBody>
      </p:sp>
      <p:sp>
        <p:nvSpPr>
          <p:cNvPr id="3" name="Content Placeholder 2"/>
          <p:cNvSpPr>
            <a:spLocks noGrp="1"/>
          </p:cNvSpPr>
          <p:nvPr>
            <p:ph idx="10"/>
          </p:nvPr>
        </p:nvSpPr>
        <p:spPr>
          <a:xfrm>
            <a:off x="411480" y="987552"/>
            <a:ext cx="11384280" cy="1819656"/>
          </a:xfrm>
        </p:spPr>
        <p:txBody>
          <a:bodyPr/>
          <a:lstStyle/>
          <a:p>
            <a:pPr latinLnBrk="0">
              <a:spcAft>
                <a:spcPts val="400"/>
              </a:spcAft>
            </a:pPr>
            <a:r>
              <a:rPr sz="1800"/>
              <a:t>Each swept on its own about the value the fit chose, on the 810 ps pulse. The thick black trace is the fitted value.</a:t>
            </a:r>
          </a:p>
          <a:p>
            <a:pPr latinLnBrk="0">
              <a:spcAft>
                <a:spcPts val="400"/>
              </a:spcAft>
            </a:pPr>
            <a:r>
              <a:rPr sz="1800" b="1">
                <a:solidFill>
                  <a:srgbClr val="2B7A43"/>
                </a:solidFill>
              </a:rPr>
              <a:t>Look at the vt panel: pushed high enough the gate never leaves the floor.</a:t>
            </a:r>
            <a:r>
              <a:rPr sz="1800"/>
              <a:t> In the model that is abrupt; in silicon the current falls off continuously and a short pulse degrades stage by stage until it is gone. The hard threshold is our approximation of that, not the device's behaviour.</a:t>
            </a:r>
          </a:p>
        </p:txBody>
      </p:sp>
      <p:pic>
        <p:nvPicPr>
          <p:cNvPr id="4" name="Picture 3" descr="knobs.png"/>
          <p:cNvPicPr>
            <a:picLocks noChangeAspect="1"/>
          </p:cNvPicPr>
          <p:nvPr/>
        </p:nvPicPr>
        <p:blipFill>
          <a:blip r:embed="rId2"/>
          <a:stretch>
            <a:fillRect/>
          </a:stretch>
        </p:blipFill>
        <p:spPr>
          <a:xfrm>
            <a:off x="1914948" y="2880360"/>
            <a:ext cx="8377343" cy="363931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16 · Why a chain, and not one stage</a:t>
            </a:r>
          </a:p>
        </p:txBody>
      </p:sp>
      <p:sp>
        <p:nvSpPr>
          <p:cNvPr id="3" name="Content Placeholder 2"/>
          <p:cNvSpPr>
            <a:spLocks noGrp="1"/>
          </p:cNvSpPr>
          <p:nvPr>
            <p:ph idx="10"/>
          </p:nvPr>
        </p:nvSpPr>
        <p:spPr>
          <a:xfrm>
            <a:off x="411480" y="987552"/>
            <a:ext cx="11384280" cy="1819656"/>
          </a:xfrm>
        </p:spPr>
        <p:txBody>
          <a:bodyPr/>
          <a:lstStyle/>
          <a:p>
            <a:pPr latinLnBrk="0">
              <a:spcAft>
                <a:spcPts val="400"/>
              </a:spcAft>
            </a:pPr>
            <a:r>
              <a:rPr sz="1800"/>
              <a:t>Fit one stage as well as it can be fitted and it still misses the file's own Ku(t) by 4.6× the best error. One stage is one ramp: it starts the instant the input does, where the real Ku(t) waits, and then bends over too early.</a:t>
            </a:r>
          </a:p>
          <a:p>
            <a:pPr latinLnBrk="0">
              <a:spcAft>
                <a:spcPts val="400"/>
              </a:spcAft>
            </a:pPr>
            <a:r>
              <a:rPr sz="1800" b="1">
                <a:solidFill>
                  <a:srgbClr val="2B7A43"/>
                </a:solidFill>
              </a:rPr>
              <a:t>The file itself rules out a single stage — no stressed data needed to see it.</a:t>
            </a:r>
            <a:r>
              <a:rPr sz="1800"/>
              <a:t> Three stages is where the error settles.</a:t>
            </a:r>
          </a:p>
        </p:txBody>
      </p:sp>
      <p:pic>
        <p:nvPicPr>
          <p:cNvPr id="4" name="Picture 3" descr="why_chain.png"/>
          <p:cNvPicPr>
            <a:picLocks noChangeAspect="1"/>
          </p:cNvPicPr>
          <p:nvPr/>
        </p:nvPicPr>
        <p:blipFill>
          <a:blip r:embed="rId2"/>
          <a:stretch>
            <a:fillRect/>
          </a:stretch>
        </p:blipFill>
        <p:spPr>
          <a:xfrm>
            <a:off x="733152" y="2880360"/>
            <a:ext cx="10740935" cy="363931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16 · So: K identical stages, then the file's own map</a:t>
            </a:r>
          </a:p>
        </p:txBody>
      </p:sp>
      <p:sp>
        <p:nvSpPr>
          <p:cNvPr id="3" name="Content Placeholder 2"/>
          <p:cNvSpPr>
            <a:spLocks noGrp="1"/>
          </p:cNvSpPr>
          <p:nvPr>
            <p:ph idx="10"/>
          </p:nvPr>
        </p:nvSpPr>
        <p:spPr>
          <a:xfrm>
            <a:off x="411480" y="987552"/>
            <a:ext cx="11384280" cy="2121408"/>
          </a:xfrm>
        </p:spPr>
        <p:txBody>
          <a:bodyPr/>
          <a:lstStyle/>
          <a:p>
            <a:pPr latinLnBrk="0">
              <a:spcAft>
                <a:spcPts val="400"/>
              </a:spcAft>
            </a:pPr>
            <a:r>
              <a:rPr sz="1800"/>
              <a:t>We cannot see how many stages a vendor's part has, so the count K is a parameter. The stages are held </a:t>
            </a:r>
            <a:r>
              <a:rPr sz="1800" b="1"/>
              <a:t>identical in their normalised dynamics</a:t>
            </a:r>
            <a:r>
              <a:rPr sz="1800"/>
              <a:t> — not in their dimensions, which a real tapered predriver deliberately varies. That is defensible when the taper ratio is roughly constant, and letting them differ makes the fit degenerate.</a:t>
            </a:r>
          </a:p>
          <a:p>
            <a:pPr latinLnBrk="0">
              <a:spcAft>
                <a:spcPts val="400"/>
              </a:spcAft>
            </a:pPr>
            <a:r>
              <a:rPr sz="1800" b="1">
                <a:solidFill>
                  <a:srgbClr val="2B7A43"/>
                </a:solidFill>
              </a:rPr>
              <a:t>Everything to the right of the gate is the file's own, untouched — the map and the I-V tables. We are only building the left-hand box.</a:t>
            </a:r>
          </a:p>
        </p:txBody>
      </p:sp>
      <p:pic>
        <p:nvPicPr>
          <p:cNvPr id="4" name="Picture 3" descr="model_blocks.png"/>
          <p:cNvPicPr>
            <a:picLocks noChangeAspect="1"/>
          </p:cNvPicPr>
          <p:nvPr/>
        </p:nvPicPr>
        <p:blipFill>
          <a:blip r:embed="rId2"/>
          <a:stretch>
            <a:fillRect/>
          </a:stretch>
        </p:blipFill>
        <p:spPr>
          <a:xfrm>
            <a:off x="411480" y="3182112"/>
            <a:ext cx="11384280" cy="309629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17 · Before the recipe: C_comp is an input, and this file's is wrong</a:t>
            </a:r>
          </a:p>
        </p:txBody>
      </p:sp>
      <p:sp>
        <p:nvSpPr>
          <p:cNvPr id="3" name="Content Placeholder 2"/>
          <p:cNvSpPr>
            <a:spLocks noGrp="1"/>
          </p:cNvSpPr>
          <p:nvPr>
            <p:ph idx="10"/>
          </p:nvPr>
        </p:nvSpPr>
        <p:spPr>
          <a:xfrm>
            <a:off x="411480" y="987552"/>
            <a:ext cx="11384280" cy="3136392"/>
          </a:xfrm>
        </p:spPr>
        <p:txBody>
          <a:bodyPr/>
          <a:lstStyle/>
          <a:p>
            <a:pPr latinLnBrk="0">
              <a:spcAft>
                <a:spcPts val="400"/>
              </a:spcAft>
            </a:pPr>
            <a:r>
              <a:rPr sz="1700"/>
              <a:t>C_comp is not something the method derives — it is an input the solve needs, and we assume it arrives with the file. </a:t>
            </a:r>
            <a:r>
              <a:rPr sz="1700" b="1"/>
              <a:t>When s2ibispy extracts it properly, it drops into this same slot and nothing downstream changes.</a:t>
            </a:r>
          </a:p>
          <a:p>
            <a:pPr latinLnBrk="0">
              <a:spcAft>
                <a:spcPts val="400"/>
              </a:spcAft>
            </a:pPr>
            <a:r>
              <a:rPr sz="1700"/>
              <a:t>It still needs a validity check, because this file's declared value fails one. Ku is defined as a multiplier on the fully-on I-V table, so a solved Ku above 1 means the arithmetic is asking the device for more than it has: ex2's declared 5.0 pF implies </a:t>
            </a:r>
            <a:r>
              <a:rPr sz="1700" b="1"/>
              <a:t>Ku = 1.24</a:t>
            </a:r>
            <a:r>
              <a:rPr sz="1700"/>
              <a:t>. Treat that as a diagnostic rather than a law — extraction noise and fixture error can push it over 1 too.</a:t>
            </a:r>
          </a:p>
          <a:p>
            <a:pPr latinLnBrk="0">
              <a:spcAft>
                <a:spcPts val="400"/>
              </a:spcAft>
            </a:pPr>
            <a:r>
              <a:rPr sz="1700"/>
              <a:t>Today's numbers therefore use the value at which Ku just reaches 1 — 2.64 pF here, against 1.70 measured with a probe. 55 % off, and it still works, because the stressed peak is not sharp in C_comp.</a:t>
            </a:r>
          </a:p>
        </p:txBody>
      </p:sp>
      <p:pic>
        <p:nvPicPr>
          <p:cNvPr id="4" name="Picture 3" descr="ccomp_reject.png"/>
          <p:cNvPicPr>
            <a:picLocks noChangeAspect="1"/>
          </p:cNvPicPr>
          <p:nvPr/>
        </p:nvPicPr>
        <p:blipFill>
          <a:blip r:embed="rId2"/>
          <a:stretch>
            <a:fillRect/>
          </a:stretch>
        </p:blipFill>
        <p:spPr>
          <a:xfrm>
            <a:off x="3298053" y="4197096"/>
            <a:ext cx="5611132" cy="23225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18 · Recipe step 1 of 4 — fit the four numbers to the file's Ku(t)</a:t>
            </a:r>
          </a:p>
        </p:txBody>
      </p:sp>
      <p:sp>
        <p:nvSpPr>
          <p:cNvPr id="3" name="Content Placeholder 2"/>
          <p:cNvSpPr>
            <a:spLocks noGrp="1"/>
          </p:cNvSpPr>
          <p:nvPr>
            <p:ph idx="10"/>
          </p:nvPr>
        </p:nvSpPr>
        <p:spPr>
          <a:xfrm>
            <a:off x="411480" y="987552"/>
            <a:ext cx="11384280" cy="1929384"/>
          </a:xfrm>
        </p:spPr>
        <p:txBody>
          <a:bodyPr/>
          <a:lstStyle/>
          <a:p>
            <a:pPr latinLnBrk="0">
              <a:spcAft>
                <a:spcPts val="400"/>
              </a:spcAft>
            </a:pPr>
            <a:r>
              <a:rPr sz="1800" b="1"/>
              <a:t>The chain</a:t>
            </a:r>
            <a:r>
              <a:rPr sz="1800"/>
              <a:t> is the K stages above, in series. Its output is a gate; put that gate through the map and it becomes a Ku. The four numbers are searched until that Ku reproduces </a:t>
            </a:r>
            <a:r>
              <a:rPr sz="1800" b="1"/>
              <a:t>the file's own full-swing Ku(t)</a:t>
            </a:r>
            <a:r>
              <a:rPr sz="1800"/>
              <a:t> — the black curve. Nelder–Mead, three restarts.</a:t>
            </a:r>
          </a:p>
          <a:p>
            <a:pPr latinLnBrk="0">
              <a:spcAft>
                <a:spcPts val="400"/>
              </a:spcAft>
            </a:pPr>
            <a:r>
              <a:rPr sz="1800"/>
              <a:t>Error 0.284 down to 0.0098, landing on s_up 2.59, s_dn 2.38, vt 0.51, x_lin 0.66.</a:t>
            </a:r>
          </a:p>
          <a:p>
            <a:pPr latinLnBrk="0">
              <a:spcAft>
                <a:spcPts val="400"/>
              </a:spcAft>
            </a:pPr>
            <a:r>
              <a:rPr sz="1800" b="1">
                <a:solidFill>
                  <a:srgbClr val="2B7A43"/>
                </a:solidFill>
              </a:rPr>
              <a:t>No measurement is involved: the target is a curve the file already contains.</a:t>
            </a:r>
          </a:p>
        </p:txBody>
      </p:sp>
      <p:pic>
        <p:nvPicPr>
          <p:cNvPr id="4" name="Picture 3" descr="fit_search.png"/>
          <p:cNvPicPr>
            <a:picLocks noChangeAspect="1"/>
          </p:cNvPicPr>
          <p:nvPr/>
        </p:nvPicPr>
        <p:blipFill>
          <a:blip r:embed="rId2"/>
          <a:stretch>
            <a:fillRect/>
          </a:stretch>
        </p:blipFill>
        <p:spPr>
          <a:xfrm>
            <a:off x="952914" y="2990088"/>
            <a:ext cx="10301410" cy="352958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19 · Recipe step 2 of 4 — enumerate what the file cannot choose</a:t>
            </a:r>
          </a:p>
        </p:txBody>
      </p:sp>
      <p:sp>
        <p:nvSpPr>
          <p:cNvPr id="3" name="Content Placeholder 2"/>
          <p:cNvSpPr>
            <a:spLocks noGrp="1"/>
          </p:cNvSpPr>
          <p:nvPr>
            <p:ph idx="10"/>
          </p:nvPr>
        </p:nvSpPr>
        <p:spPr>
          <a:xfrm>
            <a:off x="411480" y="987552"/>
            <a:ext cx="11384280" cy="1929384"/>
          </a:xfrm>
        </p:spPr>
        <p:txBody>
          <a:bodyPr/>
          <a:lstStyle/>
          <a:p>
            <a:pPr latinLnBrk="0">
              <a:spcAft>
                <a:spcPts val="400"/>
              </a:spcAft>
            </a:pPr>
            <a:r>
              <a:rPr sz="1800"/>
              <a:t>Left: past K = 3 the fit error against the file's Ku(t) is </a:t>
            </a:r>
            <a:r>
              <a:rPr sz="1800" b="1"/>
              <a:t>flat</a:t>
            </a:r>
            <a:r>
              <a:rPr sz="1800"/>
              <a:t>. Right: the three candidates inside that band on one 810 ps pulse — same file, same fit quality, </a:t>
            </a:r>
            <a:r>
              <a:rPr sz="1800" b="1"/>
              <a:t>three completely different buffers</a:t>
            </a:r>
            <a:r>
              <a:rPr sz="1800"/>
              <a:t>.</a:t>
            </a:r>
          </a:p>
          <a:p>
            <a:pPr latinLnBrk="0">
              <a:spcAft>
                <a:spcPts val="400"/>
              </a:spcAft>
            </a:pPr>
            <a:r>
              <a:rPr sz="1800"/>
              <a:t>The map's shape is under-determined the same way: 3 stage counts × 3 map shapes = </a:t>
            </a:r>
            <a:r>
              <a:rPr sz="1800" b="1"/>
              <a:t>nine candidates</a:t>
            </a:r>
            <a:r>
              <a:rPr sz="1800"/>
              <a:t>, all equally good against the file.</a:t>
            </a:r>
          </a:p>
          <a:p>
            <a:pPr latinLnBrk="0">
              <a:spcAft>
                <a:spcPts val="400"/>
              </a:spcAft>
            </a:pPr>
            <a:r>
              <a:rPr sz="1800" b="1">
                <a:solidFill>
                  <a:srgbClr val="2B7A43"/>
                </a:solidFill>
              </a:rPr>
              <a:t>The file is now spent. Everything left is decided by the one stressed run.</a:t>
            </a:r>
          </a:p>
        </p:txBody>
      </p:sp>
      <p:pic>
        <p:nvPicPr>
          <p:cNvPr id="4" name="Picture 3" descr="k_choice.png"/>
          <p:cNvPicPr>
            <a:picLocks noChangeAspect="1"/>
          </p:cNvPicPr>
          <p:nvPr/>
        </p:nvPicPr>
        <p:blipFill>
          <a:blip r:embed="rId2"/>
          <a:stretch>
            <a:fillRect/>
          </a:stretch>
        </p:blipFill>
        <p:spPr>
          <a:xfrm>
            <a:off x="1174235" y="2990088"/>
            <a:ext cx="9858769" cy="352958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 · Recipe step 3 of 4 — the stressed run sets the amplitude</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One pulse into the real part, at the deepest rung of the ladder, and one number off it: the peak. Nothing is probed.</a:t>
            </a:r>
          </a:p>
          <a:p>
            <a:pPr latinLnBrk="0">
              <a:spcAft>
                <a:spcPts val="400"/>
              </a:spcAft>
            </a:pPr>
            <a:r>
              <a:rPr sz="1800" b="1">
                <a:solidFill>
                  <a:srgbClr val="2B7A43"/>
                </a:solidFill>
              </a:rPr>
              <a:t>Why vt and not the drive rates?</a:t>
            </a:r>
            <a:r>
              <a:rPr sz="1800"/>
              <a:t> The rates were fitted to reproduce the full swing, and moving them breaks it. vt changes </a:t>
            </a:r>
            <a:r>
              <a:rPr sz="1800" b="1">
                <a:solidFill>
                  <a:srgbClr val="2B7A43"/>
                </a:solidFill>
              </a:rPr>
              <a:t>when</a:t>
            </a:r>
            <a:r>
              <a:rPr sz="1800"/>
              <a:t> the chain hands off, not how fast it runs.</a:t>
            </a:r>
          </a:p>
        </p:txBody>
      </p:sp>
      <p:pic>
        <p:nvPicPr>
          <p:cNvPr id="4" name="Picture 3" descr="calib_run.png"/>
          <p:cNvPicPr>
            <a:picLocks noChangeAspect="1"/>
          </p:cNvPicPr>
          <p:nvPr/>
        </p:nvPicPr>
        <p:blipFill>
          <a:blip r:embed="rId2"/>
          <a:stretch>
            <a:fillRect/>
          </a:stretch>
        </p:blipFill>
        <p:spPr>
          <a:xfrm>
            <a:off x="411480" y="2578608"/>
            <a:ext cx="11384280" cy="346368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 Recipe step 4 of 4 — the same run picks one of the nine</a:t>
            </a:r>
          </a:p>
        </p:txBody>
      </p:sp>
      <p:sp>
        <p:nvSpPr>
          <p:cNvPr id="3" name="Content Placeholder 2"/>
          <p:cNvSpPr>
            <a:spLocks noGrp="1"/>
          </p:cNvSpPr>
          <p:nvPr>
            <p:ph idx="10"/>
          </p:nvPr>
        </p:nvSpPr>
        <p:spPr>
          <a:xfrm>
            <a:off x="411480" y="987552"/>
            <a:ext cx="11384280" cy="2231136"/>
          </a:xfrm>
        </p:spPr>
        <p:txBody>
          <a:bodyPr/>
          <a:lstStyle/>
          <a:p>
            <a:pPr latinLnBrk="0">
              <a:spcAft>
                <a:spcPts val="400"/>
              </a:spcAft>
            </a:pPr>
            <a:r>
              <a:rPr sz="1700"/>
              <a:t>All nine candidates are now calibrated, so </a:t>
            </a:r>
            <a:r>
              <a:rPr sz="1700" b="1"/>
              <a:t>all nine hit the measured peak</a:t>
            </a:r>
            <a:r>
              <a:rPr sz="1700"/>
              <a:t> — the calibration put it there. Right-hand panel: ranked on the peak every one is within 2.5 %, in no meaningful order.</a:t>
            </a:r>
          </a:p>
          <a:p>
            <a:pPr latinLnBrk="0">
              <a:spcAft>
                <a:spcPts val="400"/>
              </a:spcAft>
            </a:pPr>
            <a:r>
              <a:rPr sz="1700"/>
              <a:t>Left-hand panel: score each one against the </a:t>
            </a:r>
            <a:r>
              <a:rPr sz="1700" b="1"/>
              <a:t>whole</a:t>
            </a:r>
            <a:r>
              <a:rPr sz="1700"/>
              <a:t> measured waveform instead, over the pulse and its return. Now they separate, from 59 mV to over 200.</a:t>
            </a:r>
          </a:p>
          <a:p>
            <a:pPr latinLnBrk="0">
              <a:spcAft>
                <a:spcPts val="400"/>
              </a:spcAft>
            </a:pPr>
            <a:r>
              <a:rPr sz="1700" b="1">
                <a:solidFill>
                  <a:srgbClr val="2B7A43"/>
                </a:solidFill>
              </a:rPr>
              <a:t>That ranking is the choice. The recipe keeps the top row — here K = 3 with the 0.50/0.70 shape, which is also the best of the nine outright.</a:t>
            </a:r>
          </a:p>
        </p:txBody>
      </p:sp>
      <p:pic>
        <p:nvPicPr>
          <p:cNvPr id="4" name="Picture 3" descr="pick_rank.png"/>
          <p:cNvPicPr>
            <a:picLocks noChangeAspect="1"/>
          </p:cNvPicPr>
          <p:nvPr/>
        </p:nvPicPr>
        <p:blipFill>
          <a:blip r:embed="rId2"/>
          <a:stretch>
            <a:fillRect/>
          </a:stretch>
        </p:blipFill>
        <p:spPr>
          <a:xfrm>
            <a:off x="1734237" y="3291840"/>
            <a:ext cx="8738764" cy="32278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 The recipe, end to end</a:t>
            </a:r>
          </a:p>
        </p:txBody>
      </p:sp>
      <p:sp>
        <p:nvSpPr>
          <p:cNvPr id="3" name="Content Placeholder 2"/>
          <p:cNvSpPr>
            <a:spLocks noGrp="1"/>
          </p:cNvSpPr>
          <p:nvPr>
            <p:ph idx="10"/>
          </p:nvPr>
        </p:nvSpPr>
        <p:spPr>
          <a:xfrm>
            <a:off x="411480" y="987552"/>
            <a:ext cx="11384280" cy="2340864"/>
          </a:xfrm>
        </p:spPr>
        <p:txBody>
          <a:bodyPr/>
          <a:lstStyle/>
          <a:p>
            <a:pPr latinLnBrk="0">
              <a:spcAft>
                <a:spcPts val="400"/>
              </a:spcAft>
            </a:pPr>
            <a:r>
              <a:rPr sz="1600" b="1"/>
              <a:t>Assumed as an input:</a:t>
            </a:r>
            <a:r>
              <a:rPr sz="1600"/>
              <a:t> C_comp, with a Ku &gt; 1 validity check on it.</a:t>
            </a:r>
          </a:p>
          <a:p>
            <a:pPr latinLnBrk="0">
              <a:spcAft>
                <a:spcPts val="400"/>
              </a:spcAft>
            </a:pPr>
            <a:r>
              <a:rPr sz="1600" b="1"/>
              <a:t>Steps 1–2, from the file alone:</a:t>
            </a:r>
            <a:r>
              <a:rPr sz="1600"/>
              <a:t> fit s_up, s_dn, vt, x_lin to the file's Ku(t) at each stage count in the band; that leaves nine candidates the file cannot separate.</a:t>
            </a:r>
          </a:p>
          <a:p>
            <a:pPr latinLnBrk="0">
              <a:spcAft>
                <a:spcPts val="400"/>
              </a:spcAft>
            </a:pPr>
            <a:r>
              <a:rPr sz="1600" b="1"/>
              <a:t>Steps 3–4, from one stressed pad run:</a:t>
            </a:r>
            <a:r>
              <a:rPr sz="1600"/>
              <a:t> bisect vt until the peak matches, then pick the candidate whose whole waveform matches.</a:t>
            </a:r>
          </a:p>
          <a:p>
            <a:pPr latinLnBrk="0">
              <a:spcAft>
                <a:spcPts val="400"/>
              </a:spcAft>
            </a:pPr>
            <a:r>
              <a:rPr sz="1600" b="1">
                <a:solidFill>
                  <a:srgbClr val="2B7A43"/>
                </a:solidFill>
              </a:rPr>
              <a:t>Nothing is probed.</a:t>
            </a:r>
            <a:r>
              <a:rPr sz="1600"/>
              <a:t> The only measurement is a pad voltage, from outside the chip.</a:t>
            </a:r>
          </a:p>
        </p:txBody>
      </p:sp>
      <p:pic>
        <p:nvPicPr>
          <p:cNvPr id="4" name="Picture 3" descr="model_blocks.png"/>
          <p:cNvPicPr>
            <a:picLocks noChangeAspect="1"/>
          </p:cNvPicPr>
          <p:nvPr/>
        </p:nvPicPr>
        <p:blipFill>
          <a:blip r:embed="rId2"/>
          <a:stretch>
            <a:fillRect/>
          </a:stretch>
        </p:blipFill>
        <p:spPr>
          <a:xfrm>
            <a:off x="411480" y="3401568"/>
            <a:ext cx="11384280" cy="309629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 ex2</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Transistor in black, HSPICE native IBIS dotted, track 1 in teal. Only the </a:t>
            </a:r>
            <a:r>
              <a:rPr sz="1800" b="1"/>
              <a:t>810 ps</a:t>
            </a:r>
            <a:r>
              <a:rPr sz="1800"/>
              <a:t> rung was measured; the other two are predictions.</a:t>
            </a:r>
          </a:p>
          <a:p>
            <a:pPr latinLnBrk="0">
              <a:spcAft>
                <a:spcPts val="400"/>
              </a:spcAft>
            </a:pPr>
            <a:r>
              <a:rPr sz="1800" b="1">
                <a:solidFill>
                  <a:srgbClr val="2B7A43"/>
                </a:solidFill>
              </a:rPr>
              <a:t>Native IBIS collapses from +71 % to +1 % as the pulse lengthens. Track 1 holds −2, −7, −7 % — flat, and slightly shallow away from the rung it was calibrated on.</a:t>
            </a:r>
          </a:p>
        </p:txBody>
      </p:sp>
      <p:pic>
        <p:nvPicPr>
          <p:cNvPr id="4" name="Picture 3" descr="result_ex2.png"/>
          <p:cNvPicPr>
            <a:picLocks noChangeAspect="1"/>
          </p:cNvPicPr>
          <p:nvPr/>
        </p:nvPicPr>
        <p:blipFill>
          <a:blip r:embed="rId2"/>
          <a:stretch>
            <a:fillRect/>
          </a:stretch>
        </p:blipFill>
        <p:spPr>
          <a:xfrm>
            <a:off x="411480" y="2578608"/>
            <a:ext cx="11384280" cy="389260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 inv_chain</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Transistor in black, HSPICE native IBIS dotted, track 1 in teal. Only the </a:t>
            </a:r>
            <a:r>
              <a:rPr sz="1800" b="1"/>
              <a:t>104 ps</a:t>
            </a:r>
            <a:r>
              <a:rPr sz="1800"/>
              <a:t> rung was measured; the other two are predictions.</a:t>
            </a:r>
          </a:p>
          <a:p>
            <a:pPr latinLnBrk="0">
              <a:spcAft>
                <a:spcPts val="400"/>
              </a:spcAft>
            </a:pPr>
            <a:r>
              <a:rPr sz="1800" b="1">
                <a:solidFill>
                  <a:srgbClr val="2B7A43"/>
                </a:solidFill>
              </a:rPr>
              <a:t>Native IBIS runs +87 % at the deepest and +7 % at the mildest. Track 1 holds −4, +5, −1 % across the ladder.</a:t>
            </a:r>
          </a:p>
        </p:txBody>
      </p:sp>
      <p:pic>
        <p:nvPicPr>
          <p:cNvPr id="4" name="Picture 3" descr="result_inv_chain.png"/>
          <p:cNvPicPr>
            <a:picLocks noChangeAspect="1"/>
          </p:cNvPicPr>
          <p:nvPr/>
        </p:nvPicPr>
        <p:blipFill>
          <a:blip r:embed="rId2"/>
          <a:stretch>
            <a:fillRect/>
          </a:stretch>
        </p:blipFill>
        <p:spPr>
          <a:xfrm>
            <a:off x="411480" y="2578608"/>
            <a:ext cx="11384280" cy="3892601"/>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 io_buf</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Transistor in black, HSPICE native IBIS dotted, track 1 in teal. Only the </a:t>
            </a:r>
            <a:r>
              <a:rPr sz="1800" b="1"/>
              <a:t>1505 ps</a:t>
            </a:r>
            <a:r>
              <a:rPr sz="1800"/>
              <a:t> rung was measured; the other two are predictions.</a:t>
            </a:r>
          </a:p>
          <a:p>
            <a:pPr latinLnBrk="0">
              <a:spcAft>
                <a:spcPts val="400"/>
              </a:spcAft>
            </a:pPr>
            <a:r>
              <a:rPr sz="1800" b="1">
                <a:solidFill>
                  <a:srgbClr val="2B7A43"/>
                </a:solidFill>
              </a:rPr>
              <a:t>io_buf's ladder is shallower — 37 % is as deep as its pulse goes, and native is only −20 % there. Track 1 is +2, +7, +5 %.</a:t>
            </a:r>
          </a:p>
        </p:txBody>
      </p:sp>
      <p:pic>
        <p:nvPicPr>
          <p:cNvPr id="4" name="Picture 3" descr="result_io_buf.png"/>
          <p:cNvPicPr>
            <a:picLocks noChangeAspect="1"/>
          </p:cNvPicPr>
          <p:nvPr/>
        </p:nvPicPr>
        <p:blipFill>
          <a:blip r:embed="rId2"/>
          <a:stretch>
            <a:fillRect/>
          </a:stretch>
        </p:blipFill>
        <p:spPr>
          <a:xfrm>
            <a:off x="411480" y="2578608"/>
            <a:ext cx="11384280" cy="3892601"/>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 every buffer, worst of its stressed widths</a:t>
            </a:r>
          </a:p>
        </p:txBody>
      </p:sp>
      <p:sp>
        <p:nvSpPr>
          <p:cNvPr id="3" name="Content Placeholder 2"/>
          <p:cNvSpPr>
            <a:spLocks noGrp="1"/>
          </p:cNvSpPr>
          <p:nvPr>
            <p:ph idx="10"/>
          </p:nvPr>
        </p:nvSpPr>
        <p:spPr>
          <a:xfrm>
            <a:off x="411480" y="987552"/>
            <a:ext cx="11384280" cy="2231136"/>
          </a:xfrm>
        </p:spPr>
        <p:txBody>
          <a:bodyPr/>
          <a:lstStyle/>
          <a:p>
            <a:pPr latinLnBrk="0">
              <a:spcAft>
                <a:spcPts val="400"/>
              </a:spcAft>
            </a:pPr>
            <a:r>
              <a:rPr sz="1600" b="1"/>
              <a:t>12 of 12 within ±10 % against the transistor; mean 6.9 %.</a:t>
            </a:r>
            <a:r>
              <a:rPr sz="1600"/>
              <a:t> Native IBIS, where it runs at all, is 20 % to 100 %.</a:t>
            </a:r>
          </a:p>
          <a:p>
            <a:pPr latinLnBrk="0">
              <a:spcAft>
                <a:spcPts val="400"/>
              </a:spcAft>
            </a:pPr>
            <a:r>
              <a:rPr sz="1600"/>
              <a:t>Native does not converge on the five ex2 variants — HSPICE's two-waveform solver dies on their 1 ps files and reports the pulse missing at </a:t>
            </a:r>
            <a:r>
              <a:rPr sz="1600" b="1"/>
              <a:t>every</a:t>
            </a:r>
            <a:r>
              <a:rPr sz="1600"/>
              <a:t> depth, the mildest included. Those bars are hatched, not scored.</a:t>
            </a:r>
          </a:p>
          <a:p>
            <a:pPr latinLnBrk="0">
              <a:spcAft>
                <a:spcPts val="400"/>
              </a:spcAft>
            </a:pPr>
            <a:r>
              <a:rPr sz="1600" b="1">
                <a:solidFill>
                  <a:srgbClr val="2B7A43"/>
                </a:solidFill>
              </a:rPr>
              <a:t>What it costs:</a:t>
            </a:r>
            <a:r>
              <a:rPr sz="1600"/>
              <a:t> the full transition is worse than the shipped model on 10 of 12 buffers, and a stressed pulse train is still lost on ex2 and io_buf. We are buying stressed accuracy with full-swing accuracy.</a:t>
            </a:r>
          </a:p>
        </p:txBody>
      </p:sp>
      <p:pic>
        <p:nvPicPr>
          <p:cNvPr id="4" name="Picture 3" descr="endtoend_3.png"/>
          <p:cNvPicPr>
            <a:picLocks noChangeAspect="1"/>
          </p:cNvPicPr>
          <p:nvPr/>
        </p:nvPicPr>
        <p:blipFill>
          <a:blip r:embed="rId2"/>
          <a:stretch>
            <a:fillRect/>
          </a:stretch>
        </p:blipFill>
        <p:spPr>
          <a:xfrm>
            <a:off x="1762501" y="3291840"/>
            <a:ext cx="8682237" cy="32278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 what this does not cover yet</a:t>
            </a:r>
          </a:p>
        </p:txBody>
      </p:sp>
      <p:sp>
        <p:nvSpPr>
          <p:cNvPr id="3" name="Content Placeholder 2"/>
          <p:cNvSpPr>
            <a:spLocks noGrp="1"/>
          </p:cNvSpPr>
          <p:nvPr>
            <p:ph idx="10"/>
          </p:nvPr>
        </p:nvSpPr>
        <p:spPr>
          <a:xfrm>
            <a:off x="411480" y="987552"/>
            <a:ext cx="11384280" cy="2340864"/>
          </a:xfrm>
        </p:spPr>
        <p:txBody>
          <a:bodyPr/>
          <a:lstStyle/>
          <a:p>
            <a:pPr latinLnBrk="0">
              <a:spcAft>
                <a:spcPts val="400"/>
              </a:spcAft>
            </a:pPr>
            <a:r>
              <a:rPr sz="1800" b="1"/>
              <a:t>Direction.</a:t>
            </a:r>
            <a:r>
              <a:rPr sz="1800"/>
              <a:t> Everything here is a short HIGH pulse. Only io_buf has been run pulling down, where the model is 16–21 points too shallow — its pull-down chain never turns on at all on a short pulse.</a:t>
            </a:r>
          </a:p>
          <a:p>
            <a:pPr latinLnBrk="0">
              <a:spcAft>
                <a:spcPts val="400"/>
              </a:spcAft>
            </a:pPr>
            <a:r>
              <a:rPr sz="1800" b="1"/>
              <a:t>Depth.</a:t>
            </a:r>
            <a:r>
              <a:rPr sz="1800"/>
              <a:t> The ladder samples 50–90 % of the travel. Below 50 % is unsampled.</a:t>
            </a:r>
          </a:p>
          <a:p>
            <a:pPr latinLnBrk="0">
              <a:spcAft>
                <a:spcPts val="400"/>
              </a:spcAft>
            </a:pPr>
            <a:r>
              <a:rPr sz="1800" b="1"/>
              <a:t>Trains.</a:t>
            </a:r>
            <a:r>
              <a:rPr sz="1800"/>
              <a:t> One pulse at a time; a stressed train is still lost on two of three buffers.</a:t>
            </a:r>
          </a:p>
          <a:p>
            <a:pPr latinLnBrk="0">
              <a:spcAft>
                <a:spcPts val="400"/>
              </a:spcAft>
            </a:pPr>
            <a:r>
              <a:rPr sz="1800" b="1">
                <a:solidFill>
                  <a:srgbClr val="2B7A43"/>
                </a:solidFill>
              </a:rPr>
              <a:t>The recipe has seen the answer key.</a:t>
            </a:r>
            <a:r>
              <a:rPr sz="1800"/>
              <a:t> Two of the three candidate map shapes were chosen by looking at results on these same twelve buffers. A thirteenth buffer may need a shape the grid does not contain.</a:t>
            </a:r>
          </a:p>
        </p:txBody>
      </p:sp>
      <p:pic>
        <p:nvPicPr>
          <p:cNvPr id="4" name="Picture 3" descr="coverage.png"/>
          <p:cNvPicPr>
            <a:picLocks noChangeAspect="1"/>
          </p:cNvPicPr>
          <p:nvPr/>
        </p:nvPicPr>
        <p:blipFill>
          <a:blip r:embed="rId2"/>
          <a:stretch>
            <a:fillRect/>
          </a:stretch>
        </p:blipFill>
        <p:spPr>
          <a:xfrm>
            <a:off x="1785954" y="3401568"/>
            <a:ext cx="8635331" cy="311810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where Ku(t) comes from</a:t>
            </a:r>
          </a:p>
        </p:txBody>
      </p:sp>
      <p:sp>
        <p:nvSpPr>
          <p:cNvPr id="3" name="Content Placeholder 2"/>
          <p:cNvSpPr>
            <a:spLocks noGrp="1"/>
          </p:cNvSpPr>
          <p:nvPr>
            <p:ph idx="10"/>
          </p:nvPr>
        </p:nvSpPr>
        <p:spPr>
          <a:xfrm>
            <a:off x="411480" y="987552"/>
            <a:ext cx="11384280" cy="1517904"/>
          </a:xfrm>
        </p:spPr>
        <p:txBody>
          <a:bodyPr/>
          <a:lstStyle/>
          <a:p>
            <a:pPr latinLnBrk="0">
              <a:spcAft>
                <a:spcPts val="400"/>
              </a:spcAft>
            </a:pPr>
            <a:r>
              <a:rPr sz="1800"/>
              <a:t>The file holds the I-V curves and recordings of one transition into </a:t>
            </a:r>
            <a:r>
              <a:rPr sz="1800" b="1"/>
              <a:t>two different loads</a:t>
            </a:r>
            <a:r>
              <a:rPr sz="1800"/>
              <a:t>. At any instant the pad took some current, and both branches supplied it.</a:t>
            </a:r>
          </a:p>
          <a:p>
            <a:pPr latinLnBrk="0">
              <a:spcAft>
                <a:spcPts val="400"/>
              </a:spcAft>
            </a:pPr>
            <a:r>
              <a:rPr sz="1800"/>
              <a:t>Two loads give two equations in the same two unknowns, so one instant gives Ku and Kd outright — no fitting. Every instant gives Ku(t).</a:t>
            </a:r>
          </a:p>
        </p:txBody>
      </p:sp>
      <p:pic>
        <p:nvPicPr>
          <p:cNvPr id="4" name="Picture 3" descr="solve_ku.png"/>
          <p:cNvPicPr>
            <a:picLocks noChangeAspect="1"/>
          </p:cNvPicPr>
          <p:nvPr/>
        </p:nvPicPr>
        <p:blipFill>
          <a:blip r:embed="rId2"/>
          <a:stretch>
            <a:fillRect/>
          </a:stretch>
        </p:blipFill>
        <p:spPr>
          <a:xfrm>
            <a:off x="462583" y="2578608"/>
            <a:ext cx="11282073" cy="394106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the nine candidates as waveforms</a:t>
            </a:r>
          </a:p>
        </p:txBody>
      </p:sp>
      <p:sp>
        <p:nvSpPr>
          <p:cNvPr id="3" name="Content Placeholder 2"/>
          <p:cNvSpPr>
            <a:spLocks noGrp="1"/>
          </p:cNvSpPr>
          <p:nvPr>
            <p:ph idx="10"/>
          </p:nvPr>
        </p:nvSpPr>
        <p:spPr>
          <a:xfrm>
            <a:off x="411480" y="987552"/>
            <a:ext cx="11384280" cy="1216152"/>
          </a:xfrm>
        </p:spPr>
        <p:txBody>
          <a:bodyPr/>
          <a:lstStyle/>
          <a:p>
            <a:pPr latinLnBrk="0">
              <a:spcAft>
                <a:spcPts val="400"/>
              </a:spcAft>
            </a:pPr>
            <a:r>
              <a:rPr sz="1800"/>
              <a:t>The same nine as step 5, drawn rather than ranked. Every one reaches the measured peak height — the calibration put it there — and they separate in when that peak arrives, and in the tail.</a:t>
            </a:r>
          </a:p>
          <a:p>
            <a:pPr latinLnBrk="0">
              <a:spcAft>
                <a:spcPts val="400"/>
              </a:spcAft>
            </a:pPr>
            <a:r>
              <a:rPr sz="1800" b="1">
                <a:solidFill>
                  <a:srgbClr val="2B7A43"/>
                </a:solidFill>
              </a:rPr>
              <a:t>The one the recipe picks sits on the transistor.</a:t>
            </a:r>
          </a:p>
        </p:txBody>
      </p:sp>
      <p:pic>
        <p:nvPicPr>
          <p:cNvPr id="4" name="Picture 3" descr="calib_select.png"/>
          <p:cNvPicPr>
            <a:picLocks noChangeAspect="1"/>
          </p:cNvPicPr>
          <p:nvPr/>
        </p:nvPicPr>
        <p:blipFill>
          <a:blip r:embed="rId2"/>
          <a:stretch>
            <a:fillRect/>
          </a:stretch>
        </p:blipFill>
        <p:spPr>
          <a:xfrm>
            <a:off x="483490" y="2276856"/>
            <a:ext cx="11240259" cy="424281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 inv_chain's input threshold</a:t>
            </a:r>
          </a:p>
        </p:txBody>
      </p:sp>
      <p:sp>
        <p:nvSpPr>
          <p:cNvPr id="3" name="Content Placeholder 2"/>
          <p:cNvSpPr>
            <a:spLocks noGrp="1"/>
          </p:cNvSpPr>
          <p:nvPr>
            <p:ph idx="10"/>
          </p:nvPr>
        </p:nvSpPr>
        <p:spPr>
          <a:xfrm>
            <a:off x="411480" y="987552"/>
            <a:ext cx="11384280" cy="2231136"/>
          </a:xfrm>
        </p:spPr>
        <p:txBody>
          <a:bodyPr/>
          <a:lstStyle/>
          <a:p>
            <a:pPr latinLnBrk="0">
              <a:spcAft>
                <a:spcPts val="400"/>
              </a:spcAft>
            </a:pPr>
            <a:r>
              <a:rPr sz="1800"/>
              <a:t>inv_chain's IBIS file declares Vinh 2.0 V on a 1.8 V part, so our input comparator fires late and trims about 29 ps off every pulse.</a:t>
            </a:r>
          </a:p>
          <a:p>
            <a:pPr latinLnBrk="0">
              <a:spcAft>
                <a:spcPts val="400"/>
              </a:spcAft>
            </a:pPr>
            <a:r>
              <a:rPr sz="1800"/>
              <a:t>That trim cancels most of the gate-state model's overshoot, which is why it reads −2 % at 70 % stress on the previous slides while native IBIS reads +32 %.</a:t>
            </a:r>
          </a:p>
          <a:p>
            <a:pPr latinLnBrk="0">
              <a:spcAft>
                <a:spcPts val="400"/>
              </a:spcAft>
            </a:pPr>
            <a:r>
              <a:rPr sz="1800" b="1">
                <a:solidFill>
                  <a:srgbClr val="2B7A43"/>
                </a:solidFill>
              </a:rPr>
              <a:t>It is a defect that flatters us, not a result.</a:t>
            </a:r>
            <a:r>
              <a:rPr sz="1800"/>
              <a:t> With the threshold at mid-supply the shipped error roughly doubles.</a:t>
            </a:r>
          </a:p>
        </p:txBody>
      </p:sp>
      <p:pic>
        <p:nvPicPr>
          <p:cNvPr id="4" name="Picture 3" descr="vinh_inv.png"/>
          <p:cNvPicPr>
            <a:picLocks noChangeAspect="1"/>
          </p:cNvPicPr>
          <p:nvPr/>
        </p:nvPicPr>
        <p:blipFill>
          <a:blip r:embed="rId2"/>
          <a:stretch>
            <a:fillRect/>
          </a:stretch>
        </p:blipFill>
        <p:spPr>
          <a:xfrm>
            <a:off x="2085298" y="3291840"/>
            <a:ext cx="8036642" cy="3227832"/>
          </a:xfrm>
          <a:prstGeom prst="rect">
            <a:avLst/>
          </a:prstGeom>
        </p:spPr>
      </p:pic>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1_MST_EMC_lab_theme</vt:lpstr>
      <vt:lpstr>IBIS Simulation Short Pulse Handling</vt:lpstr>
      <vt:lpstr>Table of contents</vt:lpstr>
      <vt:lpstr>Recap</vt:lpstr>
      <vt:lpstr>Ex2 (layout extracted output buffer) variants results</vt:lpstr>
      <vt:lpstr>Inv_chain (8-stage inverter chain) variants results</vt:lpstr>
      <vt:lpstr>Internal stages probing – io_buf </vt:lpstr>
      <vt:lpstr>Internal stages probing – ex2</vt:lpstr>
      <vt:lpstr>Internal stages probing – inv_chain</vt:lpstr>
      <vt:lpstr>Probe the internal stages – io_buf</vt:lpstr>
      <vt:lpstr>PowerPoint Presentation</vt:lpstr>
      <vt:lpstr>PowerPoint Presentation</vt:lpstr>
      <vt:lpstr>Probe the internal stages - ex2</vt:lpstr>
      <vt:lpstr>PowerPoint Presentation</vt:lpstr>
      <vt:lpstr>PowerPoint Presentation</vt:lpstr>
      <vt:lpstr>Probe the internal stages – inv_chain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3</cp:revision>
  <dcterms:created xsi:type="dcterms:W3CDTF">2025-07-07T19:11:35Z</dcterms:created>
  <dcterms:modified xsi:type="dcterms:W3CDTF">2026-09-18T17:14:53Z</dcterms:modified>
</cp:coreProperties>
</file>