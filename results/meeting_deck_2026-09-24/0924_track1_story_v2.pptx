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is ex2's own predriver from slide 2, with the third inverter picked out. B is that inverter as transistors, driving the next stage's gate capacitance. C is what it reduces to while the output rises: the NMOS off, the PMOS saturated, so a fixed current into a fixed capacitance. The next slide says which of the device's voltages u and v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this slide the next two are unreadable: they plot 'share of full current' against u and against v, and the viewer has no way to know those are the device's own gate and drain voltages. For the PMOS pulling up, source on VDD: |V_GS| = VDD - v_in and |V_DS| = VDD - v_out.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Leventhal &amp; Green, Semiconductor Modeling, section 3.8 printed page 89 (pdf 105): the SPICE Level 1 / Shichman-Hodges equations 3-23 to 3-25. Note the naming trap: a MOSFET's SATURATION region is its constant-current one, the opposite sense to a BJT (the book makes the same point on p.63).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p = 1: it is not a claim about the device, it is an admission that the file cannot see p - every value from 1 to 2 fits the full-swing Ku(t) to rms 0.002-0.007. Why the straight line: it keeps the stage law solvable in one expression, and the stressed pulse turns round before the gate is deep into this region on most buffers.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summary: the backbone and the threshold come from the book, the exponent is ours by necessity, the taper and the chain are ours by choice.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inv_chain the file's Vinh is 2.0 V on a 1.8 V part, which is why the converter guards it - the backup slide. p is assumed 1 because it is invisible at full swing: every p from 1 to 2 fits to rms 0.002-0.007.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est_knee fit, ex2 pull-up: K=1 rms 0.0920, K=2 0.0360, K=3 0.0233, best (K=6) 0.0202. The real predriver is a chain too - ex2's schematic showed three inverters - but this is the file saying so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ex2.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inv_chain.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io_buf.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gate_cascade_prototype_2026-09-09 sweeps, track 1 from selector_from_one_run_2026-09-23. Same five widths per buffer in both. The tr1ps death is documented in docs/native_vt_waveform_modes.md.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latinLnBrk="0">
              <a:spcAft>
                <a:spcPts val="400"/>
              </a:spcAft>
            </a:pPr>
            <a:r>
              <a:rPr sz="1800"/>
              <a:t>Simon Huang    ·    24 September 2026</a:t>
            </a:r>
          </a:p>
          <a:p>
            <a:pPr latinLnBrk="0">
              <a:spcAft>
                <a:spcPts val="400"/>
              </a:spcAft>
            </a:pPr>
          </a:p>
          <a:p>
            <a:pPr latinLnBrk="0">
              <a:spcAft>
                <a:spcPts val="400"/>
              </a:spcAft>
            </a:pPr>
            <a:r>
              <a:rPr sz="1800"/>
              <a:t>The output stage is a static map of its own gate, so a stressed pad is right when the gate's shape is right — and the gate is the one thing an IBIS file does not record.</a:t>
            </a:r>
          </a:p>
          <a:p>
            <a:pPr latinLnBrk="0">
              <a:spcAft>
                <a:spcPts val="400"/>
              </a:spcAft>
            </a:pPr>
          </a:p>
          <a:p>
            <a:pPr latinLnBrk="0">
              <a:spcAft>
                <a:spcPts val="400"/>
              </a:spcAft>
            </a:pPr>
            <a:r>
              <a:rPr sz="1800" b="1"/>
              <a:t>1  measure the map      2  show it works      3  show why our gate fails</a:t>
            </a:r>
          </a:p>
          <a:p>
            <a:pPr latinLnBrk="0">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latinLnBrk="0">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IBIS file gives Ku(t) on one full transition. The probe gives the gate on the same run. At each instant we have both numbers — so plot one against the other.</a:t>
            </a:r>
          </a:p>
          <a:p>
            <a:pPr latinLnBrk="0">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±5 % at every level. Native IBIS runs +71 % at the deepest, our own gate-state model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+2…+9 %, where native IBIS runs +87 %.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Given the right gate, the map reproduces the pad at every stress level, on both buffers.</a:t>
            </a:r>
          </a:p>
          <a:p>
            <a:pPr latinLnBrk="0">
              <a:spcAft>
                <a:spcPts val="400"/>
              </a:spcAft>
            </a:pPr>
            <a:r>
              <a:rPr sz="1800"/>
              <a:t>The map itself is a fixed curve — it has no memory, and it does not change with the pulse. Measured hysteresis between the rising and falling branches is 0.07–0.10.</a:t>
            </a:r>
          </a:p>
          <a:p>
            <a:pPr latinLnBrk="0">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latinLnBrk="0">
              <a:spcAft>
                <a:spcPts val="400"/>
              </a:spcAft>
            </a:pPr>
            <a:r>
              <a:rPr sz="1800"/>
              <a:t>Our GUP is a fixed delay then an RC ramp. Truncating the input truncates that one shape.</a:t>
            </a:r>
          </a:p>
          <a:p>
            <a:pPr latinLnBrk="0">
              <a:spcAft>
                <a:spcPts val="400"/>
              </a:spcAft>
            </a:pPr>
            <a:r>
              <a:rPr sz="1800"/>
              <a:t>The real gate is already moving long before GUP starts, and it turns round earlier.</a:t>
            </a:r>
          </a:p>
          <a:p>
            <a:pPr latinLnBrk="0">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914400"/>
          </a:xfrm>
        </p:spPr>
        <p:txBody>
          <a:bodyPr/>
          <a:lstStyle/>
          <a:p>
            <a:pPr latinLnBrk="0">
              <a:spcAft>
                <a:spcPts val="400"/>
              </a:spcAft>
            </a:pPr>
            <a:r>
              <a:rPr sz="1800"/>
              <a:t>Same map, two gates: Ku on top, the pad below. Our peak error: +74 % at 50 % stress, +4 % at 90 %.</a:t>
            </a:r>
          </a:p>
          <a:p>
            <a:pPr latinLnBrk="0">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1988349" y="1975104"/>
            <a:ext cx="8230540" cy="454456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latinLnBrk="0">
              <a:spcAft>
                <a:spcPts val="400"/>
              </a:spcAft>
            </a:pPr>
            <a:r>
              <a:rPr sz="1800"/>
              <a:t>We know what a correct model needs: </a:t>
            </a:r>
            <a:r>
              <a:rPr sz="1800" b="1"/>
              <a:t>the real gate's shape</a:t>
            </a:r>
            <a:r>
              <a:rPr sz="1800"/>
              <a:t>, and the map.</a:t>
            </a:r>
          </a:p>
          <a:p>
            <a:pPr latinLnBrk="0">
              <a:spcAft>
                <a:spcPts val="400"/>
              </a:spcAft>
            </a:pPr>
            <a:r>
              <a:rPr sz="1800"/>
              <a:t>We have both — by probing. A customer with only the vendor's IBIS file has neither.</a:t>
            </a:r>
          </a:p>
          <a:p>
            <a:pPr latinLnBrk="0">
              <a:spcAft>
                <a:spcPts val="400"/>
              </a:spcAft>
            </a:pPr>
          </a:p>
          <a:p>
            <a:pPr latinLnBrk="0">
              <a:spcAft>
                <a:spcPts val="400"/>
              </a:spcAft>
            </a:pPr>
            <a:r>
              <a:rPr sz="1800" b="1">
                <a:solidFill>
                  <a:srgbClr val="2B7A43"/>
                </a:solidFill>
              </a:rPr>
              <a:t>The question for track 1: how much of that gate shape can be recovered from the IBIS file plus one measurement taken at the pad, with nothing probed inside?</a:t>
            </a:r>
          </a:p>
          <a:p>
            <a:pPr latinLnBrk="0">
              <a:spcAft>
                <a:spcPts val="400"/>
              </a:spcAft>
            </a:pPr>
          </a:p>
          <a:p>
            <a:pPr latinLnBrk="0">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a:t>The file gives Ku(t) — a complete waveform, with shape at every instant. Shape is not what is missing.</a:t>
            </a:r>
          </a:p>
          <a:p>
            <a:pPr latinLnBrk="0">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latinLnBrk="0">
              <a:spcAft>
                <a:spcPts val="400"/>
              </a:spcAft>
            </a:pPr>
            <a:r>
              <a:rPr sz="1600"/>
              <a:t>With no probe the map cannot be measured, so its shape has to be assumed — and the assumed shape is not the measured curve.</a:t>
            </a:r>
          </a:p>
          <a:p>
            <a:pPr latinLnBrk="0">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latinLnBrk="0">
              <a:spcAft>
                <a:spcPts val="400"/>
              </a:spcAft>
            </a:pPr>
            <a:r>
              <a:rPr sz="1800"/>
              <a:t>Each stressed width stops the gate at a different height on the same path — here at 0.76, 0.80, 0.84, 0.88 and 0.94.</a:t>
            </a:r>
          </a:p>
          <a:p>
            <a:pPr latinLnBrk="0">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Five samples cannot pick a curve out of all possible curves. They can pick one out of a small family — so what family does this circuit actually produce?</a:t>
            </a:r>
          </a:p>
          <a:p>
            <a:pPr latinLnBrk="0">
              <a:spcAft>
                <a:spcPts val="400"/>
              </a:spcAft>
            </a:pPr>
            <a:r>
              <a:rPr sz="1700"/>
              <a:t>Probe every stage under a short pulse against what a </a:t>
            </a:r>
            <a:r>
              <a:rPr sz="1700" b="1"/>
              <a:t>linear</a:t>
            </a:r>
            <a:r>
              <a:rPr sz="1700"/>
              <a:t> filter would give: its own step response, superposed.</a:t>
            </a:r>
          </a:p>
          <a:p>
            <a:pPr latinLnBrk="0">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What the stage law is a model of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Take one inverter out of ex2's predriver and draw it as transistors. While its output is rising the NMOS is off and the PMOS is </a:t>
            </a:r>
            <a:r>
              <a:rPr sz="1800" b="1"/>
              <a:t>saturated</a:t>
            </a:r>
            <a:r>
              <a:rPr sz="1800"/>
              <a:t>, so the current it passes does not depend on how far the output has got.</a:t>
            </a:r>
          </a:p>
          <a:p>
            <a:pPr latinLnBrk="0">
              <a:spcAft>
                <a:spcPts val="400"/>
              </a:spcAft>
            </a:pPr>
            <a:r>
              <a:rPr sz="1800" b="1">
                <a:solidFill>
                  <a:srgbClr val="2B7A43"/>
                </a:solidFill>
              </a:rPr>
              <a:t>A fixed current into a fixed capacitance is a straight ramp.</a:t>
            </a:r>
            <a:r>
              <a:rPr sz="1800"/>
              <a:t> That ramp is the backbone of the law. The next three slides are where it, and the two things that modulate it, come from.</a:t>
            </a:r>
          </a:p>
        </p:txBody>
      </p:sp>
      <p:pic>
        <p:nvPicPr>
          <p:cNvPr id="4" name="Picture 3" descr="stage_law.png"/>
          <p:cNvPicPr>
            <a:picLocks noChangeAspect="1"/>
          </p:cNvPicPr>
          <p:nvPr/>
        </p:nvPicPr>
        <p:blipFill>
          <a:blip r:embed="rId2"/>
          <a:stretch>
            <a:fillRect/>
          </a:stretch>
        </p:blipFill>
        <p:spPr>
          <a:xfrm>
            <a:off x="411480" y="2578608"/>
            <a:ext cx="11384280" cy="369572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device's two voltages, in our two variables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600"/>
              <a:t>The law is written in </a:t>
            </a:r>
            <a:r>
              <a:rPr sz="1600" b="1"/>
              <a:t>u</a:t>
            </a:r>
            <a:r>
              <a:rPr sz="1600"/>
              <a:t> and </a:t>
            </a:r>
            <a:r>
              <a:rPr sz="1600" b="1"/>
              <a:t>v</a:t>
            </a:r>
            <a:r>
              <a:rPr sz="1600"/>
              <a:t>; the physics is written in </a:t>
            </a:r>
            <a:r>
              <a:rPr sz="1600" b="1"/>
              <a:t>V_GS</a:t>
            </a:r>
            <a:r>
              <a:rPr sz="1600"/>
              <a:t> and </a:t>
            </a:r>
            <a:r>
              <a:rPr sz="1600" b="1"/>
              <a:t>V_DS</a:t>
            </a:r>
            <a:r>
              <a:rPr sz="1600"/>
              <a:t>. Same two quantities, measured down from the rail the device sits on: </a:t>
            </a:r>
            <a:r>
              <a:rPr sz="1600" b="1"/>
              <a:t>u = |V_GS| / swing</a:t>
            </a:r>
            <a:r>
              <a:rPr sz="1600"/>
              <a:t> and </a:t>
            </a:r>
            <a:r>
              <a:rPr sz="1600" b="1"/>
              <a:t>1 − v = |V_DS| / swing</a:t>
            </a:r>
            <a:r>
              <a:rPr sz="1600"/>
              <a:t>.</a:t>
            </a:r>
          </a:p>
          <a:p>
            <a:pPr latinLnBrk="0">
              <a:spcAft>
                <a:spcPts val="400"/>
              </a:spcAft>
            </a:pPr>
            <a:r>
              <a:rPr sz="1600" b="1">
                <a:solidFill>
                  <a:srgbClr val="2B7A43"/>
                </a:solidFill>
              </a:rPr>
              <a:t>u rises as the stage turns on — though this is an inverter and its input fell to do it. Normalising each stage in the direction that turns it on is the whole reason a chain of inverters reads as non-inverting.</a:t>
            </a:r>
          </a:p>
        </p:txBody>
      </p:sp>
      <p:pic>
        <p:nvPicPr>
          <p:cNvPr id="4" name="Picture 3" descr="uv_bridge.png"/>
          <p:cNvPicPr>
            <a:picLocks noChangeAspect="1"/>
          </p:cNvPicPr>
          <p:nvPr/>
        </p:nvPicPr>
        <p:blipFill>
          <a:blip r:embed="rId2"/>
          <a:stretch>
            <a:fillRect/>
          </a:stretch>
        </p:blipFill>
        <p:spPr>
          <a:xfrm>
            <a:off x="411480" y="2578608"/>
            <a:ext cx="11384280" cy="319346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one MOSFET actually does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a:t>A transistor has three regimes, and the book writes an equation for each. </a:t>
            </a:r>
            <a:r>
              <a:rPr sz="1700" b="1"/>
              <a:t>Below threshold</a:t>
            </a:r>
            <a:r>
              <a:rPr sz="1700"/>
              <a:t> it passes nothing. </a:t>
            </a:r>
            <a:r>
              <a:rPr sz="1700" b="1"/>
              <a:t>Saturated</a:t>
            </a:r>
            <a:r>
              <a:rPr sz="1700"/>
              <a:t> — which here means a large voltage across it — the current stops depending on that voltage. </a:t>
            </a:r>
            <a:r>
              <a:rPr sz="1700" b="1"/>
              <a:t>In triode</a:t>
            </a:r>
            <a:r>
              <a:rPr sz="1700"/>
              <a:t>, close to the rail, it is a resistor again.</a:t>
            </a:r>
          </a:p>
          <a:p>
            <a:pPr latinLnBrk="0">
              <a:spcAft>
                <a:spcPts val="400"/>
              </a:spcAft>
            </a:pPr>
            <a:r>
              <a:rPr sz="1700" b="1">
                <a:solidFill>
                  <a:srgbClr val="2B7A43"/>
                </a:solidFill>
              </a:rPr>
              <a:t>Those three regimes are the whole of the stage law. Everything after this slide is either taken from them or is an admitted substitute for them.</a:t>
            </a:r>
          </a:p>
        </p:txBody>
      </p:sp>
      <p:pic>
        <p:nvPicPr>
          <p:cNvPr id="4" name="Picture 3" descr="mos_regions.png"/>
          <p:cNvPicPr>
            <a:picLocks noChangeAspect="1"/>
          </p:cNvPicPr>
          <p:nvPr/>
        </p:nvPicPr>
        <p:blipFill>
          <a:blip r:embed="rId2"/>
          <a:stretch>
            <a:fillRect/>
          </a:stretch>
        </p:blipFill>
        <p:spPr>
          <a:xfrm>
            <a:off x="756793" y="2880360"/>
            <a:ext cx="10693652" cy="363931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What we keep of that, and what we replace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Same three regimes, our version of each, drawn on top of the book's.</a:t>
            </a:r>
          </a:p>
          <a:p>
            <a:pPr latinLnBrk="0">
              <a:spcAft>
                <a:spcPts val="400"/>
              </a:spcAft>
            </a:pPr>
            <a:r>
              <a:rPr sz="1800"/>
              <a:t>Below threshold we copy the book. Saturated we keep its form but flatten the exponent from 2 to 1. Into triode we replace its parabola with a straight line.</a:t>
            </a:r>
          </a:p>
          <a:p>
            <a:pPr latinLnBrk="0">
              <a:spcAft>
                <a:spcPts val="400"/>
              </a:spcAft>
            </a:pPr>
            <a:r>
              <a:rPr sz="1800" b="1">
                <a:solidFill>
                  <a:srgbClr val="2B7A43"/>
                </a:solidFill>
              </a:rPr>
              <a:t>And one more, which the drawing cannot show: the book's boundary between the two sits at |V_DS| = |V_GS| − |V_th|, which in our variables is 1 − v = u − vt — it moves as the input moves. Ours is the constant x_lin. That, and the straight line, are the two real liberties in the model.</a:t>
            </a:r>
          </a:p>
        </p:txBody>
      </p:sp>
      <p:pic>
        <p:nvPicPr>
          <p:cNvPr id="4" name="Picture 3" descr="ours_vs_book.png"/>
          <p:cNvPicPr>
            <a:picLocks noChangeAspect="1"/>
          </p:cNvPicPr>
          <p:nvPr/>
        </p:nvPicPr>
        <p:blipFill>
          <a:blip r:embed="rId2"/>
          <a:stretch>
            <a:fillRect/>
          </a:stretch>
        </p:blipFill>
        <p:spPr>
          <a:xfrm>
            <a:off x="707283" y="3291840"/>
            <a:ext cx="10792673" cy="322783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The law, with where each piece came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Read the colours: green has a source, amber is the source's own form with one thing changed, red has no source at all.</a:t>
            </a:r>
          </a:p>
          <a:p>
            <a:pPr latinLnBrk="0">
              <a:spcAft>
                <a:spcPts val="400"/>
              </a:spcAft>
            </a:pPr>
            <a:r>
              <a:rPr sz="1800" b="1">
                <a:solidFill>
                  <a:srgbClr val="2B7A43"/>
                </a:solidFill>
              </a:rPr>
              <a:t>One more thing carries no source: putting K of these in series. That is a modelling choice, and the next slide is the evidence for it.</a:t>
            </a:r>
          </a:p>
        </p:txBody>
      </p:sp>
      <p:pic>
        <p:nvPicPr>
          <p:cNvPr id="4" name="Picture 3" descr="law_badged.png"/>
          <p:cNvPicPr>
            <a:picLocks noChangeAspect="1"/>
          </p:cNvPicPr>
          <p:nvPr/>
        </p:nvPicPr>
        <p:blipFill>
          <a:blip r:embed="rId2"/>
          <a:stretch>
            <a:fillRect/>
          </a:stretch>
        </p:blipFill>
        <p:spPr>
          <a:xfrm>
            <a:off x="411480" y="2578608"/>
            <a:ext cx="11384280" cy="39207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The four numbers that leaves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a:t>Four free numbers and no more. </a:t>
            </a:r>
            <a:r>
              <a:rPr sz="1700" b="1"/>
              <a:t>s_up and s_dn are slopes</a:t>
            </a:r>
            <a:r>
              <a:rPr sz="1700"/>
              <a:t> — ex2 fits 2.59/ns, 0.39 ns to cross a stage's swing flat out. </a:t>
            </a:r>
            <a:r>
              <a:rPr sz="1700" b="1"/>
              <a:t>x_lin</a:t>
            </a:r>
            <a:r>
              <a:rPr sz="1700"/>
              <a:t> is named for the MOSFET's linear (triode) region.</a:t>
            </a:r>
          </a:p>
          <a:p>
            <a:pPr latinLnBrk="0">
              <a:spcAft>
                <a:spcPts val="400"/>
              </a:spcAft>
            </a:pPr>
            <a:r>
              <a:rPr sz="1700" b="1">
                <a:solidFill>
                  <a:srgbClr val="2B7A43"/>
                </a:solidFill>
              </a:rPr>
              <a:t>Does the file not give vt?</a:t>
            </a:r>
            <a:r>
              <a:rPr sz="1700"/>
              <a:t> Its Vinh/Vinl are the input </a:t>
            </a:r>
            <a:r>
              <a:rPr sz="1700" b="1">
                <a:solidFill>
                  <a:srgbClr val="2B7A43"/>
                </a:solidFill>
              </a:rPr>
              <a:t>pin's</a:t>
            </a:r>
            <a:r>
              <a:rPr sz="1700"/>
              <a:t> thresholds, and the converter does use those, for our input comparator. vt is an </a:t>
            </a:r>
            <a:r>
              <a:rPr sz="1700" b="1">
                <a:solidFill>
                  <a:srgbClr val="2B7A43"/>
                </a:solidFill>
              </a:rPr>
              <a:t>internal</a:t>
            </a:r>
            <a:r>
              <a:rPr sz="1700"/>
              <a:t> stage's threshold — the file never describes that node.</a:t>
            </a:r>
          </a:p>
        </p:txBody>
      </p:sp>
      <p:pic>
        <p:nvPicPr>
          <p:cNvPr id="4" name="Picture 3" descr="four_table.png"/>
          <p:cNvPicPr>
            <a:picLocks noChangeAspect="1"/>
          </p:cNvPicPr>
          <p:nvPr/>
        </p:nvPicPr>
        <p:blipFill>
          <a:blip r:embed="rId2"/>
          <a:stretch>
            <a:fillRect/>
          </a:stretch>
        </p:blipFill>
        <p:spPr>
          <a:xfrm>
            <a:off x="411480" y="2880360"/>
            <a:ext cx="11384280" cy="320361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What each of the four actually does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Each swept on its own about the value the fit chose, on the 810 ps pulse. The thick black trace is the fitted value.</a:t>
            </a:r>
          </a:p>
          <a:p>
            <a:pPr latinLnBrk="0">
              <a:spcAft>
                <a:spcPts val="400"/>
              </a:spcAft>
            </a:pPr>
            <a:r>
              <a:rPr sz="1800" b="1">
                <a:solidFill>
                  <a:srgbClr val="2B7A43"/>
                </a:solidFill>
              </a:rPr>
              <a:t>Look at the vt panel: pushed high enough the gate never leaves the floor — a chain can extinguish a short pulse, not merely shrink it.</a:t>
            </a:r>
          </a:p>
        </p:txBody>
      </p:sp>
      <p:pic>
        <p:nvPicPr>
          <p:cNvPr id="4" name="Picture 3" descr="knobs.png"/>
          <p:cNvPicPr>
            <a:picLocks noChangeAspect="1"/>
          </p:cNvPicPr>
          <p:nvPr/>
        </p:nvPicPr>
        <p:blipFill>
          <a:blip r:embed="rId2"/>
          <a:stretch>
            <a:fillRect/>
          </a:stretch>
        </p:blipFill>
        <p:spPr>
          <a:xfrm>
            <a:off x="1567646" y="2578608"/>
            <a:ext cx="9071947" cy="3941064"/>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Why a chain, and not one stage</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Fit one stage as well as it can be fitted and it still misses the file's own Ku(t) by 4.6× the best error. One stage is one ramp: it starts the instant the input does, where the real Ku(t) waits, and then bends over too early.</a:t>
            </a:r>
          </a:p>
          <a:p>
            <a:pPr latinLnBrk="0">
              <a:spcAft>
                <a:spcPts val="400"/>
              </a:spcAft>
            </a:pPr>
            <a:r>
              <a:rPr sz="1800" b="1">
                <a:solidFill>
                  <a:srgbClr val="2B7A43"/>
                </a:solidFill>
              </a:rPr>
              <a:t>The file itself rules out a single stage — no stressed data needed to see it.</a:t>
            </a:r>
            <a:r>
              <a:rPr sz="1800"/>
              <a:t> Three stages is where the error settles.</a:t>
            </a:r>
          </a:p>
        </p:txBody>
      </p:sp>
      <p:pic>
        <p:nvPicPr>
          <p:cNvPr id="4" name="Picture 3" descr="why_chain.png"/>
          <p:cNvPicPr>
            <a:picLocks noChangeAspect="1"/>
          </p:cNvPicPr>
          <p:nvPr/>
        </p:nvPicPr>
        <p:blipFill>
          <a:blip r:embed="rId2"/>
          <a:stretch>
            <a:fillRect/>
          </a:stretch>
        </p:blipFill>
        <p:spPr>
          <a:xfrm>
            <a:off x="733152" y="2880360"/>
            <a:ext cx="10740935" cy="363931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So: K identical stages, then the file's own map</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We cannot see how many stages a vendor's part has, so the count K is a parameter. The stages are held </a:t>
            </a:r>
            <a:r>
              <a:rPr sz="1800" b="1"/>
              <a:t>identical</a:t>
            </a:r>
            <a:r>
              <a:rPr sz="1800"/>
              <a:t>: a real tapered predriver approximately is, and letting them differ makes the fit degenerate.</a:t>
            </a:r>
          </a:p>
          <a:p>
            <a:pPr latinLnBrk="0">
              <a:spcAft>
                <a:spcPts val="400"/>
              </a:spcAft>
            </a:pPr>
            <a:r>
              <a:rPr sz="18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2578608"/>
            <a:ext cx="11384280" cy="309629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Before the recipe: C_comp is an input, and this file's is wrong</a:t>
            </a:r>
          </a:p>
        </p:txBody>
      </p:sp>
      <p:sp>
        <p:nvSpPr>
          <p:cNvPr id="3" name="Content Placeholder 2"/>
          <p:cNvSpPr>
            <a:spLocks noGrp="1"/>
          </p:cNvSpPr>
          <p:nvPr>
            <p:ph idx="10"/>
          </p:nvPr>
        </p:nvSpPr>
        <p:spPr>
          <a:xfrm>
            <a:off x="411480" y="987552"/>
            <a:ext cx="11384280" cy="2834640"/>
          </a:xfrm>
        </p:spPr>
        <p:txBody>
          <a:bodyPr/>
          <a:lstStyle/>
          <a:p>
            <a:pPr latinLnBrk="0">
              <a:spcAft>
                <a:spcPts val="400"/>
              </a:spcAft>
            </a:pPr>
            <a:r>
              <a:rPr sz="1700"/>
              <a:t>C_comp is not something the method derives — it is an input the solve needs, and we assume it arrives with the file. </a:t>
            </a:r>
            <a:r>
              <a:rPr sz="1700" b="1"/>
              <a:t>When s2ibispy extracts it properly, it drops into this same slot and nothing downstream changes.</a:t>
            </a:r>
          </a:p>
          <a:p>
            <a:pPr latinLnBrk="0">
              <a:spcAft>
                <a:spcPts val="400"/>
              </a:spcAft>
            </a:pPr>
            <a:r>
              <a:rPr sz="1700"/>
              <a:t>It still needs a validity check, because this file's declared value fails one. Ku is a fraction of the device's own current, so it cannot exceed 1; ex2's declared 5.0 pF makes the file imply </a:t>
            </a:r>
            <a:r>
              <a:rPr sz="1700" b="1"/>
              <a:t>Ku = 1.24</a:t>
            </a:r>
            <a:r>
              <a:rPr sz="1700"/>
              <a:t>, which is impossible.</a:t>
            </a:r>
          </a:p>
          <a:p>
            <a:pPr latinLnBrk="0">
              <a:spcAft>
                <a:spcPts val="400"/>
              </a:spcAft>
            </a:pPr>
            <a:r>
              <a:rPr sz="1700"/>
              <a:t>Today's numbers therefore use the value at which Ku just reaches 1 — 2.64 pF here, against 1.70 measured with a probe.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2933551" y="3895344"/>
            <a:ext cx="6340137" cy="262432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Recipe step 1 of 4 — fit the four numbers to the file's Ku(t)</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b="1"/>
              <a:t>The chain</a:t>
            </a:r>
            <a:r>
              <a:rPr sz="1800"/>
              <a:t> is the K stages above, in series. Its output is a gate; put that gate through the map and it becomes a Ku. The four numbers are searched until that Ku reproduces </a:t>
            </a:r>
            <a:r>
              <a:rPr sz="1800" b="1"/>
              <a:t>the file's own full-swing Ku(t)</a:t>
            </a:r>
            <a:r>
              <a:rPr sz="1800"/>
              <a:t> — the black curve. Nelder–Mead, three restarts.</a:t>
            </a:r>
          </a:p>
          <a:p>
            <a:pPr latinLnBrk="0">
              <a:spcAft>
                <a:spcPts val="400"/>
              </a:spcAft>
            </a:pPr>
            <a:r>
              <a:rPr sz="1800"/>
              <a:t>Error 0.284 down to 0.0098, landing on s_up 2.59, s_dn 2.38, vt 0.51, x_lin 0.66.</a:t>
            </a:r>
          </a:p>
          <a:p>
            <a:pPr latinLnBrk="0">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952914" y="2990088"/>
            <a:ext cx="10301410" cy="352958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 · Recipe step 2 of 4 — enumerate what the file cannot choose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Left: past K = 3 the fit error against the file's Ku(t) is </a:t>
            </a:r>
            <a:r>
              <a:rPr sz="1800" b="1"/>
              <a:t>flat</a:t>
            </a:r>
            <a:r>
              <a:rPr sz="1800"/>
              <a:t>. Right: the three candidates inside that band on one 810 ps pulse — same file, same fit quality, </a:t>
            </a:r>
            <a:r>
              <a:rPr sz="1800" b="1"/>
              <a:t>three completely different buffers</a:t>
            </a:r>
            <a:r>
              <a:rPr sz="1800"/>
              <a:t>.</a:t>
            </a:r>
          </a:p>
          <a:p>
            <a:pPr latinLnBrk="0">
              <a:spcAft>
                <a:spcPts val="400"/>
              </a:spcAft>
            </a:pPr>
            <a:r>
              <a:rPr sz="1800"/>
              <a:t>The map's shape is under-determined the same way: 3 stage counts × 3 map shapes = </a:t>
            </a:r>
            <a:r>
              <a:rPr sz="1800" b="1"/>
              <a:t>nine candidates</a:t>
            </a:r>
            <a:r>
              <a:rPr sz="1800"/>
              <a:t>, all equally good against the file.</a:t>
            </a:r>
          </a:p>
          <a:p>
            <a:pPr latinLnBrk="0">
              <a:spcAft>
                <a:spcPts val="400"/>
              </a:spcAft>
            </a:pPr>
            <a:r>
              <a:rPr sz="1800" b="1">
                <a:solidFill>
                  <a:srgbClr val="2B7A43"/>
                </a:solidFill>
              </a:rPr>
              <a:t>The file is now spent. Everything left is decided by the one stressed run.</a:t>
            </a:r>
          </a:p>
        </p:txBody>
      </p:sp>
      <p:pic>
        <p:nvPicPr>
          <p:cNvPr id="4" name="Picture 3" descr="k_choice.png"/>
          <p:cNvPicPr>
            <a:picLocks noChangeAspect="1"/>
          </p:cNvPicPr>
          <p:nvPr/>
        </p:nvPicPr>
        <p:blipFill>
          <a:blip r:embed="rId2"/>
          <a:stretch>
            <a:fillRect/>
          </a:stretch>
        </p:blipFill>
        <p:spPr>
          <a:xfrm>
            <a:off x="1174235" y="2990088"/>
            <a:ext cx="9858769" cy="3529584"/>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 · Recipe step 3 of 4 — the stressed run sets the amplitude</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One pulse into the real part, at the deepest rung of the ladder, and one number off it: the peak. Nothing is probed.</a:t>
            </a:r>
          </a:p>
          <a:p>
            <a:pPr latinLnBrk="0">
              <a:spcAft>
                <a:spcPts val="400"/>
              </a:spcAft>
            </a:pPr>
            <a:r>
              <a:rPr sz="1800" b="1">
                <a:solidFill>
                  <a:srgbClr val="2B7A43"/>
                </a:solidFill>
              </a:rPr>
              <a:t>Why vt and not the drive rates?</a:t>
            </a:r>
            <a:r>
              <a:rPr sz="1800"/>
              <a:t> The rates were fitted to reproduce the full swing, and moving them breaks it. vt changes </a:t>
            </a:r>
            <a:r>
              <a:rPr sz="1800" b="1">
                <a:solidFill>
                  <a:srgbClr val="2B7A43"/>
                </a:solidFill>
              </a:rPr>
              <a:t>when</a:t>
            </a:r>
            <a:r>
              <a:rPr sz="1800"/>
              <a:t> the chain hands off, not how fast it runs.</a:t>
            </a:r>
          </a:p>
        </p:txBody>
      </p:sp>
      <p:pic>
        <p:nvPicPr>
          <p:cNvPr id="4" name="Picture 3" descr="calib_run.png"/>
          <p:cNvPicPr>
            <a:picLocks noChangeAspect="1"/>
          </p:cNvPicPr>
          <p:nvPr/>
        </p:nvPicPr>
        <p:blipFill>
          <a:blip r:embed="rId2"/>
          <a:stretch>
            <a:fillRect/>
          </a:stretch>
        </p:blipFill>
        <p:spPr>
          <a:xfrm>
            <a:off x="411480" y="2578608"/>
            <a:ext cx="11384280" cy="346368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 Recipe step 4 of 4 — the same run picks one of the nine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latinLnBrk="0">
              <a:spcAft>
                <a:spcPts val="400"/>
              </a:spcAft>
            </a:pPr>
            <a:r>
              <a:rPr sz="1700"/>
              <a:t>Left-hand panel: score each one against the </a:t>
            </a:r>
            <a:r>
              <a:rPr sz="1700" b="1"/>
              <a:t>whole</a:t>
            </a:r>
            <a:r>
              <a:rPr sz="1700"/>
              <a:t> measured waveform instead, over the pulse and its return. Now they separate, from 59 mV to over 200.</a:t>
            </a:r>
          </a:p>
          <a:p>
            <a:pPr latinLnBrk="0">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 The recipe, end to end</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b="1"/>
              <a:t>Assumed as an input:</a:t>
            </a:r>
            <a:r>
              <a:rPr sz="1600"/>
              <a:t> C_comp, with a Ku &gt; 1 validity check on it.</a:t>
            </a:r>
          </a:p>
          <a:p>
            <a:pPr latinLnBrk="0">
              <a:spcAft>
                <a:spcPts val="400"/>
              </a:spcAft>
            </a:pPr>
            <a:r>
              <a:rPr sz="1600" b="1"/>
              <a:t>Steps 1–2, from the file alone:</a:t>
            </a:r>
            <a:r>
              <a:rPr sz="1600"/>
              <a:t> fit s_up, s_dn, vt, x_lin to the file's Ku(t) at each stage count in the band; that leaves nine candidates the file cannot separate.</a:t>
            </a:r>
          </a:p>
          <a:p>
            <a:pPr latinLnBrk="0">
              <a:spcAft>
                <a:spcPts val="400"/>
              </a:spcAft>
            </a:pPr>
            <a:r>
              <a:rPr sz="1600" b="1"/>
              <a:t>Steps 3–4, from one stressed pad run:</a:t>
            </a:r>
            <a:r>
              <a:rPr sz="1600"/>
              <a:t> bisect vt until the peak matches, then pick the candidate whose whole waveform matches.</a:t>
            </a:r>
          </a:p>
          <a:p>
            <a:pPr latinLnBrk="0">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ex2</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810 ps</a:t>
            </a:r>
            <a:r>
              <a:rPr sz="1800"/>
              <a:t> rung was measured; the other two are predictions.</a:t>
            </a:r>
          </a:p>
          <a:p>
            <a:pPr latinLnBrk="0">
              <a:spcAft>
                <a:spcPts val="400"/>
              </a:spcAft>
            </a:pPr>
            <a:r>
              <a:rPr sz="1800" b="1">
                <a:solidFill>
                  <a:srgbClr val="2B7A43"/>
                </a:solidFill>
              </a:rPr>
              <a:t>Native IBIS collapses from +71 % to +1 % as the pulse lengthens. Track 1 holds −2, −7, −7 % — flat, and slightly shallow away from the rung it was calibrated on.</a:t>
            </a:r>
          </a:p>
        </p:txBody>
      </p:sp>
      <p:pic>
        <p:nvPicPr>
          <p:cNvPr id="4" name="Picture 3" descr="result_ex2.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104 ps</a:t>
            </a:r>
            <a:r>
              <a:rPr sz="1800"/>
              <a:t> rung was measured; the other two are predictions.</a:t>
            </a:r>
          </a:p>
          <a:p>
            <a:pPr latinLnBrk="0">
              <a:spcAft>
                <a:spcPts val="400"/>
              </a:spcAft>
            </a:pPr>
            <a:r>
              <a:rPr sz="1800" b="1">
                <a:solidFill>
                  <a:srgbClr val="2B7A43"/>
                </a:solidFill>
              </a:rPr>
              <a:t>Native IBIS runs +87 % at the deepest and +7 % at the mildest. Track 1 holds −4, +5, −1 % across the ladder.</a:t>
            </a:r>
          </a:p>
        </p:txBody>
      </p:sp>
      <p:pic>
        <p:nvPicPr>
          <p:cNvPr id="4" name="Picture 3" descr="result_inv_chain.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io_buf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1505 ps</a:t>
            </a:r>
            <a:r>
              <a:rPr sz="1800"/>
              <a:t> rung was measured; the other two are predictions.</a:t>
            </a:r>
          </a:p>
          <a:p>
            <a:pPr latinLnBrk="0">
              <a:spcAft>
                <a:spcPts val="400"/>
              </a:spcAft>
            </a:pPr>
            <a:r>
              <a:rPr sz="1800" b="1">
                <a:solidFill>
                  <a:srgbClr val="2B7A43"/>
                </a:solidFill>
              </a:rPr>
              <a:t>io_buf's ladder is shallower — 37 % is as deep as its pulse goes, and native is only −20 % there. Track 1 is +2, +7, +5 %.</a:t>
            </a:r>
          </a:p>
        </p:txBody>
      </p:sp>
      <p:pic>
        <p:nvPicPr>
          <p:cNvPr id="4" name="Picture 3" descr="result_io_buf.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every buffer, worst of its stressed widths</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600" b="1"/>
              <a:t>12 of 12 within ±10 % against the transistor; mean 6.9 %.</a:t>
            </a:r>
            <a:r>
              <a:rPr sz="1600"/>
              <a:t> Native IBIS, where it runs at all, is 20 % to 100 %.</a:t>
            </a:r>
          </a:p>
          <a:p>
            <a:pPr latinLnBrk="0">
              <a:spcAft>
                <a:spcPts val="400"/>
              </a:spcAft>
            </a:pPr>
            <a:r>
              <a:rPr sz="1600"/>
              <a:t>Native does not converge on the five ex2 variants — HSPICE's two-waveform solver dies on their 1 ps files and reports the pulse missing at </a:t>
            </a:r>
            <a:r>
              <a:rPr sz="1600" b="1"/>
              <a:t>every</a:t>
            </a:r>
            <a:r>
              <a:rPr sz="1600"/>
              <a:t> depth, the mildest included. Those bars are hatched, not scored.</a:t>
            </a:r>
          </a:p>
          <a:p>
            <a:pPr latinLnBrk="0">
              <a:spcAft>
                <a:spcPts val="400"/>
              </a:spcAft>
            </a:pPr>
            <a:r>
              <a:rPr sz="1600" b="1">
                <a:solidFill>
                  <a:srgbClr val="2B7A43"/>
                </a:solidFill>
              </a:rPr>
              <a:t>What it costs:</a:t>
            </a:r>
            <a:r>
              <a:rPr sz="1600"/>
              <a:t> the full transition is worse than the shipped model on 10 of 12 buffers, and a stressed pulse train is still lost on ex2 and io_buf. We are buying stressed accuracy with full-swing accuracy.</a:t>
            </a:r>
          </a:p>
        </p:txBody>
      </p:sp>
      <p:pic>
        <p:nvPicPr>
          <p:cNvPr id="4" name="Picture 3" descr="endtoend_3.png"/>
          <p:cNvPicPr>
            <a:picLocks noChangeAspect="1"/>
          </p:cNvPicPr>
          <p:nvPr/>
        </p:nvPicPr>
        <p:blipFill>
          <a:blip r:embed="rId2"/>
          <a:stretch>
            <a:fillRect/>
          </a:stretch>
        </p:blipFill>
        <p:spPr>
          <a:xfrm>
            <a:off x="1762501" y="3291840"/>
            <a:ext cx="8682237" cy="322783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latinLnBrk="0">
              <a:spcAft>
                <a:spcPts val="400"/>
              </a:spcAft>
            </a:pPr>
            <a:r>
              <a:rPr sz="1800" b="1"/>
              <a:t>Depth.</a:t>
            </a:r>
            <a:r>
              <a:rPr sz="1800"/>
              <a:t> The ladder samples 50–90 % of the travel. Below 50 % is unsampled.</a:t>
            </a:r>
          </a:p>
          <a:p>
            <a:pPr latinLnBrk="0">
              <a:spcAft>
                <a:spcPts val="400"/>
              </a:spcAft>
            </a:pPr>
            <a:r>
              <a:rPr sz="1800" b="1"/>
              <a:t>Trains.</a:t>
            </a:r>
            <a:r>
              <a:rPr sz="1800"/>
              <a:t> One pulse at a time; a stressed train is still lost on two of three buffers.</a:t>
            </a:r>
          </a:p>
          <a:p>
            <a:pPr latinLnBrk="0">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The file holds the I-V curves and recordings of one transition into </a:t>
            </a:r>
            <a:r>
              <a:rPr sz="1800" b="1"/>
              <a:t>two different loads</a:t>
            </a:r>
            <a:r>
              <a:rPr sz="1800"/>
              <a:t>. At any instant the pad took some current, and both branches supplied it.</a:t>
            </a:r>
          </a:p>
          <a:p>
            <a:pPr latinLnBrk="0">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same nine as step 5, drawn rather than ranked. Every one reaches the measured peak height — the calibration put it there — and they separate in when that peak arrives, and in the tail.</a:t>
            </a:r>
          </a:p>
          <a:p>
            <a:pPr latinLnBrk="0">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inv_chain's IBIS file declares Vinh 2.0 V on a 1.8 V part, so our input comparator fires late and trims about 29 ps off every pulse.</a:t>
            </a:r>
          </a:p>
          <a:p>
            <a:pPr latinLnBrk="0">
              <a:spcAft>
                <a:spcPts val="400"/>
              </a:spcAft>
            </a:pPr>
            <a:r>
              <a:rPr sz="1800"/>
              <a:t>That trim cancels most of the gate-state model's overshoot, which is why it reads −2 % at 70 % stress on the previous slides while native IBIS reads +32 %.</a:t>
            </a:r>
          </a:p>
          <a:p>
            <a:pPr latinLnBrk="0">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